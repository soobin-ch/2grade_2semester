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tags/tag1.xml" ContentType="application/vnd.openxmlformats-officedocument.presentationml.tags+xml"/>
  <Override PartName="/ppt/ink/ink5.xml" ContentType="application/inkml+xml"/>
  <Override PartName="/ppt/ink/ink6.xml" ContentType="application/inkml+xml"/>
  <Override PartName="/ppt/ink/ink7.xml" ContentType="application/inkml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833" r:id="rId1"/>
  </p:sldMasterIdLst>
  <p:notesMasterIdLst>
    <p:notesMasterId r:id="rId96"/>
  </p:notesMasterIdLst>
  <p:handoutMasterIdLst>
    <p:handoutMasterId r:id="rId97"/>
  </p:handoutMasterIdLst>
  <p:sldIdLst>
    <p:sldId id="256" r:id="rId2"/>
    <p:sldId id="318" r:id="rId3"/>
    <p:sldId id="257" r:id="rId4"/>
    <p:sldId id="340" r:id="rId5"/>
    <p:sldId id="259" r:id="rId6"/>
    <p:sldId id="731" r:id="rId7"/>
    <p:sldId id="732" r:id="rId8"/>
    <p:sldId id="733" r:id="rId9"/>
    <p:sldId id="260" r:id="rId10"/>
    <p:sldId id="734" r:id="rId11"/>
    <p:sldId id="735" r:id="rId12"/>
    <p:sldId id="342" r:id="rId13"/>
    <p:sldId id="343" r:id="rId14"/>
    <p:sldId id="261" r:id="rId15"/>
    <p:sldId id="736" r:id="rId16"/>
    <p:sldId id="262" r:id="rId17"/>
    <p:sldId id="263" r:id="rId18"/>
    <p:sldId id="264" r:id="rId19"/>
    <p:sldId id="748" r:id="rId20"/>
    <p:sldId id="738" r:id="rId21"/>
    <p:sldId id="739" r:id="rId22"/>
    <p:sldId id="265" r:id="rId23"/>
    <p:sldId id="737" r:id="rId24"/>
    <p:sldId id="268" r:id="rId25"/>
    <p:sldId id="740" r:id="rId26"/>
    <p:sldId id="396" r:id="rId27"/>
    <p:sldId id="266" r:id="rId28"/>
    <p:sldId id="275" r:id="rId29"/>
    <p:sldId id="347" r:id="rId30"/>
    <p:sldId id="273" r:id="rId31"/>
    <p:sldId id="345" r:id="rId32"/>
    <p:sldId id="398" r:id="rId33"/>
    <p:sldId id="346" r:id="rId34"/>
    <p:sldId id="389" r:id="rId35"/>
    <p:sldId id="348" r:id="rId36"/>
    <p:sldId id="349" r:id="rId37"/>
    <p:sldId id="278" r:id="rId38"/>
    <p:sldId id="350" r:id="rId39"/>
    <p:sldId id="399" r:id="rId40"/>
    <p:sldId id="351" r:id="rId41"/>
    <p:sldId id="352" r:id="rId42"/>
    <p:sldId id="353" r:id="rId43"/>
    <p:sldId id="400" r:id="rId44"/>
    <p:sldId id="401" r:id="rId45"/>
    <p:sldId id="402" r:id="rId46"/>
    <p:sldId id="749" r:id="rId47"/>
    <p:sldId id="741" r:id="rId48"/>
    <p:sldId id="367" r:id="rId49"/>
    <p:sldId id="403" r:id="rId50"/>
    <p:sldId id="404" r:id="rId51"/>
    <p:sldId id="371" r:id="rId52"/>
    <p:sldId id="405" r:id="rId53"/>
    <p:sldId id="406" r:id="rId54"/>
    <p:sldId id="407" r:id="rId55"/>
    <p:sldId id="408" r:id="rId56"/>
    <p:sldId id="409" r:id="rId57"/>
    <p:sldId id="410" r:id="rId58"/>
    <p:sldId id="742" r:id="rId59"/>
    <p:sldId id="411" r:id="rId60"/>
    <p:sldId id="412" r:id="rId61"/>
    <p:sldId id="413" r:id="rId62"/>
    <p:sldId id="414" r:id="rId63"/>
    <p:sldId id="743" r:id="rId64"/>
    <p:sldId id="744" r:id="rId65"/>
    <p:sldId id="745" r:id="rId66"/>
    <p:sldId id="415" r:id="rId67"/>
    <p:sldId id="282" r:id="rId68"/>
    <p:sldId id="283" r:id="rId69"/>
    <p:sldId id="746" r:id="rId70"/>
    <p:sldId id="394" r:id="rId71"/>
    <p:sldId id="284" r:id="rId72"/>
    <p:sldId id="375" r:id="rId73"/>
    <p:sldId id="421" r:id="rId74"/>
    <p:sldId id="423" r:id="rId75"/>
    <p:sldId id="424" r:id="rId76"/>
    <p:sldId id="425" r:id="rId77"/>
    <p:sldId id="426" r:id="rId78"/>
    <p:sldId id="747" r:id="rId79"/>
    <p:sldId id="377" r:id="rId80"/>
    <p:sldId id="428" r:id="rId81"/>
    <p:sldId id="433" r:id="rId82"/>
    <p:sldId id="422" r:id="rId83"/>
    <p:sldId id="381" r:id="rId84"/>
    <p:sldId id="382" r:id="rId85"/>
    <p:sldId id="383" r:id="rId86"/>
    <p:sldId id="434" r:id="rId87"/>
    <p:sldId id="378" r:id="rId88"/>
    <p:sldId id="379" r:id="rId89"/>
    <p:sldId id="437" r:id="rId90"/>
    <p:sldId id="438" r:id="rId91"/>
    <p:sldId id="386" r:id="rId92"/>
    <p:sldId id="395" r:id="rId93"/>
    <p:sldId id="727" r:id="rId94"/>
    <p:sldId id="647" r:id="rId95"/>
  </p:sldIdLst>
  <p:sldSz cx="9144000" cy="6858000" type="screen4x3"/>
  <p:notesSz cx="6754813" cy="98663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6600FF"/>
    <a:srgbClr val="CC00CC"/>
    <a:srgbClr val="CC00FF"/>
    <a:srgbClr val="003300"/>
    <a:srgbClr val="0000FF"/>
    <a:srgbClr val="FFFF66"/>
    <a:srgbClr val="660033"/>
    <a:srgbClr val="006600"/>
    <a:srgbClr val="EBEB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00" autoAdjust="0"/>
    <p:restoredTop sz="96159" autoAdjust="0"/>
  </p:normalViewPr>
  <p:slideViewPr>
    <p:cSldViewPr showGuides="1">
      <p:cViewPr varScale="1">
        <p:scale>
          <a:sx n="103" d="100"/>
          <a:sy n="103" d="100"/>
        </p:scale>
        <p:origin x="666" y="1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74" d="100"/>
          <a:sy n="74" d="100"/>
        </p:scale>
        <p:origin x="369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735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 b="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27463" y="0"/>
            <a:ext cx="292735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b="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29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2600"/>
            <a:ext cx="292735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 b="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29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27463" y="9372600"/>
            <a:ext cx="292735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b="0"/>
            </a:lvl1pPr>
          </a:lstStyle>
          <a:p>
            <a:pPr>
              <a:defRPr/>
            </a:pPr>
            <a:fld id="{71B41D2C-2C29-4CF8-A9DC-02ED4CC4F791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082046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84" units="cm"/>
          <inkml:channel name="Y" type="integer" max="1280" units="cm"/>
          <inkml:channel name="T" type="integer" max="2.14748E9" units="dev"/>
        </inkml:traceFormat>
        <inkml:channelProperties>
          <inkml:channelProperty channel="X" name="resolution" value="53.25409" units="1/cm"/>
          <inkml:channelProperty channel="Y" name="resolution" value="45.07042" units="1/cm"/>
          <inkml:channelProperty channel="T" name="resolution" value="1" units="1/dev"/>
        </inkml:channelProperties>
      </inkml:inkSource>
      <inkml:timestamp xml:id="ts0" timeString="2024-09-23T01:35:16.885"/>
    </inkml:context>
    <inkml:brush xml:id="br0">
      <inkml:brushProperty name="width" value="0.2" units="cm"/>
      <inkml:brushProperty name="height" value="0.4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0 80 0,'26'0'375,"-1"0"-344,0 0 516,1 0-532,25 0 17,-26 0 14,0 0 33,1 0 30,-1 0-93,1 0-16,-1 0 15,0 0 63,1 0 16,-1 0-78,26 0 15,-26 0-15,1 0-16,-1 0 15,1 0 1,-1 0 15,0 0-15,1 0-1,-1 0 1,26 0 0,-26 0-16,26 0 15,-25 0 110,-1 0-94,26 0-15,-26 0-16,1 0 16,-1 0-1,0 0 1,1 0 0,-1 0 46,1-26-31,-1 26-15,0 0 0,1 0-1,-1 0 32,1 0-16,-1 0-31,0 0 16,1 0 15,25-25 0,-26 25 16,0 0-31,1 0 15,-1 0-15,1 0 31,-1 0 109,0 0-140,26 0-16,-25 0 15,50 0 1,-51 0-1,1-26-15,-1 26 16,26 0 15,-26 0 1,1 0-17,24 0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84" units="cm"/>
          <inkml:channel name="Y" type="integer" max="1280" units="cm"/>
          <inkml:channel name="T" type="integer" max="2.14748E9" units="dev"/>
        </inkml:traceFormat>
        <inkml:channelProperties>
          <inkml:channelProperty channel="X" name="resolution" value="53.25409" units="1/cm"/>
          <inkml:channelProperty channel="Y" name="resolution" value="45.07042" units="1/cm"/>
          <inkml:channelProperty channel="T" name="resolution" value="1" units="1/dev"/>
        </inkml:channelProperties>
      </inkml:inkSource>
      <inkml:timestamp xml:id="ts0" timeString="2024-09-23T01:35:21.577"/>
    </inkml:context>
    <inkml:brush xml:id="br0">
      <inkml:brushProperty name="width" value="0.2" units="cm"/>
      <inkml:brushProperty name="height" value="0.4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0 130 0,'0'-26'94,"0"1"-16,26 25 94,-1 0-156,1 0 15,-1 0 234,0 0-140,1 0-93,-1 0-32,1 0 31,-1 0-15,0 0 30,1 0-30,-1 0 0,1 0-1,-1 0 17,26 0-32,0-25 0,-26 25 15,0 0 1,1 0-16,-1-26 15,26 26 17,-26 0-32,1 0 15,-1 0 32,26 0-31,-26 0-16,-25-25 31,26 25-31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84" units="cm"/>
          <inkml:channel name="Y" type="integer" max="1280" units="cm"/>
          <inkml:channel name="T" type="integer" max="2.14748E9" units="dev"/>
        </inkml:traceFormat>
        <inkml:channelProperties>
          <inkml:channelProperty channel="X" name="resolution" value="53.25409" units="1/cm"/>
          <inkml:channelProperty channel="Y" name="resolution" value="45.07042" units="1/cm"/>
          <inkml:channelProperty channel="T" name="resolution" value="1" units="1/dev"/>
        </inkml:channelProperties>
      </inkml:inkSource>
      <inkml:timestamp xml:id="ts0" timeString="2024-09-19T01:21:13.306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3 0,'25'0'187,"26"0"-187,25 0 16,1 0-1,-27 0 1,-24 0 0,-1 0 15,1 0 0,-1 0-15,26 0 46,0 0-46,-26 0 0,0 0-16,1 0 31,-1 0 31,26 0-46,-26 0 0,26 0-16,0 25 15,0-25 1,-26 0-1,1 0 17,-1 0 124,0 0-140,26 0-16,0 0 15,0 0 1,0 0-16,-26 0 31,0 0-15,1 0-1,25 0 1,-26 0 46,0 0-30,26 0 77,0 0-93,0 0-1,-26 0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84" units="cm"/>
          <inkml:channel name="Y" type="integer" max="1280" units="cm"/>
          <inkml:channel name="T" type="integer" max="2.14748E9" units="dev"/>
        </inkml:traceFormat>
        <inkml:channelProperties>
          <inkml:channelProperty channel="X" name="resolution" value="53.25409" units="1/cm"/>
          <inkml:channelProperty channel="Y" name="resolution" value="45.07042" units="1/cm"/>
          <inkml:channelProperty channel="T" name="resolution" value="1" units="1/dev"/>
        </inkml:channelProperties>
      </inkml:inkSource>
      <inkml:timestamp xml:id="ts0" timeString="2024-09-19T01:21:51.905"/>
    </inkml:context>
    <inkml:brush xml:id="br0">
      <inkml:brushProperty name="width" value="0.2" units="cm"/>
      <inkml:brushProperty name="height" value="0.4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0 0 0,'26'0'969,"-1"0"-875,0 0-79,52 0 1,24 0 0,-25 0-1,-50 25-15,-1-25 16,1 0-1,24 0 470,1 0-470,25 0 1,-50 0 0,-1 0-16,1 0 31,-1 0 94,26 0-78,-26 0-47,26 0 15,-26 26 1,1-26 0,-1 0 46,1 0-31,-1 0 94,0 0-109,26 0 0,0 0-1,25 0-15,-25 0 16,-26 0 0,1 0 15,-1 0-16,1 0 157,-1 0-140,0 0-17,26 0 1,25 0-1,-50-26-15,-1 26 32,1 0 15,-1 0-32,0 0 1,1 0 62,-1 0-31,1 0 0,-1 0-16,0 0-31,1 0 16,-1 0-1,1 0 1,-1 0-1,0 0 17,1 0-1,-1 0-15,1 0 62,-1 0-47,0 0 0,1 0 94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84" units="cm"/>
          <inkml:channel name="Y" type="integer" max="1280" units="cm"/>
          <inkml:channel name="T" type="integer" max="2.14748E9" units="dev"/>
        </inkml:traceFormat>
        <inkml:channelProperties>
          <inkml:channelProperty channel="X" name="resolution" value="53.25409" units="1/cm"/>
          <inkml:channelProperty channel="Y" name="resolution" value="45.07042" units="1/cm"/>
          <inkml:channelProperty channel="T" name="resolution" value="1" units="1/dev"/>
        </inkml:channelProperties>
      </inkml:inkSource>
      <inkml:timestamp xml:id="ts0" timeString="2024-09-19T01:23:50.762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0 119 0,'26'0'422,"-1"0"-422,26 0 16,-26 0-1,1 0 1,25 0-16,-1-25 15,1-1 1,0 1-16,-26 25 16,1 0-1,-1 0 282,1 0-266,-1 0 16,26 0-47,50 0 16,-24 0 0,-1 0-1,-51 0 1,1 0 124,24-26-108,-24 26-17,25 0-15,-1 0 32,1 0-1,-25 0-16,-1 0 32,26 0-15,-26 0 14,26 0-14,0 0-17,-26 0 17,1 0-1,-1 0 63,26 0-63,-26 0-31,1 0 15,-1 0 1,26 0 47,-26 26-48,1-26 32,-1 0-47,26 0 16,-26 0-1,1 0 17,-1 0 30,0 0-62,1 0 16,-1 0-1,1 0-15,-1 0 16,26 0 0,-26 0-1,1 0 16,24 0-15,27 0 0,-27 0-1,27-26-15,50 26 16,-102 0 0,0 0 15,1 0-16,-1 0 64,1 0-48,-1 0-16,0 0 17,1 0 15,-1 0-47,1 0 15,-1 0 1,26 0-16,-26 0 15,1 0 1,-1 0 0,0 0-1,1 0 17,-1 0 30,1 0-46,-1 0-1,0 0 1,1 0-16,-1 0 16,26 0-1,0 0 48,-26 0-48,1 0 1,-1 0-16,0 0 16,1 0-1,25 0 1,-26 0-16,0 0 15,1 0 48,-1 0-47,1 0-1,-1 0 1,0 0 31,1 0 62,-1 0-93,1 0 31,-1 0-32,0 0 173,1 0-173,-1 0 32,26 0-31,-26 0-1,1 0-15,-1 0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84" units="cm"/>
          <inkml:channel name="Y" type="integer" max="1280" units="cm"/>
          <inkml:channel name="T" type="integer" max="2.14748E9" units="dev"/>
        </inkml:traceFormat>
        <inkml:channelProperties>
          <inkml:channelProperty channel="X" name="resolution" value="53.25409" units="1/cm"/>
          <inkml:channelProperty channel="Y" name="resolution" value="45.07042" units="1/cm"/>
          <inkml:channelProperty channel="T" name="resolution" value="1" units="1/dev"/>
        </inkml:channelProperties>
      </inkml:inkSource>
      <inkml:timestamp xml:id="ts0" timeString="2024-09-19T01:23:55.903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45 0,'26'0'454,"50"0"-439,-51 0-15,51 0 16,1 0-1,-1 0 1,-51 0-16,1 0 16,-1 0-1,0 0-15,1 0 63,-1 0 46,1 0-93,50 0-1,-25 0-15,-1 0 16,1 0 47,-25 0-63,24 0 15,-24 0 1,-1 0-1,1 0 1,-1 0 0,26 0 15,-26 0-15,1 0-16,-1 0 15,0 0 1,1 0-1,-1 0 17,1 0-17,-1 0 1,0 26 0,1-26-1,25 0 1,-1 0-1,1 0 1,-25 0 0,24 0-16,1 0 15,-25 0 1,-1 0 0,0 0-1,1 0 1,-1 0-16,1 0 15,50 0 1,-25 0-16,25 0 16,-25 0-1,-26 0 1,0 0-16,1 0 16,-1 0-1,1 0 1,-1 0 31,0 0-16,1 0-31,-1 0 16,1 0-1,-1 0 16,0 0-15,1 0-16,25 0 16,-1 0-1,52 0 1,-51 0 0,0 0-1,-26 0-15,0 0 16,1 0 15,-1 0 16,1 0 47,-1 0-79,0 0-15,1 0 16,-1 0 15,1 0-15,-1 0-1,0 0-15,1 0 16,-1 0 15,1 0-15,24 0 15,52 0-15,-26 0-1,-25 0-15,0 0 16,0 0 0,-26 0-16,0 0 15,1 0 17,-1 0-32,1 0 78,-1 0 31,0 0-31,26 0-62,0 0-16,-26 0 156,1 0-140,-1 0-1,1 0 32,-1 0 0,0 0-31,1 0-1,-1 0 1,1 0 0,-1 0 46,0 0-62,-25 25 406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84" units="cm"/>
          <inkml:channel name="Y" type="integer" max="1280" units="cm"/>
          <inkml:channel name="T" type="integer" max="2.14748E9" units="dev"/>
        </inkml:traceFormat>
        <inkml:channelProperties>
          <inkml:channelProperty channel="X" name="resolution" value="53.25409" units="1/cm"/>
          <inkml:channelProperty channel="Y" name="resolution" value="45.07042" units="1/cm"/>
          <inkml:channelProperty channel="T" name="resolution" value="1" units="1/dev"/>
        </inkml:channelProperties>
      </inkml:inkSource>
      <inkml:timestamp xml:id="ts0" timeString="2024-09-19T01:24:16.840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0 153 0,'0'-25'62,"50"25"94,-24 0-124,-1 0-32,1 0 375,50 0-360,25 0 1,26-26-16,-76 26 15,25-25 1,-50 25-16,-1 0 78,-25-25-78,26 25 156,-1 0-140,26 0 47,25 0-63,-25 0 15,0 0 1,-26 0-1,0 0 1,1 0 31,25 0-31,-26 0-1,0 0 16,1 0 1,-1 0-1,1 0-15,-1 0-1,0 0-15,26 0 16,-25 0-1,-1 0 17,26 0-32,-26-26 31,1 26-15,-1 0 30,0 0 33,1 0-64,-1 0 32,1 0-47,24 0 31,1 0-15,-25 0 0,-1 0-1,0 0 110,1 0-109,-1 0-1,1 0 17,-1 0-17,0 0 1,1 0-16,-1 0 16,26 0-1,-26 0 32,1 0 31,25 0-47,-1 0-15,-24 0 15,-1 0-31,26 0 16,0 0 0,-26 0 15,1 0-16,24 0-15,-24 0 32,-1 0-17,1 0 79,-1 0-63,0 0 94,1 0-93,-1 0-32,1 0 31,-1 0 0,0 0 63,1 0-94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84" units="cm"/>
          <inkml:channel name="Y" type="integer" max="1280" units="cm"/>
          <inkml:channel name="T" type="integer" max="2.14748E9" units="dev"/>
        </inkml:traceFormat>
        <inkml:channelProperties>
          <inkml:channelProperty channel="X" name="resolution" value="53.25409" units="1/cm"/>
          <inkml:channelProperty channel="Y" name="resolution" value="45.07042" units="1/cm"/>
          <inkml:channelProperty channel="T" name="resolution" value="1" units="1/dev"/>
        </inkml:channelProperties>
      </inkml:inkSource>
      <inkml:timestamp xml:id="ts0" timeString="2024-07-01T07:16:46.255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78 0,'78'0'250,"26"-26"-235,-1 0-15,1 26 16,-78 0 0,52-26-16,-52 26 125,-1 0 15,1 0-124,0 0-16,26 0 47,-26 0-16,26 0-31,52 0 156,-27 0-140,-51 0-16,52 0 15,-52 0 189,52 0-189,-27 0 16,27 0-31,0 0 16,0 0-16,-52 0 16,0 0-1,0 0 1,-1 0 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84" units="cm"/>
          <inkml:channel name="Y" type="integer" max="1280" units="cm"/>
          <inkml:channel name="T" type="integer" max="2.14748E9" units="dev"/>
        </inkml:traceFormat>
        <inkml:channelProperties>
          <inkml:channelProperty channel="X" name="resolution" value="53.25409" units="1/cm"/>
          <inkml:channelProperty channel="Y" name="resolution" value="45.07042" units="1/cm"/>
          <inkml:channelProperty channel="T" name="resolution" value="1" units="1/dev"/>
        </inkml:channelProperties>
      </inkml:inkSource>
      <inkml:timestamp xml:id="ts0" timeString="2024-07-01T07:16:52.734"/>
    </inkml:context>
    <inkml:brush xml:id="br0">
      <inkml:brushProperty name="width" value="0.2" units="cm"/>
      <inkml:brushProperty name="height" value="0.4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0 2 0,'26'0'203,"26"0"-172,51 0-31,-51 0 16,52 25-16,-52 1 16,-27-26-1,1 26 1,0-26 359,52 0-359,0 0-1,77 0 1,-77 0-1,-26 0-15,-26 0 16,0 0 31,26 0-31,-26 0-1,-1 0 1,1 0 31,0 0-32,52 0 79,0 0-78,-26 0-1,-26 0 1,-1 0 0,1 0-16,26 0 15,-26 0 1,26 0 62,0 0-62,0 0-1,-26 0 1,-1 0 31,1 0 46,26 0-61,-26 0-1,0 0 78,0 0-93,52 0-16,-26 0 16,-26 0-1,-1 0 126,1 0-126,0 0 32,0 0 78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84" units="cm"/>
          <inkml:channel name="Y" type="integer" max="1280" units="cm"/>
          <inkml:channel name="T" type="integer" max="2.14748E9" units="dev"/>
        </inkml:traceFormat>
        <inkml:channelProperties>
          <inkml:channelProperty channel="X" name="resolution" value="53.25409" units="1/cm"/>
          <inkml:channelProperty channel="Y" name="resolution" value="45.07042" units="1/cm"/>
          <inkml:channelProperty channel="T" name="resolution" value="1" units="1/dev"/>
        </inkml:channelProperties>
      </inkml:inkSource>
      <inkml:timestamp xml:id="ts0" timeString="2024-07-01T07:17:16.899"/>
    </inkml:context>
    <inkml:brush xml:id="br0">
      <inkml:brushProperty name="width" value="0.2" units="cm"/>
      <inkml:brushProperty name="height" value="0.4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0,'26'0'125,"52"0"-109,52 0-1,-27 0-15,-51 0 16,0 0 0,0 0-1,0 0 17,25 25-1,27-25-31,-78 0 15,0 0 1,0 0 47,26 0 62,51 26-110,-25-26 1,52 26-1,-79-26 1,-25 0 0,0 0-16,0 0 125,0 0-110,26 0-15,-26 0 16,0 0-16,26 0 31,25 0-15,-25 0-16,-26 0 78,-26 26-62,78-26 62,0 0-63,-1 0-15,-25 0 16,-26 0 0,26 0 124,-26 0-140,52 0 16,-27 0-1,-25 0 17,0 0-17,0 0 142,0 0-126,52 0-16,-52 0 376,-26-26-375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84" units="cm"/>
          <inkml:channel name="Y" type="integer" max="1280" units="cm"/>
          <inkml:channel name="T" type="integer" max="2.14748E9" units="dev"/>
        </inkml:traceFormat>
        <inkml:channelProperties>
          <inkml:channelProperty channel="X" name="resolution" value="53.25409" units="1/cm"/>
          <inkml:channelProperty channel="Y" name="resolution" value="45.07042" units="1/cm"/>
          <inkml:channelProperty channel="T" name="resolution" value="1" units="1/dev"/>
        </inkml:channelProperties>
      </inkml:inkSource>
      <inkml:timestamp xml:id="ts0" timeString="2024-07-01T07:19:17.389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0,'103'0'234,"79"0"-202,-104 0-17,-27 0-15,-25 0 16,0 0 203,0 0-219,52 0 15,-26 0 1,0 0-1,-1 0-15,-25 0 16,0 0 0,0 0 15,0 0 78,0 0-93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84" units="cm"/>
          <inkml:channel name="Y" type="integer" max="1280" units="cm"/>
          <inkml:channel name="T" type="integer" max="2.14748E9" units="dev"/>
        </inkml:traceFormat>
        <inkml:channelProperties>
          <inkml:channelProperty channel="X" name="resolution" value="53.25409" units="1/cm"/>
          <inkml:channelProperty channel="Y" name="resolution" value="45.07042" units="1/cm"/>
          <inkml:channelProperty channel="T" name="resolution" value="1" units="1/dev"/>
        </inkml:channelProperties>
      </inkml:inkSource>
      <inkml:timestamp xml:id="ts0" timeString="2024-09-23T02:03:36.033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51 0,'25'0'219,"1"0"203,-1-25-375,1 25 0,-1 0 31,0 0-47,1 0 141,-1 0-156,26 0-1,-26 0-15,1 0 16,-1 25 0,1-25-1,-1 0-15,0 0 78,1 0-62,25 0 0,-26 0-16,26 0 234,25 0-218,0-25-16,-50-1 15,-1 26 1,0 0-16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84" units="cm"/>
          <inkml:channel name="Y" type="integer" max="1280" units="cm"/>
          <inkml:channel name="T" type="integer" max="2.14748E9" units="dev"/>
        </inkml:traceFormat>
        <inkml:channelProperties>
          <inkml:channelProperty channel="X" name="resolution" value="53.25409" units="1/cm"/>
          <inkml:channelProperty channel="Y" name="resolution" value="45.07042" units="1/cm"/>
          <inkml:channelProperty channel="T" name="resolution" value="1" units="1/dev"/>
        </inkml:channelProperties>
      </inkml:inkSource>
      <inkml:timestamp xml:id="ts0" timeString="2024-09-23T02:03:48.747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0,'26'0'125,"-1"0"15,0 0-124,1 0-16,-1 0 47,1 0-47,-1 0 47,0 0 15,1 0-46,-1 0 31,-25 26-16,26-26-15,-1 0 202,0 25-218,1-25 16,25 0 0,-26 0-1,0 0 1,26 0 0,-25 0 109,50 26-94,-51-26-16,1 0 1,-1 0 15,0 0-15,1 0 0,-1 0-16,1 0 15,-1 0 1,0 0 15,1 0-15,-1 0 15,1 0-15,-1 0 15,0 0-31,1 0 31,-1 0-15,1 0 46,-1 0-15,0 0-16,1 0 32,25 0-32,-26 0-31,0 0 16,1 0-1,-1 0 1,1 0-16,-1 0 31,0 0-15,1 0-1,-1-26 1,26 26-16,-26 0 31,1 0 1,25 0 46,-26-25-63,26 25-15,0 0 16,-26 0 62,0 0-62,26 0-1,-25 0 63,-1 0-78,0 0 32,1 0-32,-1 0 15,1 0 1,-1 0 46,0 0 17,1 0-1,-1 0-78,1 0 62,-1 0-46,26 0-16,0 0 31,-1 0-15,-24 0 62,-1 0-78,1 0 15,-1 0 1,0 0 31,26 0-31,-25 0-1,-1 0-15,0 0 641,1 0-563,25 0 16,-26 0-63,0 0 16,1 0-32,-1 0 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84" units="cm"/>
          <inkml:channel name="Y" type="integer" max="1280" units="cm"/>
          <inkml:channel name="T" type="integer" max="2.14748E9" units="dev"/>
        </inkml:traceFormat>
        <inkml:channelProperties>
          <inkml:channelProperty channel="X" name="resolution" value="53.25409" units="1/cm"/>
          <inkml:channelProperty channel="Y" name="resolution" value="45.07042" units="1/cm"/>
          <inkml:channelProperty channel="T" name="resolution" value="1" units="1/dev"/>
        </inkml:channelProperties>
      </inkml:inkSource>
      <inkml:timestamp xml:id="ts0" timeString="2024-09-23T02:03:56.182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0 103 0,'0'-25'46,"25"25"79,1 0-125,-1 0 16,1 0 0,24 0 140,-24 0-78,-1 0-62,1 0-1,-1 0 1,0 0 15,1-25-15,25-1-16,-26 26 15,26 0 1,-26 0 0,-25-25 62,26 25-31,-1 0-32,0 0 1,1 0 46,-1 0 32,1 0-78,-1 0-1,0 0 1,1 0 0,-1 0 46,1 0-46,-1 0 31,0 0-32,1 0-15,-1 0 125,1 0-47,-1 0-62,0 0 0,1 0-16,25 0 15,-1 25 1,-24-25 0,-1 0 15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37.81388" units="1/cm"/>
          <inkml:channelProperty channel="Y" name="resolution" value="37.79528" units="1/cm"/>
          <inkml:channelProperty channel="T" name="resolution" value="1" units="1/dev"/>
        </inkml:channelProperties>
      </inkml:inkSource>
      <inkml:timestamp xml:id="ts0" timeString="2024-07-02T01:31:56.737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29 0,'25'0'188,"26"-25"-157,-26 25-15,1 0 46,25 0-46,-26 0-1,0 0 157,26 0-141,-25 0-15,-1 0 0,26 0 46,-26 0-62,1 0 16,24 0 78,-24 0 31,-1 0-94,26 0-16,-26 0 1,1 0 15,25 25-15,-26-25 15,0 25 47,26-25 188,-25 0-235,-1 0-31,26 0 63,-26 0-32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37.81388" units="1/cm"/>
          <inkml:channelProperty channel="Y" name="resolution" value="37.79528" units="1/cm"/>
          <inkml:channelProperty channel="T" name="resolution" value="1" units="1/dev"/>
        </inkml:channelProperties>
      </inkml:inkSource>
      <inkml:timestamp xml:id="ts0" timeString="2024-07-02T01:32:44.085"/>
    </inkml:context>
    <inkml:brush xml:id="br0">
      <inkml:brushProperty name="width" value="0.2" units="cm"/>
      <inkml:brushProperty name="height" value="0.4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0 0 0,'25'0'296,"77"0"-46,0 0-218,-26 0 218,51 0-219,-26 0-15,-75 0 30,50 0 17,-51 0 31,26 0-79,-25 0 17,50 0-17,-51 0 32,1 0 16,24 0-48,-24 0 16,75 0 94,-75 0-109,126 0 0,-101 0-1,25 0 1,-50 0 140,24 0-109,52 0-31,50 0-1,26 0 1,-152 0 234,50 0-219,-51 0-15,26 0 31,-26 0 15,1 0-15,25 0-31,-26 0 93,0 0 32,26 0-126,51 0 17,25 0-17,-26 0-15,179 0 31,-255 0 204,1 0-220,50 0 95,-51 0-79,51 0-15,1 0 77,-52 0-30,51 0-16,-25 0-16,25 0-15,0 0-1,-50 0 17,-1 0 77,51 0-93,-50 0 187,25 0-125,-26 0-63,0 0 32,52 0-31,-52 0 93,77 0-93,-52 0 0,-24 0 15,-1 0 63,26 0-79,-26 0 16,1 0 16,25 0-15,-26 0 61,0 0 64,26 0-64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37.81388" units="1/cm"/>
          <inkml:channelProperty channel="Y" name="resolution" value="37.79528" units="1/cm"/>
          <inkml:channelProperty channel="T" name="resolution" value="1" units="1/dev"/>
        </inkml:channelProperties>
      </inkml:inkSource>
      <inkml:timestamp xml:id="ts0" timeString="2024-07-02T01:32:57.489"/>
    </inkml:context>
    <inkml:brush xml:id="br0">
      <inkml:brushProperty name="width" value="0.2" units="cm"/>
      <inkml:brushProperty name="height" value="0.4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0 28 0,'25'0'156,"178"0"-125,-76 0-15,-51 0-16,-50 0 469,25 0-454,-1 0 1,52 0 15,-51 0-31,76 0 31,-102 0 79,26 0-79,76 0-31,-51 0 31,-50 0-15,50 0-16,25 0 31,-75 0-31,-1 0 31,26 0-15,0 0 0,50 0-1,-50 0 16,-25 0-15,75 0 0,-75 0 62,50 0-63,25 0 1,-24-25 0,-52 25 15,0 0-31,26 0 31,-25 0 16,-1 0 78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84" units="cm"/>
          <inkml:channel name="Y" type="integer" max="1280" units="cm"/>
          <inkml:channel name="T" type="integer" max="2.14748E9" units="dev"/>
        </inkml:traceFormat>
        <inkml:channelProperties>
          <inkml:channelProperty channel="X" name="resolution" value="53.25409" units="1/cm"/>
          <inkml:channelProperty channel="Y" name="resolution" value="45.07042" units="1/cm"/>
          <inkml:channelProperty channel="T" name="resolution" value="1" units="1/dev"/>
        </inkml:channelProperties>
      </inkml:inkSource>
      <inkml:timestamp xml:id="ts0" timeString="2025-09-17T06:11:58.351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35 0,'27'-27'187,"0"27"126,0 0 109,27 0-297,-27 27-47,0 0 47,0-27 31,28 0-15,-28 0-94,0 0-16,0 0 0,27 0 0,-27 27 1,0-27 30,0 0-15,27 0 47,-27 0-63,0 0 0,0 0-15,27 0-1,-27 0 1,0 0 47,0 0-32,27 0 16,-27 0-16,0 0 0,0 0-15,27 0-1,-27 0 1,0 0 31,0 0-31,27 0 15,-27 0 0,0 0 16,0 0 0,27 0 0,-27 0 15,0 0-46,0 0-1,27 0 79,-27 0-47,0 0-31,0 0 46,27 0-15,-26 0 0,-1 0-16,0 27-15,27-27 15,-27 0-15,0 0-1,0 0 1,27 0 15,-27 0-15,0 0-1,0 0-15,27 0 32,-27 0-17,0 0 1,0 0-16,27 0 16,-27 0-16,0 0 15,0 0 1,27 0-16,-27 0 15,0 0 1,0 0 0,54 0-1,-54 0 1,0 0 0,27 0-1,-27 0 16,0 0 1,0 0 61,27 0-61,-27 0-17,0 0 17,0 0-17,27 0 16,-27 0 16,0 0-15,1 0 46,26 0-63,-27 0 1,0 0 15,0 0 0,27 0 1,-27 0-17,0 0 1,0 0-16,27 0 16,-27 0-1,0 0 1,0 0 31,27 0-16,-27 0-15,0 0-16,0 0 31,27 0-16,-27 0-15,0 0 32,0 0-17,27 0 1,-27 0 15,0 0 32,0 0-1,27 0-15,-27 0 0,0 0-31,0 0-1,27 0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735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25875" y="0"/>
            <a:ext cx="292735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fld id="{C138F6CC-4575-4FA3-96FB-B4588C17694A}" type="datetimeFigureOut">
              <a:rPr lang="ko-KR" altLang="en-US"/>
              <a:pPr>
                <a:defRPr/>
              </a:pPr>
              <a:t>2025-09-18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1225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275" y="4686300"/>
            <a:ext cx="5403850" cy="4440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27350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25875" y="9371013"/>
            <a:ext cx="2927350" cy="4937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D3D142C-DECB-4FBD-BF74-8CDE4A343FD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51229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679055"/>
            <a:ext cx="91440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50281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8"/>
          <p:cNvSpPr txBox="1">
            <a:spLocks noChangeArrowheads="1"/>
          </p:cNvSpPr>
          <p:nvPr userDrawn="1"/>
        </p:nvSpPr>
        <p:spPr bwMode="auto">
          <a:xfrm>
            <a:off x="8686800" y="6477000"/>
            <a:ext cx="4492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CC4BB43-D17A-4953-8EE3-6014C32E9D4E}" type="slidenum">
              <a:rPr kumimoji="1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rPr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Y헤드라인M" panose="02030600000101010101" pitchFamily="18" charset="-127"/>
              <a:ea typeface="HY헤드라인M" panose="02030600000101010101" pitchFamily="18" charset="-127"/>
              <a:cs typeface="+mn-cs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-1" y="764704"/>
            <a:ext cx="9136063" cy="547260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0722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147329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"/>
          <p:cNvSpPr txBox="1">
            <a:spLocks noChangeArrowheads="1"/>
          </p:cNvSpPr>
          <p:nvPr userDrawn="1"/>
        </p:nvSpPr>
        <p:spPr bwMode="auto">
          <a:xfrm>
            <a:off x="8686800" y="6477000"/>
            <a:ext cx="4492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DA805A2-9F84-45BE-8BD7-1E51A1DF9424}" type="slidenum">
              <a:rPr kumimoji="1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rPr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Y헤드라인M" panose="02030600000101010101" pitchFamily="18" charset="-127"/>
              <a:ea typeface="HY헤드라인M" panose="02030600000101010101" pitchFamily="18" charset="-127"/>
              <a:cs typeface="+mn-cs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5800" y="990600"/>
            <a:ext cx="38100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38100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37525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8"/>
          <p:cNvSpPr txBox="1">
            <a:spLocks noChangeArrowheads="1"/>
          </p:cNvSpPr>
          <p:nvPr userDrawn="1"/>
        </p:nvSpPr>
        <p:spPr bwMode="auto">
          <a:xfrm>
            <a:off x="8686800" y="6477000"/>
            <a:ext cx="4492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C673D2B-2176-422C-BDB0-5953B7D33B07}" type="slidenum">
              <a:rPr kumimoji="1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rPr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Y헤드라인M" panose="02030600000101010101" pitchFamily="18" charset="-127"/>
              <a:ea typeface="HY헤드라인M" panose="02030600000101010101" pitchFamily="18" charset="-127"/>
              <a:cs typeface="+mn-cs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941023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8"/>
          <p:cNvSpPr txBox="1">
            <a:spLocks noChangeArrowheads="1"/>
          </p:cNvSpPr>
          <p:nvPr userDrawn="1"/>
        </p:nvSpPr>
        <p:spPr bwMode="auto">
          <a:xfrm>
            <a:off x="8686800" y="6477000"/>
            <a:ext cx="4492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99C861F-004C-424B-9569-FE0C21EF01CB}" type="slidenum">
              <a:rPr kumimoji="1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rPr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Y헤드라인M" panose="02030600000101010101" pitchFamily="18" charset="-127"/>
              <a:ea typeface="HY헤드라인M" panose="02030600000101010101" pitchFamily="18" charset="-127"/>
              <a:cs typeface="+mn-cs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575462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/>
          <p:cNvSpPr txBox="1">
            <a:spLocks noChangeArrowheads="1"/>
          </p:cNvSpPr>
          <p:nvPr userDrawn="1"/>
        </p:nvSpPr>
        <p:spPr bwMode="auto">
          <a:xfrm>
            <a:off x="8686800" y="6477000"/>
            <a:ext cx="4492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BD91C17-14B1-44CE-9E26-0CBD86419593}" type="slidenum">
              <a:rPr kumimoji="1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rPr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Y헤드라인M" panose="02030600000101010101" pitchFamily="18" charset="-127"/>
              <a:ea typeface="HY헤드라인M" panose="02030600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5949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"/>
          <p:cNvSpPr txBox="1">
            <a:spLocks noChangeArrowheads="1"/>
          </p:cNvSpPr>
          <p:nvPr userDrawn="1"/>
        </p:nvSpPr>
        <p:spPr bwMode="auto">
          <a:xfrm>
            <a:off x="8686800" y="6477000"/>
            <a:ext cx="4492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1B02950-17C8-4D4B-A3D7-A450EC9EA412}" type="slidenum">
              <a:rPr kumimoji="1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rPr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Y헤드라인M" panose="02030600000101010101" pitchFamily="18" charset="-127"/>
              <a:ea typeface="HY헤드라인M" panose="02030600000101010101" pitchFamily="18" charset="-127"/>
              <a:cs typeface="+mn-cs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723679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"/>
          <p:cNvSpPr txBox="1">
            <a:spLocks noChangeArrowheads="1"/>
          </p:cNvSpPr>
          <p:nvPr userDrawn="1"/>
        </p:nvSpPr>
        <p:spPr bwMode="auto">
          <a:xfrm>
            <a:off x="8686800" y="6477000"/>
            <a:ext cx="4492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DBA0897-1EFA-448E-9460-89BA3CE19E1B}" type="slidenum">
              <a:rPr kumimoji="1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rPr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Y헤드라인M" panose="02030600000101010101" pitchFamily="18" charset="-127"/>
              <a:ea typeface="HY헤드라인M" panose="02030600000101010101" pitchFamily="18" charset="-127"/>
              <a:cs typeface="+mn-cs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400451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8"/>
          <p:cNvSpPr txBox="1">
            <a:spLocks noChangeArrowheads="1"/>
          </p:cNvSpPr>
          <p:nvPr userDrawn="1"/>
        </p:nvSpPr>
        <p:spPr bwMode="auto">
          <a:xfrm>
            <a:off x="8686800" y="6477000"/>
            <a:ext cx="4492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A2F3DC9-1598-415E-8B10-F68296343805}" type="slidenum">
              <a:rPr kumimoji="1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rPr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Y헤드라인M" panose="02030600000101010101" pitchFamily="18" charset="-127"/>
              <a:ea typeface="HY헤드라인M" panose="02030600000101010101" pitchFamily="18" charset="-127"/>
              <a:cs typeface="+mn-cs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258467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8"/>
          <p:cNvSpPr txBox="1">
            <a:spLocks noChangeArrowheads="1"/>
          </p:cNvSpPr>
          <p:nvPr userDrawn="1"/>
        </p:nvSpPr>
        <p:spPr bwMode="auto">
          <a:xfrm>
            <a:off x="8686800" y="6477000"/>
            <a:ext cx="4492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A475CF6-6B23-435A-A1E4-9E8EF6D1C21A}" type="slidenum">
              <a:rPr kumimoji="1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rPr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Y헤드라인M" panose="02030600000101010101" pitchFamily="18" charset="-127"/>
              <a:ea typeface="HY헤드라인M" panose="02030600000101010101" pitchFamily="18" charset="-127"/>
              <a:cs typeface="+mn-cs"/>
            </a:endParaRPr>
          </a:p>
        </p:txBody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0960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0960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9398392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679055"/>
            <a:ext cx="91440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359878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679055"/>
            <a:ext cx="91440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526210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679055"/>
            <a:ext cx="91440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2077860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과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8"/>
          <p:cNvSpPr txBox="1">
            <a:spLocks noChangeArrowheads="1"/>
          </p:cNvSpPr>
          <p:nvPr userDrawn="1"/>
        </p:nvSpPr>
        <p:spPr bwMode="auto">
          <a:xfrm>
            <a:off x="8686800" y="6477000"/>
            <a:ext cx="4492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defRPr/>
            </a:pPr>
            <a:fld id="{ACC4BB43-D17A-4953-8EE3-6014C32E9D4E}" type="slidenum">
              <a:rPr lang="ko-KR" altLang="en-US" sz="1400" b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pPr eaLnBrk="1" latinLnBrk="1" hangingPunct="1">
                <a:defRPr/>
              </a:pPr>
              <a:t>‹#›</a:t>
            </a:fld>
            <a:endParaRPr lang="en-US" altLang="ko-KR" sz="1400" b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-1" y="764704"/>
            <a:ext cx="9136063" cy="5472608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427E48AB-2A3D-4859-B338-4DC8BD38C7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7904" y="0"/>
            <a:ext cx="5428159" cy="685800"/>
          </a:xfrm>
        </p:spPr>
        <p:txBody>
          <a:bodyPr anchor="b"/>
          <a:lstStyle>
            <a:lvl1pPr marL="0" indent="0" algn="r">
              <a:buNone/>
              <a:defRPr sz="2800" b="1">
                <a:solidFill>
                  <a:srgbClr val="66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952551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과제_프로젝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8"/>
          <p:cNvSpPr txBox="1">
            <a:spLocks noChangeArrowheads="1"/>
          </p:cNvSpPr>
          <p:nvPr userDrawn="1"/>
        </p:nvSpPr>
        <p:spPr bwMode="auto">
          <a:xfrm>
            <a:off x="8686800" y="6477000"/>
            <a:ext cx="4492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defRPr/>
            </a:pPr>
            <a:fld id="{ACC4BB43-D17A-4953-8EE3-6014C32E9D4E}" type="slidenum">
              <a:rPr lang="ko-KR" altLang="en-US" sz="1400" b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pPr eaLnBrk="1" latinLnBrk="1" hangingPunct="1">
                <a:defRPr/>
              </a:pPr>
              <a:t>‹#›</a:t>
            </a:fld>
            <a:endParaRPr lang="en-US" altLang="ko-KR" sz="1400" b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427E48AB-2A3D-4859-B338-4DC8BD38C7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7904" y="0"/>
            <a:ext cx="5428159" cy="685800"/>
          </a:xfrm>
        </p:spPr>
        <p:txBody>
          <a:bodyPr anchor="b"/>
          <a:lstStyle>
            <a:lvl1pPr marL="0" indent="0" algn="r">
              <a:buNone/>
              <a:defRPr sz="2800" b="1">
                <a:solidFill>
                  <a:srgbClr val="66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45D70618-573F-480F-B9B9-AF5EA73456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96008"/>
            <a:ext cx="3810000" cy="4241304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pPr marL="514350" indent="-514350">
              <a:buFont typeface="+mj-lt"/>
              <a:buAutoNum type="arabicPeriod"/>
            </a:pPr>
            <a:endParaRPr lang="en-US" altLang="ko-KR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A2F66D-97DA-44B7-A6F9-5F37704137EE}"/>
              </a:ext>
            </a:extLst>
          </p:cNvPr>
          <p:cNvSpPr txBox="1"/>
          <p:nvPr userDrawn="1"/>
        </p:nvSpPr>
        <p:spPr>
          <a:xfrm>
            <a:off x="107504" y="716503"/>
            <a:ext cx="89289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ko-KR" altLang="en-US" dirty="0">
                <a:solidFill>
                  <a:srgbClr val="0033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아래 프로젝트의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실행화면</a:t>
            </a:r>
            <a:r>
              <a:rPr lang="ko-KR" altLang="en-US" dirty="0">
                <a:solidFill>
                  <a:srgbClr val="0033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스크린샷</a:t>
            </a:r>
            <a:r>
              <a:rPr lang="en-US" altLang="ko-KR" dirty="0">
                <a:solidFill>
                  <a:srgbClr val="0033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activity_main.xml</a:t>
            </a:r>
            <a:r>
              <a:rPr lang="en-US" altLang="ko-KR" dirty="0">
                <a:solidFill>
                  <a:srgbClr val="0033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MainActivity.java </a:t>
            </a:r>
            <a:r>
              <a:rPr lang="ko-KR" altLang="en-US" dirty="0">
                <a:solidFill>
                  <a:srgbClr val="0033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관련 추가 파일</a:t>
            </a:r>
            <a:r>
              <a:rPr lang="ko-KR" altLang="en-US" dirty="0">
                <a:solidFill>
                  <a:srgbClr val="0033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정리한 후 압축해서 제출합니다</a:t>
            </a:r>
            <a:r>
              <a:rPr lang="en-US" altLang="ko-KR" dirty="0">
                <a:solidFill>
                  <a:srgbClr val="0033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dirty="0">
              <a:solidFill>
                <a:srgbClr val="0033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728780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과제_프로젝트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3C78B32-DB99-4344-BCCB-06A75A3361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40200" y="1996032"/>
            <a:ext cx="4995863" cy="4385296"/>
          </a:xfrm>
        </p:spPr>
        <p:txBody>
          <a:bodyPr/>
          <a:lstStyle>
            <a:lvl1pPr marL="457200" indent="-457200">
              <a:buFont typeface="+mj-lt"/>
              <a:buAutoNum type="arabicPeriod"/>
              <a:defRPr sz="2000"/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4" name="Text Box 8"/>
          <p:cNvSpPr txBox="1">
            <a:spLocks noChangeArrowheads="1"/>
          </p:cNvSpPr>
          <p:nvPr userDrawn="1"/>
        </p:nvSpPr>
        <p:spPr bwMode="auto">
          <a:xfrm>
            <a:off x="8686800" y="6477000"/>
            <a:ext cx="4492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defRPr/>
            </a:pPr>
            <a:fld id="{ACC4BB43-D17A-4953-8EE3-6014C32E9D4E}" type="slidenum">
              <a:rPr lang="ko-KR" altLang="en-US" sz="1400" b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pPr eaLnBrk="1" latinLnBrk="1" hangingPunct="1">
                <a:defRPr/>
              </a:pPr>
              <a:t>‹#›</a:t>
            </a:fld>
            <a:endParaRPr lang="en-US" altLang="ko-KR" sz="1400" b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427E48AB-2A3D-4859-B338-4DC8BD38C7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7904" y="0"/>
            <a:ext cx="5428159" cy="685800"/>
          </a:xfrm>
        </p:spPr>
        <p:txBody>
          <a:bodyPr anchor="b"/>
          <a:lstStyle>
            <a:lvl1pPr marL="0" indent="0" algn="r">
              <a:buNone/>
              <a:defRPr sz="2800" b="1">
                <a:solidFill>
                  <a:srgbClr val="66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45D70618-573F-480F-B9B9-AF5EA73456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96008"/>
            <a:ext cx="3810000" cy="4241304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pPr marL="514350" indent="-514350">
              <a:buFont typeface="+mj-lt"/>
              <a:buAutoNum type="arabicPeriod"/>
            </a:pPr>
            <a:endParaRPr lang="en-US" altLang="ko-KR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A2F66D-97DA-44B7-A6F9-5F37704137EE}"/>
              </a:ext>
            </a:extLst>
          </p:cNvPr>
          <p:cNvSpPr txBox="1"/>
          <p:nvPr userDrawn="1"/>
        </p:nvSpPr>
        <p:spPr>
          <a:xfrm>
            <a:off x="107504" y="716503"/>
            <a:ext cx="89289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ko-KR" altLang="en-US" dirty="0">
                <a:solidFill>
                  <a:srgbClr val="0033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아래 프로젝트의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실행화면</a:t>
            </a:r>
            <a:r>
              <a:rPr lang="ko-KR" altLang="en-US" dirty="0">
                <a:solidFill>
                  <a:srgbClr val="0033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스크린샷</a:t>
            </a:r>
            <a:r>
              <a:rPr lang="en-US" altLang="ko-KR" dirty="0">
                <a:solidFill>
                  <a:srgbClr val="0033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activity_main.xml</a:t>
            </a:r>
            <a:r>
              <a:rPr lang="en-US" altLang="ko-KR" dirty="0">
                <a:solidFill>
                  <a:srgbClr val="0033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MainActivity.java </a:t>
            </a:r>
            <a:r>
              <a:rPr lang="ko-KR" altLang="en-US" dirty="0">
                <a:solidFill>
                  <a:srgbClr val="0033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관련 추가 파일</a:t>
            </a:r>
            <a:r>
              <a:rPr lang="ko-KR" altLang="en-US" dirty="0">
                <a:solidFill>
                  <a:srgbClr val="0033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정리한 후 압축해서 제출합니다</a:t>
            </a:r>
            <a:r>
              <a:rPr lang="en-US" altLang="ko-KR" dirty="0">
                <a:solidFill>
                  <a:srgbClr val="0033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dirty="0">
              <a:solidFill>
                <a:srgbClr val="0033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55894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영단어 과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0"/>
            <a:ext cx="5004048" cy="685800"/>
          </a:xfrm>
        </p:spPr>
        <p:txBody>
          <a:bodyPr/>
          <a:lstStyle>
            <a:lvl1pPr>
              <a:defRPr sz="2800">
                <a:solidFill>
                  <a:srgbClr val="6600FF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1D9252-850D-49CC-AAF0-4834565B6B9E}"/>
              </a:ext>
            </a:extLst>
          </p:cNvPr>
          <p:cNvSpPr txBox="1"/>
          <p:nvPr userDrawn="1"/>
        </p:nvSpPr>
        <p:spPr>
          <a:xfrm>
            <a:off x="3275856" y="6536377"/>
            <a:ext cx="58326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3333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♥ 이 슬라이드를 출력한 후 발음과 뜻을 써서 제출하세요</a:t>
            </a:r>
            <a:r>
              <a:rPr lang="en-US" altLang="ko-KR" sz="1200" dirty="0">
                <a:solidFill>
                  <a:srgbClr val="3333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(!</a:t>
            </a:r>
            <a:r>
              <a:rPr lang="ko-KR" altLang="en-US" sz="1200" dirty="0">
                <a:solidFill>
                  <a:srgbClr val="3333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뒷면은 연습 </a:t>
            </a:r>
            <a:r>
              <a:rPr lang="ko-KR" altLang="en-US" sz="1200" dirty="0" err="1">
                <a:solidFill>
                  <a:srgbClr val="3333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깜지</a:t>
            </a:r>
            <a:r>
              <a:rPr lang="en-US" altLang="ko-KR" sz="1200" dirty="0">
                <a:solidFill>
                  <a:srgbClr val="3333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!)</a:t>
            </a:r>
            <a:r>
              <a:rPr lang="ko-KR" altLang="en-US" sz="1200" dirty="0">
                <a:solidFill>
                  <a:srgbClr val="3333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♥ 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FC6DD0ED-1AEA-4B62-B727-75EC2BBFB911}"/>
              </a:ext>
            </a:extLst>
          </p:cNvPr>
          <p:cNvSpPr txBox="1">
            <a:spLocks/>
          </p:cNvSpPr>
          <p:nvPr userDrawn="1"/>
        </p:nvSpPr>
        <p:spPr bwMode="auto">
          <a:xfrm>
            <a:off x="5004048" y="6896"/>
            <a:ext cx="2088232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9pPr>
          </a:lstStyle>
          <a:p>
            <a:r>
              <a:rPr lang="ko-KR" altLang="en-US" kern="0" dirty="0">
                <a:solidFill>
                  <a:srgbClr val="C00000"/>
                </a:solidFill>
              </a:rPr>
              <a:t>관련 </a:t>
            </a:r>
            <a:r>
              <a:rPr lang="ko-KR" altLang="en-US" kern="0" dirty="0" err="1">
                <a:solidFill>
                  <a:srgbClr val="C00000"/>
                </a:solidFill>
              </a:rPr>
              <a:t>영단어</a:t>
            </a:r>
            <a:endParaRPr lang="ko-KR" altLang="en-US" kern="0" dirty="0">
              <a:solidFill>
                <a:srgbClr val="C00000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4299658-5B44-439B-BD32-D3C1E5306CC9}"/>
              </a:ext>
            </a:extLst>
          </p:cNvPr>
          <p:cNvGraphicFramePr>
            <a:graphicFrameLocks noGrp="1"/>
          </p:cNvGraphicFramePr>
          <p:nvPr userDrawn="1">
            <p:extLst/>
          </p:nvPr>
        </p:nvGraphicFramePr>
        <p:xfrm>
          <a:off x="7020272" y="44624"/>
          <a:ext cx="2051720" cy="609600"/>
        </p:xfrm>
        <a:graphic>
          <a:graphicData uri="http://schemas.openxmlformats.org/drawingml/2006/table">
            <a:tbl>
              <a:tblPr firstRow="1" bandRow="1">
                <a:tableStyleId>{306799F8-075E-4A3A-A7F6-7FBC6576F1A4}</a:tableStyleId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val="3927066873"/>
                    </a:ext>
                  </a:extLst>
                </a:gridCol>
                <a:gridCol w="1403648">
                  <a:extLst>
                    <a:ext uri="{9D8B030D-6E8A-4147-A177-3AD203B41FA5}">
                      <a16:colId xmlns:a16="http://schemas.microsoft.com/office/drawing/2014/main" val="1734211722"/>
                    </a:ext>
                  </a:extLst>
                </a:gridCol>
              </a:tblGrid>
              <a:tr h="2992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학번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220716"/>
                  </a:ext>
                </a:extLst>
              </a:tr>
              <a:tr h="2992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성명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5286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576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990600"/>
            <a:ext cx="77724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8" name="Rectangle 10"/>
          <p:cNvSpPr>
            <a:spLocks noChangeArrowheads="1"/>
          </p:cNvSpPr>
          <p:nvPr userDrawn="1"/>
        </p:nvSpPr>
        <p:spPr bwMode="auto">
          <a:xfrm>
            <a:off x="0" y="6248400"/>
            <a:ext cx="9144000" cy="762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1029" name="Line 12"/>
          <p:cNvSpPr>
            <a:spLocks noChangeShapeType="1"/>
          </p:cNvSpPr>
          <p:nvPr userDrawn="1"/>
        </p:nvSpPr>
        <p:spPr bwMode="auto">
          <a:xfrm>
            <a:off x="0" y="685800"/>
            <a:ext cx="9144000" cy="0"/>
          </a:xfrm>
          <a:prstGeom prst="line">
            <a:avLst/>
          </a:prstGeom>
          <a:noFill/>
          <a:ln w="25400">
            <a:solidFill>
              <a:srgbClr val="33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1030" name="TextBox 8"/>
          <p:cNvSpPr txBox="1">
            <a:spLocks noChangeArrowheads="1"/>
          </p:cNvSpPr>
          <p:nvPr userDrawn="1"/>
        </p:nvSpPr>
        <p:spPr bwMode="auto">
          <a:xfrm>
            <a:off x="4024313" y="6324600"/>
            <a:ext cx="11080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컴퓨터공학과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6859CB3-DAF6-4036-B38E-15278AF5C207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" y="6323564"/>
            <a:ext cx="2915816" cy="534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300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45" r:id="rId12"/>
    <p:sldLayoutId id="2147483846" r:id="rId13"/>
    <p:sldLayoutId id="2147483821" r:id="rId14"/>
    <p:sldLayoutId id="2147483848" r:id="rId15"/>
    <p:sldLayoutId id="2147483849" r:id="rId16"/>
    <p:sldLayoutId id="2147483850" r:id="rId17"/>
    <p:sldLayoutId id="2147483847" r:id="rId18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rgbClr val="000066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rgbClr val="000066"/>
          </a:solidFill>
          <a:effectLst>
            <a:outerShdw blurRad="38100" dist="38100" dir="2700000" algn="tl">
              <a:srgbClr val="C0C0C0"/>
            </a:outerShdw>
          </a:effectLst>
          <a:latin typeface="HY헤드라인M" pitchFamily="18" charset="-127"/>
          <a:ea typeface="HY헤드라인M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rgbClr val="000066"/>
          </a:solidFill>
          <a:effectLst>
            <a:outerShdw blurRad="38100" dist="38100" dir="2700000" algn="tl">
              <a:srgbClr val="C0C0C0"/>
            </a:outerShdw>
          </a:effectLst>
          <a:latin typeface="HY헤드라인M" pitchFamily="18" charset="-127"/>
          <a:ea typeface="HY헤드라인M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rgbClr val="000066"/>
          </a:solidFill>
          <a:effectLst>
            <a:outerShdw blurRad="38100" dist="38100" dir="2700000" algn="tl">
              <a:srgbClr val="C0C0C0"/>
            </a:outerShdw>
          </a:effectLst>
          <a:latin typeface="HY헤드라인M" pitchFamily="18" charset="-127"/>
          <a:ea typeface="HY헤드라인M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rgbClr val="000066"/>
          </a:solidFill>
          <a:effectLst>
            <a:outerShdw blurRad="38100" dist="38100" dir="2700000" algn="tl">
              <a:srgbClr val="C0C0C0"/>
            </a:outerShdw>
          </a:effectLst>
          <a:latin typeface="HY헤드라인M" pitchFamily="18" charset="-127"/>
          <a:ea typeface="HY헤드라인M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4400" b="1">
          <a:solidFill>
            <a:srgbClr val="000066"/>
          </a:solidFill>
          <a:effectLst>
            <a:outerShdw blurRad="38100" dist="38100" dir="2700000" algn="tl">
              <a:srgbClr val="C0C0C0"/>
            </a:outerShdw>
          </a:effectLst>
          <a:latin typeface="HY헤드라인M" pitchFamily="18" charset="-127"/>
          <a:ea typeface="HY헤드라인M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4400" b="1">
          <a:solidFill>
            <a:srgbClr val="000066"/>
          </a:solidFill>
          <a:effectLst>
            <a:outerShdw blurRad="38100" dist="38100" dir="2700000" algn="tl">
              <a:srgbClr val="C0C0C0"/>
            </a:outerShdw>
          </a:effectLst>
          <a:latin typeface="HY헤드라인M" pitchFamily="18" charset="-127"/>
          <a:ea typeface="HY헤드라인M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4400" b="1">
          <a:solidFill>
            <a:srgbClr val="000066"/>
          </a:solidFill>
          <a:effectLst>
            <a:outerShdw blurRad="38100" dist="38100" dir="2700000" algn="tl">
              <a:srgbClr val="C0C0C0"/>
            </a:outerShdw>
          </a:effectLst>
          <a:latin typeface="HY헤드라인M" pitchFamily="18" charset="-127"/>
          <a:ea typeface="HY헤드라인M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4400" b="1">
          <a:solidFill>
            <a:srgbClr val="000066"/>
          </a:solidFill>
          <a:effectLst>
            <a:outerShdw blurRad="38100" dist="38100" dir="2700000" algn="tl">
              <a:srgbClr val="C0C0C0"/>
            </a:outerShdw>
          </a:effectLst>
          <a:latin typeface="HY헤드라인M" pitchFamily="18" charset="-127"/>
          <a:ea typeface="HY헤드라인M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rgbClr val="660033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–"/>
        <a:defRPr kumimoji="1" sz="2800">
          <a:solidFill>
            <a:srgbClr val="003300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5" Type="http://schemas.openxmlformats.org/officeDocument/2006/relationships/customXml" Target="../ink/ink2.xml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9.e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4.xml"/><Relationship Id="rId5" Type="http://schemas.openxmlformats.org/officeDocument/2006/relationships/image" Target="../media/image18.emf"/><Relationship Id="rId4" Type="http://schemas.openxmlformats.org/officeDocument/2006/relationships/customXml" Target="../ink/ink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developer.android.com/reference/android/widget/TextView" TargetMode="External"/><Relationship Id="rId13" Type="http://schemas.openxmlformats.org/officeDocument/2006/relationships/hyperlink" Target="https://developer.android.com/reference/android/app/Activity#setContentView(int)" TargetMode="External"/><Relationship Id="rId3" Type="http://schemas.openxmlformats.org/officeDocument/2006/relationships/hyperlink" Target="https://developer.android.com/reference/android/widget/LinearLayout#LinearLayout(android.content.Context)" TargetMode="External"/><Relationship Id="rId7" Type="http://schemas.openxmlformats.org/officeDocument/2006/relationships/hyperlink" Target="https://developer.android.com/reference/android/widget/Button#Button(android.content.Context)" TargetMode="External"/><Relationship Id="rId12" Type="http://schemas.openxmlformats.org/officeDocument/2006/relationships/hyperlink" Target="https://developer.android.com/reference/android/view/ViewGroup?hl=en#addView(android.view.View)" TargetMode="External"/><Relationship Id="rId2" Type="http://schemas.openxmlformats.org/officeDocument/2006/relationships/hyperlink" Target="https://developer.android.com/reference/android/widget/LinearLayou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veloper.android.com/reference/android/widget/Button" TargetMode="External"/><Relationship Id="rId11" Type="http://schemas.openxmlformats.org/officeDocument/2006/relationships/hyperlink" Target="https://developer.android.com/reference/android/view/ViewGroup?hl=en" TargetMode="External"/><Relationship Id="rId5" Type="http://schemas.openxmlformats.org/officeDocument/2006/relationships/hyperlink" Target="https://developer.android.com/reference/android/widget/LinearLayout?hl=en#setOrientation(int)" TargetMode="External"/><Relationship Id="rId10" Type="http://schemas.openxmlformats.org/officeDocument/2006/relationships/hyperlink" Target="https://developer.android.com/reference/java/lang/CharSequence" TargetMode="External"/><Relationship Id="rId4" Type="http://schemas.openxmlformats.org/officeDocument/2006/relationships/hyperlink" Target="https://developer.android.com/reference/android/content/Context" TargetMode="External"/><Relationship Id="rId9" Type="http://schemas.openxmlformats.org/officeDocument/2006/relationships/hyperlink" Target="https://developer.android.com/reference/android/widget/TextView#setText(java.lang.CharSequence)" TargetMode="Externa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3" Type="http://schemas.openxmlformats.org/officeDocument/2006/relationships/customXml" Target="../ink/ink5.xml"/><Relationship Id="rId7" Type="http://schemas.openxmlformats.org/officeDocument/2006/relationships/customXml" Target="../ink/ink7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emf"/><Relationship Id="rId5" Type="http://schemas.openxmlformats.org/officeDocument/2006/relationships/customXml" Target="../ink/ink6.xml"/><Relationship Id="rId4" Type="http://schemas.openxmlformats.org/officeDocument/2006/relationships/image" Target="../media/image27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developer.android.com/reference/android/app/Activity#findViewById(int)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hyperlink" Target="https://developer.android.com/reference/android/view/ViewGroup?hl=en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hyperlink" Target="https://developer.android.com/reference/android/widget/TextView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hyperlink" Target="https://developer.android.com/reference/android/widget/Button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3" Type="http://schemas.openxmlformats.org/officeDocument/2006/relationships/customXml" Target="../ink/ink8.xml"/><Relationship Id="rId7" Type="http://schemas.openxmlformats.org/officeDocument/2006/relationships/customXml" Target="../ink/ink10.xml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3.emf"/><Relationship Id="rId5" Type="http://schemas.openxmlformats.org/officeDocument/2006/relationships/customXml" Target="../ink/ink9.xml"/><Relationship Id="rId4" Type="http://schemas.openxmlformats.org/officeDocument/2006/relationships/image" Target="../media/image42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java/util/Random?hl=en#Random()" TargetMode="External"/><Relationship Id="rId2" Type="http://schemas.openxmlformats.org/officeDocument/2006/relationships/hyperlink" Target="https://developer.android.com/reference/java/util/Rand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eveloper.android.com/reference/java/util/Random?hl=en#nextInt(int)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hyperlink" Target="https://developer.android.com/reference/android/widget/EditTex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emf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widget/EditText#getText()" TargetMode="External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hyperlink" Target="https://developer.android.com/reference/android/R.styleable#TextView_inputTyp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7.emf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.xml"/><Relationship Id="rId5" Type="http://schemas.openxmlformats.org/officeDocument/2006/relationships/image" Target="../media/image66.emf"/><Relationship Id="rId4" Type="http://schemas.openxmlformats.org/officeDocument/2006/relationships/customXml" Target="../ink/ink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9.emf"/><Relationship Id="rId4" Type="http://schemas.openxmlformats.org/officeDocument/2006/relationships/customXml" Target="../ink/ink1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hyperlink" Target="https://developer.android.com/reference/android/widget/ImageView" TargetMode="Externa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hyperlink" Target="https://developer.android.com/reference/android/widget/ImageView#attr_android:scaleTyp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emf"/><Relationship Id="rId3" Type="http://schemas.openxmlformats.org/officeDocument/2006/relationships/customXml" Target="../ink/ink15.xml"/><Relationship Id="rId7" Type="http://schemas.openxmlformats.org/officeDocument/2006/relationships/customXml" Target="../ink/ink17.xml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emf"/><Relationship Id="rId5" Type="http://schemas.openxmlformats.org/officeDocument/2006/relationships/customXml" Target="../ink/ink16.xml"/><Relationship Id="rId4" Type="http://schemas.openxmlformats.org/officeDocument/2006/relationships/image" Target="../media/image89.emf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emf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jp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5.jpe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8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5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CHAP 3. </a:t>
            </a:r>
            <a:r>
              <a:rPr lang="ko-KR" altLang="en-US" dirty="0"/>
              <a:t>기본 위젯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/>
              <a:t>이벤트 처리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3632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77096B-13EE-4937-9599-CBC9164A0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764704"/>
            <a:ext cx="9136063" cy="5472608"/>
          </a:xfrm>
        </p:spPr>
        <p:txBody>
          <a:bodyPr/>
          <a:lstStyle/>
          <a:p>
            <a:r>
              <a:rPr lang="ko-KR" altLang="en-US" sz="2800" dirty="0"/>
              <a:t>기본 위젯의 사용법을 익힌다</a:t>
            </a:r>
            <a:r>
              <a:rPr lang="en-US" altLang="ko-KR" sz="2800" dirty="0"/>
              <a:t>.</a:t>
            </a:r>
          </a:p>
          <a:p>
            <a:pPr lvl="1"/>
            <a:r>
              <a:rPr lang="en-US" altLang="ko-KR" sz="2400" dirty="0" err="1"/>
              <a:t>LinearLayout</a:t>
            </a:r>
            <a:endParaRPr lang="en-US" altLang="ko-KR" sz="2400" dirty="0"/>
          </a:p>
          <a:p>
            <a:pPr lvl="1"/>
            <a:r>
              <a:rPr lang="en-US" altLang="ko-KR" sz="2400" dirty="0"/>
              <a:t>Button, </a:t>
            </a:r>
            <a:r>
              <a:rPr lang="en-US" altLang="ko-KR" sz="2400" dirty="0" err="1"/>
              <a:t>ImageButton</a:t>
            </a:r>
            <a:r>
              <a:rPr lang="en-US" altLang="ko-KR" sz="2400" dirty="0"/>
              <a:t>, </a:t>
            </a:r>
            <a:r>
              <a:rPr lang="en-US" altLang="ko-KR" sz="2400" dirty="0" err="1"/>
              <a:t>ImageView</a:t>
            </a:r>
            <a:endParaRPr lang="en-US" altLang="ko-KR" sz="2400" dirty="0"/>
          </a:p>
          <a:p>
            <a:pPr lvl="1"/>
            <a:r>
              <a:rPr lang="en-US" altLang="ko-KR" sz="2400" dirty="0" err="1"/>
              <a:t>TextView</a:t>
            </a:r>
            <a:r>
              <a:rPr lang="en-US" altLang="ko-KR" sz="2400" dirty="0"/>
              <a:t>, </a:t>
            </a:r>
            <a:r>
              <a:rPr lang="en-US" altLang="ko-KR" sz="2400" dirty="0" err="1"/>
              <a:t>EditText</a:t>
            </a:r>
            <a:r>
              <a:rPr lang="en-US" altLang="ko-KR" sz="2400" dirty="0"/>
              <a:t> </a:t>
            </a:r>
          </a:p>
          <a:p>
            <a:r>
              <a:rPr lang="ko-KR" altLang="en-US" sz="2800" dirty="0"/>
              <a:t>이벤트 처리</a:t>
            </a:r>
            <a:endParaRPr lang="en-US" altLang="ko-KR" sz="2800" dirty="0"/>
          </a:p>
          <a:p>
            <a:pPr lvl="1"/>
            <a:r>
              <a:rPr lang="en-US" altLang="ko-KR" sz="2400" dirty="0"/>
              <a:t>XML </a:t>
            </a:r>
            <a:r>
              <a:rPr lang="ko-KR" altLang="en-US" sz="2400" dirty="0"/>
              <a:t>파일에 이벤트 처리 메서드를 등록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2349994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안드로이드 </a:t>
            </a:r>
            <a:r>
              <a:rPr lang="en-US" altLang="ko-KR" dirty="0"/>
              <a:t>User Interface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765175"/>
            <a:ext cx="8928992" cy="5400675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자바 언어의 </a:t>
            </a:r>
            <a:r>
              <a:rPr lang="en-US" altLang="ko-KR" dirty="0"/>
              <a:t>swing</a:t>
            </a:r>
            <a:r>
              <a:rPr lang="ko-KR" altLang="en-US" dirty="0"/>
              <a:t> 은 사용하지 않음</a:t>
            </a:r>
            <a:r>
              <a:rPr lang="en-US" altLang="ko-KR" dirty="0"/>
              <a:t> </a:t>
            </a:r>
          </a:p>
          <a:p>
            <a:pPr lvl="1">
              <a:defRPr/>
            </a:pPr>
            <a:r>
              <a:rPr lang="ko-KR" altLang="en-US" dirty="0"/>
              <a:t>너무 리소스를 많이 잡아먹음</a:t>
            </a:r>
            <a:r>
              <a:rPr lang="en-US" altLang="ko-KR" dirty="0"/>
              <a:t>!</a:t>
            </a:r>
          </a:p>
          <a:p>
            <a:pPr lvl="1"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dirty="0"/>
              <a:t>독자적인 사용자 인터페이스 컨트롤 사용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버튼</a:t>
            </a:r>
            <a:r>
              <a:rPr lang="en-US" altLang="ko-KR" dirty="0"/>
              <a:t>, </a:t>
            </a:r>
            <a:r>
              <a:rPr lang="ko-KR" altLang="en-US" dirty="0"/>
              <a:t>리스트</a:t>
            </a:r>
            <a:r>
              <a:rPr lang="en-US" altLang="ko-KR" dirty="0"/>
              <a:t>, </a:t>
            </a:r>
            <a:r>
              <a:rPr lang="ko-KR" altLang="en-US" dirty="0"/>
              <a:t>스크롤 바</a:t>
            </a:r>
            <a:r>
              <a:rPr lang="en-US" altLang="ko-KR" dirty="0"/>
              <a:t>, </a:t>
            </a:r>
            <a:r>
              <a:rPr lang="ko-KR" altLang="en-US" dirty="0"/>
              <a:t>체크 박스</a:t>
            </a:r>
            <a:r>
              <a:rPr lang="en-US" altLang="ko-KR" dirty="0"/>
              <a:t>, </a:t>
            </a:r>
            <a:r>
              <a:rPr lang="ko-KR" altLang="en-US" dirty="0"/>
              <a:t>메뉴</a:t>
            </a:r>
            <a:r>
              <a:rPr lang="en-US" altLang="ko-KR" dirty="0"/>
              <a:t>, </a:t>
            </a:r>
            <a:r>
              <a:rPr lang="ko-KR" altLang="en-US" dirty="0"/>
              <a:t>대화 상자</a:t>
            </a: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marL="0" indent="0">
              <a:buFontTx/>
              <a:buNone/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0502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D063FB45-447D-4A6D-A9A3-326B8C80E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746741"/>
            <a:ext cx="5616624" cy="449017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65118A7-C773-4D6B-AD41-B201A957F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사용자 인터페이스 개요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7E9FAC7-DD30-4030-8726-64E263B54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사용자 인터페이스 요소들을 크게 분류하면 </a:t>
            </a:r>
            <a:r>
              <a:rPr lang="ko-KR" altLang="en-US" dirty="0">
                <a:solidFill>
                  <a:srgbClr val="C00000"/>
                </a:solidFill>
              </a:rPr>
              <a:t>뷰</a:t>
            </a:r>
            <a:r>
              <a:rPr lang="en-US" altLang="ko-KR" dirty="0">
                <a:solidFill>
                  <a:srgbClr val="C00000"/>
                </a:solidFill>
              </a:rPr>
              <a:t>(View)</a:t>
            </a:r>
            <a:r>
              <a:rPr lang="ko-KR" altLang="en-US" dirty="0"/>
              <a:t>와 </a:t>
            </a:r>
            <a:r>
              <a:rPr lang="ko-KR" altLang="en-US" dirty="0" err="1">
                <a:solidFill>
                  <a:srgbClr val="C00000"/>
                </a:solidFill>
              </a:rPr>
              <a:t>뷰그룹</a:t>
            </a:r>
            <a:r>
              <a:rPr lang="en-US" altLang="ko-KR" dirty="0">
                <a:solidFill>
                  <a:srgbClr val="C00000"/>
                </a:solidFill>
              </a:rPr>
              <a:t>(</a:t>
            </a:r>
            <a:r>
              <a:rPr lang="en-US" altLang="ko-KR" dirty="0" err="1">
                <a:solidFill>
                  <a:srgbClr val="C00000"/>
                </a:solidFill>
              </a:rPr>
              <a:t>ViewGroup</a:t>
            </a:r>
            <a:r>
              <a:rPr lang="en-US" altLang="ko-KR" dirty="0">
                <a:solidFill>
                  <a:srgbClr val="C00000"/>
                </a:solidFill>
              </a:rPr>
              <a:t>)</a:t>
            </a:r>
            <a:r>
              <a:rPr lang="ko-KR" altLang="en-US" dirty="0"/>
              <a:t>으로 나눌 수 있음</a:t>
            </a:r>
          </a:p>
          <a:p>
            <a:endParaRPr lang="ko-KR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892CB8BD-243E-425B-882C-734C96F2F58E}"/>
                  </a:ext>
                </a:extLst>
              </p14:cNvPr>
              <p14:cNvContentPartPr/>
              <p14:nvPr/>
            </p14:nvContentPartPr>
            <p14:xfrm>
              <a:off x="6044112" y="2906568"/>
              <a:ext cx="667800" cy="3348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892CB8BD-243E-425B-882C-734C96F2F5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08112" y="2834568"/>
                <a:ext cx="73944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DF7F945A-3F2E-47A9-AFA0-1F63052279E2}"/>
                  </a:ext>
                </a:extLst>
              </p14:cNvPr>
              <p14:cNvContentPartPr/>
              <p14:nvPr/>
            </p14:nvContentPartPr>
            <p14:xfrm>
              <a:off x="6848712" y="4241808"/>
              <a:ext cx="284040" cy="4716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DF7F945A-3F2E-47A9-AFA0-1F63052279E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812712" y="4169808"/>
                <a:ext cx="355680" cy="19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98600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UI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작성하는 절차</a:t>
            </a:r>
          </a:p>
        </p:txBody>
      </p:sp>
      <p:sp>
        <p:nvSpPr>
          <p:cNvPr id="17411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HY헤드라인M" panose="02030600000101010101" pitchFamily="18" charset="-127"/>
              <a:buAutoNum type="arabicPeriod"/>
            </a:pPr>
            <a:r>
              <a:rPr lang="ko-KR" altLang="en-US" dirty="0" err="1">
                <a:solidFill>
                  <a:srgbClr val="0070C0"/>
                </a:solidFill>
              </a:rPr>
              <a:t>뷰그룹</a:t>
            </a:r>
            <a:r>
              <a:rPr lang="ko-KR" altLang="en-US" dirty="0" err="1"/>
              <a:t>을</a:t>
            </a:r>
            <a:r>
              <a:rPr lang="ko-KR" altLang="en-US" dirty="0"/>
              <a:t> 생성한다</a:t>
            </a:r>
            <a:r>
              <a:rPr lang="en-US" altLang="ko-KR" dirty="0"/>
              <a:t>.</a:t>
            </a:r>
          </a:p>
          <a:p>
            <a:pPr marL="457200" indent="-457200">
              <a:buFont typeface="HY헤드라인M" panose="02030600000101010101" pitchFamily="18" charset="-127"/>
              <a:buAutoNum type="arabicPeriod"/>
            </a:pPr>
            <a:r>
              <a:rPr lang="ko-KR" altLang="en-US" dirty="0"/>
              <a:t>필요한 </a:t>
            </a:r>
            <a:r>
              <a:rPr lang="ko-KR" altLang="en-US" dirty="0">
                <a:solidFill>
                  <a:srgbClr val="0070C0"/>
                </a:solidFill>
              </a:rPr>
              <a:t>뷰</a:t>
            </a:r>
            <a:r>
              <a:rPr lang="ko-KR" altLang="en-US" dirty="0"/>
              <a:t>를 추가한다</a:t>
            </a:r>
            <a:r>
              <a:rPr lang="en-US" altLang="ko-KR" dirty="0"/>
              <a:t>.</a:t>
            </a:r>
          </a:p>
          <a:p>
            <a:pPr marL="457200" indent="-457200">
              <a:buFont typeface="HY헤드라인M" panose="02030600000101010101" pitchFamily="18" charset="-127"/>
              <a:buAutoNum type="arabicPeriod"/>
            </a:pPr>
            <a:r>
              <a:rPr lang="ko-KR" altLang="en-US" dirty="0">
                <a:solidFill>
                  <a:srgbClr val="0070C0"/>
                </a:solidFill>
              </a:rPr>
              <a:t>액티비티</a:t>
            </a:r>
            <a:r>
              <a:rPr lang="ko-KR" altLang="en-US" dirty="0"/>
              <a:t> 화면으로 설정한다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9FF91B4-D395-4F20-8349-560001B72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1" y="2492896"/>
            <a:ext cx="8129587" cy="37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734840"/>
      </p:ext>
    </p:extLst>
  </p:cSld>
  <p:clrMapOvr>
    <a:masterClrMapping/>
  </p:clrMapOvr>
  <p:extLst mod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762FFB-E5B0-4668-8F7E-AD8643C55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위젯의 유형 </a:t>
            </a:r>
            <a:r>
              <a:rPr lang="en-US" altLang="ko-KR" dirty="0"/>
              <a:t>- 1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7E28FC17-1BA8-A915-8EC0-244603409D67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39552" y="764703"/>
            <a:ext cx="8280920" cy="5479415"/>
          </a:xfrm>
        </p:spPr>
      </p:pic>
    </p:spTree>
    <p:extLst>
      <p:ext uri="{BB962C8B-B14F-4D97-AF65-F5344CB8AC3E}">
        <p14:creationId xmlns:p14="http://schemas.microsoft.com/office/powerpoint/2010/main" val="1971355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B216537C-4341-448D-6482-D1288F495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5" y="3426680"/>
            <a:ext cx="9139289" cy="237858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7762FFB-E5B0-4668-8F7E-AD8643C55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위젯의 유형 </a:t>
            </a:r>
            <a:r>
              <a:rPr lang="en-US" altLang="ko-KR" dirty="0"/>
              <a:t>- 2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758B54E2-EAA9-75F4-3486-4338191E2D42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147604" y="1408136"/>
            <a:ext cx="8979483" cy="2772056"/>
          </a:xfrm>
        </p:spPr>
      </p:pic>
    </p:spTree>
    <p:extLst>
      <p:ext uri="{BB962C8B-B14F-4D97-AF65-F5344CB8AC3E}">
        <p14:creationId xmlns:p14="http://schemas.microsoft.com/office/powerpoint/2010/main" val="2035688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FDCAEA-5FFC-4191-8FAD-AC1E05731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위젯 클래스 계층도</a:t>
            </a:r>
          </a:p>
        </p:txBody>
      </p:sp>
      <p:pic>
        <p:nvPicPr>
          <p:cNvPr id="8" name="내용 개체 틀 7" descr="텍스트, 도표, 평면도, 라인이(가) 표시된 사진&#10;&#10;자동 생성된 설명">
            <a:extLst>
              <a:ext uri="{FF2B5EF4-FFF2-40B4-BE49-F238E27FC236}">
                <a16:creationId xmlns:a16="http://schemas.microsoft.com/office/drawing/2014/main" id="{7762CF55-C27A-AFDB-8AA5-20D302C99625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83" y="1484784"/>
            <a:ext cx="9113741" cy="3888432"/>
          </a:xfrm>
        </p:spPr>
      </p:pic>
    </p:spTree>
    <p:extLst>
      <p:ext uri="{BB962C8B-B14F-4D97-AF65-F5344CB8AC3E}">
        <p14:creationId xmlns:p14="http://schemas.microsoft.com/office/powerpoint/2010/main" val="4213948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UI</a:t>
            </a:r>
            <a:r>
              <a:rPr lang="ko-KR" altLang="en-US" dirty="0"/>
              <a:t>를 작성하는 다양한 방법</a:t>
            </a:r>
          </a:p>
        </p:txBody>
      </p:sp>
      <p:pic>
        <p:nvPicPr>
          <p:cNvPr id="6" name="내용 개체 틀 5" descr="텍스트, 휴대 전화, 스크린샷, 통신 장치이(가) 표시된 사진&#10;&#10;자동 생성된 설명">
            <a:extLst>
              <a:ext uri="{FF2B5EF4-FFF2-40B4-BE49-F238E27FC236}">
                <a16:creationId xmlns:a16="http://schemas.microsoft.com/office/drawing/2014/main" id="{010BCA3B-861C-453A-B4D4-237FBB5CBA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84459" y="733400"/>
            <a:ext cx="6527901" cy="5071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1D6ECCA-C90F-4402-AE00-59BDB99FF770}"/>
              </a:ext>
            </a:extLst>
          </p:cNvPr>
          <p:cNvSpPr txBox="1"/>
          <p:nvPr/>
        </p:nvSpPr>
        <p:spPr>
          <a:xfrm>
            <a:off x="1403648" y="5733256"/>
            <a:ext cx="40735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+mj-lt"/>
                <a:ea typeface="맑은 고딕" panose="020B0503020000020004" pitchFamily="50" charset="-127"/>
              </a:rPr>
              <a:t>④ </a:t>
            </a:r>
            <a:r>
              <a:rPr lang="ko-KR" altLang="en-US" dirty="0" err="1">
                <a:latin typeface="+mj-lt"/>
                <a:ea typeface="맑은 고딕" panose="020B0503020000020004" pitchFamily="50" charset="-127"/>
              </a:rPr>
              <a:t>비주얼도구</a:t>
            </a:r>
            <a:r>
              <a:rPr lang="en-US" altLang="ko-KR" dirty="0">
                <a:solidFill>
                  <a:srgbClr val="000000"/>
                </a:solidFill>
                <a:latin typeface="HY헤드라인M"/>
                <a:ea typeface="맑은 고딕" panose="020B0503020000020004" pitchFamily="50" charset="-127"/>
              </a:rPr>
              <a:t>(XML</a:t>
            </a:r>
            <a:r>
              <a:rPr lang="en-US" altLang="ko-KR" dirty="0">
                <a:latin typeface="+mj-lt"/>
                <a:ea typeface="맑은 고딕" panose="020B0503020000020004" pitchFamily="50" charset="-127"/>
              </a:rPr>
              <a:t>) + Code</a:t>
            </a:r>
            <a:endParaRPr lang="ko-KR" altLang="en-US" dirty="0">
              <a:latin typeface="+mj-lt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5419975"/>
      </p:ext>
    </p:extLst>
  </p:cSld>
  <p:clrMapOvr>
    <a:masterClrMapping/>
  </p:clrMapOvr>
  <p:extLst mod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1] XML</a:t>
            </a:r>
            <a:r>
              <a:rPr lang="ko-KR" altLang="en-US" dirty="0"/>
              <a:t>로 </a:t>
            </a:r>
            <a:r>
              <a:rPr lang="en-US" altLang="ko-KR" dirty="0"/>
              <a:t>UI</a:t>
            </a:r>
            <a:r>
              <a:rPr lang="ko-KR" altLang="en-US" dirty="0"/>
              <a:t> 작성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C0F809-62F2-7A28-7D92-B5903FACD50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sz="2800" dirty="0"/>
              <a:t>이 방법에서는 코드와 화면 디자인이 완벽하게 분리됨</a:t>
            </a:r>
            <a:endParaRPr lang="en-US" altLang="ko-KR" sz="2800" dirty="0"/>
          </a:p>
          <a:p>
            <a:r>
              <a:rPr lang="ko-KR" altLang="en-US" sz="2800" dirty="0"/>
              <a:t>코드는 프로그래머가 담당하고 화면은 디자이너가 담당할 수 있음</a:t>
            </a:r>
            <a:endParaRPr lang="en-US" altLang="ko-KR" sz="28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3D7F5E4-1ABA-54E6-500D-9CD194E8E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2276872"/>
            <a:ext cx="7903517" cy="3816424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4C1286D8-3060-4D46-AD17-BF18F1A35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4248" y="188913"/>
            <a:ext cx="23256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r"/>
            <a:r>
              <a:rPr lang="en-US" altLang="ko-KR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UserInterface1</a:t>
            </a:r>
            <a:endParaRPr lang="ko-KR" altLang="en-US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2197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XML </a:t>
            </a:r>
            <a:r>
              <a:rPr lang="ko-KR" altLang="en-US" dirty="0"/>
              <a:t>파일로 사용자 인터페이스를 작성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57A0C5-942B-2917-CABB-6CE49DA98EF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이번 실습에서는 </a:t>
            </a:r>
            <a:r>
              <a:rPr lang="en-US" altLang="ko-KR" dirty="0"/>
              <a:t>2</a:t>
            </a:r>
            <a:r>
              <a:rPr lang="ko-KR" altLang="en-US" dirty="0"/>
              <a:t>개의 버튼으로 이루어진 앱의 화면을 </a:t>
            </a:r>
            <a:r>
              <a:rPr lang="en-US" altLang="ko-KR" dirty="0"/>
              <a:t>XML </a:t>
            </a:r>
            <a:r>
              <a:rPr lang="ko-KR" altLang="en-US" dirty="0"/>
              <a:t>파일로 정의하여 본다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E830B42-2DC1-BC22-A211-38000FBF4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736" y="2157412"/>
            <a:ext cx="4680520" cy="328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970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1D61F376-B2E2-43FC-9C87-191189EBE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8" y="740606"/>
            <a:ext cx="8964488" cy="548665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4000" dirty="0"/>
              <a:t>Visual</a:t>
            </a:r>
            <a:r>
              <a:rPr lang="ko-KR" altLang="en-US" sz="4000" dirty="0"/>
              <a:t> </a:t>
            </a:r>
            <a:r>
              <a:rPr lang="en-US" altLang="ko-KR" sz="4000" dirty="0"/>
              <a:t>Tool</a:t>
            </a:r>
            <a:r>
              <a:rPr lang="ko-KR" altLang="en-US" sz="4000" dirty="0"/>
              <a:t> 에서 </a:t>
            </a:r>
            <a:r>
              <a:rPr lang="en-US" altLang="ko-KR" sz="4000" dirty="0">
                <a:solidFill>
                  <a:srgbClr val="0070C0"/>
                </a:solidFill>
              </a:rPr>
              <a:t>Layout</a:t>
            </a:r>
            <a:r>
              <a:rPr lang="en-US" altLang="ko-KR" sz="4000" dirty="0"/>
              <a:t> </a:t>
            </a:r>
            <a:r>
              <a:rPr lang="ko-KR" altLang="en-US" sz="4000" dirty="0"/>
              <a:t>종류 변경 방법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89838F0-671F-424A-A8F7-04BD71032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863" y="742603"/>
            <a:ext cx="1499617" cy="227215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6AB85BDE-215E-479E-BF48-139DA4DA6907}"/>
              </a:ext>
            </a:extLst>
          </p:cNvPr>
          <p:cNvSpPr/>
          <p:nvPr/>
        </p:nvSpPr>
        <p:spPr bwMode="auto">
          <a:xfrm>
            <a:off x="7878941" y="742603"/>
            <a:ext cx="466273" cy="224349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32BA4D1-B94D-4FA4-8D6F-20BBD92CB70E}"/>
              </a:ext>
            </a:extLst>
          </p:cNvPr>
          <p:cNvSpPr/>
          <p:nvPr/>
        </p:nvSpPr>
        <p:spPr bwMode="auto">
          <a:xfrm>
            <a:off x="4788024" y="5257056"/>
            <a:ext cx="1224136" cy="260176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굴림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6EEF1F6-F791-4A85-AF02-22291B1D1A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128" y="2132856"/>
            <a:ext cx="1952625" cy="31242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1B88FF3-EA00-4918-95C7-90B014A0D0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9672" y="2685306"/>
            <a:ext cx="3952875" cy="20193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22CA4F42-BA86-45FC-875E-9F84747079FD}"/>
              </a:ext>
            </a:extLst>
          </p:cNvPr>
          <p:cNvSpPr/>
          <p:nvPr/>
        </p:nvSpPr>
        <p:spPr bwMode="auto">
          <a:xfrm>
            <a:off x="1691680" y="3284984"/>
            <a:ext cx="1440160" cy="216024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5507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  <p:extLst mod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err="1">
                <a:solidFill>
                  <a:srgbClr val="0070C0"/>
                </a:solidFill>
              </a:rPr>
              <a:t>LinearLayout</a:t>
            </a:r>
            <a:r>
              <a:rPr lang="en-US" altLang="ko-KR" dirty="0"/>
              <a:t> </a:t>
            </a:r>
            <a:r>
              <a:rPr lang="ko-KR" altLang="en-US" dirty="0"/>
              <a:t>으로 변경된 후의 내용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A239D55-DC50-42E6-97CF-A2226C579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764350"/>
            <a:ext cx="7947117" cy="5400953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22546301"/>
      </p:ext>
    </p:extLst>
  </p:cSld>
  <p:clrMapOvr>
    <a:masterClrMapping/>
  </p:clrMapOvr>
  <p:extLst mod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XML</a:t>
            </a:r>
            <a:r>
              <a:rPr lang="ko-KR" altLang="en-US" dirty="0"/>
              <a:t>로 </a:t>
            </a:r>
            <a:r>
              <a:rPr lang="en-US" altLang="ko-KR" dirty="0"/>
              <a:t>UI</a:t>
            </a:r>
            <a:r>
              <a:rPr lang="ko-KR" altLang="en-US" dirty="0"/>
              <a:t> 작성</a:t>
            </a:r>
          </a:p>
        </p:txBody>
      </p:sp>
      <p:pic>
        <p:nvPicPr>
          <p:cNvPr id="7" name="내용 개체 틀 5">
            <a:extLst>
              <a:ext uri="{FF2B5EF4-FFF2-40B4-BE49-F238E27FC236}">
                <a16:creationId xmlns:a16="http://schemas.microsoft.com/office/drawing/2014/main" id="{5ADF41B1-3E39-43C3-9F20-9F8AA26B9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5" y="758497"/>
            <a:ext cx="6912769" cy="543855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90C41F5-E3F6-4355-A363-1C898AE4A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160" y="3717032"/>
            <a:ext cx="2995535" cy="1368152"/>
          </a:xfrm>
          <a:prstGeom prst="rect">
            <a:avLst/>
          </a:prstGeom>
          <a:ln>
            <a:solidFill>
              <a:schemeClr val="bg2"/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8B3AEF0F-7A17-419F-A8A4-8897880BEDB4}"/>
                  </a:ext>
                </a:extLst>
              </p14:cNvPr>
              <p14:cNvContentPartPr/>
              <p14:nvPr/>
            </p14:nvContentPartPr>
            <p14:xfrm>
              <a:off x="1993392" y="2138688"/>
              <a:ext cx="530640" cy="1620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8B3AEF0F-7A17-419F-A8A4-8897880BEDB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57392" y="2066688"/>
                <a:ext cx="60228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FA241A93-253D-41C0-AACC-5590E820EC39}"/>
                  </a:ext>
                </a:extLst>
              </p14:cNvPr>
              <p14:cNvContentPartPr/>
              <p14:nvPr/>
            </p14:nvContentPartPr>
            <p14:xfrm>
              <a:off x="1106352" y="2167128"/>
              <a:ext cx="722880" cy="2556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FA241A93-253D-41C0-AACC-5590E820EC3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0352" y="2095128"/>
                <a:ext cx="794520" cy="16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3777902"/>
      </p:ext>
    </p:extLst>
  </p:cSld>
  <p:clrMapOvr>
    <a:masterClrMapping/>
  </p:clrMapOvr>
  <p:extLst mod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 </a:t>
            </a:r>
            <a:r>
              <a:rPr lang="ko-KR" altLang="en-US" dirty="0"/>
              <a:t>구성 요소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CC1687-4B4D-E532-4D5B-99D8472A8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rgbClr val="0070C0"/>
                </a:solidFill>
              </a:rPr>
              <a:t>LinearLayout</a:t>
            </a:r>
            <a:r>
              <a:rPr lang="en-US" altLang="ko-KR" dirty="0"/>
              <a:t> </a:t>
            </a:r>
            <a:r>
              <a:rPr lang="ko-KR" altLang="en-US" dirty="0"/>
              <a:t>요소가 </a:t>
            </a:r>
            <a:r>
              <a:rPr lang="ko-KR" altLang="en-US" dirty="0" err="1"/>
              <a:t>뷰그룹</a:t>
            </a:r>
            <a:r>
              <a:rPr lang="en-US" altLang="ko-KR" dirty="0"/>
              <a:t>(</a:t>
            </a:r>
            <a:r>
              <a:rPr lang="ko-KR" altLang="en-US" dirty="0"/>
              <a:t>컨테이너</a:t>
            </a:r>
            <a:r>
              <a:rPr lang="en-US" altLang="ko-KR" dirty="0"/>
              <a:t>)</a:t>
            </a:r>
            <a:r>
              <a:rPr lang="ko-KR" altLang="en-US" dirty="0"/>
              <a:t>의 역할을 함</a:t>
            </a:r>
            <a:endParaRPr lang="en-US" altLang="ko-KR" dirty="0"/>
          </a:p>
          <a:p>
            <a:r>
              <a:rPr lang="en-US" altLang="ko-KR" dirty="0" err="1"/>
              <a:t>LinearLayout</a:t>
            </a:r>
            <a:r>
              <a:rPr lang="en-US" altLang="ko-KR" dirty="0"/>
              <a:t> </a:t>
            </a:r>
            <a:r>
              <a:rPr lang="ko-KR" altLang="en-US" dirty="0"/>
              <a:t>요소 안에 </a:t>
            </a:r>
            <a:r>
              <a:rPr lang="en-US" altLang="ko-KR" dirty="0"/>
              <a:t>2</a:t>
            </a:r>
            <a:r>
              <a:rPr lang="ko-KR" altLang="en-US" dirty="0"/>
              <a:t>개의 </a:t>
            </a:r>
            <a:r>
              <a:rPr lang="en-US" altLang="ko-KR" dirty="0">
                <a:solidFill>
                  <a:srgbClr val="0070C0"/>
                </a:solidFill>
              </a:rPr>
              <a:t>Button</a:t>
            </a:r>
            <a:r>
              <a:rPr lang="en-US" altLang="ko-KR" dirty="0"/>
              <a:t> </a:t>
            </a:r>
            <a:r>
              <a:rPr lang="ko-KR" altLang="en-US" dirty="0"/>
              <a:t>요소가 정의</a:t>
            </a:r>
            <a:endParaRPr lang="en-US" altLang="ko-KR" dirty="0"/>
          </a:p>
        </p:txBody>
      </p:sp>
      <p:pic>
        <p:nvPicPr>
          <p:cNvPr id="7" name="그림 6" descr="텍스트, 스크린샷, 폰트, 직사각형이(가) 표시된 사진&#10;&#10;자동 생성된 설명">
            <a:extLst>
              <a:ext uri="{FF2B5EF4-FFF2-40B4-BE49-F238E27FC236}">
                <a16:creationId xmlns:a16="http://schemas.microsoft.com/office/drawing/2014/main" id="{05577BD2-BC4B-9875-84E0-47E9DD333A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996952"/>
            <a:ext cx="6541287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465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자바 코드는 변경하지 않음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자동 생성된 코드 그대로 사용</a:t>
            </a:r>
            <a:r>
              <a:rPr lang="en-US" altLang="ko-KR" dirty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78883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 화면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5" name="그림 4" descr="텍스트, 스크린샷이(가) 표시된 사진&#10;&#10;자동 생성된 설명">
            <a:extLst>
              <a:ext uri="{FF2B5EF4-FFF2-40B4-BE49-F238E27FC236}">
                <a16:creationId xmlns:a16="http://schemas.microsoft.com/office/drawing/2014/main" id="{121EED3E-96DC-40FE-B13C-DD3F3A647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620" y="1484784"/>
            <a:ext cx="8032812" cy="38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933301"/>
      </p:ext>
    </p:extLst>
  </p:cSld>
  <p:clrMapOvr>
    <a:masterClrMapping/>
  </p:clrMapOvr>
  <p:extLst mod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내용 개체 틀 5">
            <a:extLst>
              <a:ext uri="{FF2B5EF4-FFF2-40B4-BE49-F238E27FC236}">
                <a16:creationId xmlns:a16="http://schemas.microsoft.com/office/drawing/2014/main" id="{B4A8D3E5-0FB8-4E19-A002-B3F513513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0" y="739379"/>
            <a:ext cx="7101828" cy="5497933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>
                <a:solidFill>
                  <a:srgbClr val="FFC000"/>
                </a:solidFill>
              </a:rPr>
              <a:t>[</a:t>
            </a:r>
            <a:r>
              <a:rPr lang="ko-KR" altLang="en-US" dirty="0">
                <a:solidFill>
                  <a:srgbClr val="FFC000"/>
                </a:solidFill>
              </a:rPr>
              <a:t>실습</a:t>
            </a:r>
            <a:r>
              <a:rPr lang="en-US" altLang="ko-KR" dirty="0">
                <a:solidFill>
                  <a:srgbClr val="FFC000"/>
                </a:solidFill>
              </a:rPr>
              <a:t>2] </a:t>
            </a:r>
            <a:r>
              <a:rPr lang="ko-KR" altLang="en-US" dirty="0"/>
              <a:t>코드로 </a:t>
            </a:r>
            <a:r>
              <a:rPr lang="en-US" altLang="ko-KR" dirty="0"/>
              <a:t>UI</a:t>
            </a:r>
            <a:r>
              <a:rPr lang="ko-KR" altLang="en-US" dirty="0"/>
              <a:t>를 생성하는 방법</a:t>
            </a:r>
          </a:p>
        </p:txBody>
      </p:sp>
      <p:sp>
        <p:nvSpPr>
          <p:cNvPr id="21508" name="TextBox 3"/>
          <p:cNvSpPr txBox="1">
            <a:spLocks noChangeArrowheads="1"/>
          </p:cNvSpPr>
          <p:nvPr/>
        </p:nvSpPr>
        <p:spPr bwMode="auto">
          <a:xfrm>
            <a:off x="6783388" y="692969"/>
            <a:ext cx="23256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r"/>
            <a:r>
              <a:rPr lang="en-US" altLang="ko-KR" dirty="0">
                <a:solidFill>
                  <a:srgbClr val="FFC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UserInterface2</a:t>
            </a:r>
            <a:endParaRPr lang="ko-KR" altLang="en-US" dirty="0">
              <a:solidFill>
                <a:srgbClr val="FFC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모서리가 둥근 사각형 설명선 4"/>
          <p:cNvSpPr/>
          <p:nvPr/>
        </p:nvSpPr>
        <p:spPr bwMode="auto">
          <a:xfrm>
            <a:off x="6444208" y="4077072"/>
            <a:ext cx="2627784" cy="2088232"/>
          </a:xfrm>
          <a:prstGeom prst="wedgeRoundRectCallout">
            <a:avLst>
              <a:gd name="adj1" fmla="val -85578"/>
              <a:gd name="adj2" fmla="val 18367"/>
              <a:gd name="adj3" fmla="val 16667"/>
            </a:avLst>
          </a:prstGeom>
          <a:solidFill>
            <a:srgbClr val="FFFFCC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4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activity_main.xml</a:t>
            </a: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파일은 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자동으로 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만들어졌지만 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사용하지 않음</a:t>
            </a:r>
            <a:endParaRPr kumimoji="1" lang="ko-KR" altLang="en-US" sz="2400" b="1" i="0" u="none" strike="noStrike" cap="none" normalizeH="0" baseline="0" dirty="0">
              <a:ln>
                <a:noFill/>
              </a:ln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모서리가 둥근 사각형 설명선 5">
            <a:extLst>
              <a:ext uri="{FF2B5EF4-FFF2-40B4-BE49-F238E27FC236}">
                <a16:creationId xmlns:a16="http://schemas.microsoft.com/office/drawing/2014/main" id="{C8C87AA1-65DA-4AC2-B2E6-72FC51C4BC08}"/>
              </a:ext>
            </a:extLst>
          </p:cNvPr>
          <p:cNvSpPr/>
          <p:nvPr/>
        </p:nvSpPr>
        <p:spPr bwMode="auto">
          <a:xfrm>
            <a:off x="6425421" y="1628800"/>
            <a:ext cx="2627784" cy="1224136"/>
          </a:xfrm>
          <a:prstGeom prst="wedgeRoundRectCallout">
            <a:avLst>
              <a:gd name="adj1" fmla="val 37779"/>
              <a:gd name="adj2" fmla="val -90165"/>
              <a:gd name="adj3" fmla="val 16667"/>
            </a:avLst>
          </a:prstGeom>
          <a:solidFill>
            <a:srgbClr val="FFFFCC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2400" b="1" i="0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실습은 </a:t>
            </a:r>
            <a:endParaRPr kumimoji="1" lang="en-US" altLang="ko-KR" sz="2400" b="1" i="0" u="none" strike="noStrike" cap="none" normalizeH="0" baseline="0" dirty="0">
              <a:ln>
                <a:noFill/>
              </a:ln>
              <a:solidFill>
                <a:srgbClr val="0066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2400" b="1" i="0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다음 챕터에서</a:t>
            </a:r>
            <a:r>
              <a:rPr kumimoji="1" lang="en-US" altLang="ko-KR" sz="2400" b="1" i="0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  <a:endParaRPr kumimoji="1" lang="ko-KR" altLang="en-US" sz="2400" b="1" i="0" u="none" strike="noStrike" cap="none" normalizeH="0" baseline="0" dirty="0">
              <a:ln>
                <a:noFill/>
              </a:ln>
              <a:solidFill>
                <a:srgbClr val="0066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98140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</p:bldLst>
  </p:timing>
  <p:extLst mod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B050"/>
                </a:solidFill>
              </a:rPr>
              <a:t>관련</a:t>
            </a:r>
            <a:r>
              <a:rPr lang="en-US" altLang="ko-KR" dirty="0">
                <a:solidFill>
                  <a:srgbClr val="00B050"/>
                </a:solidFill>
              </a:rPr>
              <a:t> Class </a:t>
            </a:r>
            <a:r>
              <a:rPr lang="ko-KR" altLang="en-US" dirty="0">
                <a:solidFill>
                  <a:srgbClr val="00B050"/>
                </a:solidFill>
              </a:rPr>
              <a:t>분석</a:t>
            </a:r>
            <a:r>
              <a:rPr lang="en-US" altLang="ko-KR" dirty="0">
                <a:solidFill>
                  <a:srgbClr val="00B050"/>
                </a:solidFill>
              </a:rPr>
              <a:t> - 1</a:t>
            </a:r>
            <a:endParaRPr lang="ko-KR" altLang="en-US" dirty="0">
              <a:solidFill>
                <a:srgbClr val="00B050"/>
              </a:solidFill>
            </a:endParaRP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E5FF2DC-26CE-40C4-AEF4-7BCEEA328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 err="1">
                <a:hlinkClick r:id="rId2"/>
              </a:rPr>
              <a:t>LinearLayout</a:t>
            </a:r>
            <a:r>
              <a:rPr lang="en-US" altLang="ko-KR" sz="2400" dirty="0"/>
              <a:t> </a:t>
            </a:r>
            <a:r>
              <a:rPr lang="ko-KR" altLang="en-US" sz="2400" dirty="0"/>
              <a:t>클래스 객체 생성</a:t>
            </a:r>
            <a:endParaRPr lang="en-US" altLang="ko-KR" sz="2400" dirty="0"/>
          </a:p>
          <a:p>
            <a:pPr lvl="1"/>
            <a:r>
              <a:rPr lang="ko-KR" altLang="en-US" sz="2000" dirty="0"/>
              <a:t>생성자 </a:t>
            </a:r>
            <a:r>
              <a:rPr lang="en-US" altLang="ko-KR" sz="2000" dirty="0" err="1">
                <a:hlinkClick r:id="rId3"/>
              </a:rPr>
              <a:t>LinearLayout</a:t>
            </a:r>
            <a:r>
              <a:rPr lang="en-US" altLang="ko-KR" sz="2000" dirty="0"/>
              <a:t>(</a:t>
            </a:r>
            <a:r>
              <a:rPr lang="en-US" altLang="ko-KR" sz="2000" dirty="0">
                <a:hlinkClick r:id="rId4"/>
              </a:rPr>
              <a:t>Context</a:t>
            </a:r>
            <a:r>
              <a:rPr lang="en-US" altLang="ko-KR" sz="2000" dirty="0"/>
              <a:t> context) </a:t>
            </a:r>
            <a:r>
              <a:rPr lang="ko-KR" altLang="en-US" sz="2000" dirty="0"/>
              <a:t>사용</a:t>
            </a:r>
            <a:endParaRPr lang="en-US" altLang="ko-KR" sz="2000" dirty="0"/>
          </a:p>
          <a:p>
            <a:pPr lvl="2"/>
            <a:r>
              <a:rPr lang="en-US" altLang="ko-KR" sz="1800" dirty="0"/>
              <a:t>context </a:t>
            </a:r>
            <a:r>
              <a:rPr lang="ko-KR" altLang="en-US" sz="1800" dirty="0"/>
              <a:t>인수로 자기 자신 </a:t>
            </a:r>
            <a:r>
              <a:rPr lang="en-US" altLang="ko-KR" sz="1800" dirty="0" err="1"/>
              <a:t>MainActivity</a:t>
            </a:r>
            <a:r>
              <a:rPr lang="ko-KR" altLang="en-US" sz="1800" dirty="0"/>
              <a:t> 객체 전달</a:t>
            </a:r>
            <a:endParaRPr lang="en-US" altLang="ko-KR" sz="1800" dirty="0"/>
          </a:p>
          <a:p>
            <a:pPr lvl="1"/>
            <a:r>
              <a:rPr lang="en-US" altLang="ko-KR" sz="2000" dirty="0" err="1">
                <a:hlinkClick r:id="rId5"/>
              </a:rPr>
              <a:t>setOrientation</a:t>
            </a:r>
            <a:r>
              <a:rPr lang="en-US" altLang="ko-KR" sz="2000" dirty="0"/>
              <a:t>() </a:t>
            </a:r>
            <a:r>
              <a:rPr lang="ko-KR" altLang="en-US" sz="2000" dirty="0"/>
              <a:t>메서드 호출</a:t>
            </a:r>
            <a:r>
              <a:rPr lang="en-US" altLang="ko-KR" sz="2000" dirty="0"/>
              <a:t> </a:t>
            </a:r>
          </a:p>
          <a:p>
            <a:r>
              <a:rPr lang="en-US" altLang="ko-KR" sz="2400" dirty="0">
                <a:hlinkClick r:id="rId6"/>
              </a:rPr>
              <a:t>Button</a:t>
            </a:r>
            <a:r>
              <a:rPr lang="en-US" altLang="ko-KR" sz="2400" dirty="0"/>
              <a:t> </a:t>
            </a:r>
            <a:r>
              <a:rPr lang="ko-KR" altLang="en-US" sz="2400" dirty="0"/>
              <a:t>클래스 객체 생성</a:t>
            </a:r>
            <a:endParaRPr lang="en-US" altLang="ko-KR" sz="2400" dirty="0"/>
          </a:p>
          <a:p>
            <a:pPr lvl="1"/>
            <a:r>
              <a:rPr lang="ko-KR" altLang="en-US" sz="2000" dirty="0"/>
              <a:t>생성자 </a:t>
            </a:r>
            <a:r>
              <a:rPr lang="en-US" altLang="ko-KR" sz="2000" dirty="0">
                <a:hlinkClick r:id="rId7"/>
              </a:rPr>
              <a:t>Button</a:t>
            </a:r>
            <a:r>
              <a:rPr lang="en-US" altLang="ko-KR" sz="2000" dirty="0"/>
              <a:t>(</a:t>
            </a:r>
            <a:r>
              <a:rPr lang="en-US" altLang="ko-KR" sz="2000" dirty="0">
                <a:hlinkClick r:id="rId4"/>
              </a:rPr>
              <a:t>Context</a:t>
            </a:r>
            <a:r>
              <a:rPr lang="en-US" altLang="ko-KR" sz="2000" dirty="0"/>
              <a:t> context) </a:t>
            </a:r>
            <a:r>
              <a:rPr lang="ko-KR" altLang="en-US" sz="2000" dirty="0"/>
              <a:t>사용</a:t>
            </a:r>
            <a:endParaRPr lang="en-US" altLang="ko-KR" sz="2000" dirty="0"/>
          </a:p>
          <a:p>
            <a:pPr lvl="2"/>
            <a:r>
              <a:rPr lang="en-US" altLang="ko-KR" sz="1800" dirty="0"/>
              <a:t>context </a:t>
            </a:r>
            <a:r>
              <a:rPr lang="ko-KR" altLang="en-US" sz="1800" dirty="0"/>
              <a:t>인수로 자기 자신 </a:t>
            </a:r>
            <a:r>
              <a:rPr lang="en-US" altLang="ko-KR" sz="1800" dirty="0" err="1"/>
              <a:t>MainActivity</a:t>
            </a:r>
            <a:r>
              <a:rPr lang="ko-KR" altLang="en-US" sz="1800" dirty="0"/>
              <a:t> 객체 전달</a:t>
            </a:r>
            <a:endParaRPr lang="en-US" altLang="ko-KR" sz="1800" dirty="0"/>
          </a:p>
          <a:p>
            <a:pPr lvl="1"/>
            <a:r>
              <a:rPr lang="ko-KR" altLang="en-US" sz="2000" dirty="0"/>
              <a:t>상위 클래스 </a:t>
            </a:r>
            <a:r>
              <a:rPr lang="en-US" altLang="ko-KR" sz="2000" dirty="0" err="1">
                <a:hlinkClick r:id="rId8"/>
              </a:rPr>
              <a:t>TextView</a:t>
            </a:r>
            <a:r>
              <a:rPr lang="en-US" altLang="ko-KR" sz="2000" dirty="0"/>
              <a:t> </a:t>
            </a:r>
            <a:r>
              <a:rPr lang="ko-KR" altLang="en-US" sz="2000" dirty="0"/>
              <a:t>의 </a:t>
            </a:r>
            <a:r>
              <a:rPr lang="en-US" altLang="ko-KR" sz="2000" dirty="0" err="1">
                <a:hlinkClick r:id="rId9"/>
              </a:rPr>
              <a:t>setText</a:t>
            </a:r>
            <a:r>
              <a:rPr lang="en-US" altLang="ko-KR" sz="2000" dirty="0"/>
              <a:t>(</a:t>
            </a:r>
            <a:r>
              <a:rPr lang="en-US" altLang="ko-KR" sz="2000" dirty="0" err="1">
                <a:hlinkClick r:id="rId10"/>
              </a:rPr>
              <a:t>CharSequence</a:t>
            </a:r>
            <a:r>
              <a:rPr lang="en-US" altLang="ko-KR" sz="2000" dirty="0"/>
              <a:t> text) </a:t>
            </a:r>
            <a:r>
              <a:rPr lang="ko-KR" altLang="en-US" sz="2000" dirty="0"/>
              <a:t>메서드 호출</a:t>
            </a:r>
            <a:endParaRPr lang="en-US" altLang="ko-KR" sz="2000" dirty="0"/>
          </a:p>
          <a:p>
            <a:pPr lvl="2"/>
            <a:r>
              <a:rPr lang="en-US" altLang="ko-KR" sz="1600" dirty="0" err="1">
                <a:hlinkClick r:id="rId10"/>
              </a:rPr>
              <a:t>CharSequence</a:t>
            </a:r>
            <a:r>
              <a:rPr lang="en-US" altLang="ko-KR" sz="1600" dirty="0"/>
              <a:t> </a:t>
            </a:r>
            <a:r>
              <a:rPr lang="ko-KR" altLang="en-US" sz="1600" dirty="0"/>
              <a:t>는</a:t>
            </a:r>
            <a:r>
              <a:rPr lang="en-US" altLang="ko-KR" sz="1600" dirty="0"/>
              <a:t> String </a:t>
            </a:r>
            <a:r>
              <a:rPr lang="ko-KR" altLang="en-US" sz="1600" dirty="0"/>
              <a:t>타입과 유사함</a:t>
            </a:r>
            <a:endParaRPr lang="en-US" altLang="ko-KR" sz="1600" dirty="0"/>
          </a:p>
          <a:p>
            <a:r>
              <a:rPr lang="en-US" altLang="ko-KR" sz="2400" dirty="0" err="1">
                <a:hlinkClick r:id="rId2"/>
              </a:rPr>
              <a:t>LinearLayout</a:t>
            </a:r>
            <a:r>
              <a:rPr lang="en-US" altLang="ko-KR" sz="2400" dirty="0">
                <a:hlinkClick r:id="rId2"/>
              </a:rPr>
              <a:t> </a:t>
            </a:r>
            <a:r>
              <a:rPr lang="ko-KR" altLang="en-US" sz="2400" dirty="0"/>
              <a:t>의 상위</a:t>
            </a:r>
            <a:r>
              <a:rPr lang="en-US" altLang="ko-KR" sz="2400" dirty="0"/>
              <a:t> </a:t>
            </a:r>
            <a:r>
              <a:rPr lang="ko-KR" altLang="en-US" sz="2400" dirty="0"/>
              <a:t>클래스 </a:t>
            </a:r>
            <a:r>
              <a:rPr lang="en-US" altLang="ko-KR" sz="2400" dirty="0" err="1">
                <a:hlinkClick r:id="rId11"/>
              </a:rPr>
              <a:t>ViewGroup</a:t>
            </a:r>
            <a:r>
              <a:rPr lang="en-US" altLang="ko-KR" sz="2400" dirty="0"/>
              <a:t> </a:t>
            </a:r>
            <a:r>
              <a:rPr lang="ko-KR" altLang="en-US" sz="2400" dirty="0"/>
              <a:t>의 </a:t>
            </a:r>
            <a:r>
              <a:rPr lang="en-US" altLang="ko-KR" sz="2400" dirty="0" err="1">
                <a:hlinkClick r:id="rId12"/>
              </a:rPr>
              <a:t>addView</a:t>
            </a:r>
            <a:r>
              <a:rPr lang="en-US" altLang="ko-KR" sz="2400" dirty="0"/>
              <a:t>(</a:t>
            </a:r>
            <a:r>
              <a:rPr lang="en-US" altLang="ko-KR" sz="2400" dirty="0">
                <a:hlinkClick r:id="rId11"/>
              </a:rPr>
              <a:t>View</a:t>
            </a:r>
            <a:r>
              <a:rPr lang="en-US" altLang="ko-KR" sz="2400" dirty="0"/>
              <a:t> child) </a:t>
            </a:r>
            <a:r>
              <a:rPr lang="ko-KR" altLang="en-US" sz="2400" dirty="0"/>
              <a:t>메서드 호출</a:t>
            </a:r>
            <a:r>
              <a:rPr lang="en-US" altLang="ko-KR" sz="2400" dirty="0"/>
              <a:t> </a:t>
            </a:r>
          </a:p>
          <a:p>
            <a:pPr lvl="1"/>
            <a:r>
              <a:rPr lang="en-US" altLang="ko-KR" sz="2000" dirty="0">
                <a:hlinkClick r:id="rId11"/>
              </a:rPr>
              <a:t>View</a:t>
            </a:r>
            <a:r>
              <a:rPr lang="ko-KR" altLang="en-US" sz="2000" dirty="0"/>
              <a:t> 클래스는</a:t>
            </a:r>
            <a:r>
              <a:rPr lang="en-US" altLang="ko-KR" sz="2000" dirty="0"/>
              <a:t> </a:t>
            </a:r>
            <a:r>
              <a:rPr lang="ko-KR" altLang="en-US" sz="2000" dirty="0"/>
              <a:t>모든 화면에 보이는 컨트롤의 조상 클래스</a:t>
            </a:r>
            <a:endParaRPr lang="ko-KR" altLang="en-US" sz="2400" dirty="0"/>
          </a:p>
          <a:p>
            <a:r>
              <a:rPr lang="en-US" altLang="ko-KR" sz="2400" dirty="0" err="1">
                <a:hlinkClick r:id="rId13"/>
              </a:rPr>
              <a:t>setContentView</a:t>
            </a:r>
            <a:r>
              <a:rPr lang="en-US" altLang="ko-KR" sz="2400" dirty="0"/>
              <a:t>(</a:t>
            </a:r>
            <a:r>
              <a:rPr lang="en-US" altLang="ko-KR" sz="2400" dirty="0">
                <a:hlinkClick r:id="rId11"/>
              </a:rPr>
              <a:t>View</a:t>
            </a:r>
            <a:r>
              <a:rPr lang="en-US" altLang="ko-KR" sz="2400" dirty="0"/>
              <a:t> view) </a:t>
            </a:r>
            <a:r>
              <a:rPr lang="ko-KR" altLang="en-US" sz="2400" dirty="0"/>
              <a:t>메서드 호출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36798381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id </a:t>
            </a:r>
            <a:r>
              <a:rPr lang="ko-KR" altLang="en-US" dirty="0"/>
              <a:t>속성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sz="2800" dirty="0"/>
              <a:t>모든 위젯은 정수로 된 </a:t>
            </a:r>
            <a:r>
              <a:rPr lang="en-US" altLang="ko-KR" sz="2800" dirty="0"/>
              <a:t>id(</a:t>
            </a:r>
            <a:r>
              <a:rPr lang="ko-KR" altLang="en-US" sz="2800" dirty="0"/>
              <a:t>식별자</a:t>
            </a:r>
            <a:r>
              <a:rPr lang="en-US" altLang="ko-KR" sz="2800" dirty="0"/>
              <a:t>)</a:t>
            </a:r>
            <a:r>
              <a:rPr lang="ko-KR" altLang="en-US" sz="2800" dirty="0"/>
              <a:t>를 가질 수 있음</a:t>
            </a:r>
            <a:endParaRPr lang="en-US" altLang="ko-KR" sz="28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D42B442-7CDD-089C-78C5-660B7CC35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412776"/>
            <a:ext cx="8621843" cy="432048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94402BAF-791D-4438-B8B9-6DDFAF0990D3}"/>
                  </a:ext>
                </a:extLst>
              </p14:cNvPr>
              <p14:cNvContentPartPr/>
              <p14:nvPr/>
            </p14:nvContentPartPr>
            <p14:xfrm>
              <a:off x="2230992" y="3450168"/>
              <a:ext cx="1344600" cy="4320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94402BAF-791D-4438-B8B9-6DDFAF0990D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94992" y="3378168"/>
                <a:ext cx="141624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015604B8-D5BB-4BB4-93D7-7D5820750E3A}"/>
                  </a:ext>
                </a:extLst>
              </p14:cNvPr>
              <p14:cNvContentPartPr/>
              <p14:nvPr/>
            </p14:nvContentPartPr>
            <p14:xfrm>
              <a:off x="2249352" y="4601448"/>
              <a:ext cx="1399320" cy="3492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015604B8-D5BB-4BB4-93D7-7D5820750E3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13352" y="4529448"/>
                <a:ext cx="147096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C6FF258B-ABC3-44BB-B9B8-8D1D0CC83883}"/>
                  </a:ext>
                </a:extLst>
              </p14:cNvPr>
              <p14:cNvContentPartPr/>
              <p14:nvPr/>
            </p14:nvContentPartPr>
            <p14:xfrm>
              <a:off x="2212992" y="5431248"/>
              <a:ext cx="942120" cy="5544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C6FF258B-ABC3-44BB-B9B8-8D1D0CC8388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76992" y="5359248"/>
                <a:ext cx="1013760" cy="19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341225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B20A5C-877E-5CAF-46B7-4D9015552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위젯에 식별자를 부여하는 이유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24BF0A-599B-42D7-6143-B06C92D6E8F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자바 코드에서 </a:t>
            </a:r>
            <a:r>
              <a:rPr lang="en-US" altLang="ko-KR" dirty="0" err="1">
                <a:solidFill>
                  <a:srgbClr val="7030A0"/>
                </a:solidFill>
                <a:hlinkClick r:id="rId2"/>
              </a:rPr>
              <a:t>findViewById</a:t>
            </a:r>
            <a:r>
              <a:rPr lang="en-US" altLang="ko-KR" dirty="0">
                <a:solidFill>
                  <a:schemeClr val="tx1"/>
                </a:solidFill>
              </a:rPr>
              <a:t>(int id) </a:t>
            </a:r>
            <a:r>
              <a:rPr lang="ko-KR" altLang="en-US" dirty="0"/>
              <a:t>메서드로 위젯을 찾아서 어떤 작업을 하기 위해서 지정</a:t>
            </a:r>
            <a:endParaRPr lang="en-US" altLang="ko-KR" dirty="0"/>
          </a:p>
          <a:p>
            <a:r>
              <a:rPr lang="ko-KR" altLang="en-US" dirty="0"/>
              <a:t>자바 코드에서 찾을 필요가 없는 위젯에는 식별자를 붙일 필요는 없음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F2E89A6-AD2F-4E3B-B388-ADD0762D4B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3754"/>
          <a:stretch>
            <a:fillRect/>
          </a:stretch>
        </p:blipFill>
        <p:spPr>
          <a:xfrm>
            <a:off x="288032" y="2964608"/>
            <a:ext cx="8820472" cy="2408608"/>
          </a:xfrm>
          <a:custGeom>
            <a:avLst/>
            <a:gdLst>
              <a:gd name="connsiteX0" fmla="*/ 0 w 8820472"/>
              <a:gd name="connsiteY0" fmla="*/ 0 h 2408608"/>
              <a:gd name="connsiteX1" fmla="*/ 8820472 w 8820472"/>
              <a:gd name="connsiteY1" fmla="*/ 0 h 2408608"/>
              <a:gd name="connsiteX2" fmla="*/ 8820472 w 8820472"/>
              <a:gd name="connsiteY2" fmla="*/ 2408608 h 2408608"/>
              <a:gd name="connsiteX3" fmla="*/ 0 w 8820472"/>
              <a:gd name="connsiteY3" fmla="*/ 2408608 h 2408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20472" h="2408608">
                <a:moveTo>
                  <a:pt x="0" y="0"/>
                </a:moveTo>
                <a:lnTo>
                  <a:pt x="8820472" y="0"/>
                </a:lnTo>
                <a:lnTo>
                  <a:pt x="8820472" y="2408608"/>
                </a:lnTo>
                <a:lnTo>
                  <a:pt x="0" y="2408608"/>
                </a:lnTo>
                <a:close/>
              </a:path>
            </a:pathLst>
          </a:cu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2F4DA04D-18B9-405E-A829-C428811D9A62}"/>
              </a:ext>
            </a:extLst>
          </p:cNvPr>
          <p:cNvSpPr/>
          <p:nvPr/>
        </p:nvSpPr>
        <p:spPr bwMode="auto">
          <a:xfrm>
            <a:off x="3923928" y="4063394"/>
            <a:ext cx="2016224" cy="373718"/>
          </a:xfrm>
          <a:prstGeom prst="rect">
            <a:avLst/>
          </a:prstGeom>
          <a:solidFill>
            <a:srgbClr val="00B050">
              <a:alpha val="29000"/>
            </a:srgbClr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79896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3200" dirty="0">
                <a:solidFill>
                  <a:srgbClr val="FFC000"/>
                </a:solidFill>
              </a:rPr>
              <a:t>[</a:t>
            </a:r>
            <a:r>
              <a:rPr lang="ko-KR" altLang="en-US" sz="3200" dirty="0">
                <a:solidFill>
                  <a:srgbClr val="FFC000"/>
                </a:solidFill>
              </a:rPr>
              <a:t>실습</a:t>
            </a:r>
            <a:r>
              <a:rPr lang="en-US" altLang="ko-KR" sz="3200" dirty="0">
                <a:solidFill>
                  <a:srgbClr val="FFC000"/>
                </a:solidFill>
              </a:rPr>
              <a:t>3] </a:t>
            </a:r>
            <a:r>
              <a:rPr lang="en-US" altLang="ko-KR" sz="3200" dirty="0"/>
              <a:t>XML</a:t>
            </a:r>
            <a:r>
              <a:rPr lang="ko-KR" altLang="en-US" sz="3200" dirty="0"/>
              <a:t>과 코드를 동시에 사용하는 방법 </a:t>
            </a:r>
            <a:r>
              <a:rPr lang="en-US" altLang="ko-KR" sz="3200" dirty="0"/>
              <a:t>- 1</a:t>
            </a:r>
            <a:endParaRPr lang="ko-KR" altLang="en-US" sz="3200" dirty="0"/>
          </a:p>
        </p:txBody>
      </p:sp>
      <p:sp>
        <p:nvSpPr>
          <p:cNvPr id="7" name="모서리가 둥근 사각형 설명선 6"/>
          <p:cNvSpPr/>
          <p:nvPr/>
        </p:nvSpPr>
        <p:spPr bwMode="auto">
          <a:xfrm>
            <a:off x="7020272" y="1345331"/>
            <a:ext cx="2054225" cy="787526"/>
          </a:xfrm>
          <a:prstGeom prst="wedgeRoundRectCallout">
            <a:avLst>
              <a:gd name="adj1" fmla="val 1722"/>
              <a:gd name="adj2" fmla="val -79194"/>
              <a:gd name="adj3" fmla="val 16667"/>
            </a:avLst>
          </a:prstGeom>
          <a:solidFill>
            <a:srgbClr val="FFFFCC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실습</a:t>
            </a:r>
            <a:r>
              <a:rPr kumimoji="1" lang="en-US" altLang="ko-KR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ko-KR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생략</a:t>
            </a:r>
            <a:r>
              <a:rPr kumimoji="1" lang="en-US" altLang="ko-KR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!</a:t>
            </a:r>
            <a:endParaRPr kumimoji="1" lang="ko-KR" altLang="en-US" sz="24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" name="내용 개체 틀 5">
            <a:extLst>
              <a:ext uri="{FF2B5EF4-FFF2-40B4-BE49-F238E27FC236}">
                <a16:creationId xmlns:a16="http://schemas.microsoft.com/office/drawing/2014/main" id="{A792D6D4-205A-4447-8E87-30F3C9BA5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5" y="758497"/>
            <a:ext cx="6912769" cy="543855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08ABCD3-0545-4D5C-8B95-D9DF0D9BA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160" y="3717032"/>
            <a:ext cx="2995535" cy="1368152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35496" y="724634"/>
            <a:ext cx="5361532" cy="40011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UserInterface1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2000" dirty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activity_main.xml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과 동일</a:t>
            </a:r>
          </a:p>
        </p:txBody>
      </p:sp>
      <p:sp>
        <p:nvSpPr>
          <p:cNvPr id="22534" name="TextBox 5"/>
          <p:cNvSpPr txBox="1">
            <a:spLocks noChangeArrowheads="1"/>
          </p:cNvSpPr>
          <p:nvPr/>
        </p:nvSpPr>
        <p:spPr bwMode="auto">
          <a:xfrm>
            <a:off x="6783388" y="663575"/>
            <a:ext cx="23256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r"/>
            <a:r>
              <a:rPr lang="en-US" altLang="ko-KR" dirty="0">
                <a:solidFill>
                  <a:srgbClr val="FFC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UserInterface3</a:t>
            </a:r>
            <a:endParaRPr lang="ko-KR" altLang="en-US" dirty="0">
              <a:solidFill>
                <a:srgbClr val="FFC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79634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  <p:extLst mod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ABB4001-7F7A-4834-956B-04210D432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193" y="1124744"/>
            <a:ext cx="5352567" cy="114361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3200" dirty="0">
                <a:solidFill>
                  <a:srgbClr val="FFC000"/>
                </a:solidFill>
              </a:rPr>
              <a:t>[</a:t>
            </a:r>
            <a:r>
              <a:rPr lang="ko-KR" altLang="en-US" sz="3200" dirty="0">
                <a:solidFill>
                  <a:srgbClr val="FFC000"/>
                </a:solidFill>
              </a:rPr>
              <a:t>실습</a:t>
            </a:r>
            <a:r>
              <a:rPr lang="en-US" altLang="ko-KR" sz="3200" dirty="0">
                <a:solidFill>
                  <a:srgbClr val="FFC000"/>
                </a:solidFill>
              </a:rPr>
              <a:t>3] </a:t>
            </a:r>
            <a:r>
              <a:rPr lang="en-US" altLang="ko-KR" sz="3200" dirty="0"/>
              <a:t>XML</a:t>
            </a:r>
            <a:r>
              <a:rPr lang="ko-KR" altLang="en-US" sz="3200" dirty="0"/>
              <a:t>과 코드를 동시에 사용하는 방법 </a:t>
            </a:r>
            <a:r>
              <a:rPr lang="en-US" altLang="ko-KR" sz="3200" dirty="0"/>
              <a:t>- 2</a:t>
            </a:r>
            <a:endParaRPr lang="ko-KR" altLang="en-US" sz="3600" dirty="0"/>
          </a:p>
        </p:txBody>
      </p:sp>
      <p:sp>
        <p:nvSpPr>
          <p:cNvPr id="9" name="TextBox 8"/>
          <p:cNvSpPr txBox="1"/>
          <p:nvPr/>
        </p:nvSpPr>
        <p:spPr>
          <a:xfrm>
            <a:off x="35496" y="764704"/>
            <a:ext cx="6776983" cy="40011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altLang="ko-KR" sz="2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MainActivity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클래스의 </a:t>
            </a:r>
            <a:r>
              <a:rPr lang="en-US" altLang="ko-KR" sz="2000" dirty="0" err="1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onCreate</a:t>
            </a:r>
            <a:r>
              <a:rPr lang="en-US" altLang="ko-KR" sz="2000" dirty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()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메서드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뒷부분에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추가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C9B7140-F1DC-48D0-8EC6-285FA125D623}"/>
              </a:ext>
            </a:extLst>
          </p:cNvPr>
          <p:cNvGrpSpPr/>
          <p:nvPr/>
        </p:nvGrpSpPr>
        <p:grpSpPr>
          <a:xfrm>
            <a:off x="34924" y="2204864"/>
            <a:ext cx="9150161" cy="2468304"/>
            <a:chOff x="34924" y="1320736"/>
            <a:chExt cx="9150161" cy="2468304"/>
          </a:xfrm>
        </p:grpSpPr>
        <p:pic>
          <p:nvPicPr>
            <p:cNvPr id="22532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924" y="1320736"/>
              <a:ext cx="9150161" cy="24683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BB1EF83F-8C04-410A-BBCD-DA39099E4BA7}"/>
                </a:ext>
              </a:extLst>
            </p:cNvPr>
            <p:cNvSpPr/>
            <p:nvPr/>
          </p:nvSpPr>
          <p:spPr bwMode="auto">
            <a:xfrm>
              <a:off x="2619286" y="1561780"/>
              <a:ext cx="1016610" cy="211036"/>
            </a:xfrm>
            <a:prstGeom prst="rect">
              <a:avLst/>
            </a:prstGeom>
            <a:solidFill>
              <a:srgbClr val="00B050">
                <a:alpha val="29000"/>
              </a:srgbClr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001DEE3-9CCA-4FE0-BCCA-EE8FF97BCF5B}"/>
                </a:ext>
              </a:extLst>
            </p:cNvPr>
            <p:cNvSpPr/>
            <p:nvPr/>
          </p:nvSpPr>
          <p:spPr bwMode="auto">
            <a:xfrm>
              <a:off x="2619286" y="2353868"/>
              <a:ext cx="1016610" cy="211036"/>
            </a:xfrm>
            <a:prstGeom prst="rect">
              <a:avLst/>
            </a:prstGeom>
            <a:solidFill>
              <a:srgbClr val="00B050">
                <a:alpha val="29000"/>
              </a:srgbClr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굴림" pitchFamily="50" charset="-127"/>
              </a:endParaRPr>
            </a:p>
          </p:txBody>
        </p:sp>
      </p:grpSp>
      <p:pic>
        <p:nvPicPr>
          <p:cNvPr id="7" name="_x256495816" descr="EMB000020a40c37">
            <a:extLst>
              <a:ext uri="{FF2B5EF4-FFF2-40B4-BE49-F238E27FC236}">
                <a16:creationId xmlns:a16="http://schemas.microsoft.com/office/drawing/2014/main" id="{825316C7-480D-478D-8E09-28363BA63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521"/>
          <a:stretch>
            <a:fillRect/>
          </a:stretch>
        </p:blipFill>
        <p:spPr bwMode="auto">
          <a:xfrm>
            <a:off x="3203848" y="4248968"/>
            <a:ext cx="2808312" cy="19163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92211603"/>
      </p:ext>
    </p:extLst>
  </p:cSld>
  <p:clrMapOvr>
    <a:masterClrMapping/>
  </p:clrMapOvr>
  <p:extLst mod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>
                <a:hlinkClick r:id="rId2"/>
              </a:rPr>
              <a:t>View</a:t>
            </a:r>
            <a:r>
              <a:rPr lang="ko-KR" altLang="en-US" dirty="0"/>
              <a:t> </a:t>
            </a:r>
            <a:r>
              <a:rPr lang="en-US" altLang="ko-KR" dirty="0"/>
              <a:t>Class</a:t>
            </a:r>
            <a:endParaRPr lang="ko-KR" altLang="en-US" dirty="0"/>
          </a:p>
        </p:txBody>
      </p:sp>
      <p:sp>
        <p:nvSpPr>
          <p:cNvPr id="25603" name="내용 개체 틀 2"/>
          <p:cNvSpPr>
            <a:spLocks noGrp="1"/>
          </p:cNvSpPr>
          <p:nvPr>
            <p:ph idx="1"/>
          </p:nvPr>
        </p:nvSpPr>
        <p:spPr>
          <a:xfrm>
            <a:off x="107504" y="765175"/>
            <a:ext cx="8928992" cy="5400675"/>
          </a:xfrm>
        </p:spPr>
        <p:txBody>
          <a:bodyPr/>
          <a:lstStyle/>
          <a:p>
            <a:r>
              <a:rPr lang="en-US" altLang="ko-KR" b="1" dirty="0">
                <a:solidFill>
                  <a:srgbClr val="0070C0"/>
                </a:solidFill>
              </a:rPr>
              <a:t>View</a:t>
            </a:r>
            <a:r>
              <a:rPr lang="en-US" altLang="ko-KR" b="1" dirty="0"/>
              <a:t> </a:t>
            </a:r>
            <a:r>
              <a:rPr lang="ko-KR" altLang="en-US" dirty="0"/>
              <a:t>클래스는 모든 뷰들의 부모 클래스</a:t>
            </a:r>
            <a:r>
              <a:rPr lang="en-US" altLang="ko-KR" dirty="0"/>
              <a:t> </a:t>
            </a:r>
          </a:p>
          <a:p>
            <a:r>
              <a:rPr lang="en-US" altLang="ko-KR" dirty="0">
                <a:solidFill>
                  <a:srgbClr val="0070C0"/>
                </a:solidFill>
              </a:rPr>
              <a:t>View</a:t>
            </a:r>
            <a:r>
              <a:rPr lang="en-US" altLang="ko-KR" dirty="0"/>
              <a:t> </a:t>
            </a:r>
            <a:r>
              <a:rPr lang="ko-KR" altLang="en-US" dirty="0"/>
              <a:t>클래스가 가지고 있는 </a:t>
            </a:r>
            <a:r>
              <a:rPr lang="ko-KR" altLang="en-US" dirty="0">
                <a:solidFill>
                  <a:srgbClr val="C00000"/>
                </a:solidFill>
              </a:rPr>
              <a:t>속성</a:t>
            </a:r>
            <a:r>
              <a:rPr lang="ko-KR" altLang="en-US" dirty="0"/>
              <a:t>이나 </a:t>
            </a:r>
            <a:r>
              <a:rPr lang="ko-KR" altLang="en-US" dirty="0">
                <a:solidFill>
                  <a:srgbClr val="C00000"/>
                </a:solidFill>
              </a:rPr>
              <a:t>메서드</a:t>
            </a:r>
            <a:r>
              <a:rPr lang="ko-KR" altLang="en-US" dirty="0"/>
              <a:t>는 모든 뷰에서 공통적으로 사용할 수 있음</a:t>
            </a:r>
            <a:endParaRPr lang="en-US" altLang="ko-KR" dirty="0"/>
          </a:p>
        </p:txBody>
      </p:sp>
      <p:pic>
        <p:nvPicPr>
          <p:cNvPr id="7" name="그림 6" descr="텍스트, 스크린샷, 폰트, 도표이(가) 표시된 사진&#10;&#10;자동 생성된 설명">
            <a:extLst>
              <a:ext uri="{FF2B5EF4-FFF2-40B4-BE49-F238E27FC236}">
                <a16:creationId xmlns:a16="http://schemas.microsoft.com/office/drawing/2014/main" id="{FD90EA74-5298-47A7-8876-4FEC7275DB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3" y="2420888"/>
            <a:ext cx="8136905" cy="3768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831008"/>
      </p:ext>
    </p:extLst>
  </p:cSld>
  <p:clrMapOvr>
    <a:masterClrMapping/>
  </p:clrMapOvr>
  <p:extLst mod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D6419CA1-795B-02BE-9C05-EC00C1F57D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782366"/>
            <a:ext cx="7992888" cy="4454946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위젯의 위치와 크기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위젯의 위치는 레이아웃 객체에 의하여 결정</a:t>
            </a:r>
            <a:endParaRPr lang="en-US" altLang="ko-KR" dirty="0"/>
          </a:p>
          <a:p>
            <a:r>
              <a:rPr lang="ko-KR" altLang="en-US" dirty="0"/>
              <a:t>위젯의 크기는 다음과 같은 값으로 지정이 가능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883081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7B4F1B5-6171-2E50-A3C1-235019D9D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2204865"/>
            <a:ext cx="7617783" cy="403244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7F46CF3-E588-AC3E-A801-6E81E148D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4] </a:t>
            </a:r>
            <a:r>
              <a:rPr lang="ko-KR" altLang="en-US" dirty="0"/>
              <a:t>위젯의 크기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EE8115-5ED3-1215-B992-D3BD16E06AA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레이아웃 파일에서 버튼을 하나 생성하고 버튼의 </a:t>
            </a:r>
            <a:r>
              <a:rPr lang="en-US" altLang="ko-KR" dirty="0" err="1">
                <a:solidFill>
                  <a:srgbClr val="7030A0"/>
                </a:solidFill>
              </a:rPr>
              <a:t>layout_width</a:t>
            </a:r>
            <a:r>
              <a:rPr lang="ko-KR" altLang="en-US" dirty="0"/>
              <a:t>와 </a:t>
            </a:r>
            <a:r>
              <a:rPr lang="en-US" altLang="ko-KR" dirty="0" err="1">
                <a:solidFill>
                  <a:srgbClr val="7030A0"/>
                </a:solidFill>
              </a:rPr>
              <a:t>layout_height</a:t>
            </a:r>
            <a:r>
              <a:rPr lang="en-US" altLang="ko-KR" dirty="0">
                <a:solidFill>
                  <a:srgbClr val="7030A0"/>
                </a:solidFill>
              </a:rPr>
              <a:t> </a:t>
            </a:r>
            <a:r>
              <a:rPr lang="ko-KR" altLang="en-US" dirty="0"/>
              <a:t>속성을 </a:t>
            </a:r>
            <a:r>
              <a:rPr lang="en-US" altLang="ko-KR" dirty="0" err="1">
                <a:solidFill>
                  <a:srgbClr val="00B050"/>
                </a:solidFill>
              </a:rPr>
              <a:t>wrap_content</a:t>
            </a:r>
            <a:r>
              <a:rPr lang="ko-KR" altLang="en-US" dirty="0"/>
              <a:t>로 변경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E05044-A2AF-428F-BDD7-06ECA093EB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4248" y="188913"/>
            <a:ext cx="23256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r"/>
            <a:r>
              <a:rPr lang="en-US" altLang="ko-KR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LinearLayoutTest01</a:t>
            </a:r>
            <a:endParaRPr lang="ko-KR" altLang="en-US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87957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DB52B484-2DAB-6B0C-87A7-F02E75D5B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/>
              <a:t>실행 화면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en-US" sz="2000" dirty="0"/>
              <a:t>버튼의 </a:t>
            </a:r>
            <a:r>
              <a:rPr lang="en-US" altLang="ko-KR" sz="2000" dirty="0" err="1"/>
              <a:t>layout_width</a:t>
            </a:r>
            <a:r>
              <a:rPr lang="ko-KR" altLang="en-US" sz="2000" dirty="0"/>
              <a:t>와 </a:t>
            </a:r>
            <a:r>
              <a:rPr lang="en-US" altLang="ko-KR" sz="2000" dirty="0" err="1"/>
              <a:t>layout_height</a:t>
            </a:r>
            <a:r>
              <a:rPr lang="en-US" altLang="ko-KR" sz="2000" dirty="0"/>
              <a:t> </a:t>
            </a:r>
            <a:r>
              <a:rPr lang="ko-KR" altLang="en-US" sz="2000" dirty="0">
                <a:solidFill>
                  <a:srgbClr val="C00000"/>
                </a:solidFill>
              </a:rPr>
              <a:t>변경</a:t>
            </a:r>
            <a:r>
              <a:rPr lang="ko-KR" altLang="en-US" sz="2000" dirty="0"/>
              <a:t>해서 실행</a:t>
            </a:r>
            <a:endParaRPr lang="ko-KR" altLang="en-US" sz="28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5BC4B56-3DF2-4B77-8B74-A03BCBE42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4437"/>
            <a:ext cx="9144000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5090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Margin</a:t>
            </a:r>
            <a:r>
              <a:rPr lang="ko-KR" altLang="en-US" dirty="0"/>
              <a:t>과 </a:t>
            </a:r>
            <a:r>
              <a:rPr lang="en-US" altLang="ko-KR" dirty="0"/>
              <a:t>Padding</a:t>
            </a:r>
            <a:endParaRPr lang="ko-KR" altLang="en-US" dirty="0"/>
          </a:p>
        </p:txBody>
      </p:sp>
      <p:sp>
        <p:nvSpPr>
          <p:cNvPr id="32772" name="내용 개체 틀 2"/>
          <p:cNvSpPr>
            <a:spLocks noGrp="1"/>
          </p:cNvSpPr>
          <p:nvPr>
            <p:ph idx="1"/>
          </p:nvPr>
        </p:nvSpPr>
        <p:spPr>
          <a:xfrm>
            <a:off x="107504" y="765175"/>
            <a:ext cx="8928992" cy="5400675"/>
          </a:xfrm>
        </p:spPr>
        <p:txBody>
          <a:bodyPr/>
          <a:lstStyle/>
          <a:p>
            <a:r>
              <a:rPr lang="ko-KR" altLang="en-US" dirty="0"/>
              <a:t>마진이란 자식 뷰 주위의 여백</a:t>
            </a:r>
          </a:p>
          <a:p>
            <a:r>
              <a:rPr lang="ko-KR" altLang="en-US" dirty="0"/>
              <a:t>패딩이란 뷰의 경계와 뷰의 내용물 사이의 간격</a:t>
            </a:r>
            <a:endParaRPr lang="en-US" altLang="ko-KR" dirty="0"/>
          </a:p>
        </p:txBody>
      </p:sp>
      <p:pic>
        <p:nvPicPr>
          <p:cNvPr id="6" name="그림 5" descr="텍스트, 스크린샷, 폰트, 직사각형이(가) 표시된 사진&#10;&#10;자동 생성된 설명">
            <a:extLst>
              <a:ext uri="{FF2B5EF4-FFF2-40B4-BE49-F238E27FC236}">
                <a16:creationId xmlns:a16="http://schemas.microsoft.com/office/drawing/2014/main" id="{BDAAC06A-893D-41EE-BD19-AF95EFC44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787" y="2647863"/>
            <a:ext cx="6904597" cy="2797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298492"/>
      </p:ext>
    </p:extLst>
  </p:cSld>
  <p:clrMapOvr>
    <a:masterClrMapping/>
  </p:clrMapOvr>
  <p:extLst mod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4">
            <a:extLst>
              <a:ext uri="{FF2B5EF4-FFF2-40B4-BE49-F238E27FC236}">
                <a16:creationId xmlns:a16="http://schemas.microsoft.com/office/drawing/2014/main" id="{ED1B770F-D679-42F6-A2E1-4CE9F725D5E5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8999" y="1268760"/>
            <a:ext cx="9143577" cy="4032448"/>
          </a:xfr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C6D3B92-8F95-4A36-9C9E-945BBF7D9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5] Margin</a:t>
            </a:r>
            <a:r>
              <a:rPr lang="ko-KR" altLang="en-US" dirty="0"/>
              <a:t>과 </a:t>
            </a:r>
            <a:r>
              <a:rPr lang="en-US" altLang="ko-KR" dirty="0"/>
              <a:t>Padding</a:t>
            </a:r>
            <a:r>
              <a:rPr lang="ko-KR" altLang="en-US" dirty="0"/>
              <a:t> 예제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378536-B830-4973-A62C-64B231288D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3388" y="590774"/>
            <a:ext cx="23256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r"/>
            <a:r>
              <a:rPr lang="en-US" altLang="ko-KR" dirty="0" err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MarginTest</a:t>
            </a:r>
            <a:endParaRPr lang="ko-KR" altLang="en-US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4A2D9A8-0BAD-4830-BFE6-32A65A72BB10}"/>
              </a:ext>
            </a:extLst>
          </p:cNvPr>
          <p:cNvCxnSpPr>
            <a:cxnSpLocks/>
          </p:cNvCxnSpPr>
          <p:nvPr/>
        </p:nvCxnSpPr>
        <p:spPr bwMode="auto">
          <a:xfrm>
            <a:off x="1691680" y="3717032"/>
            <a:ext cx="1224136" cy="0"/>
          </a:xfrm>
          <a:prstGeom prst="line">
            <a:avLst/>
          </a:prstGeom>
          <a:noFill/>
          <a:ln w="38100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F241CF1-EA00-47F9-A39B-0A4133D9F28A}"/>
              </a:ext>
            </a:extLst>
          </p:cNvPr>
          <p:cNvCxnSpPr>
            <a:cxnSpLocks/>
          </p:cNvCxnSpPr>
          <p:nvPr/>
        </p:nvCxnSpPr>
        <p:spPr bwMode="auto">
          <a:xfrm>
            <a:off x="1691680" y="4293096"/>
            <a:ext cx="648072" cy="0"/>
          </a:xfrm>
          <a:prstGeom prst="line">
            <a:avLst/>
          </a:prstGeom>
          <a:noFill/>
          <a:ln w="38100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2120991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색상 지정</a:t>
            </a:r>
            <a:r>
              <a:rPr lang="en-US" altLang="ko-KR" dirty="0"/>
              <a:t> </a:t>
            </a:r>
            <a:r>
              <a:rPr lang="ko-KR" altLang="en-US" dirty="0"/>
              <a:t>방법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072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C00000"/>
                </a:solidFill>
              </a:rPr>
              <a:t>16</a:t>
            </a:r>
            <a:r>
              <a:rPr lang="ko-KR" altLang="en-US" dirty="0">
                <a:solidFill>
                  <a:srgbClr val="C00000"/>
                </a:solidFill>
              </a:rPr>
              <a:t>진수</a:t>
            </a:r>
            <a:r>
              <a:rPr lang="ko-KR" altLang="en-US" dirty="0"/>
              <a:t>로 투명도와 빛의 </a:t>
            </a:r>
            <a:r>
              <a:rPr lang="en-US" altLang="ko-KR" dirty="0"/>
              <a:t>3</a:t>
            </a:r>
            <a:r>
              <a:rPr lang="ko-KR" altLang="en-US" dirty="0"/>
              <a:t>원색인 </a:t>
            </a:r>
            <a:r>
              <a:rPr lang="en-US" altLang="ko-KR" dirty="0">
                <a:solidFill>
                  <a:srgbClr val="FF0000"/>
                </a:solidFill>
              </a:rPr>
              <a:t>R</a:t>
            </a:r>
            <a:r>
              <a:rPr lang="en-US" altLang="ko-KR" dirty="0">
                <a:solidFill>
                  <a:srgbClr val="006600"/>
                </a:solidFill>
              </a:rPr>
              <a:t>G</a:t>
            </a:r>
            <a:r>
              <a:rPr lang="en-US" altLang="ko-KR" dirty="0">
                <a:solidFill>
                  <a:srgbClr val="0000FF"/>
                </a:solidFill>
              </a:rPr>
              <a:t>B</a:t>
            </a:r>
            <a:r>
              <a:rPr lang="ko-KR" altLang="en-US" dirty="0"/>
              <a:t>값을 표시</a:t>
            </a:r>
            <a:endParaRPr lang="en-US" altLang="ko-KR" dirty="0"/>
          </a:p>
          <a:p>
            <a:pPr lvl="1"/>
            <a:r>
              <a:rPr lang="en-US" altLang="ko-KR" dirty="0"/>
              <a:t>#</a:t>
            </a:r>
            <a:r>
              <a:rPr lang="en-US" altLang="ko-KR" dirty="0">
                <a:solidFill>
                  <a:srgbClr val="FF0000"/>
                </a:solidFill>
              </a:rPr>
              <a:t>FF</a:t>
            </a:r>
            <a:r>
              <a:rPr lang="en-US" altLang="ko-KR" dirty="0">
                <a:solidFill>
                  <a:srgbClr val="006600"/>
                </a:solidFill>
              </a:rPr>
              <a:t>00</a:t>
            </a:r>
            <a:r>
              <a:rPr lang="en-US" altLang="ko-KR" dirty="0">
                <a:solidFill>
                  <a:srgbClr val="0000FF"/>
                </a:solidFill>
              </a:rPr>
              <a:t>00</a:t>
            </a:r>
          </a:p>
          <a:p>
            <a:pPr lvl="1"/>
            <a:r>
              <a:rPr lang="en-US" altLang="ko-KR" dirty="0"/>
              <a:t>#</a:t>
            </a:r>
            <a:r>
              <a:rPr lang="en-US" altLang="ko-KR" dirty="0">
                <a:solidFill>
                  <a:srgbClr val="0070C0"/>
                </a:solidFill>
              </a:rPr>
              <a:t>88</a:t>
            </a:r>
            <a:r>
              <a:rPr lang="en-US" altLang="ko-KR" dirty="0">
                <a:solidFill>
                  <a:srgbClr val="FF0000"/>
                </a:solidFill>
              </a:rPr>
              <a:t>00</a:t>
            </a:r>
            <a:r>
              <a:rPr lang="en-US" altLang="ko-KR" dirty="0">
                <a:solidFill>
                  <a:srgbClr val="006600"/>
                </a:solidFill>
              </a:rPr>
              <a:t>FF</a:t>
            </a:r>
            <a:r>
              <a:rPr lang="en-US" altLang="ko-KR" dirty="0">
                <a:solidFill>
                  <a:srgbClr val="0000FF"/>
                </a:solidFill>
              </a:rPr>
              <a:t>00</a:t>
            </a:r>
          </a:p>
        </p:txBody>
      </p:sp>
      <p:pic>
        <p:nvPicPr>
          <p:cNvPr id="5" name="그림 4" descr="텍스트, 스크린샷, 폰트, 라인이(가) 표시된 사진&#10;&#10;자동 생성된 설명">
            <a:extLst>
              <a:ext uri="{FF2B5EF4-FFF2-40B4-BE49-F238E27FC236}">
                <a16:creationId xmlns:a16="http://schemas.microsoft.com/office/drawing/2014/main" id="{08BBD62E-F185-4963-B762-68956E8C4E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5" y="3068083"/>
            <a:ext cx="9029135" cy="1657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937088"/>
      </p:ext>
    </p:extLst>
  </p:cSld>
  <p:clrMapOvr>
    <a:masterClrMapping/>
  </p:clrMapOvr>
  <p:extLst mod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7D2652-2BC7-41C5-8532-78AB310DE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6] </a:t>
            </a:r>
            <a:r>
              <a:rPr lang="ko-KR" altLang="en-US" dirty="0"/>
              <a:t>배경색 지정 예제</a:t>
            </a: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5256D495-5587-4676-BACE-DAF365F2C9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3388" y="188913"/>
            <a:ext cx="23256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r"/>
            <a:r>
              <a:rPr lang="en-US" altLang="ko-KR" dirty="0" err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ColorTest</a:t>
            </a:r>
            <a:endParaRPr lang="ko-KR" altLang="en-US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내용 개체 틀 6" descr="텍스트, 스크린샷, 휴대 전화, 폰트이(가) 표시된 사진&#10;&#10;자동 생성된 설명">
            <a:extLst>
              <a:ext uri="{FF2B5EF4-FFF2-40B4-BE49-F238E27FC236}">
                <a16:creationId xmlns:a16="http://schemas.microsoft.com/office/drawing/2014/main" id="{57DA14D1-9849-4962-8317-B0C3A86405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" y="1700808"/>
            <a:ext cx="9109076" cy="3051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08588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화면에 보이기 속성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2D926A-99D0-9D7F-31FC-1BFDFA4166D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만약 초기에 뷰의 표시 여부를 제어하려면 </a:t>
            </a:r>
            <a:r>
              <a:rPr lang="en-US" altLang="ko-KR" dirty="0">
                <a:solidFill>
                  <a:srgbClr val="6600FF"/>
                </a:solidFill>
              </a:rPr>
              <a:t>visibility</a:t>
            </a:r>
            <a:r>
              <a:rPr lang="en-US" altLang="ko-KR" dirty="0"/>
              <a:t> </a:t>
            </a:r>
            <a:r>
              <a:rPr lang="ko-KR" altLang="en-US" dirty="0"/>
              <a:t>속성을 다음 중의 하나로 설정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FF4632C-DA42-BD59-7E18-2D1E7F451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19" y="1988840"/>
            <a:ext cx="8832983" cy="20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3731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FA4E2C-687F-450A-B9F6-244519FE3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7] Visibility </a:t>
            </a:r>
            <a:r>
              <a:rPr lang="ko-KR" altLang="en-US" dirty="0"/>
              <a:t>속성 예제 </a:t>
            </a:r>
            <a:r>
              <a:rPr lang="en-US" altLang="ko-KR" dirty="0"/>
              <a:t>- 1</a:t>
            </a:r>
            <a:endParaRPr lang="ko-KR" altLang="en-US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07B45FE4-0E35-47F1-8EBA-30E8DA03F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3388" y="590774"/>
            <a:ext cx="23256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r"/>
            <a:r>
              <a:rPr lang="en-US" altLang="ko-KR" dirty="0" err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VisibleTest</a:t>
            </a:r>
            <a:endParaRPr lang="ko-KR" altLang="en-US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EDB707B-AC78-4B9E-A44C-0B50DB3E8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4350" y="3716894"/>
            <a:ext cx="3514725" cy="23622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743662C2-6CB8-4A8B-B5C1-612A597BA86D}"/>
              </a:ext>
            </a:extLst>
          </p:cNvPr>
          <p:cNvCxnSpPr>
            <a:cxnSpLocks/>
          </p:cNvCxnSpPr>
          <p:nvPr/>
        </p:nvCxnSpPr>
        <p:spPr bwMode="auto">
          <a:xfrm>
            <a:off x="3203848" y="2924944"/>
            <a:ext cx="2520280" cy="936104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CDE7ECD8-23B2-4D3C-9639-05083BC58D67}"/>
              </a:ext>
            </a:extLst>
          </p:cNvPr>
          <p:cNvCxnSpPr>
            <a:cxnSpLocks/>
          </p:cNvCxnSpPr>
          <p:nvPr/>
        </p:nvCxnSpPr>
        <p:spPr bwMode="auto">
          <a:xfrm flipV="1">
            <a:off x="3131840" y="4293096"/>
            <a:ext cx="2592288" cy="1224136"/>
          </a:xfrm>
          <a:prstGeom prst="straightConnector1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6A65149F-6A9A-47F2-9F6C-11EAA174B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8193"/>
            <a:ext cx="9144000" cy="5479119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5551023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FA4E2C-687F-450A-B9F6-244519FE3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7] Visibility </a:t>
            </a:r>
            <a:r>
              <a:rPr lang="ko-KR" altLang="en-US" dirty="0"/>
              <a:t>속성 예제 </a:t>
            </a:r>
            <a:r>
              <a:rPr lang="en-US" altLang="ko-KR" dirty="0"/>
              <a:t>- 2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2F9FE6E-10B1-48D0-8686-885530181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4350" y="3716894"/>
            <a:ext cx="3514725" cy="23622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7FF66AD4-FDA9-45AF-A500-86F9D7030B82}"/>
              </a:ext>
            </a:extLst>
          </p:cNvPr>
          <p:cNvCxnSpPr/>
          <p:nvPr/>
        </p:nvCxnSpPr>
        <p:spPr bwMode="auto">
          <a:xfrm>
            <a:off x="3275856" y="1268760"/>
            <a:ext cx="2520280" cy="3528392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F55EA77-81F0-42B0-B193-CB0685E493FE}"/>
              </a:ext>
            </a:extLst>
          </p:cNvPr>
          <p:cNvCxnSpPr>
            <a:cxnSpLocks/>
            <a:endCxn id="9" idx="1"/>
          </p:cNvCxnSpPr>
          <p:nvPr/>
        </p:nvCxnSpPr>
        <p:spPr bwMode="auto">
          <a:xfrm>
            <a:off x="2987824" y="4005064"/>
            <a:ext cx="2606526" cy="892930"/>
          </a:xfrm>
          <a:prstGeom prst="straightConnector1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E29F0BF5-EB6C-4708-9F08-77120966FE36}"/>
              </a:ext>
            </a:extLst>
          </p:cNvPr>
          <p:cNvCxnSpPr/>
          <p:nvPr/>
        </p:nvCxnSpPr>
        <p:spPr bwMode="auto">
          <a:xfrm>
            <a:off x="3275856" y="4797152"/>
            <a:ext cx="2592288" cy="360040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D9E709B2-A784-4780-97E4-58B4B45FC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8193"/>
            <a:ext cx="9144000" cy="5479119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4245348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내용 개체 틀 6">
            <a:extLst>
              <a:ext uri="{FF2B5EF4-FFF2-40B4-BE49-F238E27FC236}">
                <a16:creationId xmlns:a16="http://schemas.microsoft.com/office/drawing/2014/main" id="{C960925A-2BE4-41B0-91B5-1F70365B0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1" y="1124744"/>
            <a:ext cx="9136351" cy="460851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E644F2D-9845-4EED-A828-423D1DE8D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8] enabled/rotation </a:t>
            </a:r>
            <a:r>
              <a:rPr lang="ko-KR" altLang="en-US" dirty="0"/>
              <a:t>속성 예제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A9284A-F9EC-4665-B1E6-E4C3720C93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3388" y="662782"/>
            <a:ext cx="23256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r"/>
            <a:r>
              <a:rPr lang="en-US" altLang="ko-KR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Rotation</a:t>
            </a:r>
            <a:endParaRPr lang="ko-KR" altLang="en-US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C7689AF-E726-43C8-915A-C1EECA08A7E7}"/>
              </a:ext>
            </a:extLst>
          </p:cNvPr>
          <p:cNvCxnSpPr>
            <a:cxnSpLocks/>
          </p:cNvCxnSpPr>
          <p:nvPr/>
        </p:nvCxnSpPr>
        <p:spPr bwMode="auto">
          <a:xfrm>
            <a:off x="1691680" y="3501008"/>
            <a:ext cx="1440160" cy="0"/>
          </a:xfrm>
          <a:prstGeom prst="line">
            <a:avLst/>
          </a:prstGeom>
          <a:noFill/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3D1AA61-2FB9-4D7C-9774-0DB387A35608}"/>
              </a:ext>
            </a:extLst>
          </p:cNvPr>
          <p:cNvCxnSpPr>
            <a:cxnSpLocks/>
          </p:cNvCxnSpPr>
          <p:nvPr/>
        </p:nvCxnSpPr>
        <p:spPr bwMode="auto">
          <a:xfrm>
            <a:off x="1691680" y="4680000"/>
            <a:ext cx="1224136" cy="0"/>
          </a:xfrm>
          <a:prstGeom prst="line">
            <a:avLst/>
          </a:prstGeom>
          <a:noFill/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7213530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4F9264-78DE-418D-A1AF-C9F8D661B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텍스트 뷰</a:t>
            </a:r>
            <a:r>
              <a:rPr lang="en-US" altLang="ko-KR" dirty="0"/>
              <a:t>(</a:t>
            </a:r>
            <a:r>
              <a:rPr lang="en-US" altLang="ko-KR" dirty="0" err="1">
                <a:hlinkClick r:id="rId2"/>
              </a:rPr>
              <a:t>TextView</a:t>
            </a:r>
            <a:r>
              <a:rPr lang="en-US" altLang="ko-KR" dirty="0"/>
              <a:t>)</a:t>
            </a:r>
            <a:r>
              <a:rPr lang="ko-KR" altLang="en-US" dirty="0"/>
              <a:t>의 속성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7C4F93E-F5B3-4A2D-96E9-F85421475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텍스트 뷰</a:t>
            </a:r>
            <a:r>
              <a:rPr lang="en-US" altLang="ko-KR" dirty="0"/>
              <a:t>(</a:t>
            </a:r>
            <a:r>
              <a:rPr lang="en-US" altLang="ko-KR" dirty="0" err="1"/>
              <a:t>TextView</a:t>
            </a:r>
            <a:r>
              <a:rPr lang="en-US" altLang="ko-KR" dirty="0"/>
              <a:t>)</a:t>
            </a:r>
            <a:r>
              <a:rPr lang="ko-KR" altLang="en-US" dirty="0"/>
              <a:t>는 화면에 간단한 텍스트를 출력하는 위젯</a:t>
            </a:r>
            <a:endParaRPr lang="en-US" altLang="ko-KR" dirty="0"/>
          </a:p>
          <a:p>
            <a:r>
              <a:rPr lang="ko-KR" altLang="en-US" dirty="0"/>
              <a:t>다른 곳에서는 레이블</a:t>
            </a:r>
            <a:r>
              <a:rPr lang="en-US" altLang="ko-KR" dirty="0"/>
              <a:t>(label)</a:t>
            </a:r>
            <a:r>
              <a:rPr lang="ko-KR" altLang="en-US" dirty="0"/>
              <a:t>이라고도 함</a:t>
            </a:r>
          </a:p>
          <a:p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FCBA869-C515-4103-A0A3-1B4BFEA2D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25" y="2532639"/>
            <a:ext cx="8774071" cy="2336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8968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9] </a:t>
            </a:r>
            <a:r>
              <a:rPr lang="en-US" altLang="ko-KR" dirty="0" err="1"/>
              <a:t>TextView</a:t>
            </a:r>
            <a:r>
              <a:rPr lang="en-US" altLang="ko-KR" dirty="0"/>
              <a:t> </a:t>
            </a:r>
            <a:r>
              <a:rPr lang="ko-KR" altLang="en-US" dirty="0"/>
              <a:t>사용</a:t>
            </a:r>
            <a:r>
              <a:rPr lang="en-US" altLang="ko-KR" dirty="0"/>
              <a:t> </a:t>
            </a:r>
            <a:r>
              <a:rPr lang="ko-KR" altLang="en-US" dirty="0"/>
              <a:t>예제</a:t>
            </a:r>
          </a:p>
        </p:txBody>
      </p:sp>
      <p:sp>
        <p:nvSpPr>
          <p:cNvPr id="35844" name="TextBox 3"/>
          <p:cNvSpPr txBox="1">
            <a:spLocks noChangeArrowheads="1"/>
          </p:cNvSpPr>
          <p:nvPr/>
        </p:nvSpPr>
        <p:spPr bwMode="auto">
          <a:xfrm>
            <a:off x="6783388" y="188913"/>
            <a:ext cx="23256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r"/>
            <a:r>
              <a:rPr lang="en-US" altLang="ko-KR" dirty="0" err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TextViewTest</a:t>
            </a:r>
            <a:endParaRPr lang="ko-KR" altLang="en-US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743651"/>
            <a:ext cx="7562924" cy="551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428848"/>
      </p:ext>
    </p:extLst>
  </p:cSld>
  <p:clrMapOvr>
    <a:masterClrMapping/>
  </p:clrMapOvr>
  <p:extLst mod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CD9F0C-6EA1-4043-8CAC-CB2418500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버튼</a:t>
            </a:r>
            <a:r>
              <a:rPr lang="en-US" altLang="ko-KR" dirty="0"/>
              <a:t>(</a:t>
            </a:r>
            <a:r>
              <a:rPr lang="en-US" altLang="ko-KR" dirty="0">
                <a:hlinkClick r:id="rId2"/>
              </a:rPr>
              <a:t>Button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B2745E-9A82-4F8C-9E12-BEB74F43E98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버튼</a:t>
            </a:r>
            <a:r>
              <a:rPr lang="en-US" altLang="ko-KR" dirty="0"/>
              <a:t>(Button)</a:t>
            </a:r>
            <a:r>
              <a:rPr lang="ko-KR" altLang="en-US" dirty="0"/>
              <a:t>은 가장 기본적인 위젯으로 사용자 인터페이스에서 매우 많이 사용</a:t>
            </a:r>
            <a:endParaRPr lang="en-US" altLang="ko-KR" dirty="0"/>
          </a:p>
          <a:p>
            <a:r>
              <a:rPr lang="en-US" altLang="ko-KR" dirty="0">
                <a:solidFill>
                  <a:srgbClr val="0070C0"/>
                </a:solidFill>
              </a:rPr>
              <a:t>Click</a:t>
            </a:r>
            <a:r>
              <a:rPr lang="en-US" altLang="ko-KR" dirty="0"/>
              <a:t> </a:t>
            </a:r>
            <a:r>
              <a:rPr lang="ko-KR" altLang="en-US" dirty="0"/>
              <a:t>했을 때 특정 액션 수행시키는데 사용</a:t>
            </a:r>
          </a:p>
        </p:txBody>
      </p:sp>
      <p:pic>
        <p:nvPicPr>
          <p:cNvPr id="6" name="그림 5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E3BF2EEC-079E-46B6-BFB0-66A299E258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170" y="2630016"/>
            <a:ext cx="4667086" cy="33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6526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FB56F8-8651-8B59-A840-3313BB622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10] </a:t>
            </a:r>
            <a:r>
              <a:rPr lang="ko-KR" altLang="en-US" dirty="0"/>
              <a:t>버튼의 색상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4F7112-694E-2CD0-7A88-247E631032B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버튼의 색상은 </a:t>
            </a:r>
            <a:r>
              <a:rPr lang="en-US" altLang="ko-KR" dirty="0" err="1">
                <a:solidFill>
                  <a:srgbClr val="6600FF"/>
                </a:solidFill>
              </a:rPr>
              <a:t>backgroundTint</a:t>
            </a:r>
            <a:r>
              <a:rPr lang="en-US" altLang="ko-KR" dirty="0"/>
              <a:t> </a:t>
            </a:r>
            <a:r>
              <a:rPr lang="ko-KR" altLang="en-US" dirty="0"/>
              <a:t>속성을 변경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F219AAD-6FAF-824B-0D4A-62BDC3A7E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7" y="2044124"/>
            <a:ext cx="8792243" cy="2753028"/>
          </a:xfrm>
          <a:prstGeom prst="rect">
            <a:avLst/>
          </a:prstGeom>
        </p:spPr>
      </p:pic>
      <p:sp>
        <p:nvSpPr>
          <p:cNvPr id="6" name="TextBox 3">
            <a:extLst>
              <a:ext uri="{FF2B5EF4-FFF2-40B4-BE49-F238E27FC236}">
                <a16:creationId xmlns:a16="http://schemas.microsoft.com/office/drawing/2014/main" id="{550A9BB6-150A-47AB-A45F-FB614FA667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3388" y="188913"/>
            <a:ext cx="23256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r"/>
            <a:r>
              <a:rPr lang="en-US" altLang="ko-KR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ButtonTest6</a:t>
            </a:r>
            <a:endParaRPr lang="ko-KR" altLang="en-US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85687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F53EF-366A-4D02-BBED-0500BB97A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이벤트를 처리하는 </a:t>
            </a:r>
            <a:r>
              <a:rPr lang="en-US" altLang="ko-KR" dirty="0"/>
              <a:t>3</a:t>
            </a:r>
            <a:r>
              <a:rPr lang="ko-KR" altLang="en-US" dirty="0"/>
              <a:t>가지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1F1EA6-DE4A-4C8D-B7CF-75C621D7E36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pPr marL="457200" indent="-457200">
              <a:buFont typeface="+mj-ea"/>
              <a:buAutoNum type="circleNumDbPlain"/>
            </a:pPr>
            <a:r>
              <a:rPr lang="en-US" altLang="ko-KR" sz="2400" dirty="0"/>
              <a:t>XML </a:t>
            </a:r>
            <a:r>
              <a:rPr lang="ko-KR" altLang="en-US" sz="2400" dirty="0"/>
              <a:t>파일에 이벤트 처리 메서드를 등록하는 방법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ko-KR" altLang="en-US" sz="2400" dirty="0"/>
              <a:t>클릭 이벤트만 처리할 수 있는 방법</a:t>
            </a:r>
            <a:endParaRPr lang="en-US" altLang="ko-KR" sz="2400" dirty="0"/>
          </a:p>
          <a:p>
            <a:pPr lvl="1">
              <a:buFont typeface="Wingdings" panose="05000000000000000000" pitchFamily="2" charset="2"/>
              <a:buChar char="l"/>
            </a:pPr>
            <a:r>
              <a:rPr lang="ko-KR" altLang="en-US" sz="2400" dirty="0"/>
              <a:t>일반적인 방법은 아니지만 버튼과 같은 위젯의 경우</a:t>
            </a:r>
            <a:r>
              <a:rPr lang="en-US" altLang="ko-KR" sz="2400" dirty="0"/>
              <a:t>, </a:t>
            </a:r>
            <a:r>
              <a:rPr lang="ko-KR" altLang="en-US" sz="2400" dirty="0"/>
              <a:t>가장 간단하게 이벤트를 처리할 수 있음</a:t>
            </a:r>
            <a:r>
              <a:rPr lang="en-US" altLang="ko-KR" sz="2400" dirty="0"/>
              <a:t> </a:t>
            </a:r>
          </a:p>
          <a:p>
            <a:pPr marL="457200" lvl="1" indent="0">
              <a:buNone/>
            </a:pPr>
            <a:r>
              <a:rPr lang="en-US" altLang="ko-KR" sz="2400" dirty="0"/>
              <a:t>   → </a:t>
            </a:r>
            <a:r>
              <a:rPr lang="en-US" altLang="ko-KR" sz="2400" dirty="0">
                <a:solidFill>
                  <a:srgbClr val="C00000"/>
                </a:solidFill>
              </a:rPr>
              <a:t>2</a:t>
            </a:r>
            <a:r>
              <a:rPr lang="ko-KR" altLang="en-US" sz="2400" dirty="0">
                <a:solidFill>
                  <a:srgbClr val="C00000"/>
                </a:solidFill>
              </a:rPr>
              <a:t>장</a:t>
            </a:r>
            <a:r>
              <a:rPr lang="ko-KR" altLang="en-US" sz="2400" dirty="0"/>
              <a:t>에서 살펴보았음</a:t>
            </a:r>
            <a:endParaRPr lang="en-US" altLang="ko-KR" sz="2400" dirty="0"/>
          </a:p>
          <a:p>
            <a:pPr marL="457200" indent="-457200">
              <a:buFont typeface="+mj-lt"/>
              <a:buAutoNum type="circleNumDbPlain"/>
            </a:pPr>
            <a:r>
              <a:rPr lang="ko-KR" altLang="en-US" sz="2400" dirty="0"/>
              <a:t>이벤트를 처리하는 객체를 생성해서 이벤트를 처리하는 방법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ko-KR" altLang="en-US" sz="2400" dirty="0" err="1"/>
              <a:t>이벤트리스너</a:t>
            </a:r>
            <a:r>
              <a:rPr lang="ko-KR" altLang="en-US" sz="2400" dirty="0"/>
              <a:t> 인터페이스를 구현하는</a:t>
            </a:r>
            <a:endParaRPr lang="en-US" altLang="ko-KR" sz="2400" dirty="0"/>
          </a:p>
          <a:p>
            <a:pPr lvl="2">
              <a:buFont typeface="Wingdings" panose="05000000000000000000" pitchFamily="2" charset="2"/>
              <a:buChar char="l"/>
            </a:pPr>
            <a:r>
              <a:rPr lang="ko-KR" altLang="en-US" sz="2000" dirty="0">
                <a:solidFill>
                  <a:srgbClr val="7030A0"/>
                </a:solidFill>
              </a:rPr>
              <a:t>클래스</a:t>
            </a:r>
            <a:r>
              <a:rPr lang="ko-KR" altLang="en-US" sz="2000" dirty="0"/>
              <a:t>를 직접 정의해서 처리</a:t>
            </a:r>
            <a:endParaRPr lang="en-US" altLang="ko-KR" sz="2000" dirty="0"/>
          </a:p>
          <a:p>
            <a:pPr lvl="2">
              <a:buFont typeface="Wingdings" panose="05000000000000000000" pitchFamily="2" charset="2"/>
              <a:buChar char="l"/>
            </a:pPr>
            <a:r>
              <a:rPr lang="ko-KR" altLang="en-US" sz="2000" dirty="0">
                <a:solidFill>
                  <a:srgbClr val="003300"/>
                </a:solidFill>
              </a:rPr>
              <a:t>클래스</a:t>
            </a:r>
            <a:r>
              <a:rPr lang="ko-KR" altLang="en-US" sz="2000" dirty="0"/>
              <a:t>를 </a:t>
            </a:r>
            <a:r>
              <a:rPr lang="ko-KR" altLang="en-US" sz="2000" dirty="0">
                <a:solidFill>
                  <a:srgbClr val="7030A0"/>
                </a:solidFill>
              </a:rPr>
              <a:t>익명 클래스</a:t>
            </a:r>
            <a:r>
              <a:rPr lang="ko-KR" altLang="en-US" sz="2000" dirty="0"/>
              <a:t>로 정의해서 처리</a:t>
            </a:r>
            <a:endParaRPr lang="en-US" altLang="ko-KR" sz="2000" dirty="0"/>
          </a:p>
          <a:p>
            <a:pPr lvl="2">
              <a:buFont typeface="Wingdings" panose="05000000000000000000" pitchFamily="2" charset="2"/>
              <a:buChar char="l"/>
            </a:pPr>
            <a:r>
              <a:rPr lang="ko-KR" altLang="en-US" sz="2000" dirty="0">
                <a:solidFill>
                  <a:srgbClr val="003300"/>
                </a:solidFill>
              </a:rPr>
              <a:t>클래스</a:t>
            </a:r>
            <a:r>
              <a:rPr lang="ko-KR" altLang="en-US" sz="2000" dirty="0"/>
              <a:t>를 </a:t>
            </a:r>
            <a:r>
              <a:rPr lang="ko-KR" altLang="en-US" sz="2000" dirty="0">
                <a:solidFill>
                  <a:srgbClr val="7030A0"/>
                </a:solidFill>
              </a:rPr>
              <a:t>람다식</a:t>
            </a:r>
            <a:r>
              <a:rPr lang="ko-KR" altLang="en-US" sz="2000" dirty="0"/>
              <a:t>으로 정의해서 처리</a:t>
            </a:r>
            <a:r>
              <a:rPr lang="en-US" altLang="ko-KR" sz="2000" dirty="0"/>
              <a:t> 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ko-KR" altLang="en-US" sz="2400" dirty="0" err="1"/>
              <a:t>이벤트리스너</a:t>
            </a:r>
            <a:r>
              <a:rPr lang="ko-KR" altLang="en-US" sz="2400" dirty="0"/>
              <a:t> 인터페이스를 </a:t>
            </a:r>
            <a:r>
              <a:rPr lang="ko-KR" altLang="en-US" sz="2400" dirty="0">
                <a:solidFill>
                  <a:srgbClr val="7030A0"/>
                </a:solidFill>
              </a:rPr>
              <a:t>액티비티 클래스에서 구현</a:t>
            </a:r>
          </a:p>
          <a:p>
            <a:pPr marL="457200" indent="-457200">
              <a:buFont typeface="+mj-lt"/>
              <a:buAutoNum type="circleNumDbPlain"/>
            </a:pPr>
            <a:r>
              <a:rPr lang="ko-KR" altLang="en-US" sz="2400" dirty="0"/>
              <a:t>뷰 클래스의 이벤트 처리 메서드를 재정의하는 방법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ko-KR" altLang="en-US" sz="2400" dirty="0"/>
              <a:t>뷰 클래스의 이벤트 처리 메서드를 재정의</a:t>
            </a:r>
            <a:endParaRPr lang="en-US" altLang="ko-KR" sz="2400" dirty="0"/>
          </a:p>
          <a:p>
            <a:pPr lvl="1">
              <a:buFont typeface="Wingdings" panose="05000000000000000000" pitchFamily="2" charset="2"/>
              <a:buChar char="l"/>
            </a:pPr>
            <a:r>
              <a:rPr lang="ko-KR" altLang="en-US" sz="2400" dirty="0"/>
              <a:t>커스텀 뷰</a:t>
            </a:r>
            <a:r>
              <a:rPr lang="en-US" altLang="ko-KR" sz="2400" dirty="0"/>
              <a:t>(Custom View)</a:t>
            </a:r>
            <a:r>
              <a:rPr lang="ko-KR" altLang="en-US" sz="2400" dirty="0"/>
              <a:t>를 작성하는 경우에만 사용할 수 있는 방법</a:t>
            </a:r>
            <a:endParaRPr lang="en-US" altLang="ko-KR" sz="2400" dirty="0"/>
          </a:p>
          <a:p>
            <a:pPr marL="457200" lvl="1" indent="0">
              <a:buNone/>
            </a:pPr>
            <a:r>
              <a:rPr lang="en-US" altLang="ko-KR" sz="2400" dirty="0"/>
              <a:t>    → </a:t>
            </a:r>
            <a:r>
              <a:rPr lang="en-US" altLang="ko-KR" sz="2400" dirty="0">
                <a:solidFill>
                  <a:srgbClr val="C00000"/>
                </a:solidFill>
              </a:rPr>
              <a:t>9</a:t>
            </a:r>
            <a:r>
              <a:rPr lang="ko-KR" altLang="en-US" sz="2400" dirty="0">
                <a:solidFill>
                  <a:srgbClr val="C00000"/>
                </a:solidFill>
              </a:rPr>
              <a:t>장 후반부</a:t>
            </a:r>
            <a:r>
              <a:rPr lang="ko-KR" altLang="en-US" sz="2400" dirty="0"/>
              <a:t>에서 살펴볼 예정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8118D3B-930D-4953-9904-28E27E73B8CA}"/>
              </a:ext>
            </a:extLst>
          </p:cNvPr>
          <p:cNvSpPr/>
          <p:nvPr/>
        </p:nvSpPr>
        <p:spPr bwMode="auto">
          <a:xfrm>
            <a:off x="36000" y="764704"/>
            <a:ext cx="9036496" cy="1872208"/>
          </a:xfrm>
          <a:prstGeom prst="rect">
            <a:avLst/>
          </a:prstGeom>
          <a:solidFill>
            <a:srgbClr val="FFFF00">
              <a:alpha val="10000"/>
            </a:srgbClr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42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05DBF3-4A77-4CA6-A840-05CEC1FB1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①</a:t>
            </a:r>
            <a:r>
              <a:rPr lang="en-US" altLang="ko-KR" dirty="0"/>
              <a:t>XML </a:t>
            </a:r>
            <a:r>
              <a:rPr lang="ko-KR" altLang="en-US" dirty="0"/>
              <a:t>파일을 이용한 이벤트 처리</a:t>
            </a:r>
          </a:p>
        </p:txBody>
      </p:sp>
      <p:pic>
        <p:nvPicPr>
          <p:cNvPr id="6" name="내용 개체 틀 6" descr="텍스트, 만화 영화, 소년이(가) 표시된 사진&#10;&#10;자동 생성된 설명">
            <a:extLst>
              <a:ext uri="{FF2B5EF4-FFF2-40B4-BE49-F238E27FC236}">
                <a16:creationId xmlns:a16="http://schemas.microsoft.com/office/drawing/2014/main" id="{0895C63D-1338-40B5-B155-B8C71EBD84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759065"/>
            <a:ext cx="8860634" cy="541815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C5A98816-45CF-47F2-820E-BB79F03DFF20}"/>
                  </a:ext>
                </a:extLst>
              </p14:cNvPr>
              <p14:cNvContentPartPr/>
              <p14:nvPr/>
            </p14:nvContentPartPr>
            <p14:xfrm>
              <a:off x="3722856" y="2824496"/>
              <a:ext cx="541440" cy="2844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C5A98816-45CF-47F2-820E-BB79F03DFF2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86856" y="2752496"/>
                <a:ext cx="61308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43F9DF22-6B8C-4740-B680-570C678D69DC}"/>
                  </a:ext>
                </a:extLst>
              </p14:cNvPr>
              <p14:cNvContentPartPr/>
              <p14:nvPr/>
            </p14:nvContentPartPr>
            <p14:xfrm>
              <a:off x="4450776" y="2817287"/>
              <a:ext cx="756000" cy="4248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43F9DF22-6B8C-4740-B680-570C678D69D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14776" y="2745287"/>
                <a:ext cx="82764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68FD7291-0009-4D04-BAE2-FE579418E4D7}"/>
                  </a:ext>
                </a:extLst>
              </p14:cNvPr>
              <p14:cNvContentPartPr/>
              <p14:nvPr/>
            </p14:nvContentPartPr>
            <p14:xfrm>
              <a:off x="5197056" y="4880087"/>
              <a:ext cx="849600" cy="4536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68FD7291-0009-4D04-BAE2-FE579418E4D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61056" y="4808087"/>
                <a:ext cx="921240" cy="18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664799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12A68044-578C-4B1B-876E-BBCD1D517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3237634"/>
            <a:ext cx="9100566" cy="245936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9D33162-6937-4661-9401-32A9D1D9D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000" dirty="0"/>
              <a:t>버튼 이벤트를 처리하는 메서드의 형식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0EE300-2598-4206-81CF-F5A44CE6544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70C0"/>
                </a:solidFill>
              </a:rPr>
              <a:t>public</a:t>
            </a:r>
            <a:r>
              <a:rPr lang="ko-KR" altLang="en-US" dirty="0"/>
              <a:t>이어야 한다</a:t>
            </a:r>
            <a:r>
              <a:rPr lang="en-US" altLang="ko-KR" dirty="0"/>
              <a:t>.</a:t>
            </a:r>
          </a:p>
          <a:p>
            <a:r>
              <a:rPr lang="en-US" altLang="ko-KR" dirty="0">
                <a:solidFill>
                  <a:srgbClr val="0070C0"/>
                </a:solidFill>
              </a:rPr>
              <a:t>void</a:t>
            </a:r>
            <a:r>
              <a:rPr lang="en-US" altLang="ko-KR" dirty="0"/>
              <a:t> </a:t>
            </a:r>
            <a:r>
              <a:rPr lang="ko-KR" altLang="en-US" dirty="0"/>
              <a:t>반환형을 가진다</a:t>
            </a:r>
            <a:r>
              <a:rPr lang="en-US" altLang="ko-KR" dirty="0"/>
              <a:t>.</a:t>
            </a:r>
          </a:p>
          <a:p>
            <a:r>
              <a:rPr lang="en-US" altLang="ko-KR" dirty="0">
                <a:solidFill>
                  <a:srgbClr val="0070C0"/>
                </a:solidFill>
              </a:rPr>
              <a:t>View</a:t>
            </a:r>
            <a:r>
              <a:rPr lang="ko-KR" altLang="en-US" dirty="0"/>
              <a:t>를 메서드의 인수로 가지며</a:t>
            </a:r>
            <a:r>
              <a:rPr lang="en-US" altLang="ko-KR" dirty="0"/>
              <a:t>, </a:t>
            </a:r>
            <a:r>
              <a:rPr lang="ko-KR" altLang="en-US" dirty="0"/>
              <a:t>클릭된 </a:t>
            </a:r>
            <a:r>
              <a:rPr lang="en-US" altLang="ko-KR" dirty="0"/>
              <a:t>View </a:t>
            </a:r>
            <a:r>
              <a:rPr lang="ko-KR" altLang="en-US" dirty="0"/>
              <a:t>객체가 전달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B68EDAB-53E2-442A-987D-45B5DEDF3A69}"/>
              </a:ext>
            </a:extLst>
          </p:cNvPr>
          <p:cNvCxnSpPr>
            <a:cxnSpLocks/>
          </p:cNvCxnSpPr>
          <p:nvPr/>
        </p:nvCxnSpPr>
        <p:spPr bwMode="auto">
          <a:xfrm>
            <a:off x="2987824" y="3789040"/>
            <a:ext cx="864096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7CE89E87-A084-47EF-89A0-F37811B7C8EC}"/>
                  </a:ext>
                </a:extLst>
              </p14:cNvPr>
              <p14:cNvContentPartPr/>
              <p14:nvPr/>
            </p14:nvContentPartPr>
            <p14:xfrm>
              <a:off x="6732240" y="5290633"/>
              <a:ext cx="308160" cy="36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7CE89E87-A084-47EF-89A0-F37811B7C8E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96240" y="5218633"/>
                <a:ext cx="379800" cy="14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290161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AFF4E-9F2A-CF2B-3EAB-F8E36F5E8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11] </a:t>
            </a:r>
            <a:r>
              <a:rPr lang="ko-KR" altLang="en-US" dirty="0"/>
              <a:t>난수 표시 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90329B-DFC4-1A7E-322F-F3D0904E88B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텍스트 뷰와 버튼을 사용</a:t>
            </a:r>
            <a:endParaRPr lang="en-US" altLang="ko-KR" dirty="0"/>
          </a:p>
          <a:p>
            <a:r>
              <a:rPr lang="ko-KR" altLang="en-US" dirty="0"/>
              <a:t>버튼을 누를 때 텍스트 뷰에 난수가 표시되는 간단한 안드로이드 앱을 작성해보자</a:t>
            </a:r>
          </a:p>
        </p:txBody>
      </p:sp>
      <p:pic>
        <p:nvPicPr>
          <p:cNvPr id="5" name="그림 4" descr="텍스트, 휴대 전화, 스크린샷, 정보기기이(가) 표시된 사진&#10;&#10;자동 생성된 설명">
            <a:extLst>
              <a:ext uri="{FF2B5EF4-FFF2-40B4-BE49-F238E27FC236}">
                <a16:creationId xmlns:a16="http://schemas.microsoft.com/office/drawing/2014/main" id="{8E3614F6-6522-BD25-73EC-87F62C7F29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636912"/>
            <a:ext cx="4312006" cy="305760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B7A93B9-4280-4259-66F1-8AD4170FC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860" y="4365104"/>
            <a:ext cx="3939596" cy="1008112"/>
          </a:xfrm>
          <a:prstGeom prst="rect">
            <a:avLst/>
          </a:prstGeom>
        </p:spPr>
      </p:pic>
      <p:sp>
        <p:nvSpPr>
          <p:cNvPr id="6" name="TextBox 3">
            <a:extLst>
              <a:ext uri="{FF2B5EF4-FFF2-40B4-BE49-F238E27FC236}">
                <a16:creationId xmlns:a16="http://schemas.microsoft.com/office/drawing/2014/main" id="{4B1A6ABE-C20B-45E3-B8A2-56EED77EA8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3388" y="188913"/>
            <a:ext cx="23256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r"/>
            <a:r>
              <a:rPr lang="en-US" altLang="ko-KR" dirty="0" err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RandomNumber</a:t>
            </a:r>
            <a:endParaRPr lang="ko-KR" altLang="en-US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6887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AFF4E-9F2A-CF2B-3EAB-F8E36F5E8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11] </a:t>
            </a:r>
            <a:r>
              <a:rPr lang="ko-KR" altLang="en-US" dirty="0"/>
              <a:t>화면 </a:t>
            </a:r>
            <a:r>
              <a:rPr lang="en-US" altLang="ko-KR" dirty="0"/>
              <a:t>Layout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6C354445-3057-F87B-5A3F-831A5E278645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66653" y="980728"/>
            <a:ext cx="9113859" cy="4896544"/>
          </a:xfr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B904EDE-90FE-4C6C-A6F2-98E7CD6D28A6}"/>
              </a:ext>
            </a:extLst>
          </p:cNvPr>
          <p:cNvCxnSpPr/>
          <p:nvPr/>
        </p:nvCxnSpPr>
        <p:spPr bwMode="auto">
          <a:xfrm>
            <a:off x="2051720" y="2708920"/>
            <a:ext cx="2376264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D84699C-1CC2-4CC7-83A7-A6D835FCEF57}"/>
              </a:ext>
            </a:extLst>
          </p:cNvPr>
          <p:cNvCxnSpPr/>
          <p:nvPr/>
        </p:nvCxnSpPr>
        <p:spPr bwMode="auto">
          <a:xfrm>
            <a:off x="1691680" y="4869160"/>
            <a:ext cx="2736304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A308FDEC-33C6-480A-926B-224C35A55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136" y="2852936"/>
            <a:ext cx="2595448" cy="1440157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23142897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AFF4E-9F2A-CF2B-3EAB-F8E36F5E8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11] </a:t>
            </a:r>
            <a:r>
              <a:rPr lang="ko-KR" altLang="en-US" dirty="0"/>
              <a:t>코딩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37CEC001-D35C-532E-34F0-F14B8006EB96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187624" y="745240"/>
            <a:ext cx="6681154" cy="5492072"/>
          </a:xfrm>
        </p:spPr>
      </p:pic>
    </p:spTree>
    <p:extLst>
      <p:ext uri="{BB962C8B-B14F-4D97-AF65-F5344CB8AC3E}">
        <p14:creationId xmlns:p14="http://schemas.microsoft.com/office/powerpoint/2010/main" val="31504150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B050"/>
                </a:solidFill>
              </a:rPr>
              <a:t>관련</a:t>
            </a:r>
            <a:r>
              <a:rPr lang="en-US" altLang="ko-KR" dirty="0">
                <a:solidFill>
                  <a:srgbClr val="00B050"/>
                </a:solidFill>
              </a:rPr>
              <a:t> Class </a:t>
            </a:r>
            <a:r>
              <a:rPr lang="ko-KR" altLang="en-US" dirty="0">
                <a:solidFill>
                  <a:srgbClr val="00B050"/>
                </a:solidFill>
              </a:rPr>
              <a:t>분석</a:t>
            </a:r>
            <a:r>
              <a:rPr lang="en-US" altLang="ko-KR" dirty="0">
                <a:solidFill>
                  <a:srgbClr val="00B050"/>
                </a:solidFill>
              </a:rPr>
              <a:t> - 2</a:t>
            </a:r>
            <a:endParaRPr lang="ko-KR" altLang="en-US" dirty="0">
              <a:solidFill>
                <a:srgbClr val="00B050"/>
              </a:solidFill>
            </a:endParaRP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E5FF2DC-26CE-40C4-AEF4-7BCEEA328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>
                <a:hlinkClick r:id="rId2"/>
              </a:rPr>
              <a:t>Random</a:t>
            </a:r>
            <a:r>
              <a:rPr lang="en-US" altLang="ko-KR" sz="2400" dirty="0"/>
              <a:t> </a:t>
            </a:r>
            <a:r>
              <a:rPr lang="ko-KR" altLang="en-US" sz="2400" dirty="0"/>
              <a:t>클래스 객체 생성</a:t>
            </a:r>
            <a:endParaRPr lang="en-US" altLang="ko-KR" sz="2400" dirty="0"/>
          </a:p>
          <a:p>
            <a:pPr lvl="1"/>
            <a:r>
              <a:rPr lang="ko-KR" altLang="en-US" sz="2000" dirty="0"/>
              <a:t>생성자 </a:t>
            </a:r>
            <a:r>
              <a:rPr lang="en-US" altLang="ko-KR" sz="2000" dirty="0">
                <a:hlinkClick r:id="rId3"/>
              </a:rPr>
              <a:t>Random</a:t>
            </a:r>
            <a:r>
              <a:rPr lang="en-US" altLang="ko-KR" sz="2000" dirty="0"/>
              <a:t>() </a:t>
            </a:r>
            <a:r>
              <a:rPr lang="ko-KR" altLang="en-US" sz="2000" dirty="0"/>
              <a:t>사용</a:t>
            </a:r>
            <a:endParaRPr lang="en-US" altLang="ko-KR" sz="2000" dirty="0"/>
          </a:p>
          <a:p>
            <a:pPr lvl="1"/>
            <a:r>
              <a:rPr lang="en-US" altLang="ko-KR" sz="2000" dirty="0" err="1">
                <a:hlinkClick r:id="rId4"/>
              </a:rPr>
              <a:t>nextInt</a:t>
            </a:r>
            <a:r>
              <a:rPr lang="en-US" altLang="ko-KR" sz="2000" dirty="0"/>
              <a:t>(int bound) </a:t>
            </a:r>
            <a:r>
              <a:rPr lang="ko-KR" altLang="en-US" sz="2000" dirty="0"/>
              <a:t>메서드 호출</a:t>
            </a:r>
            <a:r>
              <a:rPr lang="en-US" altLang="ko-KR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867710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에디트</a:t>
            </a:r>
            <a:r>
              <a:rPr lang="ko-KR" altLang="en-US" dirty="0"/>
              <a:t> 텍스트 </a:t>
            </a:r>
            <a:r>
              <a:rPr lang="en-US" altLang="ko-KR" dirty="0"/>
              <a:t>(</a:t>
            </a:r>
            <a:r>
              <a:rPr lang="en-US" altLang="ko-KR" dirty="0" err="1">
                <a:hlinkClick r:id="rId2"/>
              </a:rPr>
              <a:t>EditText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E6054D-DBF4-A32D-3FD7-D396F696B58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 err="1"/>
              <a:t>에디트</a:t>
            </a:r>
            <a:r>
              <a:rPr lang="ko-KR" altLang="en-US" dirty="0"/>
              <a:t> 텍스트</a:t>
            </a:r>
            <a:r>
              <a:rPr lang="en-US" altLang="ko-KR" dirty="0"/>
              <a:t>(</a:t>
            </a:r>
            <a:r>
              <a:rPr lang="en-US" altLang="ko-KR" dirty="0" err="1"/>
              <a:t>EditText</a:t>
            </a:r>
            <a:r>
              <a:rPr lang="en-US" altLang="ko-KR" dirty="0"/>
              <a:t>)</a:t>
            </a:r>
            <a:r>
              <a:rPr lang="ko-KR" altLang="en-US" dirty="0"/>
              <a:t>는 입력이 가능한 필드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8F8DF5A-9401-1DF8-4400-5B44CC574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2490865"/>
            <a:ext cx="8424936" cy="374644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CA77490-1D06-C25E-6D18-4BC1729A84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3874" y="1412776"/>
            <a:ext cx="2808312" cy="109323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423764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D231FE-D538-49F4-AEDE-89B187FCF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12] </a:t>
            </a:r>
            <a:r>
              <a:rPr lang="ko-KR" altLang="en-US" dirty="0" err="1"/>
              <a:t>에디트</a:t>
            </a:r>
            <a:r>
              <a:rPr lang="ko-KR" altLang="en-US" dirty="0"/>
              <a:t> 텍스트 사용하기</a:t>
            </a:r>
            <a:r>
              <a:rPr lang="ko-KR" altLang="en-US" sz="3600" dirty="0"/>
              <a:t> </a:t>
            </a:r>
            <a:r>
              <a:rPr lang="en-US" altLang="ko-KR" sz="3600" dirty="0"/>
              <a:t>- 1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5239FDF-69D1-99B4-FF5E-AD7C883B1A5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사용자가 텍스트를 입력하고 버튼을 누르면</a:t>
            </a:r>
            <a:r>
              <a:rPr lang="en-US" altLang="ko-KR" dirty="0"/>
              <a:t>, </a:t>
            </a:r>
            <a:r>
              <a:rPr lang="ko-KR" altLang="en-US" dirty="0"/>
              <a:t>입력된 텍스트를 화면의 하단에 표시하는 예제를 작성해보자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17D0395-6E36-FE30-8169-044D2ADA8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1" y="2492896"/>
            <a:ext cx="8583457" cy="30243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40CEDC-9E5F-47B8-B9F9-BB2EB50B7B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3388" y="518766"/>
            <a:ext cx="23256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r"/>
            <a:r>
              <a:rPr lang="en-US" altLang="ko-KR" dirty="0" err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EditTextTest</a:t>
            </a:r>
            <a:endParaRPr lang="ko-KR" altLang="en-US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25072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D231FE-D538-49F4-AEDE-89B187FCF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12] </a:t>
            </a:r>
            <a:r>
              <a:rPr lang="ko-KR" altLang="en-US" dirty="0"/>
              <a:t>화면 </a:t>
            </a:r>
            <a:r>
              <a:rPr lang="en-US" altLang="ko-KR" dirty="0"/>
              <a:t>Layout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ADD15E0B-97B8-509D-FA2C-6B267F09EF2C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35496" y="980728"/>
            <a:ext cx="9021086" cy="4824536"/>
          </a:xfr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CEEE3C1-50F1-40E8-B432-3420DF9102E2}"/>
              </a:ext>
            </a:extLst>
          </p:cNvPr>
          <p:cNvCxnSpPr/>
          <p:nvPr/>
        </p:nvCxnSpPr>
        <p:spPr bwMode="auto">
          <a:xfrm>
            <a:off x="2051720" y="2420888"/>
            <a:ext cx="1224136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B6E3E8E-185B-46E0-942C-4BDAE999D8F8}"/>
              </a:ext>
            </a:extLst>
          </p:cNvPr>
          <p:cNvCxnSpPr/>
          <p:nvPr/>
        </p:nvCxnSpPr>
        <p:spPr bwMode="auto">
          <a:xfrm>
            <a:off x="1763688" y="3933056"/>
            <a:ext cx="1728192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087BE31-9E56-45B5-A36F-7F12C238D613}"/>
              </a:ext>
            </a:extLst>
          </p:cNvPr>
          <p:cNvCxnSpPr/>
          <p:nvPr/>
        </p:nvCxnSpPr>
        <p:spPr bwMode="auto">
          <a:xfrm>
            <a:off x="2051720" y="4797152"/>
            <a:ext cx="1224136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1049360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D231FE-D538-49F4-AEDE-89B187FCF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12] </a:t>
            </a:r>
            <a:r>
              <a:rPr lang="ko-KR" altLang="en-US" dirty="0"/>
              <a:t>코딩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DA9B5B8F-40CC-2271-791D-AA7D273A4179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35496" y="716591"/>
            <a:ext cx="9108504" cy="5440921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F4D77C-999D-44FA-A1DC-376031792F3D}"/>
              </a:ext>
            </a:extLst>
          </p:cNvPr>
          <p:cNvSpPr txBox="1"/>
          <p:nvPr/>
        </p:nvSpPr>
        <p:spPr>
          <a:xfrm>
            <a:off x="5508104" y="5445224"/>
            <a:ext cx="2449710" cy="461665"/>
          </a:xfrm>
          <a:prstGeom prst="rect">
            <a:avLst/>
          </a:prstGeom>
          <a:solidFill>
            <a:srgbClr val="FFFFCC"/>
          </a:solidFill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+mn-ea"/>
                <a:ea typeface="+mn-ea"/>
                <a:hlinkClick r:id="rId3"/>
              </a:rPr>
              <a:t>getText</a:t>
            </a:r>
            <a:r>
              <a:rPr lang="en-US" altLang="ko-KR" dirty="0">
                <a:latin typeface="+mn-ea"/>
                <a:ea typeface="+mn-ea"/>
              </a:rPr>
              <a:t>() </a:t>
            </a:r>
            <a:r>
              <a:rPr lang="ko-KR" altLang="en-US" dirty="0">
                <a:latin typeface="+mn-ea"/>
                <a:ea typeface="+mn-ea"/>
              </a:rPr>
              <a:t>메서드</a:t>
            </a:r>
          </a:p>
        </p:txBody>
      </p:sp>
    </p:spTree>
    <p:extLst>
      <p:ext uri="{BB962C8B-B14F-4D97-AF65-F5344CB8AC3E}">
        <p14:creationId xmlns:p14="http://schemas.microsoft.com/office/powerpoint/2010/main" val="4062362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D231FE-D538-49F4-AEDE-89B187FCF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12] </a:t>
            </a:r>
            <a:r>
              <a:rPr lang="ko-KR" altLang="en-US" dirty="0"/>
              <a:t>실행 화면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E8A80AB6-E4FC-4EEF-933E-CD9DFD172BBE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331640" y="1052736"/>
            <a:ext cx="6408712" cy="4996968"/>
          </a:xfrm>
        </p:spPr>
      </p:pic>
    </p:spTree>
    <p:extLst>
      <p:ext uri="{BB962C8B-B14F-4D97-AF65-F5344CB8AC3E}">
        <p14:creationId xmlns:p14="http://schemas.microsoft.com/office/powerpoint/2010/main" val="31789211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D58026-4D05-DBCC-3A6E-293FD665C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입력 형태 다르게 하기 </a:t>
            </a:r>
            <a:r>
              <a:rPr lang="en-US" altLang="ko-KR" dirty="0"/>
              <a:t>- 1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279520-70DB-A7DE-A1A8-7E547E0EF67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rgbClr val="6600FF"/>
                </a:solidFill>
              </a:rPr>
              <a:t>inputType</a:t>
            </a:r>
            <a:r>
              <a:rPr lang="en-US" altLang="ko-KR" dirty="0"/>
              <a:t> </a:t>
            </a:r>
            <a:r>
              <a:rPr lang="ko-KR" altLang="en-US" dirty="0"/>
              <a:t>속성에 따라</a:t>
            </a:r>
            <a:r>
              <a:rPr lang="en-US" altLang="ko-KR" dirty="0"/>
              <a:t>, </a:t>
            </a:r>
            <a:r>
              <a:rPr lang="ko-KR" altLang="en-US" dirty="0"/>
              <a:t>입력되는 내용을 제한가능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DE3531D-C27E-8E62-A3A2-8D1E51D44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2200845"/>
            <a:ext cx="7710326" cy="2956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45007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D58026-4D05-DBCC-3A6E-293FD665C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입력 형태 다르게 하기 </a:t>
            </a:r>
            <a:r>
              <a:rPr lang="en-US" altLang="ko-KR" dirty="0"/>
              <a:t>- 2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E75A768B-BC24-6BA5-88D7-604EE23D1F96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35496" y="1916832"/>
            <a:ext cx="9093423" cy="2592288"/>
          </a:xfrm>
        </p:spPr>
      </p:pic>
    </p:spTree>
    <p:extLst>
      <p:ext uri="{BB962C8B-B14F-4D97-AF65-F5344CB8AC3E}">
        <p14:creationId xmlns:p14="http://schemas.microsoft.com/office/powerpoint/2010/main" val="5072587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D58026-4D05-DBCC-3A6E-293FD665C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rgbClr val="6600FF"/>
                </a:solidFill>
                <a:hlinkClick r:id="rId2"/>
              </a:rPr>
              <a:t>inputType</a:t>
            </a:r>
            <a:r>
              <a:rPr lang="ko-KR" altLang="en-US" dirty="0"/>
              <a:t>의 속성 값의 종류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4FC7EF00-8A3A-08DA-299A-FAFB080BA010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35495" y="708298"/>
            <a:ext cx="9073009" cy="4511161"/>
          </a:xfr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A549E05-921F-4EE3-A141-EE0AA7DC82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" y="5100786"/>
            <a:ext cx="9247758" cy="136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63753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306DF2-A428-2E6B-4405-4CBA9D0CC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13] </a:t>
            </a:r>
            <a:r>
              <a:rPr lang="ko-KR" altLang="en-US" dirty="0" err="1"/>
              <a:t>에디트</a:t>
            </a:r>
            <a:r>
              <a:rPr lang="ko-KR" altLang="en-US" dirty="0"/>
              <a:t> 텍스트 사용하기</a:t>
            </a:r>
            <a:r>
              <a:rPr lang="ko-KR" altLang="en-US" sz="3600" dirty="0"/>
              <a:t> </a:t>
            </a:r>
            <a:r>
              <a:rPr lang="en-US" altLang="ko-KR" sz="3600" dirty="0"/>
              <a:t>- 2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29A075-6E4B-6DCC-F417-A0C8BA18009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사용자로부터 아이디</a:t>
            </a:r>
            <a:r>
              <a:rPr lang="en-US" altLang="ko-KR" dirty="0"/>
              <a:t>, </a:t>
            </a:r>
            <a:r>
              <a:rPr lang="ko-KR" altLang="en-US" dirty="0"/>
              <a:t>패스워드</a:t>
            </a:r>
            <a:r>
              <a:rPr lang="en-US" altLang="ko-KR" dirty="0"/>
              <a:t>, </a:t>
            </a:r>
            <a:r>
              <a:rPr lang="ko-KR" altLang="en-US" dirty="0"/>
              <a:t>전화번호를 입력 받을 수 있는 안드로이드 앱을 만들어보자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685E232-1965-19DB-9433-A2679AEA0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904" y="1844824"/>
            <a:ext cx="4032448" cy="430975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6807551-31EA-7311-4DA6-A1843AC59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172" y="3140968"/>
            <a:ext cx="3466288" cy="17678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5FE42D-906E-43A8-9BAF-E9464931D9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3388" y="518766"/>
            <a:ext cx="23256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r"/>
            <a:r>
              <a:rPr lang="en-US" altLang="ko-KR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EditTextTest1</a:t>
            </a:r>
            <a:endParaRPr lang="ko-KR" altLang="en-US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07095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306DF2-A428-2E6B-4405-4CBA9D0CC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13] </a:t>
            </a:r>
            <a:r>
              <a:rPr lang="ko-KR" altLang="en-US" dirty="0"/>
              <a:t>화면 </a:t>
            </a:r>
            <a:r>
              <a:rPr lang="en-US" altLang="ko-KR" dirty="0"/>
              <a:t>Layout - 1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D36522E8-DF56-78E0-6C84-B08D6C143FE6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35496" y="733400"/>
            <a:ext cx="8136904" cy="5478136"/>
          </a:xfr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F8B8A52-8DE3-4783-A433-E62054BE44A4}"/>
              </a:ext>
            </a:extLst>
          </p:cNvPr>
          <p:cNvCxnSpPr/>
          <p:nvPr/>
        </p:nvCxnSpPr>
        <p:spPr bwMode="auto">
          <a:xfrm>
            <a:off x="1835696" y="2304000"/>
            <a:ext cx="1800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B5E18A8-C60C-4F74-B363-BEC4EE449999}"/>
              </a:ext>
            </a:extLst>
          </p:cNvPr>
          <p:cNvCxnSpPr/>
          <p:nvPr/>
        </p:nvCxnSpPr>
        <p:spPr bwMode="auto">
          <a:xfrm>
            <a:off x="1835696" y="4690800"/>
            <a:ext cx="1800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63D6B922-6DD6-43C4-AE92-18C0E1C86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145" y="2239572"/>
            <a:ext cx="3168351" cy="241356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D55C0A0C-2C8D-4888-859B-D5A9D78DB456}"/>
                  </a:ext>
                </a:extLst>
              </p14:cNvPr>
              <p14:cNvContentPartPr/>
              <p14:nvPr/>
            </p14:nvContentPartPr>
            <p14:xfrm>
              <a:off x="2496312" y="3246048"/>
              <a:ext cx="283680" cy="2376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D55C0A0C-2C8D-4888-859B-D5A9D78DB45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60312" y="3174048"/>
                <a:ext cx="355320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93684FE5-8D96-45B1-A852-710B539B4C00}"/>
                  </a:ext>
                </a:extLst>
              </p14:cNvPr>
              <p14:cNvContentPartPr/>
              <p14:nvPr/>
            </p14:nvContentPartPr>
            <p14:xfrm>
              <a:off x="2477952" y="5650848"/>
              <a:ext cx="960480" cy="3420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93684FE5-8D96-45B1-A852-710B539B4C0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41952" y="5578848"/>
                <a:ext cx="1032120" cy="17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217078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306DF2-A428-2E6B-4405-4CBA9D0CC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13] </a:t>
            </a:r>
            <a:r>
              <a:rPr lang="ko-KR" altLang="en-US" dirty="0"/>
              <a:t>화면 </a:t>
            </a:r>
            <a:r>
              <a:rPr lang="en-US" altLang="ko-KR" dirty="0"/>
              <a:t>Layout - 2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D48C13E-D6E3-4F84-922F-347FD6EB3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2536" y="908720"/>
            <a:ext cx="8981207" cy="4680520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C157ADC-8CBB-4C11-AE46-3B0ED88357B2}"/>
              </a:ext>
            </a:extLst>
          </p:cNvPr>
          <p:cNvCxnSpPr>
            <a:cxnSpLocks/>
          </p:cNvCxnSpPr>
          <p:nvPr/>
        </p:nvCxnSpPr>
        <p:spPr bwMode="auto">
          <a:xfrm>
            <a:off x="1979712" y="1700808"/>
            <a:ext cx="2232248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33F135B-AADF-46B3-8745-5F41149B6DE3}"/>
              </a:ext>
            </a:extLst>
          </p:cNvPr>
          <p:cNvCxnSpPr>
            <a:cxnSpLocks/>
          </p:cNvCxnSpPr>
          <p:nvPr/>
        </p:nvCxnSpPr>
        <p:spPr bwMode="auto">
          <a:xfrm>
            <a:off x="1619672" y="5445224"/>
            <a:ext cx="252028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AEFD9CC2-80E8-4B21-8F40-A102F1E59E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145" y="2887644"/>
            <a:ext cx="3168351" cy="241356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98849357-ACF4-4AF6-9DED-847BE7A8669C}"/>
                  </a:ext>
                </a:extLst>
              </p14:cNvPr>
              <p14:cNvContentPartPr/>
              <p14:nvPr/>
            </p14:nvContentPartPr>
            <p14:xfrm>
              <a:off x="2633472" y="2733408"/>
              <a:ext cx="393480" cy="3744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98849357-ACF4-4AF6-9DED-847BE7A8669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97472" y="2661408"/>
                <a:ext cx="465120" cy="181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657805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306DF2-A428-2E6B-4405-4CBA9D0CC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13] </a:t>
            </a:r>
            <a:r>
              <a:rPr lang="ko-KR" altLang="en-US" dirty="0"/>
              <a:t>화면 </a:t>
            </a:r>
            <a:r>
              <a:rPr lang="en-US" altLang="ko-KR" dirty="0"/>
              <a:t>Layout - 3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4D7383F-8CBC-4BA6-9272-92D4D6416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2536" y="1196752"/>
            <a:ext cx="9144000" cy="3355710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0822631-0183-4C1E-97B0-70ADB7BC6E41}"/>
              </a:ext>
            </a:extLst>
          </p:cNvPr>
          <p:cNvCxnSpPr>
            <a:cxnSpLocks/>
          </p:cNvCxnSpPr>
          <p:nvPr/>
        </p:nvCxnSpPr>
        <p:spPr bwMode="auto">
          <a:xfrm>
            <a:off x="2015208" y="2132856"/>
            <a:ext cx="1944216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D00BB35B-0916-450A-96DC-AD766BB57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145" y="2239572"/>
            <a:ext cx="3168351" cy="241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19551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306DF2-A428-2E6B-4405-4CBA9D0CC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13] </a:t>
            </a:r>
            <a:r>
              <a:rPr lang="ko-KR" altLang="en-US" dirty="0"/>
              <a:t>코딩</a:t>
            </a:r>
            <a:r>
              <a:rPr lang="en-US" altLang="ko-KR" dirty="0"/>
              <a:t> - 1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FD4D8B8B-F1D9-AA4E-FA51-7215DAAB34A6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4868" y="755946"/>
            <a:ext cx="10187626" cy="5409358"/>
          </a:xfrm>
        </p:spPr>
      </p:pic>
    </p:spTree>
    <p:extLst>
      <p:ext uri="{BB962C8B-B14F-4D97-AF65-F5344CB8AC3E}">
        <p14:creationId xmlns:p14="http://schemas.microsoft.com/office/powerpoint/2010/main" val="169216086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306DF2-A428-2E6B-4405-4CBA9D0CC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13] </a:t>
            </a:r>
            <a:r>
              <a:rPr lang="ko-KR" altLang="en-US" dirty="0"/>
              <a:t>코딩</a:t>
            </a:r>
            <a:r>
              <a:rPr lang="en-US" altLang="ko-KR" dirty="0"/>
              <a:t> - 2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6A40838B-F70B-9970-8DAA-5931E25DB3BE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9000" y="908720"/>
            <a:ext cx="9362776" cy="5112568"/>
          </a:xfrm>
        </p:spPr>
      </p:pic>
    </p:spTree>
    <p:extLst>
      <p:ext uri="{BB962C8B-B14F-4D97-AF65-F5344CB8AC3E}">
        <p14:creationId xmlns:p14="http://schemas.microsoft.com/office/powerpoint/2010/main" val="74161143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AF08B2-AFEB-0CD5-BACC-CE80F1D43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14] </a:t>
            </a:r>
            <a:r>
              <a:rPr lang="ko-KR" altLang="en-US" dirty="0"/>
              <a:t>계산기 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BC6345-B971-EAAE-DBC8-24E73EEC30B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이번 실습에서는 다음과 같이 간단한 계산기 화면을 가지는 애플리케이션을 작성하여 보자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3C3DF73-7309-3F7F-56B7-21996846D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989322"/>
            <a:ext cx="7897363" cy="41759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AC0EBD-D7FB-4C42-9ED3-81F707B9F1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3388" y="188640"/>
            <a:ext cx="23256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r"/>
            <a:r>
              <a:rPr lang="en-US" altLang="ko-KR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Calculator</a:t>
            </a:r>
            <a:endParaRPr lang="ko-KR" altLang="en-US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6624019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AF08B2-AFEB-0CD5-BACC-CE80F1D43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14] </a:t>
            </a:r>
            <a:r>
              <a:rPr lang="ko-KR" altLang="en-US" dirty="0"/>
              <a:t>화면 </a:t>
            </a:r>
            <a:r>
              <a:rPr lang="en-US" altLang="ko-KR" dirty="0"/>
              <a:t>Layout - 1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8115479-8C7E-4E70-AB2C-E1A9D617D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800741"/>
            <a:ext cx="8280920" cy="5393994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478C3B6-C58E-DA42-388F-9C250FF72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0954" y="2340446"/>
            <a:ext cx="3257550" cy="3752850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8814F2A-C2D7-4D02-81F8-8D11B3D60BED}"/>
              </a:ext>
            </a:extLst>
          </p:cNvPr>
          <p:cNvCxnSpPr/>
          <p:nvPr/>
        </p:nvCxnSpPr>
        <p:spPr bwMode="auto">
          <a:xfrm>
            <a:off x="2627784" y="5373216"/>
            <a:ext cx="108012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72773793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AF08B2-AFEB-0CD5-BACC-CE80F1D43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14] </a:t>
            </a:r>
            <a:r>
              <a:rPr lang="ko-KR" altLang="en-US" dirty="0"/>
              <a:t>화면 </a:t>
            </a:r>
            <a:r>
              <a:rPr lang="en-US" altLang="ko-KR" dirty="0"/>
              <a:t>Layout - 2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478C3B6-C58E-DA42-388F-9C250FF72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209" y="1586161"/>
            <a:ext cx="3257550" cy="375285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729895B-C352-47D1-B753-3BF7F4A43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764703"/>
            <a:ext cx="5544616" cy="5395767"/>
          </a:xfrm>
          <a:prstGeom prst="rect">
            <a:avLst/>
          </a:prstGeom>
          <a:ln>
            <a:solidFill>
              <a:schemeClr val="bg2"/>
            </a:solidFill>
          </a:ln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0288162-DB25-480D-97EE-EEC480B5A1EF}"/>
              </a:ext>
            </a:extLst>
          </p:cNvPr>
          <p:cNvCxnSpPr/>
          <p:nvPr/>
        </p:nvCxnSpPr>
        <p:spPr bwMode="auto">
          <a:xfrm>
            <a:off x="2555776" y="3140968"/>
            <a:ext cx="1008112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905A39C-1504-4E95-B103-512E3233EA57}"/>
              </a:ext>
            </a:extLst>
          </p:cNvPr>
          <p:cNvCxnSpPr>
            <a:cxnSpLocks/>
          </p:cNvCxnSpPr>
          <p:nvPr/>
        </p:nvCxnSpPr>
        <p:spPr bwMode="auto">
          <a:xfrm>
            <a:off x="2123728" y="5608800"/>
            <a:ext cx="1800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74862850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AF08B2-AFEB-0CD5-BACC-CE80F1D43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14] </a:t>
            </a:r>
            <a:r>
              <a:rPr lang="ko-KR" altLang="en-US" dirty="0"/>
              <a:t>화면 </a:t>
            </a:r>
            <a:r>
              <a:rPr lang="en-US" altLang="ko-KR" dirty="0"/>
              <a:t>Layout - 3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478C3B6-C58E-DA42-388F-9C250FF72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209" y="1586161"/>
            <a:ext cx="3257550" cy="375285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9DAA646-7102-4C89-9386-9A4FD60F6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3" y="764704"/>
            <a:ext cx="5761705" cy="5422014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395120233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AF08B2-AFEB-0CD5-BACC-CE80F1D43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14] </a:t>
            </a:r>
            <a:r>
              <a:rPr lang="ko-KR" altLang="en-US" dirty="0"/>
              <a:t>화면 </a:t>
            </a:r>
            <a:r>
              <a:rPr lang="en-US" altLang="ko-KR" dirty="0"/>
              <a:t>Layout - 4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F55050B-FCB8-41AF-8AB6-8010F3A89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38" y="764704"/>
            <a:ext cx="6278592" cy="3600400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478C3B6-C58E-DA42-388F-9C250FF72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209" y="1586161"/>
            <a:ext cx="3257550" cy="3752850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DD64314-1C92-4745-B830-19E27DF70A5E}"/>
              </a:ext>
            </a:extLst>
          </p:cNvPr>
          <p:cNvCxnSpPr>
            <a:cxnSpLocks/>
          </p:cNvCxnSpPr>
          <p:nvPr/>
        </p:nvCxnSpPr>
        <p:spPr bwMode="auto">
          <a:xfrm>
            <a:off x="2555776" y="3284984"/>
            <a:ext cx="108012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61026819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AF08B2-AFEB-0CD5-BACC-CE80F1D43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14] </a:t>
            </a:r>
            <a:r>
              <a:rPr lang="ko-KR" altLang="en-US" dirty="0"/>
              <a:t>코딩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02CE30B4-6421-3A97-53F9-82D6800AE072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467544" y="719949"/>
            <a:ext cx="7056784" cy="6093427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ED1730-D154-4F2E-8CDA-A73A1CAC638B}"/>
              </a:ext>
            </a:extLst>
          </p:cNvPr>
          <p:cNvSpPr txBox="1"/>
          <p:nvPr/>
        </p:nvSpPr>
        <p:spPr>
          <a:xfrm>
            <a:off x="6372200" y="5703639"/>
            <a:ext cx="2722220" cy="461665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-, *, / </a:t>
            </a:r>
            <a:r>
              <a:rPr lang="ko-KR" altLang="en-US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기능도 구현</a:t>
            </a:r>
          </a:p>
        </p:txBody>
      </p:sp>
    </p:spTree>
    <p:extLst>
      <p:ext uri="{BB962C8B-B14F-4D97-AF65-F5344CB8AC3E}">
        <p14:creationId xmlns:p14="http://schemas.microsoft.com/office/powerpoint/2010/main" val="2367876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이미지 뷰</a:t>
            </a:r>
            <a:r>
              <a:rPr lang="en-US" altLang="ko-KR" dirty="0"/>
              <a:t>(</a:t>
            </a:r>
            <a:r>
              <a:rPr lang="en-US" altLang="ko-KR" dirty="0" err="1">
                <a:hlinkClick r:id="rId2"/>
              </a:rPr>
              <a:t>ImageView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7891" name="내용 개체 틀 2"/>
          <p:cNvSpPr>
            <a:spLocks noGrp="1"/>
          </p:cNvSpPr>
          <p:nvPr>
            <p:ph idx="1"/>
          </p:nvPr>
        </p:nvSpPr>
        <p:spPr>
          <a:xfrm>
            <a:off x="107504" y="765175"/>
            <a:ext cx="8928992" cy="5400675"/>
          </a:xfrm>
        </p:spPr>
        <p:txBody>
          <a:bodyPr/>
          <a:lstStyle/>
          <a:p>
            <a:r>
              <a:rPr lang="ko-KR" altLang="en-US" dirty="0"/>
              <a:t>아이콘과 같은 이미지들을 간단히 표시하는 데 사용</a:t>
            </a:r>
          </a:p>
          <a:p>
            <a:endParaRPr lang="ko-KR" altLang="en-US" dirty="0"/>
          </a:p>
        </p:txBody>
      </p:sp>
      <p:pic>
        <p:nvPicPr>
          <p:cNvPr id="3789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842" y="1844675"/>
            <a:ext cx="8402638" cy="439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2542278"/>
      </p:ext>
    </p:extLst>
  </p:cSld>
  <p:clrMapOvr>
    <a:masterClrMapping/>
  </p:clrMapOvr>
  <p:extLst mod="1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15]</a:t>
            </a:r>
            <a:r>
              <a:rPr lang="ko-KR" altLang="en-US" dirty="0"/>
              <a:t> 이미지 뷰 사용 예</a:t>
            </a:r>
          </a:p>
        </p:txBody>
      </p:sp>
      <p:sp>
        <p:nvSpPr>
          <p:cNvPr id="38915" name="내용 개체 틀 2"/>
          <p:cNvSpPr>
            <a:spLocks noGrp="1"/>
          </p:cNvSpPr>
          <p:nvPr>
            <p:ph idx="1"/>
          </p:nvPr>
        </p:nvSpPr>
        <p:spPr>
          <a:xfrm>
            <a:off x="107504" y="765175"/>
            <a:ext cx="8928992" cy="5400675"/>
          </a:xfrm>
        </p:spPr>
        <p:txBody>
          <a:bodyPr/>
          <a:lstStyle/>
          <a:p>
            <a:r>
              <a:rPr lang="ko-KR" altLang="en-US" dirty="0"/>
              <a:t>아래의 화면과 같이 앱에 이미지 파일의 내용을 보여준다</a:t>
            </a:r>
            <a:r>
              <a:rPr lang="en-US" altLang="ko-KR" dirty="0"/>
              <a:t>.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3D0B00-E4E7-4786-8845-0E3EDDBCA1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3388" y="188640"/>
            <a:ext cx="23256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r"/>
            <a:r>
              <a:rPr lang="en-US" altLang="ko-KR" dirty="0" err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ImageViewTest</a:t>
            </a:r>
            <a:endParaRPr lang="ko-KR" altLang="en-US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027A6BC-8F69-4931-A64B-9785A4172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856" y="1628799"/>
            <a:ext cx="2592288" cy="4608513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14E85EF-5BA7-43C3-B0B4-D16D54549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272" y="4653136"/>
            <a:ext cx="2088232" cy="156617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914C64A-8D0C-4647-AA62-C16CF2A87C0D}"/>
              </a:ext>
            </a:extLst>
          </p:cNvPr>
          <p:cNvSpPr/>
          <p:nvPr/>
        </p:nvSpPr>
        <p:spPr>
          <a:xfrm>
            <a:off x="6978594" y="4653136"/>
            <a:ext cx="19352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FFC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androids.gif</a:t>
            </a:r>
            <a:endParaRPr lang="ko-KR" altLang="en-US" dirty="0">
              <a:solidFill>
                <a:srgbClr val="FFC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00890300"/>
      </p:ext>
    </p:extLst>
  </p:cSld>
  <p:clrMapOvr>
    <a:masterClrMapping/>
  </p:clrMapOvr>
  <p:extLst mod="1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AD7A16D-B46F-48C9-99E6-60CB05B0D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447560"/>
            <a:ext cx="8496944" cy="4797665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15]</a:t>
            </a:r>
            <a:r>
              <a:rPr lang="ko-KR" altLang="en-US" dirty="0"/>
              <a:t> 그림 파일 복사</a:t>
            </a:r>
          </a:p>
        </p:txBody>
      </p:sp>
      <p:sp>
        <p:nvSpPr>
          <p:cNvPr id="38915" name="내용 개체 틀 2"/>
          <p:cNvSpPr>
            <a:spLocks noGrp="1"/>
          </p:cNvSpPr>
          <p:nvPr>
            <p:ph idx="1"/>
          </p:nvPr>
        </p:nvSpPr>
        <p:spPr>
          <a:xfrm>
            <a:off x="107504" y="765175"/>
            <a:ext cx="8928992" cy="5400675"/>
          </a:xfrm>
        </p:spPr>
        <p:txBody>
          <a:bodyPr/>
          <a:lstStyle/>
          <a:p>
            <a:r>
              <a:rPr lang="en-US" altLang="ko-KR" sz="2400" dirty="0"/>
              <a:t>Windows </a:t>
            </a:r>
            <a:r>
              <a:rPr lang="ko-KR" altLang="en-US" sz="2400" dirty="0"/>
              <a:t>파일 탐색기에서 </a:t>
            </a:r>
            <a:r>
              <a:rPr lang="en-US" altLang="ko-KR" sz="2400" dirty="0">
                <a:solidFill>
                  <a:srgbClr val="92D050"/>
                </a:solidFill>
              </a:rPr>
              <a:t>androids.gif</a:t>
            </a:r>
            <a:r>
              <a:rPr lang="en-US" altLang="ko-KR" sz="2400" dirty="0"/>
              <a:t> </a:t>
            </a:r>
            <a:r>
              <a:rPr lang="ko-KR" altLang="en-US" sz="2400" dirty="0"/>
              <a:t>이미지 파일을 </a:t>
            </a:r>
            <a:r>
              <a:rPr lang="en-US" altLang="ko-KR" sz="2400" dirty="0">
                <a:solidFill>
                  <a:srgbClr val="7030A0"/>
                </a:solidFill>
              </a:rPr>
              <a:t>app/</a:t>
            </a:r>
            <a:r>
              <a:rPr lang="en-US" altLang="ko-KR" sz="2400" dirty="0" err="1">
                <a:solidFill>
                  <a:srgbClr val="7030A0"/>
                </a:solidFill>
              </a:rPr>
              <a:t>src</a:t>
            </a:r>
            <a:r>
              <a:rPr lang="en-US" altLang="ko-KR" sz="2400" dirty="0">
                <a:solidFill>
                  <a:srgbClr val="7030A0"/>
                </a:solidFill>
              </a:rPr>
              <a:t>/main/res/drawable</a:t>
            </a:r>
            <a:r>
              <a:rPr lang="en-US" altLang="ko-KR" sz="2400" dirty="0"/>
              <a:t> </a:t>
            </a:r>
            <a:r>
              <a:rPr lang="ko-KR" altLang="en-US" sz="2400" dirty="0"/>
              <a:t>폴더로 복사해</a:t>
            </a:r>
            <a:r>
              <a:rPr lang="en-US" altLang="ko-KR" sz="2400" dirty="0"/>
              <a:t> </a:t>
            </a:r>
            <a:r>
              <a:rPr lang="ko-KR" altLang="en-US" sz="2400" dirty="0"/>
              <a:t>넣음</a:t>
            </a:r>
            <a:r>
              <a:rPr lang="en-US" altLang="ko-KR" sz="1800" dirty="0"/>
              <a:t> </a:t>
            </a:r>
            <a:r>
              <a:rPr lang="en-US" altLang="ko-KR" sz="1800" dirty="0">
                <a:solidFill>
                  <a:srgbClr val="0070C0"/>
                </a:solidFill>
              </a:rPr>
              <a:t>(</a:t>
            </a:r>
            <a:r>
              <a:rPr lang="en-US" altLang="ko-KR" sz="1800" dirty="0" err="1">
                <a:solidFill>
                  <a:srgbClr val="0070C0"/>
                </a:solidFill>
              </a:rPr>
              <a:t>Ctrl+C</a:t>
            </a:r>
            <a:r>
              <a:rPr lang="en-US" altLang="ko-KR" sz="1800" dirty="0">
                <a:solidFill>
                  <a:srgbClr val="0070C0"/>
                </a:solidFill>
              </a:rPr>
              <a:t>, </a:t>
            </a:r>
            <a:r>
              <a:rPr lang="en-US" altLang="ko-KR" sz="1800" dirty="0" err="1">
                <a:solidFill>
                  <a:srgbClr val="0070C0"/>
                </a:solidFill>
              </a:rPr>
              <a:t>Ctrl+V</a:t>
            </a:r>
            <a:r>
              <a:rPr lang="en-US" altLang="ko-KR" sz="1800" dirty="0">
                <a:solidFill>
                  <a:srgbClr val="0070C0"/>
                </a:solidFill>
              </a:rPr>
              <a:t>)</a:t>
            </a:r>
            <a:endParaRPr lang="ko-KR" altLang="en-US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3090472"/>
      </p:ext>
    </p:extLst>
  </p:cSld>
  <p:clrMapOvr>
    <a:masterClrMapping/>
  </p:clrMapOvr>
  <p:extLst mod="1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이미지 복사할 때 </a:t>
            </a:r>
            <a:r>
              <a:rPr lang="ko-KR" altLang="en-US" dirty="0">
                <a:solidFill>
                  <a:srgbClr val="FF0000"/>
                </a:solidFill>
              </a:rPr>
              <a:t>주의</a:t>
            </a:r>
            <a:r>
              <a:rPr lang="ko-KR" altLang="en-US" dirty="0"/>
              <a:t>할 점</a:t>
            </a:r>
          </a:p>
        </p:txBody>
      </p:sp>
      <p:sp>
        <p:nvSpPr>
          <p:cNvPr id="38915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Resource </a:t>
            </a:r>
            <a:r>
              <a:rPr lang="ko-KR" altLang="en-US" sz="2400" dirty="0"/>
              <a:t>이름은 모두 </a:t>
            </a:r>
            <a:r>
              <a:rPr lang="ko-KR" altLang="en-US" sz="2400" dirty="0">
                <a:solidFill>
                  <a:srgbClr val="C00000"/>
                </a:solidFill>
              </a:rPr>
              <a:t>소문자</a:t>
            </a:r>
            <a:endParaRPr lang="en-US" altLang="ko-KR" sz="2400" dirty="0">
              <a:solidFill>
                <a:srgbClr val="C00000"/>
              </a:solidFill>
            </a:endParaRPr>
          </a:p>
          <a:p>
            <a:r>
              <a:rPr lang="en-US" altLang="ko-KR" sz="2400" dirty="0">
                <a:solidFill>
                  <a:schemeClr val="tx1"/>
                </a:solidFill>
              </a:rPr>
              <a:t>androids.gif </a:t>
            </a:r>
            <a:r>
              <a:rPr lang="ko-KR" altLang="en-US" sz="2400" dirty="0"/>
              <a:t>를 붙여넣기 했는데 </a:t>
            </a:r>
            <a:endParaRPr lang="en-US" altLang="ko-KR" sz="2400" dirty="0"/>
          </a:p>
          <a:p>
            <a:r>
              <a:rPr lang="en-US" altLang="ko-KR" sz="2400" dirty="0">
                <a:solidFill>
                  <a:schemeClr val="tx1"/>
                </a:solidFill>
              </a:rPr>
              <a:t>androids.gif </a:t>
            </a:r>
            <a:r>
              <a:rPr lang="en-US" altLang="ko-KR" sz="2400" dirty="0">
                <a:solidFill>
                  <a:schemeClr val="bg2"/>
                </a:solidFill>
              </a:rPr>
              <a:t>(v24) </a:t>
            </a:r>
            <a:r>
              <a:rPr lang="ko-KR" altLang="en-US" sz="2400" dirty="0"/>
              <a:t>처럼</a:t>
            </a:r>
            <a:r>
              <a:rPr lang="en-US" altLang="ko-KR" sz="2400" dirty="0"/>
              <a:t> </a:t>
            </a:r>
            <a:r>
              <a:rPr lang="en-US" altLang="ko-KR" sz="2400" dirty="0">
                <a:solidFill>
                  <a:schemeClr val="bg2"/>
                </a:solidFill>
              </a:rPr>
              <a:t>()</a:t>
            </a:r>
            <a:r>
              <a:rPr lang="en-US" altLang="ko-KR" sz="2400" dirty="0"/>
              <a:t> </a:t>
            </a:r>
            <a:r>
              <a:rPr lang="ko-KR" altLang="en-US" sz="2400" dirty="0"/>
              <a:t>안에 글자가 나타나는</a:t>
            </a:r>
            <a:r>
              <a:rPr lang="en-US" altLang="ko-KR" sz="2400" dirty="0"/>
              <a:t> </a:t>
            </a:r>
            <a:r>
              <a:rPr lang="ko-KR" altLang="en-US" sz="2400" dirty="0"/>
              <a:t>경우 실행 시에 오류가 발생할 수 있음</a:t>
            </a:r>
            <a:endParaRPr lang="en-US" altLang="ko-KR" sz="2400" dirty="0"/>
          </a:p>
          <a:p>
            <a:r>
              <a:rPr lang="en-US" altLang="ko-KR" sz="2400" dirty="0">
                <a:solidFill>
                  <a:schemeClr val="bg2"/>
                </a:solidFill>
              </a:rPr>
              <a:t>(v24)</a:t>
            </a:r>
            <a:r>
              <a:rPr lang="ko-KR" altLang="en-US" sz="2400" dirty="0"/>
              <a:t>는 앱의 실행 기기가 안드로이드 </a:t>
            </a:r>
            <a:r>
              <a:rPr lang="en-US" altLang="ko-KR" sz="2400" dirty="0">
                <a:solidFill>
                  <a:srgbClr val="0000FF"/>
                </a:solidFill>
              </a:rPr>
              <a:t>Version</a:t>
            </a:r>
            <a:r>
              <a:rPr lang="ko-KR" altLang="en-US" sz="2400" dirty="0">
                <a:solidFill>
                  <a:srgbClr val="0000FF"/>
                </a:solidFill>
              </a:rPr>
              <a:t> </a:t>
            </a:r>
            <a:r>
              <a:rPr lang="en-US" altLang="ko-KR" sz="2400" dirty="0">
                <a:solidFill>
                  <a:srgbClr val="0000FF"/>
                </a:solidFill>
              </a:rPr>
              <a:t>24</a:t>
            </a:r>
            <a:r>
              <a:rPr lang="ko-KR" altLang="en-US" sz="2400" dirty="0"/>
              <a:t>일 경우 해당 이미지를 사용하라는 의미</a:t>
            </a:r>
            <a:endParaRPr lang="en-US" altLang="ko-KR" sz="24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3DD289C-373F-4208-BE10-FE9672D4C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159" y="3284984"/>
            <a:ext cx="2790825" cy="27432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B550F0D-912B-4872-9714-6626E6388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210" y="3284984"/>
            <a:ext cx="3105150" cy="33528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35" name="화살표: 오른쪽으로 구부러짐 34">
            <a:extLst>
              <a:ext uri="{FF2B5EF4-FFF2-40B4-BE49-F238E27FC236}">
                <a16:creationId xmlns:a16="http://schemas.microsoft.com/office/drawing/2014/main" id="{EE048B22-3996-4035-A352-F6E9301AB5A0}"/>
              </a:ext>
            </a:extLst>
          </p:cNvPr>
          <p:cNvSpPr/>
          <p:nvPr/>
        </p:nvSpPr>
        <p:spPr bwMode="auto">
          <a:xfrm flipV="1">
            <a:off x="4860032" y="5445224"/>
            <a:ext cx="1008112" cy="792088"/>
          </a:xfrm>
          <a:prstGeom prst="curvedRightArrow">
            <a:avLst/>
          </a:prstGeom>
          <a:solidFill>
            <a:srgbClr val="FFC000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2FE309B-FAF8-4FBE-A35E-C88D69E414EF}"/>
              </a:ext>
            </a:extLst>
          </p:cNvPr>
          <p:cNvSpPr txBox="1"/>
          <p:nvPr/>
        </p:nvSpPr>
        <p:spPr>
          <a:xfrm>
            <a:off x="4707210" y="5237219"/>
            <a:ext cx="90922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이동 </a:t>
            </a:r>
            <a:endParaRPr lang="en-US" altLang="ko-KR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en-US" altLang="ko-KR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or</a:t>
            </a:r>
            <a:r>
              <a:rPr lang="ko-KR" altLang="en-US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복사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CE2F679-A568-440B-8F0C-6A9A638C2B69}"/>
              </a:ext>
            </a:extLst>
          </p:cNvPr>
          <p:cNvSpPr/>
          <p:nvPr/>
        </p:nvSpPr>
        <p:spPr bwMode="auto">
          <a:xfrm>
            <a:off x="4716018" y="3284984"/>
            <a:ext cx="936102" cy="28803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2365018"/>
      </p:ext>
    </p:extLst>
  </p:cSld>
  <p:clrMapOvr>
    <a:masterClrMapping/>
  </p:clrMapOvr>
  <p:extLst mod="1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5">
            <a:extLst>
              <a:ext uri="{FF2B5EF4-FFF2-40B4-BE49-F238E27FC236}">
                <a16:creationId xmlns:a16="http://schemas.microsoft.com/office/drawing/2014/main" id="{E405E401-7AC1-4124-8231-075936978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4704"/>
            <a:ext cx="9109075" cy="5295736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15]</a:t>
            </a:r>
            <a:r>
              <a:rPr lang="ko-KR" altLang="en-US" dirty="0"/>
              <a:t> 화면 </a:t>
            </a:r>
            <a:r>
              <a:rPr lang="en-US" altLang="ko-KR" dirty="0"/>
              <a:t>Layout</a:t>
            </a:r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DA14B3A-DB8B-441B-8977-3CAB699C883D}"/>
              </a:ext>
            </a:extLst>
          </p:cNvPr>
          <p:cNvCxnSpPr>
            <a:cxnSpLocks/>
          </p:cNvCxnSpPr>
          <p:nvPr/>
        </p:nvCxnSpPr>
        <p:spPr bwMode="auto">
          <a:xfrm>
            <a:off x="1619672" y="3789040"/>
            <a:ext cx="1800200" cy="0"/>
          </a:xfrm>
          <a:prstGeom prst="line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234256770"/>
      </p:ext>
    </p:extLst>
  </p:cSld>
  <p:clrMapOvr>
    <a:masterClrMapping/>
  </p:clrMapOvr>
  <p:extLst mod="1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내용 개체 틀 6">
            <a:extLst>
              <a:ext uri="{FF2B5EF4-FFF2-40B4-BE49-F238E27FC236}">
                <a16:creationId xmlns:a16="http://schemas.microsoft.com/office/drawing/2014/main" id="{1CA6C95A-9965-4377-A273-70E3A5393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259262"/>
            <a:ext cx="8688411" cy="497600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3AA3F6C-563D-4D07-9903-F89B945A3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16]</a:t>
            </a:r>
            <a:r>
              <a:rPr lang="ko-KR" altLang="en-US" dirty="0"/>
              <a:t> 이미지</a:t>
            </a:r>
            <a:r>
              <a:rPr lang="en-US" altLang="ko-KR" dirty="0"/>
              <a:t> </a:t>
            </a:r>
            <a:r>
              <a:rPr lang="ko-KR" altLang="en-US" dirty="0"/>
              <a:t>축소 및 확대 예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CEEE33-490B-4083-9280-5192A2738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3388" y="662782"/>
            <a:ext cx="23256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r"/>
            <a:r>
              <a:rPr lang="en-US" altLang="ko-KR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ImageViewTest3</a:t>
            </a:r>
            <a:endParaRPr lang="ko-KR" altLang="en-US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FDEF945-94B4-4623-8CB9-A9910CEF9F0A}"/>
              </a:ext>
            </a:extLst>
          </p:cNvPr>
          <p:cNvCxnSpPr/>
          <p:nvPr/>
        </p:nvCxnSpPr>
        <p:spPr bwMode="auto">
          <a:xfrm>
            <a:off x="1403648" y="4725144"/>
            <a:ext cx="1440160" cy="0"/>
          </a:xfrm>
          <a:prstGeom prst="line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3C7F1367-FEFA-41E4-9AEC-089915E29896}"/>
              </a:ext>
            </a:extLst>
          </p:cNvPr>
          <p:cNvSpPr/>
          <p:nvPr/>
        </p:nvSpPr>
        <p:spPr bwMode="auto">
          <a:xfrm>
            <a:off x="683568" y="3573016"/>
            <a:ext cx="2376264" cy="576064"/>
          </a:xfrm>
          <a:prstGeom prst="rect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굴림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D9D1E1E-159C-47AC-A492-6C1281D624C0}"/>
              </a:ext>
            </a:extLst>
          </p:cNvPr>
          <p:cNvCxnSpPr>
            <a:cxnSpLocks/>
          </p:cNvCxnSpPr>
          <p:nvPr/>
        </p:nvCxnSpPr>
        <p:spPr bwMode="auto">
          <a:xfrm>
            <a:off x="1835696" y="5013176"/>
            <a:ext cx="1656184" cy="0"/>
          </a:xfrm>
          <a:prstGeom prst="line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FE3834AF-8A2C-4695-A6B9-58AF394FE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764704"/>
            <a:ext cx="9136063" cy="5472608"/>
          </a:xfrm>
        </p:spPr>
        <p:txBody>
          <a:bodyPr/>
          <a:lstStyle/>
          <a:p>
            <a:r>
              <a:rPr lang="ko-KR" altLang="en-US" dirty="0"/>
              <a:t>화면 </a:t>
            </a:r>
            <a:r>
              <a:rPr lang="en-US" altLang="ko-KR" dirty="0"/>
              <a:t>Layout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529915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2B8B12-F06C-98DA-8D8E-78C674C25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이미지뷰의</a:t>
            </a:r>
            <a:r>
              <a:rPr lang="ko-KR" altLang="en-US" dirty="0"/>
              <a:t> 속성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C75E08-AFAE-39E6-A176-0AE17AA2BDC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sz="2800" dirty="0"/>
              <a:t>이미지의 크기</a:t>
            </a:r>
            <a:r>
              <a:rPr lang="en-US" altLang="ko-KR" sz="2800" dirty="0"/>
              <a:t>, </a:t>
            </a:r>
            <a:r>
              <a:rPr lang="ko-KR" altLang="en-US" sz="2800" dirty="0"/>
              <a:t>배치</a:t>
            </a:r>
            <a:r>
              <a:rPr lang="en-US" altLang="ko-KR" sz="2800" dirty="0"/>
              <a:t>, </a:t>
            </a:r>
            <a:r>
              <a:rPr lang="ko-KR" altLang="en-US" sz="2800" dirty="0"/>
              <a:t>스케일링</a:t>
            </a:r>
            <a:r>
              <a:rPr lang="en-US" altLang="ko-KR" sz="2800" dirty="0"/>
              <a:t>, </a:t>
            </a:r>
            <a:r>
              <a:rPr lang="ko-KR" altLang="en-US" sz="2800" dirty="0"/>
              <a:t>이미지 리소스 등을 조절하여 원하는 디자인을 만들 수 있음</a:t>
            </a:r>
            <a:endParaRPr lang="en-US" altLang="ko-KR" sz="2800" dirty="0"/>
          </a:p>
          <a:p>
            <a:r>
              <a:rPr lang="en-US" altLang="ko-KR" sz="2800" dirty="0" err="1">
                <a:solidFill>
                  <a:srgbClr val="7030A0"/>
                </a:solidFill>
              </a:rPr>
              <a:t>android:layout_width</a:t>
            </a:r>
            <a:r>
              <a:rPr lang="ko-KR" altLang="en-US" sz="2800" dirty="0"/>
              <a:t>와 </a:t>
            </a:r>
            <a:r>
              <a:rPr lang="en-US" altLang="ko-KR" sz="2800" dirty="0" err="1">
                <a:solidFill>
                  <a:srgbClr val="7030A0"/>
                </a:solidFill>
              </a:rPr>
              <a:t>android:layout_height</a:t>
            </a:r>
            <a:endParaRPr lang="en-US" altLang="ko-KR" sz="2800" dirty="0">
              <a:solidFill>
                <a:srgbClr val="7030A0"/>
              </a:solidFill>
            </a:endParaRPr>
          </a:p>
          <a:p>
            <a:pPr lvl="1"/>
            <a:r>
              <a:rPr lang="ko-KR" altLang="en-US" sz="2400" dirty="0"/>
              <a:t>이미지 뷰의 크기를 조절</a:t>
            </a:r>
            <a:endParaRPr lang="en-US" altLang="ko-KR" sz="2400" dirty="0"/>
          </a:p>
          <a:p>
            <a:pPr lvl="1"/>
            <a:r>
              <a:rPr lang="en-US" altLang="ko-KR" sz="2400" dirty="0" err="1"/>
              <a:t>wrap_content</a:t>
            </a:r>
            <a:r>
              <a:rPr lang="en-US" altLang="ko-KR" sz="2400" dirty="0"/>
              <a:t>, </a:t>
            </a:r>
            <a:r>
              <a:rPr lang="en-US" altLang="ko-KR" sz="2400" dirty="0" err="1"/>
              <a:t>match_parent</a:t>
            </a:r>
            <a:r>
              <a:rPr lang="en-US" altLang="ko-KR" sz="2400" dirty="0"/>
              <a:t>, </a:t>
            </a:r>
            <a:r>
              <a:rPr lang="ko-KR" altLang="en-US" sz="2400" dirty="0"/>
              <a:t>고정 크기</a:t>
            </a:r>
            <a:r>
              <a:rPr lang="en-US" altLang="ko-KR" sz="2400" dirty="0"/>
              <a:t>(</a:t>
            </a:r>
            <a:r>
              <a:rPr lang="en-US" altLang="ko-KR" sz="2400" dirty="0" err="1"/>
              <a:t>dp</a:t>
            </a:r>
            <a:r>
              <a:rPr lang="en-US" altLang="ko-KR" sz="2400" dirty="0"/>
              <a:t>, </a:t>
            </a:r>
            <a:r>
              <a:rPr lang="en-US" altLang="ko-KR" sz="2400" dirty="0" err="1"/>
              <a:t>px</a:t>
            </a:r>
            <a:r>
              <a:rPr lang="en-US" altLang="ko-KR" sz="2400" dirty="0"/>
              <a:t> </a:t>
            </a:r>
            <a:r>
              <a:rPr lang="ko-KR" altLang="en-US" sz="2400" dirty="0"/>
              <a:t>등</a:t>
            </a:r>
            <a:r>
              <a:rPr lang="en-US" altLang="ko-KR" sz="2400" dirty="0"/>
              <a:t>)</a:t>
            </a:r>
            <a:r>
              <a:rPr lang="ko-KR" altLang="en-US" sz="2400" dirty="0"/>
              <a:t>로 설정</a:t>
            </a:r>
            <a:endParaRPr lang="en-US" altLang="ko-KR" sz="2400" dirty="0"/>
          </a:p>
          <a:p>
            <a:r>
              <a:rPr lang="en-US" altLang="ko-KR" sz="2800" dirty="0" err="1">
                <a:solidFill>
                  <a:srgbClr val="7030A0"/>
                </a:solidFill>
              </a:rPr>
              <a:t>android:scaleType</a:t>
            </a:r>
            <a:endParaRPr lang="en-US" altLang="ko-KR" sz="2800" dirty="0">
              <a:solidFill>
                <a:srgbClr val="7030A0"/>
              </a:solidFill>
            </a:endParaRPr>
          </a:p>
          <a:p>
            <a:pPr lvl="1"/>
            <a:r>
              <a:rPr lang="ko-KR" altLang="en-US" sz="2400" dirty="0"/>
              <a:t>이미지의 스케일링 및 </a:t>
            </a:r>
            <a:r>
              <a:rPr lang="ko-KR" altLang="en-US" sz="2400" dirty="0" err="1"/>
              <a:t>크롭</a:t>
            </a:r>
            <a:r>
              <a:rPr lang="ko-KR" altLang="en-US" sz="2400" dirty="0"/>
              <a:t> 방식을 지정</a:t>
            </a:r>
            <a:endParaRPr lang="en-US" altLang="ko-KR" sz="2400" dirty="0"/>
          </a:p>
          <a:p>
            <a:pPr lvl="1"/>
            <a:r>
              <a:rPr lang="en-US" altLang="ko-KR" sz="2400" dirty="0" err="1">
                <a:solidFill>
                  <a:srgbClr val="00B050"/>
                </a:solidFill>
              </a:rPr>
              <a:t>centerCrop</a:t>
            </a:r>
            <a:r>
              <a:rPr lang="en-US" altLang="ko-KR" sz="2400" dirty="0"/>
              <a:t>, </a:t>
            </a:r>
            <a:r>
              <a:rPr lang="en-US" altLang="ko-KR" sz="2400" dirty="0" err="1">
                <a:solidFill>
                  <a:srgbClr val="00B050"/>
                </a:solidFill>
              </a:rPr>
              <a:t>fitCenter</a:t>
            </a:r>
            <a:r>
              <a:rPr lang="en-US" altLang="ko-KR" sz="2400" dirty="0"/>
              <a:t>, </a:t>
            </a:r>
            <a:r>
              <a:rPr lang="en-US" altLang="ko-KR" sz="2400" dirty="0" err="1">
                <a:solidFill>
                  <a:srgbClr val="00B050"/>
                </a:solidFill>
              </a:rPr>
              <a:t>centerInside</a:t>
            </a:r>
            <a:r>
              <a:rPr lang="en-US" altLang="ko-KR" sz="2400" dirty="0"/>
              <a:t> </a:t>
            </a:r>
            <a:r>
              <a:rPr lang="ko-KR" altLang="en-US" sz="2400" dirty="0"/>
              <a:t>등을 사용하여 이미지를 화면에 맞게 조절</a:t>
            </a:r>
            <a:endParaRPr lang="en-US" altLang="ko-KR" sz="2400" dirty="0"/>
          </a:p>
          <a:p>
            <a:r>
              <a:rPr lang="en-US" altLang="ko-KR" sz="2800" dirty="0" err="1">
                <a:solidFill>
                  <a:srgbClr val="7030A0"/>
                </a:solidFill>
              </a:rPr>
              <a:t>android:background</a:t>
            </a:r>
            <a:endParaRPr lang="en-US" altLang="ko-KR" sz="2800" dirty="0">
              <a:solidFill>
                <a:srgbClr val="7030A0"/>
              </a:solidFill>
            </a:endParaRPr>
          </a:p>
          <a:p>
            <a:pPr lvl="1"/>
            <a:r>
              <a:rPr lang="en-US" altLang="ko-KR" sz="2400" dirty="0" err="1"/>
              <a:t>ImageView</a:t>
            </a:r>
            <a:r>
              <a:rPr lang="ko-KR" altLang="en-US" sz="2400" dirty="0"/>
              <a:t>의 배경색을 설정한다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44432369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87A1B3-1681-ABCB-7874-2AF8E702D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17]</a:t>
            </a:r>
            <a:r>
              <a:rPr lang="ko-KR" altLang="en-US" dirty="0"/>
              <a:t> 이미지 속성 변경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A6204A-6F8C-FC2C-89C4-13174BC8172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각 버튼을 누르면 이미지를 회전시키고</a:t>
            </a:r>
            <a:r>
              <a:rPr lang="en-US" altLang="ko-KR" dirty="0"/>
              <a:t>, </a:t>
            </a:r>
            <a:r>
              <a:rPr lang="ko-KR" altLang="en-US" dirty="0"/>
              <a:t>투명도를 변경하고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 err="1">
                <a:hlinkClick r:id="rId2"/>
              </a:rPr>
              <a:t>ScaleType</a:t>
            </a:r>
            <a:r>
              <a:rPr lang="ko-KR" altLang="en-US" dirty="0"/>
              <a:t>을 변경하여서 이미지의 크기나 비율을 변경하는 앱을 작성해보자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B31F13B-2739-2432-409D-290479784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2348880"/>
            <a:ext cx="6552728" cy="373585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7771D5D-0028-4FDF-9F0C-4786B79090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5955" y="5085184"/>
            <a:ext cx="1614944" cy="10784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487729-A800-4012-86B6-B3CE9DFA10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3388" y="188640"/>
            <a:ext cx="23256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r"/>
            <a:r>
              <a:rPr lang="en-US" altLang="ko-KR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ImageViewTest5</a:t>
            </a:r>
            <a:endParaRPr lang="ko-KR" altLang="en-US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4CDDFD2-01FF-4315-A4F2-073630575D99}"/>
              </a:ext>
            </a:extLst>
          </p:cNvPr>
          <p:cNvSpPr/>
          <p:nvPr/>
        </p:nvSpPr>
        <p:spPr>
          <a:xfrm>
            <a:off x="7435955" y="5085184"/>
            <a:ext cx="13981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FFC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img.png</a:t>
            </a:r>
            <a:endParaRPr lang="ko-KR" altLang="en-US" dirty="0">
              <a:solidFill>
                <a:srgbClr val="FFC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428181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87A1B3-1681-ABCB-7874-2AF8E702D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17]</a:t>
            </a:r>
            <a:r>
              <a:rPr lang="ko-KR" altLang="en-US" dirty="0"/>
              <a:t> 화면 </a:t>
            </a:r>
            <a:r>
              <a:rPr lang="en-US" altLang="ko-KR" dirty="0"/>
              <a:t>Layout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5817C43A-7143-D684-A3B6-4BBCFB58F1B4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755576" y="710577"/>
            <a:ext cx="7587694" cy="5526735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08B965E-70A3-410B-B138-E6C899358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28" y="2328304"/>
            <a:ext cx="3032266" cy="2324832"/>
          </a:xfrm>
          <a:prstGeom prst="rect">
            <a:avLst/>
          </a:prstGeom>
          <a:ln>
            <a:solidFill>
              <a:schemeClr val="bg2"/>
            </a:solidFill>
          </a:ln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C2272E2C-3155-4DF3-94BE-D250628C1BE5}"/>
              </a:ext>
            </a:extLst>
          </p:cNvPr>
          <p:cNvCxnSpPr/>
          <p:nvPr/>
        </p:nvCxnSpPr>
        <p:spPr bwMode="auto">
          <a:xfrm>
            <a:off x="2483768" y="1872000"/>
            <a:ext cx="108012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D29317A2-42ED-4C0A-A3D4-368431A4676F}"/>
              </a:ext>
            </a:extLst>
          </p:cNvPr>
          <p:cNvCxnSpPr/>
          <p:nvPr/>
        </p:nvCxnSpPr>
        <p:spPr bwMode="auto">
          <a:xfrm>
            <a:off x="2483768" y="2636912"/>
            <a:ext cx="1080120" cy="0"/>
          </a:xfrm>
          <a:prstGeom prst="line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6CF471C-1957-4D9B-AC2A-D40416CF15DE}"/>
              </a:ext>
            </a:extLst>
          </p:cNvPr>
          <p:cNvCxnSpPr/>
          <p:nvPr/>
        </p:nvCxnSpPr>
        <p:spPr bwMode="auto">
          <a:xfrm>
            <a:off x="2483768" y="3880800"/>
            <a:ext cx="1800200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823D6024-0050-4DEC-8E6C-7519D3A6914A}"/>
              </a:ext>
            </a:extLst>
          </p:cNvPr>
          <p:cNvCxnSpPr/>
          <p:nvPr/>
        </p:nvCxnSpPr>
        <p:spPr bwMode="auto">
          <a:xfrm>
            <a:off x="2483768" y="4644000"/>
            <a:ext cx="1728192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E23EA8DB-C702-4797-8418-47EC7BEEF753}"/>
              </a:ext>
            </a:extLst>
          </p:cNvPr>
          <p:cNvCxnSpPr/>
          <p:nvPr/>
        </p:nvCxnSpPr>
        <p:spPr bwMode="auto">
          <a:xfrm>
            <a:off x="2483768" y="5392800"/>
            <a:ext cx="1584176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14319533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87A1B3-1681-ABCB-7874-2AF8E702D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17]</a:t>
            </a:r>
            <a:r>
              <a:rPr lang="ko-KR" altLang="en-US" dirty="0"/>
              <a:t> 코딩</a:t>
            </a:r>
            <a:r>
              <a:rPr lang="en-US" altLang="ko-KR" dirty="0"/>
              <a:t> - 1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31DBA332-6E9E-4194-9C39-A51A0597700D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rcRect r="22544"/>
          <a:stretch>
            <a:fillRect/>
          </a:stretch>
        </p:blipFill>
        <p:spPr bwMode="auto">
          <a:xfrm>
            <a:off x="35495" y="764704"/>
            <a:ext cx="9108505" cy="5400600"/>
          </a:xfrm>
          <a:custGeom>
            <a:avLst/>
            <a:gdLst>
              <a:gd name="connsiteX0" fmla="*/ 0 w 9108505"/>
              <a:gd name="connsiteY0" fmla="*/ 0 h 5400600"/>
              <a:gd name="connsiteX1" fmla="*/ 9108505 w 9108505"/>
              <a:gd name="connsiteY1" fmla="*/ 0 h 5400600"/>
              <a:gd name="connsiteX2" fmla="*/ 9108505 w 9108505"/>
              <a:gd name="connsiteY2" fmla="*/ 5400600 h 5400600"/>
              <a:gd name="connsiteX3" fmla="*/ 0 w 9108505"/>
              <a:gd name="connsiteY3" fmla="*/ 5400600 h 540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08505" h="5400600">
                <a:moveTo>
                  <a:pt x="0" y="0"/>
                </a:moveTo>
                <a:lnTo>
                  <a:pt x="9108505" y="0"/>
                </a:lnTo>
                <a:lnTo>
                  <a:pt x="9108505" y="5400600"/>
                </a:lnTo>
                <a:lnTo>
                  <a:pt x="0" y="540060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3742363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87A1B3-1681-ABCB-7874-2AF8E702D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17]</a:t>
            </a:r>
            <a:r>
              <a:rPr lang="ko-KR" altLang="en-US" dirty="0"/>
              <a:t> 코딩</a:t>
            </a:r>
            <a:r>
              <a:rPr lang="en-US" altLang="ko-KR" dirty="0"/>
              <a:t> – 2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09E2123-EB60-4B2A-8AEC-1EF393FB8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052736"/>
            <a:ext cx="7529441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74805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87A1B3-1681-ABCB-7874-2AF8E702D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17]</a:t>
            </a:r>
            <a:r>
              <a:rPr lang="ko-KR" altLang="en-US" dirty="0"/>
              <a:t> 코딩</a:t>
            </a:r>
            <a:r>
              <a:rPr lang="en-US" altLang="ko-KR" dirty="0"/>
              <a:t> - 3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4A495C8-FAF9-4BF9-B054-2F608953A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836712"/>
            <a:ext cx="8856984" cy="5344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99860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E52F62AD-13C4-4A06-BDD8-8F499539A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2564904"/>
            <a:ext cx="9036496" cy="354758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8BE3938-E96D-4FDC-B4EF-9AFBC3B1A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18] </a:t>
            </a:r>
            <a:r>
              <a:rPr lang="ko-KR" altLang="en-US" dirty="0"/>
              <a:t>제공되는</a:t>
            </a:r>
            <a:r>
              <a:rPr lang="en-US" altLang="ko-KR" dirty="0"/>
              <a:t> </a:t>
            </a:r>
            <a:r>
              <a:rPr lang="ko-KR" altLang="en-US" dirty="0"/>
              <a:t>이미지 이용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FCCEA81E-2FAE-4460-AEEF-856556BC283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sz="2800" dirty="0"/>
              <a:t>&lt;</a:t>
            </a:r>
            <a:r>
              <a:rPr lang="en-US" altLang="ko-KR" sz="2800" dirty="0" err="1"/>
              <a:t>ImageButton</a:t>
            </a:r>
            <a:r>
              <a:rPr lang="en-US" altLang="ko-KR" sz="2800" dirty="0"/>
              <a:t>&gt; </a:t>
            </a:r>
            <a:r>
              <a:rPr lang="ko-KR" altLang="en-US" sz="2800" dirty="0"/>
              <a:t>태그</a:t>
            </a:r>
            <a:r>
              <a:rPr lang="en-US" altLang="ko-KR" sz="2800" dirty="0"/>
              <a:t>, </a:t>
            </a:r>
            <a:r>
              <a:rPr lang="en-US" altLang="ko-KR" sz="2800" dirty="0" err="1"/>
              <a:t>ImageButton</a:t>
            </a:r>
            <a:r>
              <a:rPr lang="en-US" altLang="ko-KR" sz="2800" dirty="0"/>
              <a:t> </a:t>
            </a:r>
            <a:r>
              <a:rPr lang="ko-KR" altLang="en-US" sz="2800" dirty="0"/>
              <a:t>클래스</a:t>
            </a:r>
            <a:endParaRPr lang="en-US" altLang="ko-KR" sz="2800" dirty="0"/>
          </a:p>
          <a:p>
            <a:pPr lvl="1"/>
            <a:r>
              <a:rPr lang="ko-KR" altLang="en-US" sz="2400" dirty="0"/>
              <a:t>이미지를 이용한 버튼</a:t>
            </a:r>
            <a:endParaRPr lang="en-US" altLang="ko-KR" sz="2400" dirty="0"/>
          </a:p>
          <a:p>
            <a:pPr lvl="1"/>
            <a:r>
              <a:rPr lang="en-US" altLang="ko-KR" sz="2400" dirty="0"/>
              <a:t>Android </a:t>
            </a:r>
            <a:r>
              <a:rPr lang="ko-KR" altLang="en-US" sz="2400" dirty="0"/>
              <a:t>에서 제공되는 이미지를 이용해서 디자인 가능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5581EB-3B10-4320-B5F3-0DAA684D59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3388" y="518766"/>
            <a:ext cx="23256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r"/>
            <a:r>
              <a:rPr lang="en-US" altLang="ko-KR" dirty="0" err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ImageButton</a:t>
            </a:r>
            <a:endParaRPr lang="ko-KR" altLang="en-US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9914D56-A0BD-43F7-9582-2CEC4DC5BF90}"/>
              </a:ext>
            </a:extLst>
          </p:cNvPr>
          <p:cNvCxnSpPr>
            <a:cxnSpLocks/>
          </p:cNvCxnSpPr>
          <p:nvPr/>
        </p:nvCxnSpPr>
        <p:spPr bwMode="auto">
          <a:xfrm>
            <a:off x="1331640" y="4240800"/>
            <a:ext cx="3528392" cy="0"/>
          </a:xfrm>
          <a:prstGeom prst="line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95CCD681-A6D5-443B-AAF0-2F793D43A9DE}"/>
              </a:ext>
            </a:extLst>
          </p:cNvPr>
          <p:cNvCxnSpPr>
            <a:cxnSpLocks/>
          </p:cNvCxnSpPr>
          <p:nvPr/>
        </p:nvCxnSpPr>
        <p:spPr bwMode="auto">
          <a:xfrm>
            <a:off x="1403648" y="5418000"/>
            <a:ext cx="3312368" cy="0"/>
          </a:xfrm>
          <a:prstGeom prst="line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17006636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C95F3-C65E-A8E5-2B1C-72ACF14B2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src</a:t>
            </a:r>
            <a:r>
              <a:rPr lang="ko-KR" altLang="en-US" dirty="0"/>
              <a:t>와 </a:t>
            </a:r>
            <a:r>
              <a:rPr lang="en-US" altLang="ko-KR" dirty="0" err="1"/>
              <a:t>srcCompat</a:t>
            </a:r>
            <a:r>
              <a:rPr lang="en-US" altLang="ko-KR" dirty="0"/>
              <a:t> </a:t>
            </a:r>
            <a:r>
              <a:rPr lang="ko-KR" altLang="en-US" dirty="0"/>
              <a:t>속성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3D47D8-11A9-3A73-8659-3CA7534EC33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sz="2800" dirty="0" err="1">
                <a:solidFill>
                  <a:srgbClr val="7030A0"/>
                </a:solidFill>
              </a:rPr>
              <a:t>src</a:t>
            </a:r>
            <a:r>
              <a:rPr lang="ko-KR" altLang="en-US" sz="2800" dirty="0"/>
              <a:t>와 </a:t>
            </a:r>
            <a:r>
              <a:rPr lang="en-US" altLang="ko-KR" sz="2800" dirty="0" err="1">
                <a:solidFill>
                  <a:srgbClr val="7030A0"/>
                </a:solidFill>
              </a:rPr>
              <a:t>srcCompat</a:t>
            </a:r>
            <a:r>
              <a:rPr lang="ko-KR" altLang="en-US" sz="2800" dirty="0"/>
              <a:t>는 안드로이드 앱에서 이미지를 표시하는 데 사용되는 두 가지 다른 속성</a:t>
            </a:r>
            <a:endParaRPr lang="en-US" altLang="ko-KR" sz="2800" dirty="0"/>
          </a:p>
          <a:p>
            <a:r>
              <a:rPr lang="en-US" altLang="ko-KR" sz="2800" dirty="0" err="1">
                <a:solidFill>
                  <a:srgbClr val="7030A0"/>
                </a:solidFill>
              </a:rPr>
              <a:t>src</a:t>
            </a:r>
            <a:r>
              <a:rPr lang="en-US" altLang="ko-KR" sz="2800" dirty="0"/>
              <a:t> </a:t>
            </a:r>
            <a:r>
              <a:rPr lang="ko-KR" altLang="en-US" sz="2800" dirty="0"/>
              <a:t>속성</a:t>
            </a:r>
            <a:endParaRPr lang="en-US" altLang="ko-KR" sz="2800" dirty="0"/>
          </a:p>
          <a:p>
            <a:pPr lvl="1"/>
            <a:r>
              <a:rPr lang="en-US" altLang="ko-KR" sz="2400" dirty="0"/>
              <a:t>Android 2.2(API </a:t>
            </a:r>
            <a:r>
              <a:rPr lang="ko-KR" altLang="en-US" sz="2400" dirty="0"/>
              <a:t>레벨 </a:t>
            </a:r>
            <a:r>
              <a:rPr lang="en-US" altLang="ko-KR" sz="2400" dirty="0"/>
              <a:t>8) </a:t>
            </a:r>
            <a:r>
              <a:rPr lang="ko-KR" altLang="en-US" sz="2400" dirty="0"/>
              <a:t>이상에서 사용 가능한 오래된 속성</a:t>
            </a:r>
            <a:endParaRPr lang="en-US" altLang="ko-KR" sz="2400" dirty="0"/>
          </a:p>
          <a:p>
            <a:pPr lvl="1"/>
            <a:r>
              <a:rPr lang="en-US" altLang="ko-KR" sz="2400" dirty="0" err="1"/>
              <a:t>src</a:t>
            </a:r>
            <a:r>
              <a:rPr lang="en-US" altLang="ko-KR" sz="2400" dirty="0"/>
              <a:t> </a:t>
            </a:r>
            <a:r>
              <a:rPr lang="ko-KR" altLang="en-US" sz="2400" dirty="0"/>
              <a:t>속성을 사용하면 이미지를 설정할 때 기본적으로 앱의 테마에 따라 이미지가 </a:t>
            </a:r>
            <a:r>
              <a:rPr lang="ko-KR" altLang="en-US" sz="2400" dirty="0" err="1"/>
              <a:t>렌더링됨</a:t>
            </a:r>
            <a:endParaRPr lang="en-US" altLang="ko-KR" sz="2400" dirty="0"/>
          </a:p>
          <a:p>
            <a:pPr lvl="1"/>
            <a:r>
              <a:rPr lang="ko-KR" altLang="en-US" sz="2400" dirty="0"/>
              <a:t>이 속성은 벡터 이미지를 지원하지 않아</a:t>
            </a:r>
            <a:r>
              <a:rPr lang="en-US" altLang="ko-KR" sz="2400" dirty="0"/>
              <a:t>, </a:t>
            </a:r>
            <a:r>
              <a:rPr lang="ko-KR" altLang="en-US" sz="2400" dirty="0"/>
              <a:t>높은 해상도의 화면에서 이미지가 </a:t>
            </a:r>
            <a:r>
              <a:rPr lang="ko-KR" altLang="en-US" sz="2400" dirty="0">
                <a:solidFill>
                  <a:srgbClr val="00B050"/>
                </a:solidFill>
              </a:rPr>
              <a:t>흐릿하게</a:t>
            </a:r>
            <a:r>
              <a:rPr lang="ko-KR" altLang="en-US" sz="2400" dirty="0"/>
              <a:t> 보일 수 있음</a:t>
            </a:r>
            <a:endParaRPr lang="en-US" altLang="ko-KR" sz="2400" dirty="0"/>
          </a:p>
          <a:p>
            <a:r>
              <a:rPr lang="en-US" altLang="ko-KR" sz="2800" dirty="0" err="1">
                <a:solidFill>
                  <a:srgbClr val="7030A0"/>
                </a:solidFill>
              </a:rPr>
              <a:t>srcCompat</a:t>
            </a:r>
            <a:r>
              <a:rPr lang="en-US" altLang="ko-KR" sz="2800" dirty="0"/>
              <a:t> </a:t>
            </a:r>
            <a:r>
              <a:rPr lang="ko-KR" altLang="en-US" sz="2800" dirty="0"/>
              <a:t>속성</a:t>
            </a:r>
            <a:endParaRPr lang="en-US" altLang="ko-KR" sz="2800" dirty="0"/>
          </a:p>
          <a:p>
            <a:pPr lvl="1"/>
            <a:r>
              <a:rPr lang="en-US" altLang="ko-KR" sz="2400" dirty="0" err="1"/>
              <a:t>AppCompat</a:t>
            </a:r>
            <a:r>
              <a:rPr lang="en-US" altLang="ko-KR" sz="2400" dirty="0"/>
              <a:t> </a:t>
            </a:r>
            <a:r>
              <a:rPr lang="ko-KR" altLang="en-US" sz="2400" dirty="0"/>
              <a:t>라이브러리와 호환되는 </a:t>
            </a:r>
            <a:r>
              <a:rPr lang="en-US" altLang="ko-KR" sz="2400" dirty="0" err="1"/>
              <a:t>AndroidX</a:t>
            </a:r>
            <a:r>
              <a:rPr lang="en-US" altLang="ko-KR" sz="2400" dirty="0"/>
              <a:t> </a:t>
            </a:r>
            <a:r>
              <a:rPr lang="ko-KR" altLang="en-US" sz="2400" dirty="0"/>
              <a:t>라이브러리를 사용하는 경우</a:t>
            </a:r>
            <a:r>
              <a:rPr lang="en-US" altLang="ko-KR" sz="2400" dirty="0"/>
              <a:t>, </a:t>
            </a:r>
            <a:r>
              <a:rPr lang="ko-KR" altLang="en-US" sz="2400" dirty="0"/>
              <a:t>사용할 수 있는 상대적으로 최신의 속성</a:t>
            </a:r>
          </a:p>
        </p:txBody>
      </p:sp>
    </p:spTree>
    <p:extLst>
      <p:ext uri="{BB962C8B-B14F-4D97-AF65-F5344CB8AC3E}">
        <p14:creationId xmlns:p14="http://schemas.microsoft.com/office/powerpoint/2010/main" val="137114704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99B323-412F-5DEE-74A4-C40C6E5EF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코드로 위젯의 속성 변경하기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9B8490-B710-4C10-DFED-30F277B948C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예를 들어 뷰가 가지고 있는 </a:t>
            </a:r>
            <a:r>
              <a:rPr lang="en-US" altLang="ko-KR" dirty="0">
                <a:solidFill>
                  <a:srgbClr val="7030A0"/>
                </a:solidFill>
              </a:rPr>
              <a:t>background</a:t>
            </a:r>
            <a:r>
              <a:rPr lang="ko-KR" altLang="en-US" dirty="0"/>
              <a:t>라는 속성은 </a:t>
            </a:r>
            <a:r>
              <a:rPr lang="en-US" altLang="ko-KR" dirty="0" err="1">
                <a:solidFill>
                  <a:srgbClr val="CC00CC"/>
                </a:solidFill>
              </a:rPr>
              <a:t>setBackgroundResource</a:t>
            </a:r>
            <a:r>
              <a:rPr lang="en-US" altLang="ko-KR" dirty="0">
                <a:solidFill>
                  <a:schemeClr val="tx1"/>
                </a:solidFill>
              </a:rPr>
              <a:t>(int)</a:t>
            </a:r>
            <a:r>
              <a:rPr lang="ko-KR" altLang="en-US" dirty="0"/>
              <a:t>로 변경 가능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9B1A930-57DA-3F0E-D907-2B518280A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276872"/>
            <a:ext cx="8956550" cy="392811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85AB16B0-B9EC-4C1E-A5B5-BB461DFDA6FE}"/>
                  </a:ext>
                </a:extLst>
              </p14:cNvPr>
              <p14:cNvContentPartPr/>
              <p14:nvPr/>
            </p14:nvContentPartPr>
            <p14:xfrm>
              <a:off x="2112336" y="2632176"/>
              <a:ext cx="329400" cy="1980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85AB16B0-B9EC-4C1E-A5B5-BB461DFDA6F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76336" y="2560176"/>
                <a:ext cx="40104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C64B480B-87FF-45CF-886D-A6291FC66167}"/>
                  </a:ext>
                </a:extLst>
              </p14:cNvPr>
              <p14:cNvContentPartPr/>
              <p14:nvPr/>
            </p14:nvContentPartPr>
            <p14:xfrm>
              <a:off x="3785616" y="3209616"/>
              <a:ext cx="1536480" cy="36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C64B480B-87FF-45CF-886D-A6291FC6616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49616" y="3137616"/>
                <a:ext cx="160812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7AD44E8C-B439-4B7F-8014-0BF6570BE0F2}"/>
                  </a:ext>
                </a:extLst>
              </p14:cNvPr>
              <p14:cNvContentPartPr/>
              <p14:nvPr/>
            </p14:nvContentPartPr>
            <p14:xfrm>
              <a:off x="1262016" y="3190176"/>
              <a:ext cx="786600" cy="1764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7AD44E8C-B439-4B7F-8014-0BF6570BE0F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26016" y="3118176"/>
                <a:ext cx="858240" cy="16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1841062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274479-1169-7E1F-3B3B-BADB7C5B3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800" dirty="0"/>
              <a:t>코드로 이미지를 동적으로 변경하는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05CEE0-2F2F-EAC1-9200-E21F182B67C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rgbClr val="CC00CC"/>
                </a:solidFill>
              </a:rPr>
              <a:t>setImageResource</a:t>
            </a:r>
            <a:r>
              <a:rPr lang="en-US" altLang="ko-KR" dirty="0">
                <a:solidFill>
                  <a:schemeClr val="tx1"/>
                </a:solidFill>
              </a:rPr>
              <a:t>( )</a:t>
            </a:r>
            <a:r>
              <a:rPr lang="en-US" altLang="ko-KR" dirty="0"/>
              <a:t> </a:t>
            </a:r>
            <a:r>
              <a:rPr lang="ko-KR" altLang="en-US" dirty="0"/>
              <a:t>메서드를 사용하여 자바 코드에서도 이미지를 변경 가능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167DB82-42D5-EBC9-51D9-4D6AC57E3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916832"/>
            <a:ext cx="8755664" cy="216024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17255272-C02E-4C84-9E06-FF0A9C307016}"/>
                  </a:ext>
                </a:extLst>
              </p14:cNvPr>
              <p14:cNvContentPartPr/>
              <p14:nvPr/>
            </p14:nvContentPartPr>
            <p14:xfrm>
              <a:off x="1653587" y="3508729"/>
              <a:ext cx="1362240" cy="5652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17255272-C02E-4C84-9E06-FF0A9C30701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17587" y="3436729"/>
                <a:ext cx="1433880" cy="200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3989476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83A1C189-D458-49CE-A256-B17A4862D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821754"/>
            <a:ext cx="5976664" cy="526814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0D2E99A-8FD0-4E0A-A293-E68C3000B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19] </a:t>
            </a:r>
            <a:r>
              <a:rPr lang="ko-KR" altLang="en-US" dirty="0"/>
              <a:t>코드로 이미지 변경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0F834C-F12E-4697-8BD9-66AB097576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3388" y="590774"/>
            <a:ext cx="23256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r"/>
            <a:r>
              <a:rPr lang="en-US" altLang="ko-KR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ImageButton2</a:t>
            </a:r>
            <a:endParaRPr lang="ko-KR" altLang="en-US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3B66E14-5F5A-4C6D-BC9C-18A743A8E3D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2193780"/>
            <a:ext cx="1440160" cy="211278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B5C410F-EE8E-4A3A-AD9C-CB50AA3EF9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4684909"/>
            <a:ext cx="2171618" cy="1336379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C83BA5A5-D509-4104-A069-13595E26AD34}"/>
              </a:ext>
            </a:extLst>
          </p:cNvPr>
          <p:cNvSpPr/>
          <p:nvPr/>
        </p:nvSpPr>
        <p:spPr>
          <a:xfrm>
            <a:off x="6732240" y="2193780"/>
            <a:ext cx="11641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FFC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pic.jpg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8D36FE5-6B15-4C54-B1E1-197B6FB2A313}"/>
              </a:ext>
            </a:extLst>
          </p:cNvPr>
          <p:cNvSpPr/>
          <p:nvPr/>
        </p:nvSpPr>
        <p:spPr>
          <a:xfrm>
            <a:off x="6732240" y="4705272"/>
            <a:ext cx="15119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FFC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pic2.jpeg</a:t>
            </a:r>
            <a:endParaRPr lang="ko-KR" altLang="en-US" dirty="0">
              <a:solidFill>
                <a:srgbClr val="FFC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97610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내용 개체 틀 5">
            <a:extLst>
              <a:ext uri="{FF2B5EF4-FFF2-40B4-BE49-F238E27FC236}">
                <a16:creationId xmlns:a16="http://schemas.microsoft.com/office/drawing/2014/main" id="{060E679A-9E09-40C5-96DD-C708436CD2AF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251520" y="731258"/>
            <a:ext cx="8640388" cy="3849870"/>
          </a:xfr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4989FE1-6397-4191-9A7D-48C57DA29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4437112"/>
            <a:ext cx="9247881" cy="165618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0D2E99A-8FD0-4E0A-A293-E68C3000B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19] </a:t>
            </a:r>
            <a:r>
              <a:rPr lang="ko-KR" altLang="en-US" dirty="0"/>
              <a:t>화면 </a:t>
            </a:r>
            <a:r>
              <a:rPr lang="en-US" altLang="ko-KR" dirty="0"/>
              <a:t>Layout</a:t>
            </a:r>
            <a:endParaRPr lang="ko-KR" altLang="en-US" dirty="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1185440-F592-4D3E-B6A3-0CED9A983234}"/>
              </a:ext>
            </a:extLst>
          </p:cNvPr>
          <p:cNvCxnSpPr>
            <a:cxnSpLocks/>
          </p:cNvCxnSpPr>
          <p:nvPr/>
        </p:nvCxnSpPr>
        <p:spPr bwMode="auto">
          <a:xfrm>
            <a:off x="1835696" y="2664000"/>
            <a:ext cx="1762504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9D2B84F-A318-42D8-AEC8-79A41E0FA140}"/>
              </a:ext>
            </a:extLst>
          </p:cNvPr>
          <p:cNvCxnSpPr>
            <a:cxnSpLocks/>
          </p:cNvCxnSpPr>
          <p:nvPr/>
        </p:nvCxnSpPr>
        <p:spPr bwMode="auto">
          <a:xfrm>
            <a:off x="1835696" y="4104000"/>
            <a:ext cx="1656184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4B4193CA-701D-413E-A5BC-449E03E0E36B}"/>
              </a:ext>
            </a:extLst>
          </p:cNvPr>
          <p:cNvCxnSpPr/>
          <p:nvPr/>
        </p:nvCxnSpPr>
        <p:spPr bwMode="auto">
          <a:xfrm>
            <a:off x="2302056" y="5085184"/>
            <a:ext cx="1296144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19B16EE-2BD6-47CB-868D-FCF4649B3D2E}"/>
              </a:ext>
            </a:extLst>
          </p:cNvPr>
          <p:cNvCxnSpPr>
            <a:cxnSpLocks/>
          </p:cNvCxnSpPr>
          <p:nvPr/>
        </p:nvCxnSpPr>
        <p:spPr bwMode="auto">
          <a:xfrm>
            <a:off x="2339752" y="5400000"/>
            <a:ext cx="1258448" cy="0"/>
          </a:xfrm>
          <a:prstGeom prst="line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508BC55-E10E-4C9C-A0A4-893FDFBE4D2F}"/>
              </a:ext>
            </a:extLst>
          </p:cNvPr>
          <p:cNvCxnSpPr>
            <a:cxnSpLocks/>
          </p:cNvCxnSpPr>
          <p:nvPr/>
        </p:nvCxnSpPr>
        <p:spPr bwMode="auto">
          <a:xfrm>
            <a:off x="2411760" y="2962800"/>
            <a:ext cx="2592288" cy="0"/>
          </a:xfrm>
          <a:prstGeom prst="line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208D55C1-86BB-485F-8E3F-F5A3BD6D0F0B}"/>
              </a:ext>
            </a:extLst>
          </p:cNvPr>
          <p:cNvCxnSpPr>
            <a:cxnSpLocks/>
          </p:cNvCxnSpPr>
          <p:nvPr/>
        </p:nvCxnSpPr>
        <p:spPr bwMode="auto">
          <a:xfrm>
            <a:off x="2483768" y="4410000"/>
            <a:ext cx="2592288" cy="0"/>
          </a:xfrm>
          <a:prstGeom prst="line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75426956-43DC-4324-8F76-281D1942ED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176" y="1950504"/>
            <a:ext cx="2114550" cy="3314700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00634002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6">
            <a:extLst>
              <a:ext uri="{FF2B5EF4-FFF2-40B4-BE49-F238E27FC236}">
                <a16:creationId xmlns:a16="http://schemas.microsoft.com/office/drawing/2014/main" id="{AFAD7127-568E-4D56-958E-6A482B7F0A05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683568" y="706754"/>
            <a:ext cx="7989445" cy="6151245"/>
          </a:xfr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0D2E99A-8FD0-4E0A-A293-E68C3000B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19] </a:t>
            </a:r>
            <a:r>
              <a:rPr lang="ko-KR" altLang="en-US" dirty="0"/>
              <a:t>코딩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D83F343-5D71-4F9E-A480-2EC70A961790}"/>
              </a:ext>
            </a:extLst>
          </p:cNvPr>
          <p:cNvCxnSpPr>
            <a:cxnSpLocks/>
          </p:cNvCxnSpPr>
          <p:nvPr/>
        </p:nvCxnSpPr>
        <p:spPr bwMode="auto">
          <a:xfrm>
            <a:off x="3678152" y="5157192"/>
            <a:ext cx="1181880" cy="0"/>
          </a:xfrm>
          <a:prstGeom prst="line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D3A15AC-1C15-4139-9E07-DE65EF2D0B2C}"/>
              </a:ext>
            </a:extLst>
          </p:cNvPr>
          <p:cNvCxnSpPr>
            <a:cxnSpLocks/>
          </p:cNvCxnSpPr>
          <p:nvPr/>
        </p:nvCxnSpPr>
        <p:spPr bwMode="auto">
          <a:xfrm>
            <a:off x="3678152" y="5949280"/>
            <a:ext cx="1253888" cy="0"/>
          </a:xfrm>
          <a:prstGeom prst="line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A4DA81F6-6323-4B42-931C-E73BEFFFCA49}"/>
              </a:ext>
            </a:extLst>
          </p:cNvPr>
          <p:cNvCxnSpPr/>
          <p:nvPr/>
        </p:nvCxnSpPr>
        <p:spPr bwMode="auto">
          <a:xfrm>
            <a:off x="2267744" y="5157192"/>
            <a:ext cx="1368152" cy="0"/>
          </a:xfrm>
          <a:prstGeom prst="line">
            <a:avLst/>
          </a:prstGeom>
          <a:noFill/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885898B-D925-4D1A-9505-E3808A1C1FCC}"/>
              </a:ext>
            </a:extLst>
          </p:cNvPr>
          <p:cNvCxnSpPr/>
          <p:nvPr/>
        </p:nvCxnSpPr>
        <p:spPr bwMode="auto">
          <a:xfrm>
            <a:off x="2267744" y="5949280"/>
            <a:ext cx="1368152" cy="0"/>
          </a:xfrm>
          <a:prstGeom prst="line">
            <a:avLst/>
          </a:prstGeom>
          <a:noFill/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B41604C-75C6-4F88-85BD-CD282D9A59D4}"/>
              </a:ext>
            </a:extLst>
          </p:cNvPr>
          <p:cNvSpPr/>
          <p:nvPr/>
        </p:nvSpPr>
        <p:spPr bwMode="auto">
          <a:xfrm>
            <a:off x="1115616" y="1700808"/>
            <a:ext cx="2520280" cy="288024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24E70DA-C202-4399-9335-F37F1270F4D9}"/>
              </a:ext>
            </a:extLst>
          </p:cNvPr>
          <p:cNvSpPr/>
          <p:nvPr/>
        </p:nvSpPr>
        <p:spPr bwMode="auto">
          <a:xfrm>
            <a:off x="1403648" y="3899349"/>
            <a:ext cx="4680520" cy="537737"/>
          </a:xfrm>
          <a:prstGeom prst="rect">
            <a:avLst/>
          </a:prstGeom>
          <a:solidFill>
            <a:schemeClr val="bg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5419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968714-253D-F1E6-6A5E-253EA79A3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20] </a:t>
            </a:r>
            <a:r>
              <a:rPr lang="ko-KR" altLang="en-US" dirty="0"/>
              <a:t>코드로 텍스트 뷰 속성 변경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1E97B359-0182-17DE-F266-4E505E0C49CC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2168543" y="1196752"/>
            <a:ext cx="4851729" cy="4248472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173DF2-6694-4406-B1C5-DDE4610D98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9316" y="662782"/>
            <a:ext cx="23256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r"/>
            <a:r>
              <a:rPr lang="en-US" altLang="ko-KR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TesxtViewTest2</a:t>
            </a:r>
            <a:endParaRPr lang="ko-KR" altLang="en-US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347350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9A9DFE80-636C-403D-8BC9-6EDD8DEC78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978"/>
          <a:stretch>
            <a:fillRect/>
          </a:stretch>
        </p:blipFill>
        <p:spPr>
          <a:xfrm>
            <a:off x="0" y="1052736"/>
            <a:ext cx="9144000" cy="4896544"/>
          </a:xfrm>
          <a:custGeom>
            <a:avLst/>
            <a:gdLst>
              <a:gd name="connsiteX0" fmla="*/ 0 w 9144000"/>
              <a:gd name="connsiteY0" fmla="*/ 0 h 4896544"/>
              <a:gd name="connsiteX1" fmla="*/ 9144000 w 9144000"/>
              <a:gd name="connsiteY1" fmla="*/ 0 h 4896544"/>
              <a:gd name="connsiteX2" fmla="*/ 9144000 w 9144000"/>
              <a:gd name="connsiteY2" fmla="*/ 4896544 h 4896544"/>
              <a:gd name="connsiteX3" fmla="*/ 0 w 9144000"/>
              <a:gd name="connsiteY3" fmla="*/ 4896544 h 4896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0" h="4896544">
                <a:moveTo>
                  <a:pt x="0" y="0"/>
                </a:moveTo>
                <a:lnTo>
                  <a:pt x="9144000" y="0"/>
                </a:lnTo>
                <a:lnTo>
                  <a:pt x="9144000" y="4896544"/>
                </a:lnTo>
                <a:lnTo>
                  <a:pt x="0" y="4896544"/>
                </a:lnTo>
                <a:close/>
              </a:path>
            </a:pathLst>
          </a:cu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54340D6-BF2A-4F5B-A6A1-309152807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dirty="0"/>
              <a:t>[</a:t>
            </a:r>
            <a:r>
              <a:rPr lang="ko-KR" altLang="en-US" sz="4000" dirty="0"/>
              <a:t>실습</a:t>
            </a:r>
            <a:r>
              <a:rPr lang="en-US" altLang="ko-KR" sz="4000" dirty="0"/>
              <a:t>20] </a:t>
            </a:r>
            <a:r>
              <a:rPr lang="ko-KR" altLang="en-US" sz="4000" dirty="0"/>
              <a:t>화면 </a:t>
            </a:r>
            <a:r>
              <a:rPr lang="en-US" altLang="ko-KR" sz="4000" dirty="0"/>
              <a:t>Layout</a:t>
            </a:r>
            <a:endParaRPr lang="ko-KR" altLang="en-US" sz="4000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4559017-48F1-449B-8213-B8E223F5F100}"/>
              </a:ext>
            </a:extLst>
          </p:cNvPr>
          <p:cNvCxnSpPr>
            <a:cxnSpLocks/>
          </p:cNvCxnSpPr>
          <p:nvPr/>
        </p:nvCxnSpPr>
        <p:spPr bwMode="auto">
          <a:xfrm>
            <a:off x="2411760" y="2664000"/>
            <a:ext cx="1368152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54606E9-BEF5-4038-B3B3-0D6B5D91BBD2}"/>
              </a:ext>
            </a:extLst>
          </p:cNvPr>
          <p:cNvCxnSpPr>
            <a:cxnSpLocks/>
          </p:cNvCxnSpPr>
          <p:nvPr/>
        </p:nvCxnSpPr>
        <p:spPr bwMode="auto">
          <a:xfrm>
            <a:off x="2339752" y="3717032"/>
            <a:ext cx="1512168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C72F33A-8696-48A0-AC88-2C2261AF37B8}"/>
              </a:ext>
            </a:extLst>
          </p:cNvPr>
          <p:cNvCxnSpPr>
            <a:cxnSpLocks/>
          </p:cNvCxnSpPr>
          <p:nvPr/>
        </p:nvCxnSpPr>
        <p:spPr bwMode="auto">
          <a:xfrm>
            <a:off x="2339752" y="4744800"/>
            <a:ext cx="1512168" cy="0"/>
          </a:xfrm>
          <a:prstGeom prst="lin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1" name="그림 20">
            <a:extLst>
              <a:ext uri="{FF2B5EF4-FFF2-40B4-BE49-F238E27FC236}">
                <a16:creationId xmlns:a16="http://schemas.microsoft.com/office/drawing/2014/main" id="{D74CB5DD-A903-4E72-8830-05D009A87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12" y="2924944"/>
            <a:ext cx="2917512" cy="1609663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56367927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4340D6-BF2A-4F5B-A6A1-309152807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dirty="0"/>
              <a:t>[</a:t>
            </a:r>
            <a:r>
              <a:rPr lang="ko-KR" altLang="en-US" sz="4000" dirty="0"/>
              <a:t>실습</a:t>
            </a:r>
            <a:r>
              <a:rPr lang="en-US" altLang="ko-KR" sz="4000" dirty="0"/>
              <a:t>20]</a:t>
            </a:r>
            <a:r>
              <a:rPr lang="ko-KR" altLang="en-US" sz="4000" dirty="0"/>
              <a:t> 코딩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4446A94-5538-4C13-8427-5404FC0C5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27" y="761033"/>
            <a:ext cx="7864726" cy="142038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81A85FE-1523-4358-9E7C-C3705E11B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79" y="2025000"/>
            <a:ext cx="7881661" cy="421231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2A493BDC-7877-4609-BE72-1003A6CD8DF0}"/>
              </a:ext>
            </a:extLst>
          </p:cNvPr>
          <p:cNvSpPr/>
          <p:nvPr/>
        </p:nvSpPr>
        <p:spPr bwMode="auto">
          <a:xfrm>
            <a:off x="1259632" y="4005064"/>
            <a:ext cx="4248472" cy="151216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굴림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84489C2-4F59-4A3A-B84B-3BF467525B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232" y="3573016"/>
            <a:ext cx="2304256" cy="1930245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95112135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E546F1-4F1F-F98D-0D9A-D891B937D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도전과제</a:t>
            </a:r>
            <a:r>
              <a:rPr lang="en-US" altLang="ko-KR" dirty="0"/>
              <a:t>1] </a:t>
            </a:r>
            <a:r>
              <a:rPr lang="ko-KR" altLang="en-US" dirty="0"/>
              <a:t>카운터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33989B-0FB4-62E8-C15C-EE39446ADE6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다음과 같은 간단한 카운터 앱을 작성해보자</a:t>
            </a:r>
            <a:r>
              <a:rPr lang="en-US" altLang="ko-KR" dirty="0"/>
              <a:t>. </a:t>
            </a:r>
          </a:p>
          <a:p>
            <a:pPr lvl="1"/>
            <a:r>
              <a:rPr lang="en-US" altLang="ko-KR" dirty="0">
                <a:latin typeface="Abadi" panose="020B0604020104020204" pitchFamily="34" charset="0"/>
              </a:rPr>
              <a:t>“</a:t>
            </a:r>
            <a:r>
              <a:rPr lang="ko-KR" altLang="en-US" dirty="0"/>
              <a:t>카운터 증가</a:t>
            </a:r>
            <a:r>
              <a:rPr lang="en-US" altLang="ko-KR" dirty="0">
                <a:latin typeface="Abadi" panose="020B0604020104020204" pitchFamily="34" charset="0"/>
              </a:rPr>
              <a:t>”</a:t>
            </a:r>
            <a:r>
              <a:rPr lang="ko-KR" altLang="en-US" dirty="0"/>
              <a:t> 버튼을 누르면 카운터숫자가 증가</a:t>
            </a:r>
            <a:endParaRPr lang="en-US" altLang="ko-KR" dirty="0"/>
          </a:p>
          <a:p>
            <a:pPr lvl="1"/>
            <a:r>
              <a:rPr lang="en-US" altLang="ko-KR" dirty="0">
                <a:latin typeface="Abadi" panose="020B0604020104020204" pitchFamily="34" charset="0"/>
              </a:rPr>
              <a:t>“</a:t>
            </a:r>
            <a:r>
              <a:rPr lang="ko-KR" altLang="en-US" dirty="0"/>
              <a:t>카운터 감소</a:t>
            </a:r>
            <a:r>
              <a:rPr lang="en-US" altLang="ko-KR" dirty="0">
                <a:latin typeface="Abadi" panose="020B0604020104020204" pitchFamily="34" charset="0"/>
              </a:rPr>
              <a:t>”</a:t>
            </a:r>
            <a:r>
              <a:rPr lang="ko-KR" altLang="en-US" dirty="0"/>
              <a:t> 버튼을 누르면 카운터숫자가 감소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69707D2-EE1A-4633-6451-8D1A4451D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95" y="2780928"/>
            <a:ext cx="7019097" cy="30243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492639-326A-42B3-B65A-2ADAA30F53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9316" y="221283"/>
            <a:ext cx="23256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r"/>
            <a:r>
              <a:rPr lang="en-US" altLang="ko-KR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Counter</a:t>
            </a:r>
            <a:endParaRPr lang="ko-KR" altLang="en-US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290636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B16A444-7CBB-D5B1-C937-337888B7C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72" y="1808252"/>
            <a:ext cx="2376264" cy="43891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BE546F1-4F1F-F98D-0D9A-D891B937D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도전과제</a:t>
            </a:r>
            <a:r>
              <a:rPr lang="en-US" altLang="ko-KR" dirty="0"/>
              <a:t>2] </a:t>
            </a:r>
            <a:r>
              <a:rPr lang="ko-KR" altLang="en-US" dirty="0"/>
              <a:t>주사위 게임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33989B-0FB4-62E8-C15C-EE39446ADE6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다음과 같이 버튼을 누르면 주사위가 굴려지고 화면에 주사위를 이미지로 표시하는 앱을 작성해보자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C8156C-2B10-4FD9-BAB3-74BB4873B4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9316" y="188640"/>
            <a:ext cx="23256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r"/>
            <a:r>
              <a:rPr lang="en-US" altLang="ko-KR" dirty="0" err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DiceRoller</a:t>
            </a:r>
            <a:endParaRPr lang="ko-KR" altLang="en-US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2598208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8A1585-A383-4352-B2A9-F58160DF4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연습문제</a:t>
            </a:r>
            <a:r>
              <a:rPr lang="en-US" altLang="ko-KR" dirty="0"/>
              <a:t>10] </a:t>
            </a:r>
            <a:r>
              <a:rPr lang="ko-KR" altLang="en-US" dirty="0"/>
              <a:t>난수 알아 맞추기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F3F343EC-D896-47AC-A1B9-41AA25743CC2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79512" y="908720"/>
            <a:ext cx="8721439" cy="5112568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44987A-7848-4C71-81A4-DC9C1266D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9316" y="221283"/>
            <a:ext cx="23256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r"/>
            <a:r>
              <a:rPr lang="en-US" altLang="ko-KR" dirty="0" err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HighLow</a:t>
            </a:r>
            <a:endParaRPr lang="ko-KR" altLang="en-US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205347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CE44F00-17B7-494F-84F9-26B7C85F824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40200" y="1996032"/>
            <a:ext cx="4995863" cy="4385296"/>
          </a:xfrm>
        </p:spPr>
        <p:txBody>
          <a:bodyPr/>
          <a:lstStyle/>
          <a:p>
            <a:pPr>
              <a:buFont typeface="+mj-lt"/>
              <a:buAutoNum type="arabicPeriod" startAt="13"/>
            </a:pPr>
            <a:r>
              <a:rPr lang="en-US" altLang="ko-KR" sz="1800" dirty="0"/>
              <a:t>EditTextTest1</a:t>
            </a:r>
          </a:p>
          <a:p>
            <a:pPr>
              <a:buFont typeface="+mj-lt"/>
              <a:buAutoNum type="arabicPeriod" startAt="13"/>
            </a:pPr>
            <a:r>
              <a:rPr lang="en-US" altLang="ko-KR" sz="1800" dirty="0"/>
              <a:t>Calculator </a:t>
            </a:r>
            <a:r>
              <a:rPr lang="ko-KR" altLang="en-US" sz="1800" dirty="0" err="1">
                <a:solidFill>
                  <a:srgbClr val="6600FF"/>
                </a:solidFill>
              </a:rPr>
              <a:t>완성본</a:t>
            </a:r>
            <a:endParaRPr lang="en-US" altLang="ko-KR" sz="1800" dirty="0">
              <a:solidFill>
                <a:srgbClr val="6600FF"/>
              </a:solidFill>
            </a:endParaRPr>
          </a:p>
          <a:p>
            <a:pPr>
              <a:buFont typeface="+mj-lt"/>
              <a:buAutoNum type="arabicPeriod" startAt="13"/>
            </a:pPr>
            <a:r>
              <a:rPr lang="en-US" altLang="ko-KR" sz="1800" dirty="0" err="1"/>
              <a:t>ImageViewTest</a:t>
            </a:r>
            <a:endParaRPr lang="en-US" altLang="ko-KR" sz="1800" dirty="0"/>
          </a:p>
          <a:p>
            <a:pPr>
              <a:buFont typeface="+mj-lt"/>
              <a:buAutoNum type="arabicPeriod" startAt="13"/>
            </a:pPr>
            <a:r>
              <a:rPr lang="en-US" altLang="ko-KR" sz="1800" dirty="0"/>
              <a:t>ImageViewTest3</a:t>
            </a:r>
          </a:p>
          <a:p>
            <a:pPr>
              <a:buFont typeface="+mj-lt"/>
              <a:buAutoNum type="arabicPeriod" startAt="13"/>
            </a:pPr>
            <a:r>
              <a:rPr lang="en-US" altLang="ko-KR" sz="1800" dirty="0"/>
              <a:t>ImageViewTest5</a:t>
            </a:r>
          </a:p>
          <a:p>
            <a:pPr>
              <a:buFont typeface="+mj-lt"/>
              <a:buAutoNum type="arabicPeriod" startAt="13"/>
            </a:pPr>
            <a:r>
              <a:rPr lang="en-US" altLang="ko-KR" sz="1800" dirty="0" err="1"/>
              <a:t>ImageButton</a:t>
            </a:r>
            <a:endParaRPr lang="en-US" altLang="ko-KR" sz="1800" dirty="0"/>
          </a:p>
          <a:p>
            <a:pPr>
              <a:buFont typeface="+mj-lt"/>
              <a:buAutoNum type="arabicPeriod" startAt="13"/>
            </a:pPr>
            <a:r>
              <a:rPr lang="en-US" altLang="ko-KR" sz="1800" dirty="0"/>
              <a:t>ImageButton2</a:t>
            </a:r>
          </a:p>
          <a:p>
            <a:pPr>
              <a:buFont typeface="+mj-lt"/>
              <a:buAutoNum type="arabicPeriod" startAt="13"/>
            </a:pPr>
            <a:r>
              <a:rPr lang="en-US" altLang="ko-KR" sz="1800" dirty="0"/>
              <a:t>TextViewTest2</a:t>
            </a:r>
          </a:p>
          <a:p>
            <a:pPr>
              <a:buFont typeface="+mj-lt"/>
              <a:buAutoNum type="arabicPeriod" startAt="13"/>
            </a:pPr>
            <a:endParaRPr lang="en-US" altLang="ko-KR" sz="1800" dirty="0"/>
          </a:p>
          <a:p>
            <a:pPr>
              <a:buFont typeface="+mj-lt"/>
              <a:buAutoNum type="arabicPeriod" startAt="13"/>
            </a:pPr>
            <a:r>
              <a:rPr lang="en-US" altLang="ko-KR" sz="1800" dirty="0"/>
              <a:t>[</a:t>
            </a:r>
            <a:r>
              <a:rPr lang="ko-KR" altLang="en-US" sz="1800" dirty="0"/>
              <a:t>도전 과제</a:t>
            </a:r>
            <a:r>
              <a:rPr lang="en-US" altLang="ko-KR" sz="1800" dirty="0"/>
              <a:t>1] </a:t>
            </a:r>
            <a:r>
              <a:rPr lang="ko-KR" altLang="en-US" sz="1800" dirty="0"/>
              <a:t>카운터 </a:t>
            </a:r>
            <a:r>
              <a:rPr lang="en-US" altLang="ko-KR" sz="1800" dirty="0"/>
              <a:t>(Counter)</a:t>
            </a:r>
          </a:p>
          <a:p>
            <a:pPr>
              <a:buFont typeface="+mj-lt"/>
              <a:buAutoNum type="arabicPeriod" startAt="13"/>
            </a:pPr>
            <a:r>
              <a:rPr lang="en-US" altLang="ko-KR" sz="1800" dirty="0"/>
              <a:t>[</a:t>
            </a:r>
            <a:r>
              <a:rPr lang="ko-KR" altLang="en-US" sz="1800" dirty="0"/>
              <a:t>도전 과제</a:t>
            </a:r>
            <a:r>
              <a:rPr lang="en-US" altLang="ko-KR" sz="1800" dirty="0"/>
              <a:t>2] </a:t>
            </a:r>
            <a:r>
              <a:rPr lang="ko-KR" altLang="en-US" sz="1800" dirty="0"/>
              <a:t>주사위 게임 </a:t>
            </a:r>
            <a:r>
              <a:rPr lang="en-US" altLang="ko-KR" sz="1800" dirty="0"/>
              <a:t>(</a:t>
            </a:r>
            <a:r>
              <a:rPr lang="en-US" altLang="ko-KR" sz="1800" dirty="0" err="1"/>
              <a:t>DiceRoller</a:t>
            </a:r>
            <a:r>
              <a:rPr lang="en-US" altLang="ko-KR" sz="1800" dirty="0"/>
              <a:t>)</a:t>
            </a:r>
          </a:p>
          <a:p>
            <a:pPr>
              <a:buFont typeface="+mj-lt"/>
              <a:buAutoNum type="arabicPeriod" startAt="13"/>
            </a:pPr>
            <a:r>
              <a:rPr lang="en-US" altLang="ko-KR" sz="1800" dirty="0"/>
              <a:t>[</a:t>
            </a:r>
            <a:r>
              <a:rPr lang="ko-KR" altLang="en-US" sz="1800" dirty="0"/>
              <a:t>연습문제</a:t>
            </a:r>
            <a:r>
              <a:rPr lang="en-US" altLang="ko-KR" sz="1800" dirty="0"/>
              <a:t>10] </a:t>
            </a:r>
            <a:r>
              <a:rPr lang="ko-KR" altLang="en-US" sz="1800" dirty="0"/>
              <a:t>난수 알아 맞추기 </a:t>
            </a:r>
            <a:r>
              <a:rPr lang="en-US" altLang="ko-KR" sz="1800" dirty="0"/>
              <a:t>(</a:t>
            </a:r>
            <a:r>
              <a:rPr lang="en-US" altLang="ko-KR" sz="1800" dirty="0" err="1"/>
              <a:t>HighLow</a:t>
            </a:r>
            <a:r>
              <a:rPr lang="en-US" altLang="ko-KR" sz="1800" dirty="0"/>
              <a:t>)</a:t>
            </a:r>
            <a:endParaRPr lang="ko-KR" altLang="en-US" sz="18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58A1585-A383-4352-B2A9-F58160DF4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</a:t>
            </a:r>
            <a:r>
              <a:rPr lang="en-US" altLang="ko-KR" dirty="0"/>
              <a:t> </a:t>
            </a:r>
            <a:r>
              <a:rPr lang="ko-KR" altLang="en-US" dirty="0"/>
              <a:t>프로젝트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A032727-84B8-4498-9C19-5DA0738B1B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장</a:t>
            </a:r>
            <a:r>
              <a:rPr lang="en-US" altLang="ko-KR" dirty="0"/>
              <a:t>. </a:t>
            </a:r>
            <a:r>
              <a:rPr lang="ko-KR" altLang="en-US" dirty="0"/>
              <a:t>기본 위젯</a:t>
            </a:r>
            <a:r>
              <a:rPr lang="en-US" altLang="ko-KR" dirty="0"/>
              <a:t>, </a:t>
            </a:r>
            <a:r>
              <a:rPr lang="ko-KR" altLang="en-US" dirty="0"/>
              <a:t>이벤트</a:t>
            </a:r>
            <a:r>
              <a:rPr lang="en-US" altLang="ko-KR" dirty="0"/>
              <a:t> </a:t>
            </a:r>
            <a:r>
              <a:rPr lang="ko-KR" altLang="en-US" dirty="0"/>
              <a:t>처리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757E98D-1A3C-45EF-9813-F4889B97D0E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ko-KR" sz="1800" dirty="0"/>
              <a:t>UserInterface1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1800" strike="dblStrike" dirty="0"/>
              <a:t>UserInterface2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1800" strike="dblStrike" dirty="0"/>
              <a:t>UserInterface3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1800" dirty="0"/>
              <a:t>LinearLayoutTest01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1800" dirty="0" err="1"/>
              <a:t>MarginTest</a:t>
            </a:r>
            <a:endParaRPr lang="en-US" altLang="ko-KR" sz="1800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sz="1800" dirty="0" err="1"/>
              <a:t>ColorTest</a:t>
            </a:r>
            <a:endParaRPr lang="en-US" altLang="ko-KR" sz="1800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sz="1800" dirty="0" err="1"/>
              <a:t>VisibleTest</a:t>
            </a:r>
            <a:endParaRPr lang="en-US" altLang="ko-KR" sz="1800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sz="1800" dirty="0"/>
              <a:t>Rotation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1800" dirty="0" err="1"/>
              <a:t>TextViewTest</a:t>
            </a:r>
            <a:endParaRPr lang="en-US" altLang="ko-KR" sz="1800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sz="1800" dirty="0"/>
              <a:t>ButtonEvent6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1800" dirty="0" err="1"/>
              <a:t>RandomNumber</a:t>
            </a:r>
            <a:endParaRPr lang="en-US" altLang="ko-KR" sz="1800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sz="1800" dirty="0" err="1"/>
              <a:t>EditTextTest</a:t>
            </a:r>
            <a:endParaRPr lang="en-US" altLang="ko-KR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00E268-F95A-43C2-A50E-FCD18EA883C4}"/>
              </a:ext>
            </a:extLst>
          </p:cNvPr>
          <p:cNvSpPr txBox="1"/>
          <p:nvPr/>
        </p:nvSpPr>
        <p:spPr>
          <a:xfrm>
            <a:off x="107504" y="716503"/>
            <a:ext cx="89289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ko-KR" altLang="en-US" dirty="0">
                <a:solidFill>
                  <a:srgbClr val="0033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아래 프로젝트의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실행화면</a:t>
            </a:r>
            <a:r>
              <a:rPr lang="ko-KR" altLang="en-US" dirty="0">
                <a:solidFill>
                  <a:srgbClr val="0033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스크린샷</a:t>
            </a:r>
            <a:r>
              <a:rPr lang="en-US" altLang="ko-KR" dirty="0">
                <a:solidFill>
                  <a:srgbClr val="0033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activity_main.xml</a:t>
            </a:r>
            <a:r>
              <a:rPr lang="en-US" altLang="ko-KR" dirty="0">
                <a:solidFill>
                  <a:srgbClr val="0033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MainActivity.java </a:t>
            </a:r>
            <a:r>
              <a:rPr lang="ko-KR" altLang="en-US" dirty="0">
                <a:solidFill>
                  <a:srgbClr val="0033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 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관련 추가 파일</a:t>
            </a:r>
            <a:r>
              <a:rPr lang="ko-KR" altLang="en-US" dirty="0">
                <a:solidFill>
                  <a:srgbClr val="0033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정리한 후 압축해서 제출합니다</a:t>
            </a:r>
            <a:r>
              <a:rPr lang="en-US" altLang="ko-KR" dirty="0">
                <a:solidFill>
                  <a:srgbClr val="0033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dirty="0">
              <a:solidFill>
                <a:srgbClr val="0033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154856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장</a:t>
            </a:r>
            <a:r>
              <a:rPr lang="en-US" altLang="ko-KR" dirty="0"/>
              <a:t>. </a:t>
            </a:r>
            <a:r>
              <a:rPr lang="ko-KR" altLang="en-US" dirty="0"/>
              <a:t>기본 위젯</a:t>
            </a:r>
            <a:r>
              <a:rPr lang="en-US" altLang="ko-KR" dirty="0"/>
              <a:t>, </a:t>
            </a:r>
            <a:r>
              <a:rPr lang="ko-KR" altLang="en-US" dirty="0"/>
              <a:t>이벤트</a:t>
            </a:r>
            <a:r>
              <a:rPr lang="en-US" altLang="ko-KR" dirty="0"/>
              <a:t> </a:t>
            </a:r>
            <a:r>
              <a:rPr lang="ko-KR" altLang="en-US" dirty="0"/>
              <a:t>처리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CD6A576-0442-4D8D-8975-2FBE5739E96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5496" y="780290"/>
          <a:ext cx="4464495" cy="53850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8165">
                  <a:extLst>
                    <a:ext uri="{9D8B030D-6E8A-4147-A177-3AD203B41FA5}">
                      <a16:colId xmlns:a16="http://schemas.microsoft.com/office/drawing/2014/main" val="1841443414"/>
                    </a:ext>
                  </a:extLst>
                </a:gridCol>
                <a:gridCol w="1488165">
                  <a:extLst>
                    <a:ext uri="{9D8B030D-6E8A-4147-A177-3AD203B41FA5}">
                      <a16:colId xmlns:a16="http://schemas.microsoft.com/office/drawing/2014/main" val="3683570795"/>
                    </a:ext>
                  </a:extLst>
                </a:gridCol>
                <a:gridCol w="1488165">
                  <a:extLst>
                    <a:ext uri="{9D8B030D-6E8A-4147-A177-3AD203B41FA5}">
                      <a16:colId xmlns:a16="http://schemas.microsoft.com/office/drawing/2014/main" val="1038990043"/>
                    </a:ext>
                  </a:extLst>
                </a:gridCol>
              </a:tblGrid>
              <a:tr h="3586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단어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발음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뜻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86257"/>
                  </a:ext>
                </a:extLst>
              </a:tr>
              <a:tr h="2171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interface</a:t>
                      </a: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227519"/>
                  </a:ext>
                </a:extLst>
              </a:tr>
              <a:tr h="2171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linear</a:t>
                      </a: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0779098"/>
                  </a:ext>
                </a:extLst>
              </a:tr>
              <a:tr h="2171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orientation</a:t>
                      </a: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0415248"/>
                  </a:ext>
                </a:extLst>
              </a:tr>
              <a:tr h="2171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vertical</a:t>
                      </a: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2128071"/>
                  </a:ext>
                </a:extLst>
              </a:tr>
              <a:tr h="2171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horizontal</a:t>
                      </a: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7198892"/>
                  </a:ext>
                </a:extLst>
              </a:tr>
              <a:tr h="2171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split</a:t>
                      </a: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873868"/>
                  </a:ext>
                </a:extLst>
              </a:tr>
              <a:tr h="2171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edit</a:t>
                      </a: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4064623"/>
                  </a:ext>
                </a:extLst>
              </a:tr>
              <a:tr h="2171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check</a:t>
                      </a: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69422"/>
                  </a:ext>
                </a:extLst>
              </a:tr>
              <a:tr h="2171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radio</a:t>
                      </a: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489660"/>
                  </a:ext>
                </a:extLst>
              </a:tr>
              <a:tr h="2171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toggle</a:t>
                      </a: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961562"/>
                  </a:ext>
                </a:extLst>
              </a:tr>
              <a:tr h="2171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wrap</a:t>
                      </a: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6349342"/>
                  </a:ext>
                </a:extLst>
              </a:tr>
              <a:tr h="2171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match</a:t>
                      </a: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9644530"/>
                  </a:ext>
                </a:extLst>
              </a:tr>
              <a:tr h="2171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pixel</a:t>
                      </a: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98258"/>
                  </a:ext>
                </a:extLst>
              </a:tr>
              <a:tr h="2171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density</a:t>
                      </a: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3869646"/>
                  </a:ext>
                </a:extLst>
              </a:tr>
              <a:tr h="2171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dependent</a:t>
                      </a: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7605838"/>
                  </a:ext>
                </a:extLst>
              </a:tr>
              <a:tr h="21713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independent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3066813"/>
                  </a:ext>
                </a:extLst>
              </a:tr>
              <a:tr h="2171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scale</a:t>
                      </a: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7613474"/>
                  </a:ext>
                </a:extLst>
              </a:tr>
              <a:tr h="2171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point</a:t>
                      </a: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0829654"/>
                  </a:ext>
                </a:extLst>
              </a:tr>
              <a:tr h="2171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visibility</a:t>
                      </a: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52280"/>
                  </a:ext>
                </a:extLst>
              </a:tr>
              <a:tr h="2171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visible</a:t>
                      </a: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91884"/>
                  </a:ext>
                </a:extLst>
              </a:tr>
              <a:tr h="21713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invisible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94945"/>
                  </a:ext>
                </a:extLst>
              </a:tr>
              <a:tr h="2171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margin</a:t>
                      </a: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7116389"/>
                  </a:ext>
                </a:extLst>
              </a:tr>
              <a:tr h="2171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pad</a:t>
                      </a: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177052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16B02AA-9551-409E-A8C7-B0F5220B611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644009" y="780290"/>
          <a:ext cx="4464495" cy="53850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8165">
                  <a:extLst>
                    <a:ext uri="{9D8B030D-6E8A-4147-A177-3AD203B41FA5}">
                      <a16:colId xmlns:a16="http://schemas.microsoft.com/office/drawing/2014/main" val="1841443414"/>
                    </a:ext>
                  </a:extLst>
                </a:gridCol>
                <a:gridCol w="1488165">
                  <a:extLst>
                    <a:ext uri="{9D8B030D-6E8A-4147-A177-3AD203B41FA5}">
                      <a16:colId xmlns:a16="http://schemas.microsoft.com/office/drawing/2014/main" val="3683570795"/>
                    </a:ext>
                  </a:extLst>
                </a:gridCol>
                <a:gridCol w="1488165">
                  <a:extLst>
                    <a:ext uri="{9D8B030D-6E8A-4147-A177-3AD203B41FA5}">
                      <a16:colId xmlns:a16="http://schemas.microsoft.com/office/drawing/2014/main" val="1038990043"/>
                    </a:ext>
                  </a:extLst>
                </a:gridCol>
              </a:tblGrid>
              <a:tr h="3586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단어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발음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뜻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86257"/>
                  </a:ext>
                </a:extLst>
              </a:tr>
              <a:tr h="217138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enable</a:t>
                      </a: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227519"/>
                  </a:ext>
                </a:extLst>
              </a:tr>
              <a:tr h="2171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rotation</a:t>
                      </a: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0779098"/>
                  </a:ext>
                </a:extLst>
              </a:tr>
              <a:tr h="21713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event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0415248"/>
                  </a:ext>
                </a:extLst>
              </a:tr>
              <a:tr h="2171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custom</a:t>
                      </a: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2128071"/>
                  </a:ext>
                </a:extLst>
              </a:tr>
              <a:tr h="2171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implement</a:t>
                      </a: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7198892"/>
                  </a:ext>
                </a:extLst>
              </a:tr>
              <a:tr h="2171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listen</a:t>
                      </a: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873868"/>
                  </a:ext>
                </a:extLst>
              </a:tr>
              <a:tr h="2171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interface</a:t>
                      </a: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4064623"/>
                  </a:ext>
                </a:extLst>
              </a:tr>
              <a:tr h="2171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focus</a:t>
                      </a: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69422"/>
                  </a:ext>
                </a:extLst>
              </a:tr>
              <a:tr h="217138">
                <a:tc>
                  <a:txBody>
                    <a:bodyPr/>
                    <a:lstStyle/>
                    <a:p>
                      <a:pPr algn="l" fontAlgn="ctr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489660"/>
                  </a:ext>
                </a:extLst>
              </a:tr>
              <a:tr h="217138">
                <a:tc>
                  <a:txBody>
                    <a:bodyPr/>
                    <a:lstStyle/>
                    <a:p>
                      <a:pPr algn="l" fontAlgn="ctr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961562"/>
                  </a:ext>
                </a:extLst>
              </a:tr>
              <a:tr h="217138">
                <a:tc>
                  <a:txBody>
                    <a:bodyPr/>
                    <a:lstStyle/>
                    <a:p>
                      <a:pPr algn="l" fontAlgn="ctr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6349342"/>
                  </a:ext>
                </a:extLst>
              </a:tr>
              <a:tr h="217138">
                <a:tc>
                  <a:txBody>
                    <a:bodyPr/>
                    <a:lstStyle/>
                    <a:p>
                      <a:pPr algn="l" fontAlgn="ctr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9644530"/>
                  </a:ext>
                </a:extLst>
              </a:tr>
              <a:tr h="217138">
                <a:tc>
                  <a:txBody>
                    <a:bodyPr/>
                    <a:lstStyle/>
                    <a:p>
                      <a:pPr algn="l" fontAlgn="ctr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98258"/>
                  </a:ext>
                </a:extLst>
              </a:tr>
              <a:tr h="217138">
                <a:tc>
                  <a:txBody>
                    <a:bodyPr/>
                    <a:lstStyle/>
                    <a:p>
                      <a:pPr algn="l" fontAlgn="ctr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3869646"/>
                  </a:ext>
                </a:extLst>
              </a:tr>
              <a:tr h="217138">
                <a:tc>
                  <a:txBody>
                    <a:bodyPr/>
                    <a:lstStyle/>
                    <a:p>
                      <a:pPr algn="l" fontAlgn="ctr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7605838"/>
                  </a:ext>
                </a:extLst>
              </a:tr>
              <a:tr h="217138">
                <a:tc>
                  <a:txBody>
                    <a:bodyPr/>
                    <a:lstStyle/>
                    <a:p>
                      <a:pPr algn="l" fontAlgn="ctr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3066813"/>
                  </a:ext>
                </a:extLst>
              </a:tr>
              <a:tr h="217138">
                <a:tc>
                  <a:txBody>
                    <a:bodyPr/>
                    <a:lstStyle/>
                    <a:p>
                      <a:pPr algn="l" fontAlgn="ctr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7613474"/>
                  </a:ext>
                </a:extLst>
              </a:tr>
              <a:tr h="217138">
                <a:tc>
                  <a:txBody>
                    <a:bodyPr/>
                    <a:lstStyle/>
                    <a:p>
                      <a:pPr algn="l" fontAlgn="ctr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0829654"/>
                  </a:ext>
                </a:extLst>
              </a:tr>
              <a:tr h="217138">
                <a:tc>
                  <a:txBody>
                    <a:bodyPr/>
                    <a:lstStyle/>
                    <a:p>
                      <a:pPr algn="l" fontAlgn="ctr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52280"/>
                  </a:ext>
                </a:extLst>
              </a:tr>
              <a:tr h="217138">
                <a:tc>
                  <a:txBody>
                    <a:bodyPr/>
                    <a:lstStyle/>
                    <a:p>
                      <a:pPr algn="l" fontAlgn="ctr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91884"/>
                  </a:ext>
                </a:extLst>
              </a:tr>
              <a:tr h="217138">
                <a:tc>
                  <a:txBody>
                    <a:bodyPr/>
                    <a:lstStyle/>
                    <a:p>
                      <a:pPr algn="l" fontAlgn="ctr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194945"/>
                  </a:ext>
                </a:extLst>
              </a:tr>
              <a:tr h="217138">
                <a:tc>
                  <a:txBody>
                    <a:bodyPr/>
                    <a:lstStyle/>
                    <a:p>
                      <a:pPr algn="l" fontAlgn="ctr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7116389"/>
                  </a:ext>
                </a:extLst>
              </a:tr>
              <a:tr h="217138">
                <a:tc>
                  <a:txBody>
                    <a:bodyPr/>
                    <a:lstStyle/>
                    <a:p>
                      <a:pPr algn="l" fontAlgn="ctr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78" marR="5178" marT="517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177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021566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dirty="0"/>
              <a:t>Q &amp; A</a:t>
            </a:r>
            <a:endParaRPr lang="ko-KR" altLang="en-US" dirty="0"/>
          </a:p>
        </p:txBody>
      </p:sp>
      <p:sp>
        <p:nvSpPr>
          <p:cNvPr id="1126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sz="2800" dirty="0"/>
              <a:t>No question, no learning !!!</a:t>
            </a:r>
          </a:p>
          <a:p>
            <a:pPr eaLnBrk="1" hangingPunct="1">
              <a:defRPr/>
            </a:pPr>
            <a:r>
              <a:rPr lang="en-US" altLang="ko-KR" sz="2800" dirty="0"/>
              <a:t>No dumb question !!!</a:t>
            </a:r>
          </a:p>
          <a:p>
            <a:pPr eaLnBrk="1" hangingPunct="1">
              <a:defRPr/>
            </a:pPr>
            <a:r>
              <a:rPr lang="en-US" altLang="ko-KR" sz="2800" dirty="0"/>
              <a:t>I</a:t>
            </a:r>
            <a:r>
              <a:rPr lang="en-US" altLang="ko-KR" sz="2800" dirty="0">
                <a:latin typeface="Times New Roman" pitchFamily="18" charset="0"/>
              </a:rPr>
              <a:t>’</a:t>
            </a:r>
            <a:r>
              <a:rPr lang="en-US" altLang="ko-KR" sz="2800" dirty="0"/>
              <a:t>m here to be interrupted.</a:t>
            </a:r>
          </a:p>
          <a:p>
            <a:pPr eaLnBrk="1" hangingPunct="1">
              <a:defRPr/>
            </a:pPr>
            <a:r>
              <a:rPr lang="en-US" altLang="ko-KR" sz="2800" dirty="0"/>
              <a:t>I</a:t>
            </a:r>
            <a:r>
              <a:rPr lang="en-US" altLang="ko-KR" sz="2800" dirty="0">
                <a:latin typeface="Times New Roman" pitchFamily="18" charset="0"/>
              </a:rPr>
              <a:t>’</a:t>
            </a:r>
            <a:r>
              <a:rPr lang="en-US" altLang="ko-KR" sz="2800" dirty="0"/>
              <a:t>m an interrupt-driven professor.</a:t>
            </a:r>
          </a:p>
          <a:p>
            <a:pPr eaLnBrk="1" hangingPunct="1">
              <a:defRPr/>
            </a:pPr>
            <a:r>
              <a:rPr lang="en-US" altLang="ko-KR" sz="2800" dirty="0"/>
              <a:t>I teach less, students learn more.</a:t>
            </a:r>
          </a:p>
        </p:txBody>
      </p:sp>
      <p:pic>
        <p:nvPicPr>
          <p:cNvPr id="31749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3861048"/>
            <a:ext cx="2363142" cy="208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0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6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6.1"/>
</p:tagLst>
</file>

<file path=ppt/theme/theme1.xml><?xml version="1.0" encoding="utf-8"?>
<a:theme xmlns:a="http://schemas.openxmlformats.org/drawingml/2006/main" name="1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HY헤드라인M"/>
        <a:ea typeface="HY헤드라인M"/>
        <a:cs typeface=""/>
      </a:majorFont>
      <a:minorFont>
        <a:latin typeface="HY헤드라인M"/>
        <a:ea typeface="HY헤드라인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4248</TotalTime>
  <Words>1802</Words>
  <Application>Microsoft Office PowerPoint</Application>
  <PresentationFormat>화면 슬라이드 쇼(4:3)</PresentationFormat>
  <Paragraphs>410</Paragraphs>
  <Slides>94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94</vt:i4>
      </vt:variant>
    </vt:vector>
  </HeadingPairs>
  <TitlesOfParts>
    <vt:vector size="101" baseType="lpstr">
      <vt:lpstr>HY헤드라인M</vt:lpstr>
      <vt:lpstr>굴림</vt:lpstr>
      <vt:lpstr>맑은 고딕</vt:lpstr>
      <vt:lpstr>Abadi</vt:lpstr>
      <vt:lpstr>Times New Roman</vt:lpstr>
      <vt:lpstr>Wingdings</vt:lpstr>
      <vt:lpstr>1_기본 디자인</vt:lpstr>
      <vt:lpstr>CHAP 3. 기본 위젯, 이벤트 처리</vt:lpstr>
      <vt:lpstr>학습 목표</vt:lpstr>
      <vt:lpstr>안드로이드 User Interface</vt:lpstr>
      <vt:lpstr>사용자 인터페이스 개요</vt:lpstr>
      <vt:lpstr>UI를 작성하는 절차</vt:lpstr>
      <vt:lpstr>위젯의 유형 - 1</vt:lpstr>
      <vt:lpstr>위젯의 유형 - 2</vt:lpstr>
      <vt:lpstr>위젯 클래스 계층도</vt:lpstr>
      <vt:lpstr>UI를 작성하는 다양한 방법</vt:lpstr>
      <vt:lpstr>[실습1] XML로 UI 작성 </vt:lpstr>
      <vt:lpstr>XML 파일로 사용자 인터페이스를 작성</vt:lpstr>
      <vt:lpstr>Visual Tool 에서 Layout 종류 변경 방법</vt:lpstr>
      <vt:lpstr>LinearLayout 으로 변경된 후의 내용</vt:lpstr>
      <vt:lpstr>XML로 UI 작성</vt:lpstr>
      <vt:lpstr>UI 구성 요소</vt:lpstr>
      <vt:lpstr>자바 코드는 변경하지 않음</vt:lpstr>
      <vt:lpstr>실행 화면 </vt:lpstr>
      <vt:lpstr>[실습2] 코드로 UI를 생성하는 방법</vt:lpstr>
      <vt:lpstr>관련 Class 분석 - 1</vt:lpstr>
      <vt:lpstr>id 속성 </vt:lpstr>
      <vt:lpstr>위젯에 식별자를 부여하는 이유</vt:lpstr>
      <vt:lpstr>[실습3] XML과 코드를 동시에 사용하는 방법 - 1</vt:lpstr>
      <vt:lpstr>[실습3] XML과 코드를 동시에 사용하는 방법 - 2</vt:lpstr>
      <vt:lpstr>View Class</vt:lpstr>
      <vt:lpstr>위젯의 위치와 크기</vt:lpstr>
      <vt:lpstr>[실습4] 위젯의 크기 설정</vt:lpstr>
      <vt:lpstr>실행 화면 : 버튼의 layout_width와 layout_height 변경해서 실행</vt:lpstr>
      <vt:lpstr>Margin과 Padding</vt:lpstr>
      <vt:lpstr>[실습5] Margin과 Padding 예제</vt:lpstr>
      <vt:lpstr>색상 지정 방법 </vt:lpstr>
      <vt:lpstr>[실습6] 배경색 지정 예제</vt:lpstr>
      <vt:lpstr>화면에 보이기 속성</vt:lpstr>
      <vt:lpstr>[실습7] Visibility 속성 예제 - 1</vt:lpstr>
      <vt:lpstr>[실습7] Visibility 속성 예제 - 2</vt:lpstr>
      <vt:lpstr>[실습8] enabled/rotation 속성 예제</vt:lpstr>
      <vt:lpstr>텍스트 뷰(TextView)의 속성</vt:lpstr>
      <vt:lpstr>[실습9] TextView 사용 예제</vt:lpstr>
      <vt:lpstr>버튼(Button)</vt:lpstr>
      <vt:lpstr>[실습10] 버튼의 색상</vt:lpstr>
      <vt:lpstr>이벤트를 처리하는 3가지 방법</vt:lpstr>
      <vt:lpstr>①XML 파일을 이용한 이벤트 처리</vt:lpstr>
      <vt:lpstr>버튼 이벤트를 처리하는 메서드의 형식</vt:lpstr>
      <vt:lpstr>[실습11] 난수 표시 앱</vt:lpstr>
      <vt:lpstr>[실습11] 화면 Layout</vt:lpstr>
      <vt:lpstr>[실습11] 코딩</vt:lpstr>
      <vt:lpstr>관련 Class 분석 - 2</vt:lpstr>
      <vt:lpstr>에디트 텍스트 (EditText)</vt:lpstr>
      <vt:lpstr>[실습12] 에디트 텍스트 사용하기 - 1</vt:lpstr>
      <vt:lpstr>[실습12] 화면 Layout</vt:lpstr>
      <vt:lpstr>[실습12] 코딩</vt:lpstr>
      <vt:lpstr>[실습12] 실행 화면</vt:lpstr>
      <vt:lpstr>입력 형태 다르게 하기 - 1</vt:lpstr>
      <vt:lpstr>입력 형태 다르게 하기 - 2</vt:lpstr>
      <vt:lpstr>inputType의 속성 값의 종류</vt:lpstr>
      <vt:lpstr>[실습13] 에디트 텍스트 사용하기 - 2</vt:lpstr>
      <vt:lpstr>[실습13] 화면 Layout - 1</vt:lpstr>
      <vt:lpstr>[실습13] 화면 Layout - 2</vt:lpstr>
      <vt:lpstr>[실습13] 화면 Layout - 3</vt:lpstr>
      <vt:lpstr>[실습13] 코딩 - 1</vt:lpstr>
      <vt:lpstr>[실습13] 코딩 - 2</vt:lpstr>
      <vt:lpstr>[실습14] 계산기 앱</vt:lpstr>
      <vt:lpstr>[실습14] 화면 Layout - 1</vt:lpstr>
      <vt:lpstr>[실습14] 화면 Layout - 2</vt:lpstr>
      <vt:lpstr>[실습14] 화면 Layout - 3</vt:lpstr>
      <vt:lpstr>[실습14] 화면 Layout - 4</vt:lpstr>
      <vt:lpstr>[실습14] 코딩</vt:lpstr>
      <vt:lpstr>이미지 뷰(ImageView)</vt:lpstr>
      <vt:lpstr>[실습15] 이미지 뷰 사용 예</vt:lpstr>
      <vt:lpstr>[실습15] 그림 파일 복사</vt:lpstr>
      <vt:lpstr>이미지 복사할 때 주의할 점</vt:lpstr>
      <vt:lpstr>[실습15] 화면 Layout</vt:lpstr>
      <vt:lpstr>[실습16] 이미지 축소 및 확대 예</vt:lpstr>
      <vt:lpstr>이미지뷰의 속성</vt:lpstr>
      <vt:lpstr>[실습17] 이미지 속성 변경</vt:lpstr>
      <vt:lpstr>[실습17] 화면 Layout</vt:lpstr>
      <vt:lpstr>[실습17] 코딩 - 1</vt:lpstr>
      <vt:lpstr>[실습17] 코딩 – 2</vt:lpstr>
      <vt:lpstr>[실습17] 코딩 - 3</vt:lpstr>
      <vt:lpstr>[실습18] 제공되는 이미지 이용</vt:lpstr>
      <vt:lpstr>src와 srcCompat 속성</vt:lpstr>
      <vt:lpstr>코드로 위젯의 속성 변경하기</vt:lpstr>
      <vt:lpstr>코드로 이미지를 동적으로 변경하는 방법</vt:lpstr>
      <vt:lpstr>[실습19] 코드로 이미지 변경</vt:lpstr>
      <vt:lpstr>[실습19] 화면 Layout</vt:lpstr>
      <vt:lpstr>[실습19] 코딩</vt:lpstr>
      <vt:lpstr>[실습20] 코드로 텍스트 뷰 속성 변경</vt:lpstr>
      <vt:lpstr>[실습20] 화면 Layout</vt:lpstr>
      <vt:lpstr>[실습20] 코딩</vt:lpstr>
      <vt:lpstr>[도전과제1] 카운터</vt:lpstr>
      <vt:lpstr>[도전과제2] 주사위 게임</vt:lpstr>
      <vt:lpstr>[연습문제10] 난수 알아 맞추기</vt:lpstr>
      <vt:lpstr>과제 프로젝트</vt:lpstr>
      <vt:lpstr>3장. 기본 위젯, 이벤트 처리</vt:lpstr>
      <vt:lpstr>Q &amp; A</vt:lpstr>
    </vt:vector>
  </TitlesOfParts>
  <Manager>현승렬</Manager>
  <Company>두원공과대학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 Studio 2005 설치</dc:title>
  <dc:creator>현승렬</dc:creator>
  <cp:lastModifiedBy>현승렬</cp:lastModifiedBy>
  <cp:revision>376</cp:revision>
  <dcterms:created xsi:type="dcterms:W3CDTF">1601-01-01T00:00:00Z</dcterms:created>
  <dcterms:modified xsi:type="dcterms:W3CDTF">2025-09-18T02:55:12Z</dcterms:modified>
</cp:coreProperties>
</file>