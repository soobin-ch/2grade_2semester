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1151" r:id="rId2"/>
    <p:sldId id="648" r:id="rId3"/>
    <p:sldId id="1147" r:id="rId4"/>
    <p:sldId id="1148" r:id="rId5"/>
    <p:sldId id="1149" r:id="rId6"/>
    <p:sldId id="1150" r:id="rId7"/>
    <p:sldId id="713" r:id="rId8"/>
    <p:sldId id="705" r:id="rId9"/>
    <p:sldId id="696" r:id="rId10"/>
    <p:sldId id="698" r:id="rId11"/>
    <p:sldId id="722" r:id="rId12"/>
    <p:sldId id="699" r:id="rId13"/>
    <p:sldId id="715" r:id="rId14"/>
    <p:sldId id="716" r:id="rId15"/>
    <p:sldId id="717" r:id="rId16"/>
    <p:sldId id="718" r:id="rId17"/>
    <p:sldId id="709" r:id="rId18"/>
    <p:sldId id="703" r:id="rId19"/>
  </p:sldIdLst>
  <p:sldSz cx="9144000" cy="6858000" type="screen4x3"/>
  <p:notesSz cx="6797675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형래" initials="김" lastIdx="1" clrIdx="0">
    <p:extLst>
      <p:ext uri="{19B8F6BF-5375-455C-9EA6-DF929625EA0E}">
        <p15:presenceInfo xmlns:p15="http://schemas.microsoft.com/office/powerpoint/2012/main" userId="S::broadway4u@office.doowon.ac.kr::d8a570ee-eeba-4a26-8af4-093085b741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66CC"/>
    <a:srgbClr val="CC6600"/>
    <a:srgbClr val="6600CC"/>
    <a:srgbClr val="CC3300"/>
    <a:srgbClr val="CC0000"/>
    <a:srgbClr val="FFFF00"/>
    <a:srgbClr val="FFCC66"/>
    <a:srgbClr val="FFCCCC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55" autoAdjust="0"/>
    <p:restoredTop sz="94148" autoAdjust="0"/>
  </p:normalViewPr>
  <p:slideViewPr>
    <p:cSldViewPr>
      <p:cViewPr varScale="1">
        <p:scale>
          <a:sx n="92" d="100"/>
          <a:sy n="92" d="100"/>
        </p:scale>
        <p:origin x="129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099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099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099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141" y="4715629"/>
            <a:ext cx="4985393" cy="4467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099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540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900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0066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!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CD6F71-2C61-EF2C-4175-145E8E98AD35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335465" y="6619820"/>
            <a:ext cx="1278922" cy="1832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1800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chemeClr val="accent2">
              <a:lumMod val="75000"/>
            </a:schemeClr>
          </a:solidFill>
          <a:latin typeface="맑은 고딕" pitchFamily="50" charset="-127"/>
          <a:ea typeface="맑은 고딕" pitchFamily="50" charset="-127"/>
        </a:defRPr>
      </a:lvl2pPr>
      <a:lvl3pPr marL="900000" indent="-1800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20EDA53-5F94-89F1-F788-5E76ABC0DE2D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B8CA4AA-B26A-3019-D107-48F220827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144000" cy="389810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83FC5C8-D3AC-3D6E-E162-7BACC8925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89809"/>
              <a:ext cx="9144000" cy="6078382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AAFAE4D-779E-4823-DD2C-1C8D74E02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6456426"/>
              <a:ext cx="9144000" cy="401574"/>
            </a:xfrm>
            <a:prstGeom prst="rect">
              <a:avLst/>
            </a:prstGeom>
          </p:spPr>
        </p:pic>
      </p:grp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584" y="5476705"/>
            <a:ext cx="7514232" cy="503460"/>
          </a:xfrm>
          <a:solidFill>
            <a:srgbClr val="FFFFFF">
              <a:alpha val="50196"/>
            </a:srgbClr>
          </a:solidFill>
        </p:spPr>
        <p:txBody>
          <a:bodyPr>
            <a:scene3d>
              <a:camera prst="orthographicFront"/>
              <a:lightRig rig="threePt" dir="t"/>
            </a:scene3d>
            <a:sp3d extrusionH="6350" contourW="12700"/>
          </a:bodyPr>
          <a:lstStyle/>
          <a:p>
            <a:pPr eaLnBrk="1" hangingPunct="1">
              <a:defRPr/>
            </a:pPr>
            <a:r>
              <a:rPr lang="ko-KR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컴퓨터공학과 </a:t>
            </a:r>
            <a:r>
              <a: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796369" y="1311771"/>
            <a:ext cx="7514232" cy="1616075"/>
          </a:xfrm>
          <a:solidFill>
            <a:srgbClr val="FFFFFF">
              <a:alpha val="50196"/>
            </a:srgbClr>
          </a:solidFill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algn="ctr">
              <a:defRPr/>
            </a:pPr>
            <a:r>
              <a:rPr lang="en-US" altLang="ko-KR" sz="4000" dirty="0">
                <a:solidFill>
                  <a:srgbClr val="FFFF00"/>
                </a:solidFill>
              </a:rPr>
              <a:t>IoT </a:t>
            </a:r>
            <a:r>
              <a:rPr lang="ko-KR" altLang="en-US" sz="4000" dirty="0">
                <a:solidFill>
                  <a:srgbClr val="FFFF00"/>
                </a:solidFill>
              </a:rPr>
              <a:t>네트워크 및 응용</a:t>
            </a:r>
            <a:br>
              <a:rPr lang="en-US" altLang="ko-KR" sz="4000" dirty="0">
                <a:solidFill>
                  <a:srgbClr val="FFFF00"/>
                </a:solidFill>
              </a:rPr>
            </a:br>
            <a:r>
              <a:rPr lang="en-US" altLang="ko-KR" sz="3600" dirty="0">
                <a:solidFill>
                  <a:srgbClr val="FFFF00"/>
                </a:solidFill>
              </a:rPr>
              <a:t>(</a:t>
            </a:r>
            <a:r>
              <a:rPr lang="ko-KR" altLang="en-US" sz="3600" dirty="0" err="1">
                <a:solidFill>
                  <a:srgbClr val="FFFF00"/>
                </a:solidFill>
              </a:rPr>
              <a:t>라즈베리파이</a:t>
            </a:r>
            <a:r>
              <a:rPr lang="ko-KR" altLang="en-US" sz="3600" dirty="0">
                <a:solidFill>
                  <a:srgbClr val="FFFF00"/>
                </a:solidFill>
              </a:rPr>
              <a:t> 활용</a:t>
            </a:r>
            <a:r>
              <a:rPr lang="en-US" altLang="ko-KR" sz="3600" dirty="0">
                <a:solidFill>
                  <a:srgbClr val="FFFF00"/>
                </a:solidFill>
              </a:rPr>
              <a:t>)</a:t>
            </a:r>
            <a:endParaRPr lang="ko-KR" altLang="en-US" sz="4000" dirty="0">
              <a:solidFill>
                <a:srgbClr val="FFFF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620319"/>
            <a:ext cx="2085827" cy="369332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2025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학년도 </a:t>
            </a:r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학기</a:t>
            </a:r>
          </a:p>
        </p:txBody>
      </p:sp>
    </p:spTree>
    <p:extLst>
      <p:ext uri="{BB962C8B-B14F-4D97-AF65-F5344CB8AC3E}">
        <p14:creationId xmlns:p14="http://schemas.microsoft.com/office/powerpoint/2010/main" val="2607079194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053847-62A1-4E89-8DAA-4521CF1C0422}" type="slidenum">
              <a:rPr lang="en-US" altLang="ko-KR" smtClean="0"/>
              <a:pPr/>
              <a:t>2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1CFBD8-781C-B3D5-71BB-31A4CAAF7AF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C6A6986-5C1E-B63C-8FF5-1E23FF5E7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518" y="188640"/>
            <a:ext cx="4888964" cy="64807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B68B80-C060-41A4-287F-4189E56FEECB}"/>
              </a:ext>
            </a:extLst>
          </p:cNvPr>
          <p:cNvSpPr txBox="1"/>
          <p:nvPr/>
        </p:nvSpPr>
        <p:spPr>
          <a:xfrm>
            <a:off x="1595867" y="3068960"/>
            <a:ext cx="5952270" cy="147784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dirty="0">
                <a:solidFill>
                  <a:srgbClr val="660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인생의 무지개를 보기 위해서는</a:t>
            </a:r>
            <a:endParaRPr lang="en-US" altLang="ko-KR" sz="3200" b="1" dirty="0">
              <a:solidFill>
                <a:srgbClr val="6600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우선 </a:t>
            </a:r>
            <a:r>
              <a:rPr lang="ko-KR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비를 견뎌야 한다</a:t>
            </a:r>
            <a:r>
              <a:rPr lang="en-US" altLang="ko-K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.</a:t>
            </a:r>
            <a:endParaRPr lang="ko-KR" altLang="en-US" sz="3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37AAA-9225-BF7A-E059-12051550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 더하기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D299EF-1918-3AF4-E997-ADA91BD42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89726EAC-9563-E113-C8EF-5A4608B19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052736"/>
            <a:ext cx="8997950" cy="43180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9050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pPr algn="just"/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처칠의 </a:t>
            </a:r>
            <a:r>
              <a:rPr lang="ko-KR" altLang="en-US" sz="2400" dirty="0" err="1">
                <a:solidFill>
                  <a:srgbClr val="339966"/>
                </a:solidFill>
                <a:latin typeface="+mn-ea"/>
                <a:ea typeface="+mn-ea"/>
              </a:rPr>
              <a:t>옥스포드대</a:t>
            </a:r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 졸업식 축사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C88A8E1-671F-10F7-DF36-A829A93D7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484536"/>
            <a:ext cx="8997950" cy="4891087"/>
          </a:xfrm>
          <a:prstGeom prst="rect">
            <a:avLst/>
          </a:prstGeom>
          <a:solidFill>
            <a:schemeClr val="bg1"/>
          </a:solidFill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ko-KR" altLang="en-US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절대 포기하기 말라</a:t>
            </a:r>
            <a:r>
              <a:rPr lang="en-US" altLang="ko-KR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!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ko-KR" altLang="en-US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절대</a:t>
            </a:r>
            <a:r>
              <a:rPr lang="en-US" altLang="ko-KR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lang="ko-KR" altLang="en-US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절대</a:t>
            </a:r>
            <a:r>
              <a:rPr lang="en-US" altLang="ko-KR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lang="ko-KR" altLang="en-US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절대</a:t>
            </a:r>
            <a:r>
              <a:rPr lang="en-US" altLang="ko-KR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lang="ko-KR" altLang="en-US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절대</a:t>
            </a:r>
            <a:r>
              <a:rPr lang="en-US" altLang="ko-KR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lang="ko-KR" altLang="en-US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절대 포기하지 말라</a:t>
            </a:r>
            <a:r>
              <a:rPr lang="en-US" altLang="ko-KR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ko-KR" altLang="en-US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절대 포기하지 말라</a:t>
            </a:r>
            <a:r>
              <a:rPr lang="en-US" altLang="ko-KR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 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en-US" altLang="ko-KR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― </a:t>
            </a:r>
            <a:r>
              <a:rPr lang="ko-KR" altLang="en-US" sz="2000" b="1" i="0" dirty="0" err="1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윈스턴</a:t>
            </a:r>
            <a:r>
              <a:rPr lang="ko-KR" altLang="en-US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 처칠</a:t>
            </a:r>
            <a:r>
              <a:rPr lang="en-US" altLang="ko-KR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(Winston L. Churchill)</a:t>
            </a:r>
          </a:p>
          <a:p>
            <a:pPr algn="l">
              <a:lnSpc>
                <a:spcPct val="150000"/>
              </a:lnSpc>
            </a:pPr>
            <a:endParaRPr lang="en-US" altLang="ko-KR" sz="2400" b="0" i="1" dirty="0">
              <a:solidFill>
                <a:srgbClr val="31708F"/>
              </a:solidFill>
              <a:effectLst/>
              <a:latin typeface="Whitney"/>
            </a:endParaRPr>
          </a:p>
          <a:p>
            <a:pPr algn="l">
              <a:lnSpc>
                <a:spcPct val="150000"/>
              </a:lnSpc>
            </a:pPr>
            <a:r>
              <a:rPr lang="en-US" altLang="ko-KR" sz="2400" b="0" i="1" dirty="0">
                <a:solidFill>
                  <a:srgbClr val="31708F"/>
                </a:solidFill>
                <a:effectLst/>
                <a:latin typeface="Whitney"/>
              </a:rPr>
              <a:t>Never</a:t>
            </a:r>
            <a:r>
              <a:rPr lang="ko-KR" altLang="en-US" sz="2400" b="0" i="1" dirty="0">
                <a:solidFill>
                  <a:srgbClr val="31708F"/>
                </a:solidFill>
                <a:effectLst/>
                <a:latin typeface="Whitney"/>
              </a:rPr>
              <a:t> </a:t>
            </a:r>
            <a:r>
              <a:rPr lang="en-US" altLang="ko-KR" sz="2400" b="0" i="1" dirty="0">
                <a:solidFill>
                  <a:srgbClr val="31708F"/>
                </a:solidFill>
                <a:effectLst/>
                <a:latin typeface="Whitney"/>
              </a:rPr>
              <a:t>give up!</a:t>
            </a:r>
          </a:p>
          <a:p>
            <a:pPr algn="l">
              <a:lnSpc>
                <a:spcPct val="150000"/>
              </a:lnSpc>
            </a:pPr>
            <a:r>
              <a:rPr lang="en-US" altLang="ko-KR" sz="2400" b="0" i="1" dirty="0">
                <a:solidFill>
                  <a:srgbClr val="31708F"/>
                </a:solidFill>
                <a:effectLst/>
                <a:latin typeface="Whitney"/>
              </a:rPr>
              <a:t>Never, never, never, never, never give up!</a:t>
            </a:r>
          </a:p>
          <a:p>
            <a:pPr algn="l">
              <a:lnSpc>
                <a:spcPct val="150000"/>
              </a:lnSpc>
            </a:pPr>
            <a:r>
              <a:rPr lang="en-US" altLang="ko-KR" sz="2400" i="1" dirty="0">
                <a:solidFill>
                  <a:srgbClr val="31708F"/>
                </a:solidFill>
                <a:latin typeface="Whitney"/>
              </a:rPr>
              <a:t>Never give up!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Picture 10" descr="mouse">
            <a:extLst>
              <a:ext uri="{FF2B5EF4-FFF2-40B4-BE49-F238E27FC236}">
                <a16:creationId xmlns:a16="http://schemas.microsoft.com/office/drawing/2014/main" id="{1CBFBD61-7228-2393-82AD-793AFFAC1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813" y="11255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22A4484-95A7-4AAA-1D78-A4ABAB755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696" y="1538735"/>
            <a:ext cx="2341917" cy="34744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6C5CDA-92A7-8A11-8FB3-53B567FF2BB0}"/>
              </a:ext>
            </a:extLst>
          </p:cNvPr>
          <p:cNvSpPr txBox="1"/>
          <p:nvPr/>
        </p:nvSpPr>
        <p:spPr>
          <a:xfrm>
            <a:off x="6455916" y="5162618"/>
            <a:ext cx="2580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&lt;Winston L. Churchill,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1874~1965&gt;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영국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61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63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 총리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세계대전의 승전을 </a:t>
            </a:r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이끔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세계대전 회고록으로 노벨문학상 수상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6428073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C6212-2AEA-648C-F4F1-18AE1B814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구인정보</a:t>
            </a:r>
            <a:r>
              <a:rPr lang="en-US" altLang="ko-KR" dirty="0"/>
              <a:t>(www.jobkorea.co.kr)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430BBC-1D34-BB6F-56BA-D055290F93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343DC04-BA03-8D38-42DE-233DDD2C6018}"/>
              </a:ext>
            </a:extLst>
          </p:cNvPr>
          <p:cNvGrpSpPr/>
          <p:nvPr/>
        </p:nvGrpSpPr>
        <p:grpSpPr>
          <a:xfrm>
            <a:off x="3208330" y="1068058"/>
            <a:ext cx="4676037" cy="5097246"/>
            <a:chOff x="3208331" y="1068058"/>
            <a:chExt cx="4380952" cy="468567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91FC353-608C-31D4-9EC6-FF2F7215B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08331" y="1068058"/>
              <a:ext cx="4380952" cy="1904762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C9BFFEE-FC93-4FF3-BA62-D93B8A1EA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77287" y="2948096"/>
              <a:ext cx="4047619" cy="1771429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CD8D5A6-F593-E8C4-023D-362746E8E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82048" y="4744207"/>
              <a:ext cx="4038095" cy="1009524"/>
            </a:xfrm>
            <a:prstGeom prst="rect">
              <a:avLst/>
            </a:prstGeom>
          </p:spPr>
        </p:pic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66231B-661C-99D7-3A03-7C3AFBD9C01C}"/>
              </a:ext>
            </a:extLst>
          </p:cNvPr>
          <p:cNvSpPr/>
          <p:nvPr/>
        </p:nvSpPr>
        <p:spPr>
          <a:xfrm>
            <a:off x="3301575" y="2159178"/>
            <a:ext cx="1368152" cy="2627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A58B289-3BC9-05B4-E1D5-A7C7194A9803}"/>
              </a:ext>
            </a:extLst>
          </p:cNvPr>
          <p:cNvSpPr/>
          <p:nvPr/>
        </p:nvSpPr>
        <p:spPr>
          <a:xfrm>
            <a:off x="4852979" y="3120300"/>
            <a:ext cx="1368152" cy="2627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4E85FD0-7016-D8CC-B434-D640797A0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793" y="1070271"/>
            <a:ext cx="2930869" cy="64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14114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C6212-2AEA-648C-F4F1-18AE1B814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구인정보</a:t>
            </a:r>
            <a:r>
              <a:rPr lang="en-US" altLang="ko-KR" dirty="0"/>
              <a:t>(www.jobkorea.co.kr)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430BBC-1D34-BB6F-56BA-D055290F93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15621D8-D742-DD01-0EC8-3D48C31AB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76" y="1191100"/>
            <a:ext cx="2266976" cy="40086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12752A7-6FFF-4483-DDA1-68CC34C1B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374" y="1157798"/>
            <a:ext cx="5323002" cy="1308518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91BAC47E-0126-E276-C9B5-B8163036DBEC}"/>
              </a:ext>
            </a:extLst>
          </p:cNvPr>
          <p:cNvSpPr/>
          <p:nvPr/>
        </p:nvSpPr>
        <p:spPr>
          <a:xfrm>
            <a:off x="4798298" y="1298373"/>
            <a:ext cx="1661269" cy="2627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61452C3-3FD4-B5DB-C5A1-A02FB91482BC}"/>
              </a:ext>
            </a:extLst>
          </p:cNvPr>
          <p:cNvSpPr/>
          <p:nvPr/>
        </p:nvSpPr>
        <p:spPr>
          <a:xfrm>
            <a:off x="6804248" y="1298373"/>
            <a:ext cx="1661268" cy="2627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E2936F3-447F-A095-E166-994928CD6E9E}"/>
              </a:ext>
            </a:extLst>
          </p:cNvPr>
          <p:cNvSpPr/>
          <p:nvPr/>
        </p:nvSpPr>
        <p:spPr>
          <a:xfrm>
            <a:off x="2709677" y="1701219"/>
            <a:ext cx="1661268" cy="2627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D43B9E7-53FD-BD03-ABA5-904543EDE97F}"/>
              </a:ext>
            </a:extLst>
          </p:cNvPr>
          <p:cNvSpPr/>
          <p:nvPr/>
        </p:nvSpPr>
        <p:spPr>
          <a:xfrm>
            <a:off x="4798298" y="2122492"/>
            <a:ext cx="1661268" cy="2627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69859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C6212-2AEA-648C-F4F1-18AE1B814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구인정보</a:t>
            </a:r>
            <a:r>
              <a:rPr lang="en-US" altLang="ko-KR" dirty="0"/>
              <a:t>(www.jobkorea.co.kr)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430BBC-1D34-BB6F-56BA-D055290F93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FFA3661-5303-13AD-B262-58FB2574A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52" y="1222283"/>
            <a:ext cx="2356605" cy="37657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33E7954-AAC5-C5AB-1837-7995D1996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744" y="1141800"/>
            <a:ext cx="5719026" cy="2431216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9A45A5-58D0-5E1F-E652-374BB026EDB9}"/>
              </a:ext>
            </a:extLst>
          </p:cNvPr>
          <p:cNvSpPr/>
          <p:nvPr/>
        </p:nvSpPr>
        <p:spPr>
          <a:xfrm>
            <a:off x="6756076" y="2088233"/>
            <a:ext cx="1661268" cy="2627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972D8BF-7D95-B9F5-D2EB-6FF3203F8531}"/>
              </a:ext>
            </a:extLst>
          </p:cNvPr>
          <p:cNvSpPr/>
          <p:nvPr/>
        </p:nvSpPr>
        <p:spPr>
          <a:xfrm>
            <a:off x="4716016" y="1700808"/>
            <a:ext cx="1661268" cy="2627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18439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개발자</a:t>
            </a:r>
            <a:r>
              <a:rPr lang="en-US" altLang="ko-KR" dirty="0"/>
              <a:t> </a:t>
            </a:r>
            <a:r>
              <a:rPr lang="ko-KR" altLang="en-US" dirty="0"/>
              <a:t>연봉 평균</a:t>
            </a:r>
          </a:p>
        </p:txBody>
      </p:sp>
      <p:sp>
        <p:nvSpPr>
          <p:cNvPr id="10243" name="슬라이드 번호 개체 틀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eaLnBrk="1" hangingPunct="1"/>
            <a:fld id="{7AE753D7-8298-4E48-B277-ECAE0C5B1880}" type="slidenum">
              <a:rPr lang="en-US" altLang="ko-KR" sz="1000" smtClean="0">
                <a:solidFill>
                  <a:srgbClr val="02B0AC"/>
                </a:solidFill>
                <a:latin typeface="휴먼엑스포" pitchFamily="18" charset="-127"/>
                <a:ea typeface="휴먼엑스포" pitchFamily="18" charset="-127"/>
              </a:rPr>
              <a:pPr eaLnBrk="1" hangingPunct="1"/>
              <a:t>7</a:t>
            </a:fld>
            <a:endParaRPr lang="en-US" altLang="ko-KR" sz="1000">
              <a:solidFill>
                <a:srgbClr val="02B0AC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sp>
        <p:nvSpPr>
          <p:cNvPr id="10244" name="TextBox 8"/>
          <p:cNvSpPr txBox="1">
            <a:spLocks noChangeArrowheads="1"/>
          </p:cNvSpPr>
          <p:nvPr/>
        </p:nvSpPr>
        <p:spPr bwMode="auto">
          <a:xfrm>
            <a:off x="3275812" y="5785519"/>
            <a:ext cx="259237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eaLnBrk="1" hangingPunct="1"/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자료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매일경제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, 2021.12.28&gt;</a:t>
            </a:r>
            <a:endParaRPr lang="ko-KR" altLang="en-US" sz="14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B164759-640F-31B5-3A3F-1D616E5E1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057739"/>
            <a:ext cx="7488832" cy="474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72471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643438"/>
            <a:ext cx="38925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본 강좌를 이수하면 </a:t>
            </a:r>
            <a:r>
              <a:rPr lang="ko-KR" altLang="en-US" dirty="0" err="1"/>
              <a:t>라즈베리파이</a:t>
            </a:r>
            <a:r>
              <a:rPr lang="en-US" altLang="ko-KR" dirty="0"/>
              <a:t>(Raspberry-Pi)</a:t>
            </a:r>
            <a:r>
              <a:rPr lang="ko-KR" altLang="en-US" dirty="0"/>
              <a:t>를 활용할 수 있다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 err="1"/>
              <a:t>라즈베리파이</a:t>
            </a:r>
            <a:r>
              <a:rPr lang="ko-KR" altLang="en-US" dirty="0"/>
              <a:t> 입문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소개</a:t>
            </a:r>
            <a:r>
              <a:rPr lang="en-US" altLang="ko-KR" dirty="0"/>
              <a:t>, </a:t>
            </a:r>
            <a:r>
              <a:rPr lang="ko-KR" altLang="en-US" dirty="0"/>
              <a:t>운영체제 설치</a:t>
            </a:r>
            <a:r>
              <a:rPr lang="en-US" altLang="ko-KR" dirty="0"/>
              <a:t>, </a:t>
            </a:r>
            <a:r>
              <a:rPr lang="ko-KR" altLang="en-US" dirty="0"/>
              <a:t>원격접속환경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기본 하드웨어 제어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LED, </a:t>
            </a:r>
            <a:r>
              <a:rPr lang="ko-KR" altLang="en-US" dirty="0" err="1"/>
              <a:t>부저</a:t>
            </a:r>
            <a:r>
              <a:rPr lang="en-US" altLang="ko-KR" dirty="0"/>
              <a:t>, </a:t>
            </a:r>
            <a:r>
              <a:rPr lang="ko-KR" altLang="en-US" dirty="0" err="1"/>
              <a:t>푸시버튼</a:t>
            </a:r>
            <a:r>
              <a:rPr lang="en-US" altLang="ko-KR" dirty="0"/>
              <a:t>, </a:t>
            </a:r>
            <a:r>
              <a:rPr lang="ko-KR" altLang="en-US" dirty="0"/>
              <a:t>아날로그 입력</a:t>
            </a:r>
            <a:r>
              <a:rPr lang="en-US" altLang="ko-KR" dirty="0"/>
              <a:t>, </a:t>
            </a:r>
            <a:r>
              <a:rPr lang="ko-KR" altLang="en-US" dirty="0"/>
              <a:t>센서</a:t>
            </a:r>
            <a:r>
              <a:rPr lang="en-US" altLang="ko-KR" dirty="0"/>
              <a:t>, </a:t>
            </a:r>
            <a:r>
              <a:rPr lang="ko-KR" altLang="en-US" dirty="0"/>
              <a:t>모터 드라이버</a:t>
            </a:r>
            <a:r>
              <a:rPr lang="en-US" altLang="ko-KR" dirty="0"/>
              <a:t>, </a:t>
            </a:r>
            <a:r>
              <a:rPr lang="ko-KR" altLang="en-US" dirty="0" err="1"/>
              <a:t>서보</a:t>
            </a:r>
            <a:r>
              <a:rPr lang="ko-KR" altLang="en-US" dirty="0"/>
              <a:t> 모터</a:t>
            </a:r>
            <a:r>
              <a:rPr lang="en-US" altLang="ko-KR" dirty="0"/>
              <a:t>, I2C</a:t>
            </a:r>
          </a:p>
          <a:p>
            <a:pPr lvl="1" eaLnBrk="1" hangingPunct="1">
              <a:lnSpc>
                <a:spcPct val="110000"/>
              </a:lnSpc>
              <a:defRPr/>
            </a:pP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인공지능</a:t>
            </a:r>
            <a:r>
              <a:rPr lang="en-US" altLang="ko-KR" dirty="0"/>
              <a:t> </a:t>
            </a:r>
            <a:r>
              <a:rPr lang="ko-KR" altLang="en-US" dirty="0"/>
              <a:t>라이브러리 활용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얼굴 인식</a:t>
            </a:r>
            <a:r>
              <a:rPr lang="en-US" altLang="ko-KR" dirty="0"/>
              <a:t>(OpenCV)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녹음 및 재생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음성 인식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18452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강좌 소개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107951" y="980728"/>
            <a:ext cx="5616178" cy="5877272"/>
          </a:xfrm>
          <a:noFill/>
        </p:spPr>
        <p:txBody>
          <a:bodyPr/>
          <a:lstStyle/>
          <a:p>
            <a:pPr eaLnBrk="1" hangingPunct="1">
              <a:lnSpc>
                <a:spcPct val="100000"/>
              </a:lnSpc>
              <a:defRPr/>
            </a:pPr>
            <a:r>
              <a:rPr lang="ko-KR" altLang="en-US" dirty="0"/>
              <a:t>학점</a:t>
            </a:r>
            <a:r>
              <a:rPr lang="en-US" altLang="ko-KR" dirty="0"/>
              <a:t>/</a:t>
            </a:r>
            <a:r>
              <a:rPr lang="ko-KR" altLang="en-US" dirty="0" err="1"/>
              <a:t>시수</a:t>
            </a:r>
            <a:endParaRPr lang="en-US" altLang="ko-KR" dirty="0"/>
          </a:p>
          <a:p>
            <a:pPr lvl="1" eaLnBrk="1" hangingPunct="1">
              <a:lnSpc>
                <a:spcPct val="100000"/>
              </a:lnSpc>
              <a:defRPr/>
            </a:pPr>
            <a:r>
              <a:rPr lang="en-US" altLang="ko-KR" dirty="0"/>
              <a:t>3</a:t>
            </a:r>
            <a:r>
              <a:rPr lang="ko-KR" altLang="en-US" dirty="0"/>
              <a:t>학점</a:t>
            </a:r>
            <a:r>
              <a:rPr lang="en-US" altLang="ko-KR" dirty="0"/>
              <a:t>/3</a:t>
            </a:r>
            <a:r>
              <a:rPr lang="ko-KR" altLang="en-US" dirty="0"/>
              <a:t>시간</a:t>
            </a:r>
            <a:r>
              <a:rPr lang="en-US" altLang="ko-KR" dirty="0"/>
              <a:t>(</a:t>
            </a:r>
            <a:r>
              <a:rPr lang="ko-KR" altLang="en-US" dirty="0"/>
              <a:t>이론</a:t>
            </a:r>
            <a:r>
              <a:rPr lang="en-US" altLang="ko-KR" dirty="0"/>
              <a:t>1 </a:t>
            </a:r>
            <a:r>
              <a:rPr lang="ko-KR" altLang="en-US" dirty="0"/>
              <a:t>실습</a:t>
            </a:r>
            <a:r>
              <a:rPr lang="en-US" altLang="ko-KR" dirty="0"/>
              <a:t>2)</a:t>
            </a:r>
          </a:p>
          <a:p>
            <a:pPr eaLnBrk="1" hangingPunct="1">
              <a:lnSpc>
                <a:spcPct val="100000"/>
              </a:lnSpc>
              <a:defRPr/>
            </a:pPr>
            <a:r>
              <a:rPr lang="ko-KR" altLang="en-US" dirty="0"/>
              <a:t>교재</a:t>
            </a:r>
            <a:endParaRPr lang="en-US" altLang="ko-KR" dirty="0"/>
          </a:p>
          <a:p>
            <a:pPr lvl="1" eaLnBrk="1" hangingPunct="1">
              <a:lnSpc>
                <a:spcPct val="100000"/>
              </a:lnSpc>
              <a:defRPr/>
            </a:pPr>
            <a:r>
              <a:rPr lang="ko-KR" altLang="en-US" dirty="0"/>
              <a:t>진짜 코딩하며 배우는 </a:t>
            </a:r>
            <a:r>
              <a:rPr lang="ko-KR" altLang="en-US" dirty="0" err="1"/>
              <a:t>라즈베리파이</a:t>
            </a:r>
            <a:r>
              <a:rPr lang="ko-KR" altLang="en-US" dirty="0"/>
              <a:t> </a:t>
            </a:r>
            <a:r>
              <a:rPr lang="en-US" altLang="ko-KR" dirty="0"/>
              <a:t>4 (</a:t>
            </a:r>
            <a:r>
              <a:rPr lang="ko-KR" altLang="en-US" dirty="0" err="1"/>
              <a:t>서민우</a:t>
            </a:r>
            <a:r>
              <a:rPr lang="en-US" altLang="ko-KR" dirty="0"/>
              <a:t>, 2021, </a:t>
            </a:r>
            <a:r>
              <a:rPr lang="ko-KR" altLang="en-US" dirty="0" err="1"/>
              <a:t>앤써북</a:t>
            </a:r>
            <a:r>
              <a:rPr lang="en-US" altLang="ko-KR" dirty="0"/>
              <a:t>)</a:t>
            </a:r>
          </a:p>
          <a:p>
            <a:pPr eaLnBrk="1" hangingPunct="1">
              <a:lnSpc>
                <a:spcPct val="100000"/>
              </a:lnSpc>
              <a:defRPr/>
            </a:pPr>
            <a:r>
              <a:rPr lang="ko-KR" altLang="en-US" dirty="0"/>
              <a:t>수업진행</a:t>
            </a:r>
            <a:endParaRPr lang="en-US" altLang="ko-KR" dirty="0"/>
          </a:p>
          <a:p>
            <a:pPr lvl="1" eaLnBrk="1" hangingPunct="1">
              <a:lnSpc>
                <a:spcPct val="100000"/>
              </a:lnSpc>
              <a:defRPr/>
            </a:pPr>
            <a:r>
              <a:rPr lang="ko-KR" altLang="en-US" dirty="0"/>
              <a:t>강의록에 제시된 실습 수행</a:t>
            </a:r>
            <a:endParaRPr lang="en-US" altLang="ko-KR" dirty="0"/>
          </a:p>
          <a:p>
            <a:pPr lvl="1" eaLnBrk="1" hangingPunct="1">
              <a:lnSpc>
                <a:spcPct val="100000"/>
              </a:lnSpc>
              <a:defRPr/>
            </a:pPr>
            <a:r>
              <a:rPr lang="ko-KR" altLang="en-US" dirty="0"/>
              <a:t>도전과제</a:t>
            </a:r>
            <a:endParaRPr lang="en-US" altLang="ko-KR" dirty="0"/>
          </a:p>
          <a:p>
            <a:pPr eaLnBrk="1" hangingPunct="1">
              <a:lnSpc>
                <a:spcPct val="100000"/>
              </a:lnSpc>
              <a:defRPr/>
            </a:pPr>
            <a:r>
              <a:rPr lang="ko-KR" altLang="en-US" dirty="0"/>
              <a:t>담당교수 </a:t>
            </a:r>
            <a:r>
              <a:rPr lang="en-US" altLang="ko-KR" dirty="0"/>
              <a:t>: </a:t>
            </a:r>
            <a:r>
              <a:rPr lang="ko-KR" altLang="en-US" dirty="0"/>
              <a:t>김형래</a:t>
            </a:r>
            <a:endParaRPr lang="en-US" altLang="ko-KR" dirty="0"/>
          </a:p>
          <a:p>
            <a:pPr lvl="1" eaLnBrk="1" hangingPunct="1">
              <a:lnSpc>
                <a:spcPct val="100000"/>
              </a:lnSpc>
              <a:defRPr/>
            </a:pPr>
            <a:r>
              <a:rPr lang="en-US" altLang="ko-KR" dirty="0"/>
              <a:t>031-935-7132 / 010-3294-7176 / hrkim@doowon.ac.kr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CD56B6-007F-48F4-4DD9-BC633944D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558" y="1196752"/>
            <a:ext cx="3197559" cy="42844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4465707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 진행방식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강의 진행 방식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Flipped Learning</a:t>
            </a:r>
          </a:p>
          <a:p>
            <a:pPr lvl="1" eaLnBrk="1" hangingPunct="1">
              <a:lnSpc>
                <a:spcPct val="100000"/>
              </a:lnSpc>
              <a:defRPr/>
            </a:pPr>
            <a:r>
              <a:rPr lang="ko-KR" altLang="en-US" dirty="0"/>
              <a:t>사전학습 </a:t>
            </a:r>
            <a:r>
              <a:rPr lang="en-US" altLang="ko-KR" dirty="0"/>
              <a:t>: </a:t>
            </a:r>
            <a:r>
              <a:rPr lang="ko-KR" altLang="en-US" dirty="0"/>
              <a:t>제공된 온라인 콘텐츠 이용</a:t>
            </a:r>
            <a:endParaRPr lang="en-US" altLang="ko-KR" dirty="0"/>
          </a:p>
          <a:p>
            <a:pPr lvl="1" eaLnBrk="1" hangingPunct="1">
              <a:lnSpc>
                <a:spcPct val="100000"/>
              </a:lnSpc>
              <a:defRPr/>
            </a:pPr>
            <a:r>
              <a:rPr lang="ko-KR" altLang="en-US" dirty="0"/>
              <a:t>수업시간 </a:t>
            </a:r>
            <a:r>
              <a:rPr lang="en-US" altLang="ko-KR" dirty="0"/>
              <a:t>:</a:t>
            </a:r>
            <a:r>
              <a:rPr lang="ko-KR" altLang="en-US" dirty="0"/>
              <a:t> 교수의 개념 설명</a:t>
            </a:r>
            <a:r>
              <a:rPr lang="en-US" altLang="ko-KR" dirty="0"/>
              <a:t>, </a:t>
            </a:r>
            <a:r>
              <a:rPr lang="ko-KR" altLang="en-US" dirty="0"/>
              <a:t>학생 실습 및 질의 응답 </a:t>
            </a:r>
            <a:endParaRPr lang="en-US" altLang="ko-KR" dirty="0"/>
          </a:p>
          <a:p>
            <a:pPr marL="324000" lvl="1" indent="0" eaLnBrk="1" hangingPunct="1">
              <a:lnSpc>
                <a:spcPct val="100000"/>
              </a:lnSpc>
              <a:buNone/>
              <a:defRPr/>
            </a:pPr>
            <a:r>
              <a:rPr lang="en-US" altLang="ko-KR" dirty="0">
                <a:sym typeface="Wingdings" panose="05000000000000000000" pitchFamily="2" charset="2"/>
              </a:rPr>
              <a:t>   </a:t>
            </a:r>
            <a:r>
              <a:rPr lang="ko-KR" altLang="en-US" dirty="0">
                <a:sym typeface="Wingdings" panose="05000000000000000000" pitchFamily="2" charset="2"/>
              </a:rPr>
              <a:t>실습내용 완료 시 조기 하교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 eaLnBrk="1" hangingPunct="1">
              <a:lnSpc>
                <a:spcPct val="100000"/>
              </a:lnSpc>
              <a:defRPr/>
            </a:pPr>
            <a:r>
              <a:rPr lang="ko-KR" altLang="en-US" dirty="0">
                <a:sym typeface="Wingdings" panose="05000000000000000000" pitchFamily="2" charset="2"/>
              </a:rPr>
              <a:t>후속학습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도전과제 수행</a:t>
            </a: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과제물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dirty="0"/>
              <a:t>강의록에서 제시된 실습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매주 제출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dirty="0">
                <a:sym typeface="Wingdings" panose="05000000000000000000" pitchFamily="2" charset="2"/>
              </a:rPr>
              <a:t>도전과제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제시된 시기에 제출</a:t>
            </a:r>
            <a:r>
              <a:rPr lang="en-US" altLang="ko-KR">
                <a:sym typeface="Wingdings" panose="05000000000000000000" pitchFamily="2" charset="2"/>
              </a:rPr>
              <a:t>(10</a:t>
            </a:r>
            <a:r>
              <a:rPr lang="ko-KR" altLang="en-US">
                <a:sym typeface="Wingdings" panose="05000000000000000000" pitchFamily="2" charset="2"/>
              </a:rPr>
              <a:t>개 </a:t>
            </a:r>
            <a:r>
              <a:rPr lang="ko-KR" altLang="en-US" dirty="0">
                <a:sym typeface="Wingdings" panose="05000000000000000000" pitchFamily="2" charset="2"/>
              </a:rPr>
              <a:t>내외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 eaLnBrk="1" hangingPunct="1">
              <a:defRPr/>
            </a:pPr>
            <a:endParaRPr lang="en-US" altLang="ko-KR" dirty="0">
              <a:sym typeface="Wingdings" panose="05000000000000000000" pitchFamily="2" charset="2"/>
            </a:endParaRPr>
          </a:p>
          <a:p>
            <a:pPr eaLnBrk="1" hangingPunct="1">
              <a:defRPr/>
            </a:pPr>
            <a:r>
              <a:rPr lang="ko-KR" altLang="en-US" dirty="0"/>
              <a:t>강의록 다운로드</a:t>
            </a:r>
          </a:p>
          <a:p>
            <a:pPr lvl="1" eaLnBrk="1" hangingPunct="1">
              <a:defRPr/>
            </a:pPr>
            <a:r>
              <a:rPr lang="en-US" altLang="ko-KR" dirty="0"/>
              <a:t>http://lms.doowon.ac.kr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00199769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Flipped</a:t>
            </a:r>
            <a:r>
              <a:rPr lang="ko-KR" altLang="en-US" dirty="0"/>
              <a:t> </a:t>
            </a:r>
            <a:r>
              <a:rPr lang="en-US" altLang="ko-KR" dirty="0"/>
              <a:t>Learning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58" y="1024484"/>
            <a:ext cx="7627683" cy="534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85071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평가방법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ko-KR" altLang="en-US" dirty="0"/>
              <a:t>성적처리 비중</a:t>
            </a:r>
          </a:p>
          <a:p>
            <a:pPr algn="just" eaLnBrk="1" hangingPunct="1">
              <a:defRPr/>
            </a:pPr>
            <a:endParaRPr lang="en-US" altLang="ko-KR" dirty="0"/>
          </a:p>
          <a:p>
            <a:pPr algn="just" eaLnBrk="1" hangingPunct="1">
              <a:defRPr/>
            </a:pPr>
            <a:endParaRPr lang="en-US" altLang="ko-KR" dirty="0"/>
          </a:p>
          <a:p>
            <a:pPr algn="just" eaLnBrk="1" hangingPunct="1">
              <a:defRPr/>
            </a:pPr>
            <a:endParaRPr lang="en-US" altLang="ko-KR" dirty="0"/>
          </a:p>
          <a:p>
            <a:pPr algn="just" eaLnBrk="1" hangingPunct="1">
              <a:defRPr/>
            </a:pPr>
            <a:endParaRPr lang="en-US" altLang="ko-KR" dirty="0"/>
          </a:p>
          <a:p>
            <a:pPr algn="just" eaLnBrk="1" hangingPunct="1">
              <a:defRPr/>
            </a:pPr>
            <a:endParaRPr lang="en-US" altLang="ko-KR" dirty="0"/>
          </a:p>
          <a:p>
            <a:pPr algn="just" eaLnBrk="1" hangingPunct="1">
              <a:defRPr/>
            </a:pPr>
            <a:endParaRPr lang="en-US" altLang="ko-KR" dirty="0"/>
          </a:p>
          <a:p>
            <a:pPr algn="just" eaLnBrk="1" hangingPunct="1">
              <a:defRPr/>
            </a:pPr>
            <a:r>
              <a:rPr lang="ko-KR" altLang="en-US" dirty="0"/>
              <a:t>참고 사항</a:t>
            </a:r>
            <a:endParaRPr lang="en-US" altLang="ko-KR" dirty="0"/>
          </a:p>
          <a:p>
            <a:pPr lvl="1" algn="just" eaLnBrk="1" hangingPunct="1">
              <a:defRPr/>
            </a:pPr>
            <a:r>
              <a:rPr lang="ko-KR" altLang="en-US" dirty="0"/>
              <a:t>평가에는 출석</a:t>
            </a:r>
            <a:r>
              <a:rPr lang="en-US" altLang="ko-KR" dirty="0"/>
              <a:t>/</a:t>
            </a:r>
            <a:r>
              <a:rPr lang="ko-KR" altLang="en-US" dirty="0"/>
              <a:t>실습과제</a:t>
            </a:r>
            <a:r>
              <a:rPr lang="en-US" altLang="ko-KR" dirty="0"/>
              <a:t>/</a:t>
            </a:r>
            <a:r>
              <a:rPr lang="ko-KR" altLang="en-US" dirty="0"/>
              <a:t>도전과제 수행이 매우 중요</a:t>
            </a:r>
            <a:endParaRPr lang="en-US" altLang="ko-KR" dirty="0"/>
          </a:p>
          <a:p>
            <a:pPr lvl="1" algn="just" eaLnBrk="1" hangingPunct="1">
              <a:defRPr/>
            </a:pPr>
            <a:r>
              <a:rPr lang="ko-KR" altLang="en-US" dirty="0"/>
              <a:t>과제는 자신의 손으로</a:t>
            </a:r>
            <a:r>
              <a:rPr lang="en-US" altLang="ko-KR" dirty="0"/>
              <a:t>…</a:t>
            </a:r>
            <a:r>
              <a:rPr lang="ko-KR" altLang="en-US" dirty="0"/>
              <a:t>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A15FBD3-BD28-9E0B-1353-24C7B7F82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953" y="1772816"/>
            <a:ext cx="4334317" cy="255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551770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주차별</a:t>
            </a:r>
            <a:r>
              <a:rPr lang="ko-KR" altLang="en-US" dirty="0"/>
              <a:t> 강의내용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186600"/>
              </p:ext>
            </p:extLst>
          </p:nvPr>
        </p:nvGraphicFramePr>
        <p:xfrm>
          <a:off x="179512" y="1008465"/>
          <a:ext cx="8640960" cy="551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2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86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강의내용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3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개발환경 구축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라즈베리파이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소개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개발환경 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 설치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부팅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WiFi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실습환경 구축 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Python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구동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한글 폰트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5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윈도우 개발환경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marR="0" lvl="0" indent="-180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모바일핫스팟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VNC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marR="0" lvl="0" indent="-180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원격데스크탑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설정</a:t>
                      </a:r>
                    </a:p>
                    <a:p>
                      <a:pPr marL="180000" marR="0" lvl="0" indent="-180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원격접속환경 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PuTTY +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삼바서버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65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리눅스 명령어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루트권한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파일관리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파일정보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디렉토리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소유권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접근권한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패키지관리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네트워크 관리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편집기 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 nano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편집기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7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입출력함수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(1)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제어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부저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제어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53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입출력함수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푸시버튼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제어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인터럽트와 스레드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callback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함수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143866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주차별</a:t>
            </a:r>
            <a:r>
              <a:rPr lang="ko-KR" altLang="en-US" dirty="0"/>
              <a:t> 강의내용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69D9D5D-4543-4335-C29F-B71C7815CC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961192"/>
              </p:ext>
            </p:extLst>
          </p:nvPr>
        </p:nvGraphicFramePr>
        <p:xfrm>
          <a:off x="179512" y="1008464"/>
          <a:ext cx="8640960" cy="5291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2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6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강의내용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아날로그 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MCP3208 ADC</a:t>
                      </a: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SPI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버스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아날로그 센서 입력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모터활용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L9110S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모터 드라이버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DC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모터 제어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marR="0" lvl="0" indent="-180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서보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모터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85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I2C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중간고사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MPU6050 </a:t>
                      </a:r>
                      <a:r>
                        <a:rPr lang="ko-KR" altLang="en-US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자이로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센서 활용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중간고사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15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OpenCV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사진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그래픽 처리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 처리</a:t>
                      </a:r>
                      <a:endParaRPr lang="en-US" altLang="ko-KR" sz="16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15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얼굴인식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이미지를 이용한 얼굴 인식</a:t>
                      </a:r>
                      <a:endParaRPr lang="en-US" altLang="ko-KR" sz="16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40000" indent="-180000" latinLnBrk="1">
                        <a:spcBef>
                          <a:spcPts val="0"/>
                        </a:spcBef>
                        <a:buFontTx/>
                        <a:buChar char="-"/>
                      </a:pPr>
                      <a:r>
                        <a:rPr lang="ko-KR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얼굴 인식</a:t>
                      </a:r>
                      <a:endParaRPr lang="en-US" altLang="ko-KR" sz="16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40000" indent="-180000" latinLnBrk="1">
                        <a:spcBef>
                          <a:spcPts val="0"/>
                        </a:spcBef>
                        <a:buFontTx/>
                        <a:buChar char="-"/>
                      </a:pPr>
                      <a:r>
                        <a:rPr lang="ko-KR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눈 인식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187276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주차별</a:t>
            </a:r>
            <a:r>
              <a:rPr lang="ko-KR" altLang="en-US" dirty="0"/>
              <a:t> 강의내용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B8FF48E-713D-FFC6-9736-8CAA0175A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367985"/>
              </p:ext>
            </p:extLst>
          </p:nvPr>
        </p:nvGraphicFramePr>
        <p:xfrm>
          <a:off x="179512" y="1008464"/>
          <a:ext cx="8640960" cy="5043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2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6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강의내용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카메라 모듈 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카메라 영상 읽기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카메라 영상 저장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카메라 영상을 이용한 얼굴인식</a:t>
                      </a:r>
                      <a:endParaRPr lang="ko-KR" altLang="en-US" sz="16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음성 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스피커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마이크 설정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음성 녹음 및 재생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85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구글 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Speech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구글 클라우드 플랫폼 사용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구글 음성인식 라이브러리 설치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음성 인식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15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구글 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Speech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한국어 음성 인식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한글 읽고 말하기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15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음성으로 장치 제어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음성인식을 이용한 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제어</a:t>
                      </a: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기말고사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1730772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좋은 성적을 얻기 위해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ko-KR" altLang="en-US" dirty="0"/>
              <a:t>결석을 하지 말자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ko-KR" altLang="en-US" dirty="0"/>
              <a:t>결석을 하면서 프로그래밍을 이해하기는 어렵다</a:t>
            </a:r>
            <a:endParaRPr lang="en-US" altLang="ko-KR" dirty="0"/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ko-KR" altLang="en-US" dirty="0"/>
              <a:t>공학주제는 선수</a:t>
            </a:r>
            <a:r>
              <a:rPr lang="en-US" altLang="ko-KR" dirty="0"/>
              <a:t>/</a:t>
            </a:r>
            <a:r>
              <a:rPr lang="ko-KR" altLang="en-US" dirty="0"/>
              <a:t>후수 개념이 있다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ko-KR" altLang="en-US" dirty="0"/>
              <a:t>매시간 출석점수와 보고서 점수의 비중은 매우 높음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ko-KR" altLang="en-US" dirty="0"/>
              <a:t>수업시간 중 주어진 과제를 철저히 이행하자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ko-KR" altLang="en-US" dirty="0"/>
              <a:t>프로그래밍은 손으로 직접 작성하는 것이다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ko-KR" altLang="en-US" dirty="0"/>
              <a:t>질문을 많이 하자</a:t>
            </a:r>
            <a:endParaRPr lang="en-US" altLang="ko-KR" dirty="0"/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ko-KR" altLang="en-US" dirty="0"/>
              <a:t>질문의 중요성은 아무리 강조해도 지나치지 않다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ko-KR" altLang="en-US" dirty="0"/>
              <a:t>수업 시간 및 쉬는 시간에 오락을 하지 말자</a:t>
            </a:r>
            <a:endParaRPr lang="en-US" altLang="ko-KR" dirty="0"/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ko-KR" altLang="en-US" dirty="0"/>
              <a:t>컴퓨터에 카톡 로딩 금지</a:t>
            </a:r>
            <a:endParaRPr lang="en-US" altLang="ko-KR" dirty="0"/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ko-KR" altLang="en-US" dirty="0"/>
              <a:t>휴대전화 격리하기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pic>
        <p:nvPicPr>
          <p:cNvPr id="5" name="Picture 4" descr="PE01460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075" y="3886200"/>
            <a:ext cx="176212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7575498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새 출발을 하는 너에게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60325" y="1022350"/>
            <a:ext cx="8997950" cy="43180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9050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pPr algn="just">
              <a:defRPr/>
            </a:pPr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꿈을 이루고자 하는 용기만 있다면 모든 꿈을 이룰 수 있다</a:t>
            </a:r>
            <a:r>
              <a:rPr lang="en-US" altLang="ko-KR" sz="2400" dirty="0">
                <a:solidFill>
                  <a:srgbClr val="339966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60325" y="1454150"/>
            <a:ext cx="8997950" cy="4999038"/>
          </a:xfrm>
          <a:prstGeom prst="rect">
            <a:avLst/>
          </a:prstGeom>
          <a:solidFill>
            <a:schemeClr val="bg1"/>
          </a:solidFill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현실이 아무리 각박하더라도 꿈이 이루어진다고 믿어라</a:t>
            </a:r>
            <a:r>
              <a:rPr lang="en-US" altLang="ko-KR" sz="20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0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그리고 꿈을 이루기 위해 무엇을 해야 하는지 생각하라</a:t>
            </a:r>
            <a:r>
              <a:rPr lang="en-US" altLang="ko-KR" sz="20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0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어려운 일이라면 용기를 내라</a:t>
            </a:r>
            <a:r>
              <a:rPr lang="en-US" altLang="ko-KR" sz="20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0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아무 것도 꿈꾸지 않은 사람들보다 훨씬 많은 꿈을 이룰 수 있을 것이다</a:t>
            </a:r>
            <a:r>
              <a:rPr lang="en-US" altLang="ko-KR" sz="20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ctr">
              <a:lnSpc>
                <a:spcPct val="150000"/>
              </a:lnSpc>
              <a:defRPr/>
            </a:pPr>
            <a:r>
              <a:rPr lang="en-US" altLang="ko-KR" sz="2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월트 디즈니 </a:t>
            </a:r>
            <a:r>
              <a:rPr lang="en-US" altLang="ko-KR" sz="2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(1901~1966) -</a:t>
            </a:r>
            <a:endParaRPr lang="en-US" altLang="ko-KR" sz="18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" name="Picture 10" descr="mou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813" y="1041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BA2DB10-8FC9-401F-A538-76E72384F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521" y="3429000"/>
            <a:ext cx="2134958" cy="286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756752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</a:t>
            </a:r>
            <a:r>
              <a:rPr lang="en-US" altLang="ko-KR"/>
              <a:t>students learn more.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28725</TotalTime>
  <Words>712</Words>
  <Application>Microsoft Office PowerPoint</Application>
  <PresentationFormat>화면 슬라이드 쇼(4:3)</PresentationFormat>
  <Paragraphs>197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8" baseType="lpstr">
      <vt:lpstr>HY견고딕</vt:lpstr>
      <vt:lpstr>Whitney</vt:lpstr>
      <vt:lpstr>굴림</vt:lpstr>
      <vt:lpstr>맑은 고딕</vt:lpstr>
      <vt:lpstr>휴먼엑스포</vt:lpstr>
      <vt:lpstr>휴먼편지체</vt:lpstr>
      <vt:lpstr>Arial</vt:lpstr>
      <vt:lpstr>Times New Roman</vt:lpstr>
      <vt:lpstr>Wingdings</vt:lpstr>
      <vt:lpstr>기본 디자인</vt:lpstr>
      <vt:lpstr>IoT 네트워크 및 응용 (라즈베리파이 활용)</vt:lpstr>
      <vt:lpstr>PowerPoint 프레젠테이션</vt:lpstr>
      <vt:lpstr>생각 더하기</vt:lpstr>
      <vt:lpstr>구인정보(www.jobkorea.co.kr)</vt:lpstr>
      <vt:lpstr>구인정보(www.jobkorea.co.kr)</vt:lpstr>
      <vt:lpstr>구인정보(www.jobkorea.co.kr)</vt:lpstr>
      <vt:lpstr>개발자 연봉 평균</vt:lpstr>
      <vt:lpstr>학습목표</vt:lpstr>
      <vt:lpstr>강좌 소개</vt:lpstr>
      <vt:lpstr>강의 진행방식</vt:lpstr>
      <vt:lpstr>Flipped Learning</vt:lpstr>
      <vt:lpstr>평가방법</vt:lpstr>
      <vt:lpstr>주차별 강의내용(1)</vt:lpstr>
      <vt:lpstr>주차별 강의내용(2)</vt:lpstr>
      <vt:lpstr>주차별 강의내용(3)</vt:lpstr>
      <vt:lpstr>좋은 성적을 얻기 위해</vt:lpstr>
      <vt:lpstr>새 출발을 하는 너에게…</vt:lpstr>
      <vt:lpstr>질의 응답</vt:lpstr>
    </vt:vector>
  </TitlesOfParts>
  <Company>두원공과대학 인터넷프로그래밍과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김형래</dc:creator>
  <cp:lastModifiedBy>김형래</cp:lastModifiedBy>
  <cp:revision>396</cp:revision>
  <cp:lastPrinted>2022-07-06T04:11:04Z</cp:lastPrinted>
  <dcterms:created xsi:type="dcterms:W3CDTF">2003-05-07T20:17:23Z</dcterms:created>
  <dcterms:modified xsi:type="dcterms:W3CDTF">2025-08-21T08:19:04Z</dcterms:modified>
</cp:coreProperties>
</file>