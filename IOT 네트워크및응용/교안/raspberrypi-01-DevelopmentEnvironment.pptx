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632" r:id="rId2"/>
    <p:sldId id="648" r:id="rId3"/>
    <p:sldId id="1147" r:id="rId4"/>
    <p:sldId id="705" r:id="rId5"/>
    <p:sldId id="1206" r:id="rId6"/>
    <p:sldId id="1157" r:id="rId7"/>
    <p:sldId id="1197" r:id="rId8"/>
    <p:sldId id="1300" r:id="rId9"/>
    <p:sldId id="1301" r:id="rId10"/>
    <p:sldId id="1305" r:id="rId11"/>
    <p:sldId id="1306" r:id="rId12"/>
    <p:sldId id="1307" r:id="rId13"/>
    <p:sldId id="1160" r:id="rId14"/>
    <p:sldId id="707" r:id="rId15"/>
    <p:sldId id="1156" r:id="rId16"/>
    <p:sldId id="1199" r:id="rId17"/>
    <p:sldId id="1161" r:id="rId18"/>
    <p:sldId id="1302" r:id="rId19"/>
    <p:sldId id="1162" r:id="rId20"/>
    <p:sldId id="1207" r:id="rId21"/>
    <p:sldId id="1200" r:id="rId22"/>
    <p:sldId id="1164" r:id="rId23"/>
    <p:sldId id="1165" r:id="rId24"/>
    <p:sldId id="1303" r:id="rId25"/>
    <p:sldId id="1304" r:id="rId26"/>
    <p:sldId id="1167" r:id="rId27"/>
    <p:sldId id="1299" r:id="rId28"/>
    <p:sldId id="1148" r:id="rId29"/>
    <p:sldId id="1149" r:id="rId30"/>
    <p:sldId id="1151" r:id="rId31"/>
    <p:sldId id="1152" r:id="rId32"/>
    <p:sldId id="1195" r:id="rId33"/>
    <p:sldId id="1154" r:id="rId34"/>
    <p:sldId id="1204" r:id="rId35"/>
    <p:sldId id="1168" r:id="rId36"/>
    <p:sldId id="1155" r:id="rId37"/>
    <p:sldId id="1194" r:id="rId38"/>
    <p:sldId id="1166" r:id="rId39"/>
    <p:sldId id="1196" r:id="rId40"/>
    <p:sldId id="1169" r:id="rId41"/>
    <p:sldId id="1170" r:id="rId42"/>
    <p:sldId id="1172" r:id="rId43"/>
    <p:sldId id="1173" r:id="rId44"/>
    <p:sldId id="1174" r:id="rId45"/>
    <p:sldId id="1175" r:id="rId46"/>
    <p:sldId id="1176" r:id="rId47"/>
    <p:sldId id="1177" r:id="rId48"/>
    <p:sldId id="1201" r:id="rId49"/>
    <p:sldId id="1178" r:id="rId50"/>
    <p:sldId id="1179" r:id="rId51"/>
    <p:sldId id="1180" r:id="rId52"/>
    <p:sldId id="1181" r:id="rId53"/>
    <p:sldId id="1185" r:id="rId54"/>
    <p:sldId id="1186" r:id="rId55"/>
    <p:sldId id="1184" r:id="rId56"/>
    <p:sldId id="1188" r:id="rId57"/>
    <p:sldId id="1189" r:id="rId58"/>
    <p:sldId id="1190" r:id="rId59"/>
    <p:sldId id="1191" r:id="rId60"/>
    <p:sldId id="1203" r:id="rId61"/>
    <p:sldId id="1202" r:id="rId62"/>
    <p:sldId id="702" r:id="rId63"/>
    <p:sldId id="1193" r:id="rId64"/>
    <p:sldId id="1309" r:id="rId65"/>
    <p:sldId id="1192" r:id="rId66"/>
    <p:sldId id="703" r:id="rId67"/>
  </p:sldIdLst>
  <p:sldSz cx="9144000" cy="6858000" type="screen4x3"/>
  <p:notesSz cx="6797675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형래" initials="김" lastIdx="1" clrIdx="0">
    <p:extLst>
      <p:ext uri="{19B8F6BF-5375-455C-9EA6-DF929625EA0E}">
        <p15:presenceInfo xmlns:p15="http://schemas.microsoft.com/office/powerpoint/2012/main" userId="S::broadway4u@office.doowon.ac.kr::d8a570ee-eeba-4a26-8af4-093085b74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6600"/>
    <a:srgbClr val="00518E"/>
    <a:srgbClr val="0066CC"/>
    <a:srgbClr val="CC6600"/>
    <a:srgbClr val="6600CC"/>
    <a:srgbClr val="CC3300"/>
    <a:srgbClr val="CC0000"/>
    <a:srgbClr val="FFFF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1" autoAdjust="0"/>
    <p:restoredTop sz="94148" autoAdjust="0"/>
  </p:normalViewPr>
  <p:slideViewPr>
    <p:cSldViewPr>
      <p:cViewPr varScale="1">
        <p:scale>
          <a:sx n="85" d="100"/>
          <a:sy n="85" d="100"/>
        </p:scale>
        <p:origin x="90" y="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1" y="4715629"/>
            <a:ext cx="4985393" cy="44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2632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4433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751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346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540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0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!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CD6F71-2C61-EF2C-4175-145E8E98AD3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335465" y="6619820"/>
            <a:ext cx="1278922" cy="183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90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storycompiler.tistory.com/11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jpg"/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C73F1B-3690-9999-44EF-13CEEF0C5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0"/>
            <a:ext cx="9144000" cy="684618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877272"/>
            <a:ext cx="6400800" cy="503460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1270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876821"/>
            <a:ext cx="7514232" cy="1616075"/>
          </a:xfrm>
          <a:solidFill>
            <a:srgbClr val="FFFFFF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1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</a:t>
            </a:r>
            <a:r>
              <a:rPr lang="ko-KR" altLang="en-US" sz="4000" dirty="0" err="1">
                <a:solidFill>
                  <a:srgbClr val="FFFF00"/>
                </a:solidFill>
              </a:rPr>
              <a:t>라즈베리파이</a:t>
            </a:r>
            <a:r>
              <a:rPr lang="en-US" altLang="ko-KR" sz="4000" dirty="0">
                <a:solidFill>
                  <a:srgbClr val="FFFF00"/>
                </a:solidFill>
              </a:rPr>
              <a:t> </a:t>
            </a:r>
            <a:r>
              <a:rPr lang="ko-KR" altLang="en-US" sz="4000" dirty="0">
                <a:solidFill>
                  <a:srgbClr val="FFFF00"/>
                </a:solidFill>
              </a:rPr>
              <a:t>개발환경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7C2F2C-6B31-7BAC-0551-C984890AA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-7834"/>
            <a:ext cx="5184576" cy="68736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D9746E-2A14-99F9-246D-72FEEC751926}"/>
              </a:ext>
            </a:extLst>
          </p:cNvPr>
          <p:cNvSpPr txBox="1"/>
          <p:nvPr/>
        </p:nvSpPr>
        <p:spPr>
          <a:xfrm>
            <a:off x="1259632" y="2564904"/>
            <a:ext cx="6624736" cy="147784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시작하고 싶으면</a:t>
            </a:r>
            <a:r>
              <a:rPr lang="en-US" altLang="ko-KR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앞만 보고 달리면 된다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존 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F. 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케네디의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해야 할 일은 해야 한다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- </a:t>
            </a:r>
            <a:r>
              <a:rPr kumimoji="0"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어떠한 고난에도</a:t>
            </a:r>
            <a:r>
              <a:rPr kumimoji="0"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,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장애와 위험</a:t>
            </a:r>
            <a:r>
              <a:rPr kumimoji="0"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kumimoji="0"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그리고 압력이 따르더라도</a:t>
            </a:r>
            <a:r>
              <a:rPr kumimoji="0"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-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그것이야 말로 모든 인간 도덕의 기본이다</a:t>
            </a:r>
            <a:r>
              <a:rPr kumimoji="0" lang="en-US" altLang="ko-KR" sz="2000" dirty="0"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</a:p>
          <a:p>
            <a:pPr eaLnBrk="0" latinLnBrk="0" hangingPunct="0">
              <a:lnSpc>
                <a:spcPct val="150000"/>
              </a:lnSpc>
            </a:pP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― 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존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 F. </a:t>
            </a:r>
            <a:r>
              <a:rPr lang="ko-KR" altLang="en-US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케네디</a:t>
            </a:r>
            <a:r>
              <a:rPr lang="en-US" altLang="ko-KR" sz="2000" b="1" i="0" dirty="0">
                <a:solidFill>
                  <a:srgbClr val="800000"/>
                </a:solidFill>
                <a:effectLst/>
                <a:latin typeface="휴먼편지체" panose="02030504000101010101" pitchFamily="18" charset="-127"/>
                <a:ea typeface="휴먼편지체" panose="02030504000101010101" pitchFamily="18" charset="-127"/>
              </a:rPr>
              <a:t>(John F. Kennedy)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A man does what he must </a:t>
            </a:r>
          </a:p>
          <a:p>
            <a:pPr algn="l">
              <a:lnSpc>
                <a:spcPct val="150000"/>
              </a:lnSpc>
            </a:pPr>
            <a:r>
              <a:rPr lang="en-US" altLang="ko-KR" sz="2000" i="1" dirty="0">
                <a:solidFill>
                  <a:srgbClr val="31708F"/>
                </a:solidFill>
                <a:latin typeface="Whitney"/>
              </a:rPr>
              <a:t>- in spite of personal consequences,</a:t>
            </a:r>
          </a:p>
          <a:p>
            <a:pPr algn="l">
              <a:lnSpc>
                <a:spcPct val="150000"/>
              </a:lnSpc>
            </a:pP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  in spite of obstacles and dangers, and pressures –</a:t>
            </a:r>
          </a:p>
          <a:p>
            <a:pPr algn="l">
              <a:lnSpc>
                <a:spcPct val="150000"/>
              </a:lnSpc>
            </a:pPr>
            <a:r>
              <a:rPr lang="en-US" altLang="ko-KR" sz="2000" i="1" dirty="0">
                <a:solidFill>
                  <a:srgbClr val="31708F"/>
                </a:solidFill>
                <a:latin typeface="Whitney"/>
              </a:rPr>
              <a:t>and that is the basis of all human morality.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6C5CDA-92A7-8A11-8FB3-53B567FF2BB0}"/>
              </a:ext>
            </a:extLst>
          </p:cNvPr>
          <p:cNvSpPr txBox="1"/>
          <p:nvPr/>
        </p:nvSpPr>
        <p:spPr>
          <a:xfrm>
            <a:off x="6012160" y="5132297"/>
            <a:ext cx="30104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&lt;John F. Kennedy,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1917~1963&gt;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미국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대통령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정식 선거로 당선된 최연소 대통령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루스벨트와 함께 민주당의 정신적 지주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쿠바 위기 해결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아폴로 계획 출범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New Frontier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정신 주장 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305EAE3-1885-575D-11AE-1375268E1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203" y="1608213"/>
            <a:ext cx="2770997" cy="345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</a:t>
            </a:r>
            <a:r>
              <a:rPr lang="ko-KR" altLang="en-US" dirty="0" err="1"/>
              <a:t>라즈베리파이</a:t>
            </a:r>
            <a:r>
              <a:rPr lang="ko-KR" altLang="en-US" dirty="0"/>
              <a:t> 개발환경을 구축할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라즈베리파이</a:t>
            </a:r>
            <a:r>
              <a:rPr lang="ko-KR" altLang="en-US" dirty="0"/>
              <a:t> 소개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 err="1"/>
              <a:t>라즈베리파이</a:t>
            </a:r>
            <a:r>
              <a:rPr lang="en-US" altLang="ko-KR" dirty="0"/>
              <a:t> OS(</a:t>
            </a:r>
            <a:r>
              <a:rPr lang="ko-KR" altLang="en-US" dirty="0"/>
              <a:t>운영체제</a:t>
            </a:r>
            <a:r>
              <a:rPr lang="en-US" altLang="ko-KR" dirty="0"/>
              <a:t>)</a:t>
            </a:r>
            <a:r>
              <a:rPr lang="ko-KR" altLang="en-US" dirty="0"/>
              <a:t> 설치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한글 글꼴 설치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Raspberry Pi Imager </a:t>
            </a:r>
            <a:r>
              <a:rPr lang="ko-KR" altLang="en-US" dirty="0"/>
              <a:t>다운로드 </a:t>
            </a:r>
            <a:r>
              <a:rPr lang="en-US" altLang="ko-KR" dirty="0">
                <a:sym typeface="Wingdings" panose="05000000000000000000" pitchFamily="2" charset="2"/>
              </a:rPr>
              <a:t> OS </a:t>
            </a:r>
            <a:r>
              <a:rPr lang="ko-KR" altLang="en-US" dirty="0">
                <a:sym typeface="Wingdings" panose="05000000000000000000" pitchFamily="2" charset="2"/>
              </a:rPr>
              <a:t>설치 </a:t>
            </a:r>
            <a:r>
              <a:rPr lang="en-US" altLang="ko-KR" dirty="0">
                <a:sym typeface="Wingdings" panose="05000000000000000000" pitchFamily="2" charset="2"/>
              </a:rPr>
              <a:t>SW</a:t>
            </a:r>
            <a:endParaRPr lang="en-US" altLang="ko-KR" dirty="0"/>
          </a:p>
          <a:p>
            <a:pPr lvl="1"/>
            <a:r>
              <a:rPr lang="en-US" altLang="ko-KR" dirty="0"/>
              <a:t>www.raspberrypi.com/software</a:t>
            </a:r>
            <a:endParaRPr lang="ko-KR" altLang="en-US" dirty="0"/>
          </a:p>
          <a:p>
            <a:pPr marL="3240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04511C-0FB4-E2E1-72A7-27B3856DE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0" y="2003555"/>
            <a:ext cx="8496944" cy="39827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7B1F809-E802-175C-0879-A707B2F6FF9D}"/>
              </a:ext>
            </a:extLst>
          </p:cNvPr>
          <p:cNvSpPr/>
          <p:nvPr/>
        </p:nvSpPr>
        <p:spPr>
          <a:xfrm>
            <a:off x="527770" y="4838056"/>
            <a:ext cx="2219048" cy="4952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66218F-1286-810D-055A-DC1E3071D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5594380"/>
            <a:ext cx="3252142" cy="5650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264052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</a:t>
            </a:r>
            <a:r>
              <a:rPr lang="en-US" altLang="ko-KR" dirty="0"/>
              <a:t> OS </a:t>
            </a:r>
            <a:r>
              <a:rPr lang="ko-KR" altLang="en-US" dirty="0"/>
              <a:t>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</a:t>
            </a:r>
            <a:r>
              <a:rPr lang="ko-KR" altLang="en-US" dirty="0"/>
              <a:t> 다운로드</a:t>
            </a:r>
            <a:r>
              <a:rPr lang="en-US" altLang="ko-KR" dirty="0"/>
              <a:t>(1)</a:t>
            </a:r>
          </a:p>
          <a:p>
            <a:pPr lvl="1"/>
            <a:r>
              <a:rPr lang="en-US" altLang="ko-KR" dirty="0"/>
              <a:t>www.raspberrypi.com/software</a:t>
            </a:r>
            <a:endParaRPr lang="ko-KR" altLang="en-US" dirty="0"/>
          </a:p>
          <a:p>
            <a:pPr marL="3240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B03514-F3FD-199F-DD34-3AB347399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40" y="2323659"/>
            <a:ext cx="8496944" cy="25989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7B1F809-E802-175C-0879-A707B2F6FF9D}"/>
              </a:ext>
            </a:extLst>
          </p:cNvPr>
          <p:cNvSpPr/>
          <p:nvPr/>
        </p:nvSpPr>
        <p:spPr>
          <a:xfrm>
            <a:off x="539552" y="3627660"/>
            <a:ext cx="2412000" cy="46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017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</a:t>
            </a:r>
            <a:r>
              <a:rPr lang="en-US" altLang="ko-KR" dirty="0"/>
              <a:t> OS </a:t>
            </a:r>
            <a:r>
              <a:rPr lang="ko-KR" altLang="en-US" dirty="0"/>
              <a:t>다운로드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389E0F-F177-CA6D-CB0C-30ACD8736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</a:t>
            </a:r>
            <a:r>
              <a:rPr lang="ko-KR" altLang="en-US" dirty="0"/>
              <a:t> 다운로드</a:t>
            </a:r>
            <a:r>
              <a:rPr lang="en-US" altLang="ko-KR" dirty="0"/>
              <a:t>(2)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BE4F25-ED8E-E0E7-0651-DDA514A7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56" y="1700808"/>
            <a:ext cx="8496944" cy="27860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6109467-CAC0-E34C-14EC-6EBDBA8ADD89}"/>
              </a:ext>
            </a:extLst>
          </p:cNvPr>
          <p:cNvSpPr/>
          <p:nvPr/>
        </p:nvSpPr>
        <p:spPr>
          <a:xfrm>
            <a:off x="6300192" y="3068961"/>
            <a:ext cx="1908000" cy="25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3906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ED00-4B30-6EBA-D150-FCF1EC42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177C2C55-C356-3272-5110-6BD5E89B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</a:t>
            </a:r>
            <a:r>
              <a:rPr lang="en-US" altLang="ko-KR" dirty="0"/>
              <a:t> OS </a:t>
            </a:r>
            <a:r>
              <a:rPr lang="ko-KR" altLang="en-US" dirty="0"/>
              <a:t>다운로드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894D43-7906-7DF4-7442-8BBCA2CB1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1083C3-11CE-D798-C728-3657EAD7A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</a:t>
            </a:r>
            <a:r>
              <a:rPr lang="ko-KR" altLang="en-US" dirty="0"/>
              <a:t> 다운로드</a:t>
            </a:r>
            <a:r>
              <a:rPr lang="en-US" altLang="ko-KR" dirty="0"/>
              <a:t>(</a:t>
            </a:r>
            <a:r>
              <a:rPr lang="ko-KR" altLang="en-US" dirty="0"/>
              <a:t>３</a:t>
            </a:r>
            <a:r>
              <a:rPr lang="en-US" altLang="ko-KR" dirty="0"/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3036FC-707C-69FD-33F8-F7756BAF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185" y="1556792"/>
            <a:ext cx="6829630" cy="47645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8B1D832-C580-5274-50EF-0BF777B741EF}"/>
              </a:ext>
            </a:extLst>
          </p:cNvPr>
          <p:cNvSpPr/>
          <p:nvPr/>
        </p:nvSpPr>
        <p:spPr>
          <a:xfrm>
            <a:off x="6776657" y="3761492"/>
            <a:ext cx="1056251" cy="36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A36A21-8E76-1F28-7C11-140DDD3BE8EC}"/>
              </a:ext>
            </a:extLst>
          </p:cNvPr>
          <p:cNvSpPr/>
          <p:nvPr/>
        </p:nvSpPr>
        <p:spPr>
          <a:xfrm>
            <a:off x="7380312" y="4249876"/>
            <a:ext cx="452596" cy="2695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3561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7A7E-0A9D-96E9-930C-59197678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A6540F88-B48B-9953-95A1-2A54C88B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</a:t>
            </a:r>
            <a:r>
              <a:rPr lang="en-US" altLang="ko-KR" dirty="0"/>
              <a:t> OS </a:t>
            </a:r>
            <a:r>
              <a:rPr lang="ko-KR" altLang="en-US" dirty="0"/>
              <a:t>다운로드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D14C5FE-D36C-4FEB-76D3-BCC9B2F4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08E99-BB33-C5FF-63F9-130DD5405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</a:t>
            </a:r>
            <a:r>
              <a:rPr lang="ko-KR" altLang="en-US" dirty="0"/>
              <a:t> 다운로드</a:t>
            </a:r>
            <a:r>
              <a:rPr lang="en-US" altLang="ko-KR" dirty="0"/>
              <a:t>(</a:t>
            </a:r>
            <a:r>
              <a:rPr lang="ko-KR" altLang="en-US" dirty="0"/>
              <a:t>４</a:t>
            </a:r>
            <a:r>
              <a:rPr lang="en-US" altLang="ko-KR" dirty="0"/>
              <a:t>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51E57D-7EC1-D8AB-C94A-6AC6D32C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468" y="1503378"/>
            <a:ext cx="4679288" cy="48762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3D40491C-1DE1-BC2D-1E66-FE2CDB33A2AA}"/>
              </a:ext>
            </a:extLst>
          </p:cNvPr>
          <p:cNvSpPr/>
          <p:nvPr/>
        </p:nvSpPr>
        <p:spPr>
          <a:xfrm>
            <a:off x="2274289" y="5986077"/>
            <a:ext cx="3564000" cy="216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1014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5817B-92B2-0E4A-C5EF-72A2E376B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현재 제공되는 </a:t>
            </a:r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 </a:t>
            </a:r>
            <a:r>
              <a:rPr lang="ko-KR" altLang="en-US" dirty="0"/>
              <a:t>버전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951EE-C66E-7E60-1D85-7519DA3DD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6537EE-14FC-89FC-DD08-07B1A5AFC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76" y="1068735"/>
            <a:ext cx="4314055" cy="4365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246D773-1EA8-5BE9-ED31-A401D3175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354" y="1047953"/>
            <a:ext cx="3935746" cy="53012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2806B6-7A1E-DB35-4970-A8D69DA84D75}"/>
              </a:ext>
            </a:extLst>
          </p:cNvPr>
          <p:cNvSpPr txBox="1"/>
          <p:nvPr/>
        </p:nvSpPr>
        <p:spPr>
          <a:xfrm>
            <a:off x="7694707" y="6308747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&lt;32 bits&gt;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1A9B37-B206-2618-DA46-FB18417CA065}"/>
              </a:ext>
            </a:extLst>
          </p:cNvPr>
          <p:cNvSpPr txBox="1"/>
          <p:nvPr/>
        </p:nvSpPr>
        <p:spPr>
          <a:xfrm>
            <a:off x="3444438" y="5404088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&lt;64 bits&gt;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7832837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83200-1BF2-01A0-1707-13A11B6D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39482-6AED-56FE-1166-E3DF2E18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bullseye vs. bookworm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6470CE-5E9E-45DF-FAC2-3D336DA53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DE1987-61F4-6B96-8466-35E030852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76" y="1068735"/>
            <a:ext cx="4314055" cy="4365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B28F38-27C4-396A-7BCB-4045BF9D64CB}"/>
              </a:ext>
            </a:extLst>
          </p:cNvPr>
          <p:cNvSpPr txBox="1"/>
          <p:nvPr/>
        </p:nvSpPr>
        <p:spPr>
          <a:xfrm>
            <a:off x="301174" y="545071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&lt;64 bits&gt;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643D26-9879-7395-E900-7DFDA2BFF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14" y="1423677"/>
            <a:ext cx="4314056" cy="16108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46DBD71-6C30-0ADF-C8E2-464AD0B10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523" y="3127113"/>
            <a:ext cx="4314056" cy="15984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5BEEEBE-529B-999C-823C-AFE13D48E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14" y="4859398"/>
            <a:ext cx="4314055" cy="19429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4956722-2785-FCA3-2B20-4DF60CD0E1B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123728" y="2229091"/>
            <a:ext cx="2402486" cy="101118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180C37E-BAD0-E3B6-5E2D-D426A2EAB53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89888" y="3446045"/>
            <a:ext cx="2448635" cy="4803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ED6FA07-63FE-A721-AA9C-D610A8C21886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123728" y="5293260"/>
            <a:ext cx="2402486" cy="53760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951B8F5-CA98-312E-C842-76848FD359C4}"/>
              </a:ext>
            </a:extLst>
          </p:cNvPr>
          <p:cNvSpPr/>
          <p:nvPr/>
        </p:nvSpPr>
        <p:spPr>
          <a:xfrm>
            <a:off x="4525679" y="5476713"/>
            <a:ext cx="3862745" cy="2488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85675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8D9A-EDB5-2C5C-36DB-595BF3A1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810A1-0165-416A-2984-9557F9CC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bullseye vs. bookworm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E112B-3EB7-7F83-F485-DAFA2F215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35EDC6-3B2C-9034-5A7F-2F130BC2B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37" y="1246742"/>
            <a:ext cx="6138454" cy="2865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B1B84-81F2-A9ED-4457-3611A4EB6789}"/>
              </a:ext>
            </a:extLst>
          </p:cNvPr>
          <p:cNvSpPr txBox="1"/>
          <p:nvPr/>
        </p:nvSpPr>
        <p:spPr>
          <a:xfrm>
            <a:off x="248437" y="4359683"/>
            <a:ext cx="2592288" cy="1533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가상환경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20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opencv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legacy camera </a:t>
            </a: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모듈 활용 방법이 많이 바뀜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3891F8-A5F5-6E1B-3DC5-39BBF498D992}"/>
              </a:ext>
            </a:extLst>
          </p:cNvPr>
          <p:cNvCxnSpPr>
            <a:cxnSpLocks/>
          </p:cNvCxnSpPr>
          <p:nvPr/>
        </p:nvCxnSpPr>
        <p:spPr>
          <a:xfrm>
            <a:off x="2987824" y="1700808"/>
            <a:ext cx="2232248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8E00769-67B1-395F-D30A-C605F283A4DA}"/>
              </a:ext>
            </a:extLst>
          </p:cNvPr>
          <p:cNvCxnSpPr>
            <a:cxnSpLocks/>
          </p:cNvCxnSpPr>
          <p:nvPr/>
        </p:nvCxnSpPr>
        <p:spPr>
          <a:xfrm>
            <a:off x="248437" y="2456984"/>
            <a:ext cx="273938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1C696916-F90C-8CC8-70AE-D02CD25C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936" y="3832075"/>
            <a:ext cx="5508520" cy="25805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BDCEE21-A116-2C5E-69EE-ECCEBC8DD2C9}"/>
              </a:ext>
            </a:extLst>
          </p:cNvPr>
          <p:cNvCxnSpPr>
            <a:cxnSpLocks/>
          </p:cNvCxnSpPr>
          <p:nvPr/>
        </p:nvCxnSpPr>
        <p:spPr>
          <a:xfrm>
            <a:off x="5580112" y="4359683"/>
            <a:ext cx="288032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2CAC6A3-91C4-B66A-4BE4-7FD3CBF4896C}"/>
              </a:ext>
            </a:extLst>
          </p:cNvPr>
          <p:cNvCxnSpPr>
            <a:cxnSpLocks/>
          </p:cNvCxnSpPr>
          <p:nvPr/>
        </p:nvCxnSpPr>
        <p:spPr>
          <a:xfrm>
            <a:off x="3174596" y="5129482"/>
            <a:ext cx="273938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00574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최신</a:t>
            </a:r>
            <a:r>
              <a:rPr lang="en-US" altLang="ko-KR" dirty="0"/>
              <a:t> OS </a:t>
            </a:r>
            <a:r>
              <a:rPr lang="ko-KR" altLang="en-US" dirty="0"/>
              <a:t>다운로드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다운로드된</a:t>
            </a:r>
            <a:r>
              <a:rPr lang="ko-KR" altLang="en-US" dirty="0"/>
              <a:t> 파일 별도 저장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추후 편리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FFE00A-01AB-93CD-3DB7-2CAAD091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618566"/>
            <a:ext cx="6922713" cy="27567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81A490-D215-1783-5678-E1275661E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441" y="4046930"/>
            <a:ext cx="6922713" cy="23290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FAF50308-0714-F233-7AD4-258D065FC85C}"/>
              </a:ext>
            </a:extLst>
          </p:cNvPr>
          <p:cNvSpPr/>
          <p:nvPr/>
        </p:nvSpPr>
        <p:spPr>
          <a:xfrm>
            <a:off x="1763688" y="2879502"/>
            <a:ext cx="2304256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565817-8422-068B-EADB-1B0122A1F53F}"/>
              </a:ext>
            </a:extLst>
          </p:cNvPr>
          <p:cNvSpPr/>
          <p:nvPr/>
        </p:nvSpPr>
        <p:spPr>
          <a:xfrm>
            <a:off x="4091424" y="5362941"/>
            <a:ext cx="2116121" cy="43204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3CCAD2C-7903-E45F-1F62-D615C92D44B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915816" y="3311550"/>
            <a:ext cx="2233669" cy="205139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DDEF14-256C-3736-BED1-74104B91F72F}"/>
              </a:ext>
            </a:extLst>
          </p:cNvPr>
          <p:cNvSpPr txBox="1"/>
          <p:nvPr/>
        </p:nvSpPr>
        <p:spPr>
          <a:xfrm>
            <a:off x="3484428" y="366468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복사</a:t>
            </a:r>
          </a:p>
        </p:txBody>
      </p:sp>
    </p:spTree>
    <p:extLst>
      <p:ext uri="{BB962C8B-B14F-4D97-AF65-F5344CB8AC3E}">
        <p14:creationId xmlns:p14="http://schemas.microsoft.com/office/powerpoint/2010/main" val="262180291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en-US" altLang="ko-KR" dirty="0" err="1"/>
              <a:t>xz</a:t>
            </a:r>
            <a:r>
              <a:rPr lang="en-US" altLang="ko-KR" dirty="0"/>
              <a:t> </a:t>
            </a:r>
            <a:r>
              <a:rPr lang="ko-KR" altLang="en-US" dirty="0"/>
              <a:t>압축파일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389E0F-F177-CA6D-CB0C-30ACD8736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xz</a:t>
            </a:r>
            <a:r>
              <a:rPr lang="en-US" altLang="ko-KR" dirty="0"/>
              <a:t> </a:t>
            </a:r>
            <a:r>
              <a:rPr lang="ko-KR" altLang="en-US" dirty="0"/>
              <a:t>압축파일</a:t>
            </a:r>
            <a:endParaRPr lang="en-US" altLang="ko-KR" dirty="0"/>
          </a:p>
          <a:p>
            <a:pPr lvl="1"/>
            <a:r>
              <a:rPr lang="ko-KR" altLang="en-US" dirty="0"/>
              <a:t>하나의 파일만을 압축할 수 있으며</a:t>
            </a:r>
            <a:r>
              <a:rPr lang="en-US" altLang="ko-KR" dirty="0"/>
              <a:t>, </a:t>
            </a:r>
            <a:r>
              <a:rPr lang="ko-KR" altLang="en-US" dirty="0"/>
              <a:t>압축률이 매우 뛰어남</a:t>
            </a:r>
            <a:endParaRPr lang="en-US" altLang="ko-KR" dirty="0"/>
          </a:p>
          <a:p>
            <a:pPr lvl="1"/>
            <a:r>
              <a:rPr lang="en-US" altLang="ko-KR" dirty="0"/>
              <a:t>2011</a:t>
            </a:r>
            <a:r>
              <a:rPr lang="ko-KR" altLang="en-US" dirty="0"/>
              <a:t>년 </a:t>
            </a:r>
            <a:r>
              <a:rPr lang="en-US" altLang="ko-KR" dirty="0"/>
              <a:t>GNOME </a:t>
            </a:r>
            <a:r>
              <a:rPr lang="ko-KR" altLang="en-US" dirty="0"/>
              <a:t>프로젝트에서도 채택</a:t>
            </a:r>
            <a:endParaRPr lang="en-US" altLang="ko-KR" dirty="0"/>
          </a:p>
          <a:p>
            <a:pPr lvl="1"/>
            <a:r>
              <a:rPr lang="en-US" altLang="ko-KR" dirty="0"/>
              <a:t>Linux, Mac OS, Solaris, Windows, DOS </a:t>
            </a:r>
            <a:r>
              <a:rPr lang="ko-KR" altLang="en-US" dirty="0"/>
              <a:t>등 다수의 플랫폼에서 사용</a:t>
            </a:r>
            <a:endParaRPr lang="en-US" altLang="ko-KR" dirty="0"/>
          </a:p>
          <a:p>
            <a:r>
              <a:rPr lang="en-US" altLang="ko-KR" dirty="0"/>
              <a:t>Raspberry Pi Imager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“---.</a:t>
            </a:r>
            <a:r>
              <a:rPr lang="en-US" altLang="ko-KR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xz</a:t>
            </a:r>
            <a:r>
              <a:rPr lang="en-US" altLang="ko-K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” </a:t>
            </a:r>
            <a:r>
              <a:rPr lang="ko-KR" altLang="en-US" dirty="0"/>
              <a:t>압축파일 인식 가능 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7" name="그림 6">
            <a:hlinkClick r:id="rId2"/>
            <a:extLst>
              <a:ext uri="{FF2B5EF4-FFF2-40B4-BE49-F238E27FC236}">
                <a16:creationId xmlns:a16="http://schemas.microsoft.com/office/drawing/2014/main" id="{609EB85E-4931-A699-3F84-5ECB34167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933056"/>
            <a:ext cx="3600400" cy="23811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2449628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Micro</a:t>
            </a:r>
            <a:r>
              <a:rPr lang="ko-KR" altLang="en-US" dirty="0"/>
              <a:t> </a:t>
            </a:r>
            <a:r>
              <a:rPr lang="en-US" altLang="ko-KR" dirty="0"/>
              <a:t>SD </a:t>
            </a:r>
            <a:r>
              <a:rPr lang="ko-KR" altLang="en-US" dirty="0"/>
              <a:t>카드 준비</a:t>
            </a:r>
            <a:endParaRPr lang="en-US" altLang="ko-KR" dirty="0"/>
          </a:p>
          <a:p>
            <a:pPr lvl="1"/>
            <a:r>
              <a:rPr lang="en-US" altLang="ko-KR" dirty="0"/>
              <a:t>Micro</a:t>
            </a:r>
            <a:r>
              <a:rPr lang="ko-KR" altLang="en-US" dirty="0"/>
              <a:t> </a:t>
            </a:r>
            <a:r>
              <a:rPr lang="en-US" altLang="ko-KR" dirty="0"/>
              <a:t>SD</a:t>
            </a:r>
            <a:r>
              <a:rPr lang="ko-KR" altLang="en-US" dirty="0"/>
              <a:t> 카드와 </a:t>
            </a:r>
            <a:r>
              <a:rPr lang="en-US" altLang="ko-KR" dirty="0"/>
              <a:t>SD Card Reader</a:t>
            </a:r>
            <a:r>
              <a:rPr lang="ko-KR" altLang="en-US" dirty="0"/>
              <a:t>를 준비</a:t>
            </a:r>
            <a:endParaRPr lang="en-US" altLang="ko-KR" dirty="0"/>
          </a:p>
          <a:p>
            <a:pPr lvl="1"/>
            <a:r>
              <a:rPr lang="en-US" altLang="ko-KR" dirty="0"/>
              <a:t>32GB SD Card</a:t>
            </a:r>
            <a:r>
              <a:rPr lang="ko-KR" altLang="en-US" dirty="0"/>
              <a:t>를 </a:t>
            </a:r>
            <a:r>
              <a:rPr lang="en-US" altLang="ko-KR" dirty="0"/>
              <a:t>Card Reader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장착</a:t>
            </a:r>
            <a:endParaRPr lang="en-US" altLang="ko-KR" dirty="0"/>
          </a:p>
          <a:p>
            <a:pPr lvl="1"/>
            <a:r>
              <a:rPr lang="en-US" altLang="ko-KR" dirty="0"/>
              <a:t>Card</a:t>
            </a:r>
            <a:r>
              <a:rPr lang="ko-KR" altLang="en-US" dirty="0"/>
              <a:t> </a:t>
            </a:r>
            <a:r>
              <a:rPr lang="en-US" altLang="ko-KR" dirty="0"/>
              <a:t>Reader</a:t>
            </a:r>
            <a:r>
              <a:rPr lang="ko-KR" altLang="en-US" dirty="0"/>
              <a:t>를 </a:t>
            </a:r>
            <a:r>
              <a:rPr lang="en-US" altLang="ko-KR" dirty="0"/>
              <a:t>PC</a:t>
            </a:r>
            <a:r>
              <a:rPr lang="ko-KR" altLang="en-US" dirty="0"/>
              <a:t>의 </a:t>
            </a:r>
            <a:r>
              <a:rPr lang="en-US" altLang="ko-KR" dirty="0"/>
              <a:t>USB </a:t>
            </a:r>
            <a:r>
              <a:rPr lang="ko-KR" altLang="en-US" dirty="0"/>
              <a:t>단자에 연결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C3B6F9-46E0-BC02-83AB-C44CEAB8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49" y="3284985"/>
            <a:ext cx="8356702" cy="268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38974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설치</a:t>
            </a:r>
          </a:p>
          <a:p>
            <a:pPr marL="3240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21B5BA-8D54-3907-BE68-55214F571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18" y="1825948"/>
            <a:ext cx="8831364" cy="29712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04535B9-8C8A-AC71-F4FA-4249A7004FDB}"/>
              </a:ext>
            </a:extLst>
          </p:cNvPr>
          <p:cNvSpPr/>
          <p:nvPr/>
        </p:nvSpPr>
        <p:spPr>
          <a:xfrm>
            <a:off x="2627784" y="3411724"/>
            <a:ext cx="1548000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0042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3D1DA72-780A-5FE2-F22D-F5D3F0B0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40" y="1490201"/>
            <a:ext cx="4469450" cy="350633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CB2330B-84AD-AF5E-5961-EFDC7E2E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178" y="2261800"/>
            <a:ext cx="4484498" cy="3461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383306F-682B-7FCD-DDBF-BE988F058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111" y="2940461"/>
            <a:ext cx="4469450" cy="34461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49231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1348-3B4B-380D-672E-2C23AC27B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E43C8-3F8A-7F63-3BE9-3025EBB2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2CBEB6-0E20-D6CF-6A37-2741B9D44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5A519-75D3-8FCB-3B4D-373CE907B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E9C1A4-5167-F37E-4799-B354C7354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59991"/>
            <a:ext cx="4491984" cy="34403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DD1A04A-6B28-4A64-696B-26778DCCC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406101"/>
            <a:ext cx="4469449" cy="347790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22056FC-1B65-13FD-9296-C65ACDAA7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824" y="3075487"/>
            <a:ext cx="4469449" cy="34253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99531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endParaRPr lang="en-US" altLang="ko-KR" dirty="0"/>
          </a:p>
          <a:p>
            <a:pPr lvl="1"/>
            <a:r>
              <a:rPr lang="ko-KR" altLang="en-US" dirty="0"/>
              <a:t>장치 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ACFDE0-BB4E-B766-369B-3A1FEC635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8" y="2132856"/>
            <a:ext cx="5207891" cy="36815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836FF0E-7D24-03C0-AEF1-92FD1106CEE7}"/>
              </a:ext>
            </a:extLst>
          </p:cNvPr>
          <p:cNvSpPr/>
          <p:nvPr/>
        </p:nvSpPr>
        <p:spPr>
          <a:xfrm>
            <a:off x="755576" y="3842386"/>
            <a:ext cx="1152128" cy="36004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BC9CEE0-473B-B96D-185E-AEB794A551BD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1907704" y="4022406"/>
            <a:ext cx="1520466" cy="404061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57A30F2-9A0E-1653-69F3-D13CDA46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170" y="2587296"/>
            <a:ext cx="5320294" cy="36783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1F8860-334A-C5C4-AF46-44C64ECD294C}"/>
              </a:ext>
            </a:extLst>
          </p:cNvPr>
          <p:cNvSpPr/>
          <p:nvPr/>
        </p:nvSpPr>
        <p:spPr>
          <a:xfrm>
            <a:off x="3491880" y="4581128"/>
            <a:ext cx="3024336" cy="72008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69276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endParaRPr lang="en-US" altLang="ko-KR" dirty="0"/>
          </a:p>
          <a:p>
            <a:pPr lvl="1"/>
            <a:r>
              <a:rPr lang="ko-KR" altLang="en-US" dirty="0"/>
              <a:t>운영체제 선택</a:t>
            </a:r>
            <a:r>
              <a:rPr lang="en-US" altLang="ko-KR" dirty="0"/>
              <a:t>(1)</a:t>
            </a:r>
            <a:endParaRPr lang="ko-KR" altLang="en-US" dirty="0"/>
          </a:p>
          <a:p>
            <a:pPr marL="3240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E73A17-91BD-4719-B12C-4F5D298DC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8" y="2132856"/>
            <a:ext cx="5207891" cy="36815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854954-33CA-DBCC-BF72-BA45E814E142}"/>
              </a:ext>
            </a:extLst>
          </p:cNvPr>
          <p:cNvSpPr/>
          <p:nvPr/>
        </p:nvSpPr>
        <p:spPr>
          <a:xfrm>
            <a:off x="1917978" y="3852660"/>
            <a:ext cx="1152127" cy="360040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B41FCC0-BE8C-6267-C420-FAC6765EF21C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3070105" y="4032680"/>
            <a:ext cx="853823" cy="505938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C56F1C59-36C5-C5FB-5F1E-195A591E1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835594"/>
            <a:ext cx="4927359" cy="34060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1E8C60-EFEB-59FD-7CD9-BFB82130EC3A}"/>
              </a:ext>
            </a:extLst>
          </p:cNvPr>
          <p:cNvSpPr/>
          <p:nvPr/>
        </p:nvSpPr>
        <p:spPr>
          <a:xfrm>
            <a:off x="3995936" y="5649041"/>
            <a:ext cx="2888792" cy="550158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36636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endParaRPr lang="en-US" altLang="ko-KR" dirty="0"/>
          </a:p>
          <a:p>
            <a:pPr lvl="1"/>
            <a:r>
              <a:rPr lang="ko-KR" altLang="en-US" dirty="0"/>
              <a:t>운영체제 선택</a:t>
            </a:r>
            <a:r>
              <a:rPr lang="en-US" altLang="ko-KR" dirty="0"/>
              <a:t>(2)</a:t>
            </a:r>
            <a:endParaRPr lang="ko-KR" altLang="en-US" dirty="0"/>
          </a:p>
          <a:p>
            <a:pPr marL="3240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22DAF7B-CC03-9B0E-ABAF-AD632E5D1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59" y="2060848"/>
            <a:ext cx="6161905" cy="419047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1F434C6-FD26-9F10-BCD2-128A8A266975}"/>
              </a:ext>
            </a:extLst>
          </p:cNvPr>
          <p:cNvSpPr/>
          <p:nvPr/>
        </p:nvSpPr>
        <p:spPr>
          <a:xfrm>
            <a:off x="2737115" y="2852936"/>
            <a:ext cx="4904725" cy="349903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1941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저장소 선택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EC5734-6852-A4BD-5D07-ED3E9FF8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132856"/>
            <a:ext cx="5207891" cy="36616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6E31447-F1C3-B81B-E54E-D696ACA83A13}"/>
              </a:ext>
            </a:extLst>
          </p:cNvPr>
          <p:cNvSpPr/>
          <p:nvPr/>
        </p:nvSpPr>
        <p:spPr>
          <a:xfrm>
            <a:off x="2999480" y="3861047"/>
            <a:ext cx="2220592" cy="334459"/>
          </a:xfrm>
          <a:prstGeom prst="rect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CDFBE5-74F3-0BDB-B1E9-B3F0F0D94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742" y="4098989"/>
            <a:ext cx="4312115" cy="2754963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3D8FED-09B3-B36A-8EDC-25415FDC8CA0}"/>
              </a:ext>
            </a:extLst>
          </p:cNvPr>
          <p:cNvCxnSpPr>
            <a:cxnSpLocks/>
            <a:stCxn id="8" idx="2"/>
            <a:endCxn id="9" idx="1"/>
          </p:cNvCxnSpPr>
          <p:nvPr/>
        </p:nvCxnSpPr>
        <p:spPr>
          <a:xfrm>
            <a:off x="4109776" y="4195506"/>
            <a:ext cx="937966" cy="1280965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27C574-8367-87F2-50F6-87DDCD2DB24E}"/>
              </a:ext>
            </a:extLst>
          </p:cNvPr>
          <p:cNvSpPr/>
          <p:nvPr/>
        </p:nvSpPr>
        <p:spPr>
          <a:xfrm>
            <a:off x="5096997" y="4797129"/>
            <a:ext cx="2888792" cy="4320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45279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설정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77C1AE-67D8-53B3-9450-CD44C141F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678" y="2060848"/>
            <a:ext cx="5892868" cy="41632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27C574-8367-87F2-50F6-87DDCD2DB24E}"/>
              </a:ext>
            </a:extLst>
          </p:cNvPr>
          <p:cNvSpPr/>
          <p:nvPr/>
        </p:nvSpPr>
        <p:spPr>
          <a:xfrm>
            <a:off x="5292080" y="5266524"/>
            <a:ext cx="1872208" cy="36004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1BCE34-D333-4C24-D9B5-3EFBF31B3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193" y="3273403"/>
            <a:ext cx="5038095" cy="15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8C7B1F5-DA24-9013-6F05-0AAB9BB5D16C}"/>
              </a:ext>
            </a:extLst>
          </p:cNvPr>
          <p:cNvSpPr/>
          <p:nvPr/>
        </p:nvSpPr>
        <p:spPr>
          <a:xfrm>
            <a:off x="2360300" y="4380616"/>
            <a:ext cx="1234410" cy="36004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5687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73769-958B-53DE-6EBE-85831059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770CC-D159-E58B-40F4-690F6859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8BB67-8AEC-0DF1-DD90-6784D758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13682B-8F7F-1DEB-7903-6B54428F3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C2B441-2590-F773-B1BC-86EAA60DC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425064"/>
            <a:ext cx="3744416" cy="50679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2C632CC-FD86-62E7-788F-F3ABCC4CD223}"/>
              </a:ext>
            </a:extLst>
          </p:cNvPr>
          <p:cNvSpPr/>
          <p:nvPr/>
        </p:nvSpPr>
        <p:spPr>
          <a:xfrm>
            <a:off x="3872468" y="2606000"/>
            <a:ext cx="1512168" cy="72008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541919-B5FC-712E-CBEE-4C68CFB9A7A6}"/>
              </a:ext>
            </a:extLst>
          </p:cNvPr>
          <p:cNvSpPr/>
          <p:nvPr/>
        </p:nvSpPr>
        <p:spPr>
          <a:xfrm>
            <a:off x="3873002" y="3629841"/>
            <a:ext cx="1512168" cy="72008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41753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B7E0-2E9C-F4EC-C913-4D2EEA82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81FB0-4637-A532-55E7-2A13E4606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운영체제</a:t>
            </a:r>
            <a:r>
              <a:rPr lang="en-US" altLang="ko-KR" dirty="0"/>
              <a:t>(OS)</a:t>
            </a:r>
            <a:r>
              <a:rPr lang="ko-KR" altLang="en-US" dirty="0"/>
              <a:t>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1AE9E-6209-ABD6-11A8-FDF4E2E3B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16018-1D63-B614-E347-22390D439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987F77-1917-1E18-B4D0-EAED52210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190" y="1628800"/>
            <a:ext cx="6447619" cy="45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7D58C39-A64B-AE48-F78D-8CAF00B8076D}"/>
              </a:ext>
            </a:extLst>
          </p:cNvPr>
          <p:cNvSpPr/>
          <p:nvPr/>
        </p:nvSpPr>
        <p:spPr>
          <a:xfrm>
            <a:off x="5189250" y="4365104"/>
            <a:ext cx="648072" cy="36004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7395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개발환경 구축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“Raspberry Pi</a:t>
            </a:r>
            <a:r>
              <a:rPr lang="ko-KR" altLang="en-US" dirty="0"/>
              <a:t> </a:t>
            </a:r>
            <a:r>
              <a:rPr lang="en-US" altLang="ko-KR" dirty="0"/>
              <a:t>Imager”</a:t>
            </a:r>
            <a:r>
              <a:rPr lang="ko-KR" altLang="en-US" dirty="0"/>
              <a:t> 실행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운영체제 쓰기 </a:t>
            </a:r>
            <a:r>
              <a:rPr lang="en-US" altLang="ko-KR" dirty="0"/>
              <a:t>(</a:t>
            </a:r>
            <a:r>
              <a:rPr lang="ko-KR" altLang="en-US" dirty="0"/>
              <a:t>실행과정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29A25B-0E0D-4712-6452-0458BEE9B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132856"/>
            <a:ext cx="5019048" cy="19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E9B0558-F754-1857-0973-627CEDFED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048" y="2636912"/>
            <a:ext cx="5396455" cy="38069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6506208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16603-878D-EC48-BCF3-8E23DE39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컴퓨터 기본구조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C07F7-DBB1-E939-402D-450CCD200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D26026-7763-DD82-2B7B-34DC1178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010" y="1052736"/>
            <a:ext cx="5551980" cy="296705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617D36C-AC4E-3A03-2AAA-67224F063A81}"/>
              </a:ext>
            </a:extLst>
          </p:cNvPr>
          <p:cNvGraphicFramePr>
            <a:graphicFrameLocks noGrp="1"/>
          </p:cNvGraphicFramePr>
          <p:nvPr/>
        </p:nvGraphicFramePr>
        <p:xfrm>
          <a:off x="115415" y="4209556"/>
          <a:ext cx="8928100" cy="217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524">
                  <a:extLst>
                    <a:ext uri="{9D8B030D-6E8A-4147-A177-3AD203B41FA5}">
                      <a16:colId xmlns:a16="http://schemas.microsoft.com/office/drawing/2014/main" val="213963174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386256235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680732335"/>
                    </a:ext>
                  </a:extLst>
                </a:gridCol>
                <a:gridCol w="1490245">
                  <a:extLst>
                    <a:ext uri="{9D8B030D-6E8A-4147-A177-3AD203B41FA5}">
                      <a16:colId xmlns:a16="http://schemas.microsoft.com/office/drawing/2014/main" val="1705722699"/>
                    </a:ext>
                  </a:extLst>
                </a:gridCol>
                <a:gridCol w="1644843">
                  <a:extLst>
                    <a:ext uri="{9D8B030D-6E8A-4147-A177-3AD203B41FA5}">
                      <a16:colId xmlns:a16="http://schemas.microsoft.com/office/drawing/2014/main" val="2235285623"/>
                    </a:ext>
                  </a:extLst>
                </a:gridCol>
              </a:tblGrid>
              <a:tr h="3619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Arduino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Raspberry Pi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897351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중앙처리장치</a:t>
                      </a:r>
                    </a:p>
                  </a:txBody>
                  <a:tcPr marL="36000" marR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 실행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처리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i-7, </a:t>
                      </a:r>
                      <a:r>
                        <a:rPr lang="ko-KR" altLang="en-US" sz="16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라이젠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본체 내장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본체 내장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27945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주기억장치</a:t>
                      </a:r>
                    </a:p>
                  </a:txBody>
                  <a:tcPr marL="36000" marR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휘발성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고속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RAM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937654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보조기억장치</a:t>
                      </a:r>
                    </a:p>
                  </a:txBody>
                  <a:tcPr marL="36000" marR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비휘발성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저속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SSD, HDD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55857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입력장치</a:t>
                      </a:r>
                    </a:p>
                  </a:txBody>
                  <a:tcPr marL="36000" marR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프로그램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입력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키보드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마우스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푸시버튼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…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키보드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푸시버튼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259190"/>
                  </a:ext>
                </a:extLst>
              </a:tr>
              <a:tr h="3619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출력장치</a:t>
                      </a:r>
                    </a:p>
                  </a:txBody>
                  <a:tcPr marL="36000" marR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출력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프린터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LED, …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</a:t>
                      </a:r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LED, …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130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70154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BBF11-D724-1F6F-C3E2-51A226F79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 (Raspberry Pi)</a:t>
            </a:r>
          </a:p>
          <a:p>
            <a:pPr lvl="1"/>
            <a:r>
              <a:rPr lang="ko-KR" altLang="en-US" dirty="0"/>
              <a:t>영국의 </a:t>
            </a:r>
            <a:r>
              <a:rPr lang="ko-KR" altLang="en-US" dirty="0" err="1"/>
              <a:t>라즈베이파이</a:t>
            </a:r>
            <a:r>
              <a:rPr lang="ko-KR" altLang="en-US" dirty="0"/>
              <a:t> 재단이 학교와 개발도상국의 기초 컴퓨터 교육을 증진하기 위해 개발한 신용카드 크기의 단일보드 컴퓨터</a:t>
            </a:r>
            <a:endParaRPr lang="en-US" altLang="ko-KR" dirty="0"/>
          </a:p>
          <a:p>
            <a:pPr lvl="1"/>
            <a:r>
              <a:rPr lang="ko-KR" altLang="en-US" dirty="0"/>
              <a:t>외부</a:t>
            </a:r>
            <a:r>
              <a:rPr lang="en-US" altLang="ko-KR" dirty="0"/>
              <a:t> </a:t>
            </a:r>
            <a:r>
              <a:rPr lang="ko-KR" altLang="en-US" dirty="0"/>
              <a:t>저장장치 </a:t>
            </a:r>
            <a:r>
              <a:rPr lang="en-US" altLang="ko-KR" dirty="0"/>
              <a:t>: HDD/SSD</a:t>
            </a:r>
            <a:r>
              <a:rPr lang="ko-KR" altLang="en-US" dirty="0"/>
              <a:t>가 아닌 </a:t>
            </a:r>
            <a:r>
              <a:rPr lang="en-US" altLang="ko-KR" dirty="0"/>
              <a:t>SD Card</a:t>
            </a:r>
          </a:p>
          <a:p>
            <a:pPr lvl="1"/>
            <a:r>
              <a:rPr lang="ko-KR" altLang="en-US" dirty="0"/>
              <a:t>운영체제</a:t>
            </a:r>
            <a:endParaRPr lang="en-US" altLang="ko-KR" dirty="0"/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Linux </a:t>
            </a:r>
            <a:r>
              <a:rPr lang="ko-KR" altLang="en-US" dirty="0">
                <a:sym typeface="Wingdings" panose="05000000000000000000" pitchFamily="2" charset="2"/>
              </a:rPr>
              <a:t>커널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기반 </a:t>
            </a:r>
            <a:r>
              <a:rPr lang="ko-KR" alt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라즈베리파이</a:t>
            </a:r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OS(</a:t>
            </a:r>
            <a:r>
              <a:rPr lang="ko-KR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舊 </a:t>
            </a:r>
            <a:r>
              <a:rPr lang="ko-KR" altLang="en-US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라즈비안</a:t>
            </a:r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Raspbian)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Windows10 for IoT,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…</a:t>
            </a:r>
            <a:endParaRPr lang="en-US" altLang="ko-KR" dirty="0"/>
          </a:p>
          <a:p>
            <a:pPr lvl="1"/>
            <a:r>
              <a:rPr lang="ko-KR" altLang="en-US" dirty="0"/>
              <a:t>주요 프로그래밍 언어</a:t>
            </a:r>
            <a:endParaRPr lang="en-US" altLang="ko-KR" dirty="0"/>
          </a:p>
          <a:p>
            <a:pPr lvl="2"/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en-US" altLang="ko-KR" dirty="0"/>
              <a:t>, BBC Basic, C, C++, Java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/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4B, 2023</a:t>
            </a:r>
            <a:r>
              <a:rPr lang="ko-KR" altLang="en-US" dirty="0"/>
              <a:t>년 </a:t>
            </a:r>
            <a:r>
              <a:rPr lang="en-US" altLang="ko-KR" dirty="0"/>
              <a:t>5 </a:t>
            </a:r>
            <a:r>
              <a:rPr lang="ko-KR" altLang="en-US" dirty="0"/>
              <a:t>출시</a:t>
            </a:r>
            <a:endParaRPr lang="en-US" altLang="ko-KR" dirty="0"/>
          </a:p>
          <a:p>
            <a:pPr lvl="2"/>
            <a:r>
              <a:rPr lang="ko-KR" altLang="en-US" dirty="0"/>
              <a:t>실습에서는 </a:t>
            </a:r>
            <a:r>
              <a:rPr lang="en-US" altLang="ko-KR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Raspberry Pi 4B</a:t>
            </a:r>
            <a:r>
              <a:rPr lang="en-US" altLang="ko-KR" dirty="0"/>
              <a:t> </a:t>
            </a:r>
            <a:r>
              <a:rPr lang="ko-KR" altLang="en-US" dirty="0"/>
              <a:t>이용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A6B1B-2BD7-768F-1FC4-BD129FD6481D}"/>
              </a:ext>
            </a:extLst>
          </p:cNvPr>
          <p:cNvSpPr txBox="1"/>
          <p:nvPr/>
        </p:nvSpPr>
        <p:spPr>
          <a:xfrm>
            <a:off x="827584" y="6180513"/>
            <a:ext cx="4598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※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Raspberry Pi</a:t>
            </a:r>
            <a:r>
              <a:rPr lang="ko-KR" altLang="en-US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의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Pi</a:t>
            </a:r>
            <a:r>
              <a:rPr lang="ko-KR" altLang="en-US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는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Python</a:t>
            </a:r>
            <a:r>
              <a:rPr lang="ko-KR" altLang="en-US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을 의미함</a:t>
            </a:r>
            <a:endParaRPr lang="en-US" altLang="ko-KR" sz="1200" b="0" i="0" kern="12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05DC09-598E-C7C4-8E2A-B850CCB2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603" y="3863484"/>
            <a:ext cx="2452985" cy="15823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BAEB34-45EF-5787-FC81-23271FAC0303}"/>
              </a:ext>
            </a:extLst>
          </p:cNvPr>
          <p:cNvSpPr txBox="1"/>
          <p:nvPr/>
        </p:nvSpPr>
        <p:spPr>
          <a:xfrm>
            <a:off x="5407485" y="5757757"/>
            <a:ext cx="1295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Raspberry Pi 4B</a:t>
            </a:r>
            <a:endParaRPr lang="ko-KR" altLang="en-US" sz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9FFA3E-9A0F-8032-E55C-E8E8ABA604C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22086" y="4201226"/>
            <a:ext cx="2452985" cy="18874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E4530D-D7A1-7A7C-0830-F7822B1F16AB}"/>
              </a:ext>
            </a:extLst>
          </p:cNvPr>
          <p:cNvSpPr txBox="1"/>
          <p:nvPr/>
        </p:nvSpPr>
        <p:spPr>
          <a:xfrm>
            <a:off x="7595064" y="5757757"/>
            <a:ext cx="12060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Raspberry Pi 5</a:t>
            </a:r>
            <a:endParaRPr lang="ko-KR" altLang="en-US" sz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7450914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와 </a:t>
            </a:r>
            <a:r>
              <a:rPr lang="en-US" altLang="ko-KR" dirty="0"/>
              <a:t>5</a:t>
            </a:r>
            <a:r>
              <a:rPr lang="ko-KR" altLang="en-US" dirty="0"/>
              <a:t>의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16DCCEA5-98AA-BE40-BA5C-DA1554288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610804"/>
              </p:ext>
            </p:extLst>
          </p:nvPr>
        </p:nvGraphicFramePr>
        <p:xfrm>
          <a:off x="137798" y="1124744"/>
          <a:ext cx="8898252" cy="477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42">
                  <a:extLst>
                    <a:ext uri="{9D8B030D-6E8A-4147-A177-3AD203B41FA5}">
                      <a16:colId xmlns:a16="http://schemas.microsoft.com/office/drawing/2014/main" val="47854081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800089032"/>
                    </a:ext>
                  </a:extLst>
                </a:gridCol>
                <a:gridCol w="4248026">
                  <a:extLst>
                    <a:ext uri="{9D8B030D-6E8A-4147-A177-3AD203B41FA5}">
                      <a16:colId xmlns:a16="http://schemas.microsoft.com/office/drawing/2014/main" val="33761903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18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라즈베리파이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4B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18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라즈베리파이</a:t>
                      </a:r>
                      <a:r>
                        <a:rPr lang="ko-KR" altLang="en-US" sz="16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6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3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Broadcom 2711(Quad-Core</a:t>
                      </a:r>
                      <a:r>
                        <a:rPr lang="ko-KR" altLang="en-US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@1.5GHz)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Broadcom BCM2712 (</a:t>
                      </a:r>
                      <a:r>
                        <a:rPr lang="en-US" altLang="ko-KR" sz="1500" b="0" i="0" kern="1200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2.4GHz quad-core 64-bit Arm Cortex-A76 CPU</a:t>
                      </a: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87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1GB, 2GB, 4GB LPDDR4 SDRAM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2GB, 4GB, 8GB, 16GB LPDDR24X-4267 SDRAM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178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GPU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VideoCore</a:t>
                      </a: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VI (500MHz)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VideoCore</a:t>
                      </a: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VII GPU, supporting OpenGL ES3.1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9319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Video Out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micro-HDMI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</a:t>
                      </a:r>
                      <a:r>
                        <a:rPr lang="en-US" altLang="ko-KR" sz="15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microHDMI</a:t>
                      </a: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Dual 4Kp60 HDMI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40460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Resolution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H.265 decoding(4Kp60)</a:t>
                      </a:r>
                      <a:endParaRPr lang="en-US" altLang="ko-KR" sz="120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H.264 decoding(1080p60)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200" b="0" i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1920</a:t>
                      </a:r>
                      <a:r>
                        <a:rPr lang="en-US" altLang="ko-KR" sz="1200" b="0" i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x1080</a:t>
                      </a:r>
                      <a:endParaRPr lang="en-US" altLang="ko-KR" sz="1050" b="0" i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H.264 encoding(1080p30) </a:t>
                      </a:r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200" b="0" i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1920</a:t>
                      </a:r>
                      <a:r>
                        <a:rPr lang="en-US" altLang="ko-KR" sz="1200" b="0" i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x1080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4Kp60 HEVC decoder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779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USB3.0</a:t>
                      </a:r>
                    </a:p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USB2.0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USB3.0</a:t>
                      </a:r>
                    </a:p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2x USB2.0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060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Network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GB Ethernet (1Gbps)</a:t>
                      </a:r>
                    </a:p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 5.0</a:t>
                      </a:r>
                    </a:p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802.11 b/g/n/ac (2.4GHz+5GHz)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GB Ethernet, with PoE+ support</a:t>
                      </a:r>
                    </a:p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 5.0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Dual-band 802.11ac </a:t>
                      </a:r>
                      <a:r>
                        <a:rPr lang="en-US" altLang="ko-KR" sz="15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463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5V via USB Type C (up to 3A)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5V/5A DC Power via USB-C</a:t>
                      </a:r>
                      <a:endParaRPr lang="ko-KR" altLang="en-US" sz="15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635904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Size</a:t>
                      </a:r>
                      <a:endParaRPr lang="ko-KR" altLang="en-US" sz="16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 x 58 x 19.5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 x 56 x 19.5 mm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579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7057973-1C39-211C-80C6-B3DE968EEA1B}"/>
              </a:ext>
            </a:extLst>
          </p:cNvPr>
          <p:cNvSpPr txBox="1"/>
          <p:nvPr/>
        </p:nvSpPr>
        <p:spPr>
          <a:xfrm>
            <a:off x="107950" y="5879013"/>
            <a:ext cx="4598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※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4Kp60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4096x2160, 60fps, 4K Resolution</a:t>
            </a:r>
          </a:p>
          <a:p>
            <a:pPr latinLnBrk="1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※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Symbol" panose="05050102010706020507" pitchFamily="18" charset="2"/>
              </a:rPr>
              <a:t>1080p60 </a:t>
            </a:r>
            <a:r>
              <a:rPr lang="en-US" altLang="ko-KR" sz="12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 1920X1080, 60fps</a:t>
            </a:r>
          </a:p>
          <a:p>
            <a:pPr latinLnBrk="1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※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1080p30  1920X1080, 30fps</a:t>
            </a:r>
            <a:endParaRPr lang="en-US" altLang="ko-KR" sz="1200" b="0" i="0" kern="12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5571305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HW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14F0D-FE81-0482-AAB1-7403D7F2FB59}"/>
              </a:ext>
            </a:extLst>
          </p:cNvPr>
          <p:cNvSpPr txBox="1"/>
          <p:nvPr/>
        </p:nvSpPr>
        <p:spPr>
          <a:xfrm>
            <a:off x="467544" y="1167817"/>
            <a:ext cx="4190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&lt;40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HW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핀 노출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외부회로 구성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5EC3C-AF39-1449-774E-FD38DB933DAD}"/>
              </a:ext>
            </a:extLst>
          </p:cNvPr>
          <p:cNvSpPr txBox="1"/>
          <p:nvPr/>
        </p:nvSpPr>
        <p:spPr>
          <a:xfrm>
            <a:off x="4716016" y="1167817"/>
            <a:ext cx="3340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모터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쉴드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장착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모터 제어 가능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6FDAEF-9C9A-94DB-2673-28F749E8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598430"/>
            <a:ext cx="2880320" cy="174212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1CF213-D67E-911B-44F7-0973BE9A4AE5}"/>
              </a:ext>
            </a:extLst>
          </p:cNvPr>
          <p:cNvSpPr txBox="1"/>
          <p:nvPr/>
        </p:nvSpPr>
        <p:spPr>
          <a:xfrm>
            <a:off x="467544" y="3911196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&lt;I2C, SPI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 통신 모듈 내장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4AFA0F-88DB-4CE9-8B62-5C1EB0BA6280}"/>
              </a:ext>
            </a:extLst>
          </p:cNvPr>
          <p:cNvSpPr txBox="1"/>
          <p:nvPr/>
        </p:nvSpPr>
        <p:spPr>
          <a:xfrm>
            <a:off x="4716016" y="3911196"/>
            <a:ext cx="41344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카메라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스피커 라이브러리 제공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22E0A82-4136-51DE-E17A-420EB152A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21" y="1564860"/>
            <a:ext cx="2669251" cy="180130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8927876-D468-A2C0-DA56-C163B0203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4484990"/>
            <a:ext cx="1661211" cy="16083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5D9035B-F97A-38F5-CE44-55AC9556F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1480" y="4426887"/>
            <a:ext cx="1587374" cy="1608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09CEF6-9924-ABF4-5019-01FEDEBBC6AE}"/>
              </a:ext>
            </a:extLst>
          </p:cNvPr>
          <p:cNvSpPr txBox="1"/>
          <p:nvPr/>
        </p:nvSpPr>
        <p:spPr>
          <a:xfrm>
            <a:off x="683568" y="3366168"/>
            <a:ext cx="3462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레퍼런스보드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혹은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T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형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확장모듈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활용</a:t>
            </a:r>
            <a:endParaRPr lang="ko-KR" altLang="en-US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161478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1542A998-8012-C289-6AF1-427F047047C0}"/>
              </a:ext>
            </a:extLst>
          </p:cNvPr>
          <p:cNvSpPr/>
          <p:nvPr/>
        </p:nvSpPr>
        <p:spPr>
          <a:xfrm>
            <a:off x="408206" y="3907296"/>
            <a:ext cx="3391753" cy="261707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발전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14F0D-FE81-0482-AAB1-7403D7F2FB59}"/>
              </a:ext>
            </a:extLst>
          </p:cNvPr>
          <p:cNvSpPr txBox="1"/>
          <p:nvPr/>
        </p:nvSpPr>
        <p:spPr>
          <a:xfrm>
            <a:off x="539552" y="3191789"/>
            <a:ext cx="2010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1B&gt;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5EC3C-AF39-1449-774E-FD38DB933DAD}"/>
              </a:ext>
            </a:extLst>
          </p:cNvPr>
          <p:cNvSpPr txBox="1"/>
          <p:nvPr/>
        </p:nvSpPr>
        <p:spPr>
          <a:xfrm>
            <a:off x="3694157" y="3191789"/>
            <a:ext cx="2010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2B&gt;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CF213-D67E-911B-44F7-0973BE9A4AE5}"/>
              </a:ext>
            </a:extLst>
          </p:cNvPr>
          <p:cNvSpPr txBox="1"/>
          <p:nvPr/>
        </p:nvSpPr>
        <p:spPr>
          <a:xfrm>
            <a:off x="6803990" y="3191789"/>
            <a:ext cx="21804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3B+&gt;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4AFA0F-88DB-4CE9-8B62-5C1EB0BA6280}"/>
              </a:ext>
            </a:extLst>
          </p:cNvPr>
          <p:cNvSpPr txBox="1"/>
          <p:nvPr/>
        </p:nvSpPr>
        <p:spPr>
          <a:xfrm>
            <a:off x="1163025" y="6052017"/>
            <a:ext cx="20329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4B&gt;</a:t>
            </a:r>
            <a:endParaRPr lang="ko-KR" altLang="en-US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4F0549-5902-71B0-2D47-CA56F3C61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" y="1273650"/>
            <a:ext cx="2553030" cy="18999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B148402-1BBE-A63F-9101-D8B7F7EA3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397611"/>
            <a:ext cx="2703071" cy="179417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14A131A-395E-50D7-318D-1E1050067AC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5576" y="4147456"/>
            <a:ext cx="2891560" cy="190456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C76E0C5-8498-191E-A1F6-117FC5D0F76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82769" y="1461655"/>
            <a:ext cx="2352978" cy="156465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6FCF067-0FF3-62AF-7373-634AC7E628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9853" y="3861048"/>
            <a:ext cx="1838095" cy="86666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0C84AFF-9842-C83C-17B1-FBB01C1F9F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4264" y="3839532"/>
            <a:ext cx="1906254" cy="80729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A5CDFB6-0637-D771-9C6D-188B9C1FD3A8}"/>
              </a:ext>
            </a:extLst>
          </p:cNvPr>
          <p:cNvSpPr txBox="1"/>
          <p:nvPr/>
        </p:nvSpPr>
        <p:spPr>
          <a:xfrm>
            <a:off x="3923928" y="4666631"/>
            <a:ext cx="2199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Zero&gt;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5F1F38-8161-A96A-4ED3-918C4C98B5D3}"/>
              </a:ext>
            </a:extLst>
          </p:cNvPr>
          <p:cNvSpPr txBox="1"/>
          <p:nvPr/>
        </p:nvSpPr>
        <p:spPr>
          <a:xfrm>
            <a:off x="6682769" y="4666631"/>
            <a:ext cx="21659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Pico&gt;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5D6C3C-AB1B-44B4-797C-1DE0848217E3}"/>
              </a:ext>
            </a:extLst>
          </p:cNvPr>
          <p:cNvSpPr/>
          <p:nvPr/>
        </p:nvSpPr>
        <p:spPr>
          <a:xfrm>
            <a:off x="3994506" y="5145840"/>
            <a:ext cx="2287195" cy="122007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저가형 모델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사양 축소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달러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램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512MB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저장장치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SD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HDMI,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usb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GPIO 40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핀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65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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5 mm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0E2B8D-B6FD-43A2-039E-9AC34E564684}"/>
              </a:ext>
            </a:extLst>
          </p:cNvPr>
          <p:cNvSpPr/>
          <p:nvPr/>
        </p:nvSpPr>
        <p:spPr>
          <a:xfrm>
            <a:off x="6682769" y="5145840"/>
            <a:ext cx="2287195" cy="122007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08000" indent="-108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라즈베리파이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재단에서 출시한 </a:t>
            </a:r>
            <a:r>
              <a:rPr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마이크로컨트롤러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(OS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없음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8000" indent="-108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RP2040 MCU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채택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채택한 </a:t>
            </a:r>
            <a:r>
              <a:rPr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아두이노도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출시함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08000" indent="-108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마이크로파이선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이용</a:t>
            </a:r>
            <a:endParaRPr lang="en-US" altLang="ko-KR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08000" indent="-108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크기 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51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21 mm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47932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11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58103-B1A6-6A62-6FDA-56481BA1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 4B</a:t>
            </a:r>
            <a:r>
              <a:rPr lang="ko-KR" altLang="en-US" dirty="0"/>
              <a:t>의 구성요소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0B8A32-E798-8B5E-43D5-F0A59EE38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A2CF171-EC6A-5951-061C-0FDC7B76F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798" y="990124"/>
            <a:ext cx="6772404" cy="548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47709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58103-B1A6-6A62-6FDA-56481BA1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pin map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235CAEF-89EA-2637-3F43-5E1134FF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 </a:t>
            </a:r>
            <a:r>
              <a:rPr lang="en-US" altLang="ko-KR" dirty="0" err="1"/>
              <a:t>GPIO</a:t>
            </a:r>
            <a:r>
              <a:rPr lang="en-US" altLang="ko-KR" baseline="30000" dirty="0" err="1"/>
              <a:t>General</a:t>
            </a:r>
            <a:r>
              <a:rPr lang="en-US" altLang="ko-KR" baseline="30000" dirty="0"/>
              <a:t> Purpose Input/Output </a:t>
            </a:r>
          </a:p>
          <a:p>
            <a:pPr lvl="1"/>
            <a:r>
              <a:rPr lang="ko-KR" altLang="en-US" dirty="0"/>
              <a:t>다른 하드웨어</a:t>
            </a:r>
            <a:r>
              <a:rPr lang="en-US" altLang="ko-KR" dirty="0"/>
              <a:t>(</a:t>
            </a:r>
            <a:r>
              <a:rPr lang="ko-KR" altLang="en-US" dirty="0"/>
              <a:t>센서</a:t>
            </a:r>
            <a:r>
              <a:rPr lang="en-US" altLang="ko-KR" dirty="0"/>
              <a:t>, </a:t>
            </a:r>
            <a:r>
              <a:rPr lang="ko-KR" altLang="en-US" dirty="0"/>
              <a:t>모터 등 주변장치</a:t>
            </a:r>
            <a:r>
              <a:rPr lang="en-US" altLang="ko-KR" dirty="0"/>
              <a:t>)</a:t>
            </a:r>
            <a:r>
              <a:rPr lang="ko-KR" altLang="en-US" dirty="0"/>
              <a:t>와 상호작용하는 역할</a:t>
            </a:r>
            <a:endParaRPr lang="en-US" altLang="ko-KR" dirty="0"/>
          </a:p>
          <a:p>
            <a:pPr lvl="1"/>
            <a:r>
              <a:rPr lang="en-US" altLang="ko-KR" dirty="0"/>
              <a:t>GPIO </a:t>
            </a:r>
            <a:r>
              <a:rPr lang="ko-KR" altLang="en-US" dirty="0"/>
              <a:t>핀 이름 시스템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하드웨어에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표기되지 않음</a:t>
            </a:r>
            <a:endParaRPr lang="en-US" altLang="ko-KR" dirty="0"/>
          </a:p>
          <a:p>
            <a:pPr lvl="2"/>
            <a:r>
              <a:rPr lang="ko-KR" altLang="en-US" dirty="0"/>
              <a:t>물리적 핀 번호 </a:t>
            </a:r>
            <a:r>
              <a:rPr lang="en-US" altLang="ko-KR" dirty="0"/>
              <a:t>: </a:t>
            </a:r>
            <a:r>
              <a:rPr lang="ko-KR" altLang="en-US" dirty="0"/>
              <a:t>순서에 따라 부여된 번호</a:t>
            </a:r>
            <a:endParaRPr lang="en-US" altLang="ko-KR" dirty="0"/>
          </a:p>
          <a:p>
            <a:pPr lvl="2"/>
            <a:r>
              <a:rPr lang="en-US" altLang="ko-KR" dirty="0"/>
              <a:t>BCM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라즈베리파이</a:t>
            </a:r>
            <a:r>
              <a:rPr lang="ko-KR" altLang="en-US" dirty="0"/>
              <a:t> 공식 </a:t>
            </a:r>
            <a:r>
              <a:rPr lang="en-US" altLang="ko-KR" dirty="0"/>
              <a:t>GPIO </a:t>
            </a:r>
            <a:r>
              <a:rPr lang="ko-KR" altLang="en-US" dirty="0"/>
              <a:t>명칭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물리적 </a:t>
            </a:r>
            <a:r>
              <a:rPr lang="ko-KR" altLang="en-US" dirty="0" err="1">
                <a:sym typeface="Wingdings" panose="05000000000000000000" pitchFamily="2" charset="2"/>
              </a:rPr>
              <a:t>핀번호</a:t>
            </a:r>
            <a:r>
              <a:rPr lang="ko-KR" altLang="en-US" dirty="0">
                <a:sym typeface="Wingdings" panose="05000000000000000000" pitchFamily="2" charset="2"/>
              </a:rPr>
              <a:t> 좌우에 표시된 번호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/>
              <a:t>wiringPi</a:t>
            </a:r>
            <a:r>
              <a:rPr lang="en-US" altLang="ko-KR" dirty="0"/>
              <a:t> : C</a:t>
            </a:r>
            <a:r>
              <a:rPr lang="ko-KR" altLang="en-US" dirty="0"/>
              <a:t>언어에서</a:t>
            </a:r>
            <a:r>
              <a:rPr lang="en-US" altLang="ko-KR" dirty="0"/>
              <a:t> </a:t>
            </a:r>
            <a:r>
              <a:rPr lang="ko-KR" altLang="en-US" dirty="0"/>
              <a:t>주로</a:t>
            </a:r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>
                <a:sym typeface="Wingdings" panose="05000000000000000000" pitchFamily="2" charset="2"/>
              </a:rPr>
              <a:t> #include &lt;</a:t>
            </a:r>
            <a:r>
              <a:rPr lang="en-US" altLang="ko-KR" dirty="0" err="1">
                <a:sym typeface="Wingdings" panose="05000000000000000000" pitchFamily="2" charset="2"/>
              </a:rPr>
              <a:t>wiringPi.h</a:t>
            </a:r>
            <a:r>
              <a:rPr lang="en-US" altLang="ko-KR" dirty="0">
                <a:sym typeface="Wingdings" panose="05000000000000000000" pitchFamily="2" charset="2"/>
              </a:rPr>
              <a:t>&gt;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0B8A32-E798-8B5E-43D5-F0A59EE38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1EA12F6-ED7C-FFC0-72E7-683E1C950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756" y="3596795"/>
            <a:ext cx="4126762" cy="27845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0F327D-5440-81C8-C7A1-89A01FEAE1B4}"/>
              </a:ext>
            </a:extLst>
          </p:cNvPr>
          <p:cNvSpPr txBox="1"/>
          <p:nvPr/>
        </p:nvSpPr>
        <p:spPr>
          <a:xfrm>
            <a:off x="4788024" y="6333986"/>
            <a:ext cx="41267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https://blog.naver.com/goldbag37/221357121378</a:t>
            </a:r>
            <a:r>
              <a:rPr lang="en-US" altLang="ko-KR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3368619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6C61C75-C1F8-2237-4814-A93ECCC64972}"/>
              </a:ext>
            </a:extLst>
          </p:cNvPr>
          <p:cNvSpPr txBox="1"/>
          <p:nvPr/>
        </p:nvSpPr>
        <p:spPr>
          <a:xfrm>
            <a:off x="292638" y="5064448"/>
            <a:ext cx="3425540" cy="138499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BCM vs. BOARD: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BOARD:</a:t>
            </a:r>
            <a:r>
              <a:rPr lang="en-US" altLang="ko-KR" sz="12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 Refers to the physical pin numbers on the Raspberry Pi header.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BCM:</a:t>
            </a:r>
            <a:r>
              <a:rPr lang="en-US" altLang="ko-KR" sz="12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 Refers to the Broadcom SOC channel numbers assigned to each pin.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ko-KR" sz="12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lang="en-US" altLang="ko-KR" sz="12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</a:rPr>
              <a:t> On a Raspberry Pi 4, physical pin 12 is BCM 18. 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558103-B1A6-6A62-6FDA-56481BA1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pin map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235CAEF-89EA-2637-3F43-5E1134FF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 GPIO </a:t>
            </a:r>
            <a:r>
              <a:rPr lang="ko-KR" altLang="en-US" dirty="0"/>
              <a:t>명칭</a:t>
            </a:r>
            <a:r>
              <a:rPr lang="en-US" altLang="ko-KR" dirty="0"/>
              <a:t>(</a:t>
            </a:r>
            <a:r>
              <a:rPr lang="en-US" altLang="ko-KR" dirty="0" err="1"/>
              <a:t>BCM</a:t>
            </a:r>
            <a:r>
              <a:rPr lang="en-US" altLang="ko-KR" baseline="30000" dirty="0" err="1"/>
              <a:t>Broadcom</a:t>
            </a:r>
            <a:r>
              <a:rPr lang="en-US" altLang="ko-KR" baseline="30000" dirty="0"/>
              <a:t> chip-specific pin numbers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0B8A32-E798-8B5E-43D5-F0A59EE38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E660759-6171-EDBA-170A-B29E69A416B4}"/>
              </a:ext>
            </a:extLst>
          </p:cNvPr>
          <p:cNvGrpSpPr/>
          <p:nvPr/>
        </p:nvGrpSpPr>
        <p:grpSpPr>
          <a:xfrm>
            <a:off x="755576" y="1844824"/>
            <a:ext cx="7632848" cy="4270706"/>
            <a:chOff x="827584" y="1342834"/>
            <a:chExt cx="7984274" cy="470068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7886BF3-7A00-4F9E-43E9-36F45123F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0026" y="1342834"/>
              <a:ext cx="4501832" cy="4689930"/>
            </a:xfrm>
            <a:prstGeom prst="rect">
              <a:avLst/>
            </a:prstGeom>
            <a:ln w="28575">
              <a:solidFill>
                <a:srgbClr val="FF6600"/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1E11D66-395E-E5FE-8634-98EB6306D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7584" y="1818381"/>
              <a:ext cx="1872208" cy="284187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DBDA651-5909-1C77-75F5-C69189464F8D}"/>
                </a:ext>
              </a:extLst>
            </p:cNvPr>
            <p:cNvSpPr/>
            <p:nvPr/>
          </p:nvSpPr>
          <p:spPr>
            <a:xfrm>
              <a:off x="2483768" y="2022230"/>
              <a:ext cx="216024" cy="1656184"/>
            </a:xfrm>
            <a:prstGeom prst="rect">
              <a:avLst/>
            </a:prstGeom>
            <a:noFill/>
            <a:ln w="28575">
              <a:solidFill>
                <a:srgbClr val="FF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245D2CA4-F3FF-DE08-B8E1-81B3951AD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1574" y="1353592"/>
              <a:ext cx="1557694" cy="668638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F5029D4-97EC-F082-D50E-7D5075C5A209}"/>
                </a:ext>
              </a:extLst>
            </p:cNvPr>
            <p:cNvCxnSpPr>
              <a:cxnSpLocks/>
            </p:cNvCxnSpPr>
            <p:nvPr/>
          </p:nvCxnSpPr>
          <p:spPr>
            <a:xfrm>
              <a:off x="2710550" y="3678413"/>
              <a:ext cx="1588717" cy="2365109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F178E7-9206-0ECC-7A6F-A1D588BBD5BE}"/>
                </a:ext>
              </a:extLst>
            </p:cNvPr>
            <p:cNvSpPr txBox="1"/>
            <p:nvPr/>
          </p:nvSpPr>
          <p:spPr>
            <a:xfrm>
              <a:off x="2741574" y="3349245"/>
              <a:ext cx="13724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66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40 pin GPIO</a:t>
              </a:r>
              <a:endParaRPr lang="ko-KR" altLang="en-US" b="1" dirty="0">
                <a:solidFill>
                  <a:srgbClr val="FF66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410319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DE0A2-1023-5EF0-5103-5BFFBD01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GPIO </a:t>
            </a:r>
            <a:r>
              <a:rPr lang="ko-KR" altLang="en-US" dirty="0"/>
              <a:t>확장 모듈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B716-DDD3-9B3F-FA94-A5CB26A20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14F0D-FE81-0482-AAB1-7403D7F2FB59}"/>
              </a:ext>
            </a:extLst>
          </p:cNvPr>
          <p:cNvSpPr txBox="1"/>
          <p:nvPr/>
        </p:nvSpPr>
        <p:spPr>
          <a:xfrm>
            <a:off x="467544" y="1167817"/>
            <a:ext cx="17427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&lt;T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형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확장모듈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5EC3C-AF39-1449-774E-FD38DB933DAD}"/>
              </a:ext>
            </a:extLst>
          </p:cNvPr>
          <p:cNvSpPr txBox="1"/>
          <p:nvPr/>
        </p:nvSpPr>
        <p:spPr>
          <a:xfrm>
            <a:off x="4716016" y="1167817"/>
            <a:ext cx="1838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레퍼런스 보드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E200AC-7213-D6B0-6312-747E6BEFA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89174"/>
            <a:ext cx="3923809" cy="36761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8BFC14-0799-E035-99C2-8089FACE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272764"/>
            <a:ext cx="3940992" cy="28128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2E2F35-56D8-C292-CD7C-6342F8E34A35}"/>
              </a:ext>
            </a:extLst>
          </p:cNvPr>
          <p:cNvSpPr txBox="1"/>
          <p:nvPr/>
        </p:nvSpPr>
        <p:spPr>
          <a:xfrm>
            <a:off x="4648387" y="5445224"/>
            <a:ext cx="4387663" cy="83099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수업에서는 레퍼런스 보드 활용</a:t>
            </a:r>
            <a:endParaRPr lang="en-US" altLang="ko-KR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spcBef>
                <a:spcPts val="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편리하나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케이스에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들어가지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않고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점프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와이어의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이탈이 쉬운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문제는 있음</a:t>
            </a:r>
          </a:p>
        </p:txBody>
      </p:sp>
    </p:spTree>
    <p:extLst>
      <p:ext uri="{BB962C8B-B14F-4D97-AF65-F5344CB8AC3E}">
        <p14:creationId xmlns:p14="http://schemas.microsoft.com/office/powerpoint/2010/main" val="7147097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58103-B1A6-6A62-6FDA-56481BA1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라즈베리파이로</a:t>
            </a:r>
            <a:r>
              <a:rPr lang="en-US" altLang="ko-KR" dirty="0"/>
              <a:t> </a:t>
            </a:r>
            <a:r>
              <a:rPr lang="ko-KR" altLang="en-US" dirty="0"/>
              <a:t>할 수 있는 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00354-975A-760F-F231-89E388AE6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https://www.hackster.io/raspberry-pi/projects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0B8A32-E798-8B5E-43D5-F0A59EE38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F535BA6-80CE-695D-B987-3CDD9E6EFD99}"/>
              </a:ext>
            </a:extLst>
          </p:cNvPr>
          <p:cNvGrpSpPr/>
          <p:nvPr/>
        </p:nvGrpSpPr>
        <p:grpSpPr>
          <a:xfrm>
            <a:off x="323528" y="1772816"/>
            <a:ext cx="8496944" cy="4213414"/>
            <a:chOff x="126706" y="1795665"/>
            <a:chExt cx="7803722" cy="368571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7D2ED91-244A-9371-F26D-4C2EA08F4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706" y="1795665"/>
              <a:ext cx="3847619" cy="3266667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9FB1E1A1-A152-D469-F1B6-E94F75FA1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9952" y="1795665"/>
              <a:ext cx="3790476" cy="36857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9422314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2375E-4059-9E20-FC59-86A6AB08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라즈베리파이용</a:t>
            </a:r>
            <a:r>
              <a:rPr lang="en-US" altLang="ko-KR" dirty="0"/>
              <a:t> </a:t>
            </a:r>
            <a:r>
              <a:rPr lang="ko-KR" altLang="en-US" dirty="0"/>
              <a:t>운영체제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88199F-9ACD-D95E-671F-3B1256823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C00000"/>
                </a:solidFill>
              </a:rPr>
              <a:t>라즈베리파이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OS</a:t>
            </a:r>
            <a:r>
              <a:rPr lang="en-US" altLang="ko-KR" dirty="0"/>
              <a:t>(</a:t>
            </a:r>
            <a:r>
              <a:rPr lang="ko-KR" altLang="en-US" dirty="0"/>
              <a:t>舊 </a:t>
            </a:r>
            <a:r>
              <a:rPr lang="ko-KR" altLang="en-US" dirty="0" err="1"/>
              <a:t>라즈비안</a:t>
            </a:r>
            <a:r>
              <a:rPr lang="en-US" altLang="ko-KR" dirty="0"/>
              <a:t>(Raspbian))</a:t>
            </a:r>
          </a:p>
          <a:p>
            <a:pPr lvl="1"/>
            <a:r>
              <a:rPr lang="ko-KR" altLang="en-US" dirty="0" err="1"/>
              <a:t>라즈베리파이</a:t>
            </a:r>
            <a:r>
              <a:rPr lang="en-US" altLang="ko-KR" dirty="0"/>
              <a:t> </a:t>
            </a:r>
            <a:r>
              <a:rPr lang="ko-KR" altLang="en-US" dirty="0"/>
              <a:t>공식 운영체제</a:t>
            </a:r>
            <a:endParaRPr lang="en-US" altLang="ko-KR" dirty="0"/>
          </a:p>
          <a:p>
            <a:pPr lvl="1"/>
            <a:r>
              <a:rPr lang="ko-KR" altLang="en-US" dirty="0" err="1"/>
              <a:t>데비안</a:t>
            </a:r>
            <a:r>
              <a:rPr lang="ko-KR" altLang="en-US" dirty="0"/>
              <a:t> 리눅스를 기반으로 만들어진 </a:t>
            </a:r>
            <a:r>
              <a:rPr lang="ko-KR" altLang="en-US" dirty="0" err="1"/>
              <a:t>배포판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리눅스 계열</a:t>
            </a:r>
            <a:endParaRPr lang="en-US" altLang="ko-KR" dirty="0"/>
          </a:p>
          <a:p>
            <a:pPr lvl="1"/>
            <a:r>
              <a:rPr lang="ko-KR" altLang="en-US" dirty="0" err="1"/>
              <a:t>슬랙웨어</a:t>
            </a:r>
            <a:r>
              <a:rPr lang="ko-KR" altLang="en-US" dirty="0"/>
              <a:t> 리눅스</a:t>
            </a:r>
            <a:r>
              <a:rPr lang="en-US" altLang="ko-KR" dirty="0"/>
              <a:t>, </a:t>
            </a:r>
            <a:r>
              <a:rPr lang="ko-KR" altLang="en-US" dirty="0"/>
              <a:t>우분투</a:t>
            </a:r>
            <a:r>
              <a:rPr lang="en-US" altLang="ko-KR" dirty="0"/>
              <a:t>(ubuntu), </a:t>
            </a:r>
            <a:r>
              <a:rPr lang="ko-KR" altLang="en-US" dirty="0" err="1"/>
              <a:t>레드햇</a:t>
            </a:r>
            <a:r>
              <a:rPr lang="en-US" altLang="ko-KR" dirty="0"/>
              <a:t>, Kali Linux </a:t>
            </a:r>
            <a:r>
              <a:rPr lang="ko-KR" altLang="en-US" dirty="0"/>
              <a:t>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기타</a:t>
            </a:r>
            <a:endParaRPr lang="en-US" altLang="ko-KR" dirty="0"/>
          </a:p>
          <a:p>
            <a:pPr lvl="1"/>
            <a:r>
              <a:rPr lang="en-US" altLang="ko-KR" dirty="0"/>
              <a:t>Windows On Raspberry Pi, FreeBSD, </a:t>
            </a:r>
            <a:r>
              <a:rPr lang="ko-KR" altLang="en-US" dirty="0"/>
              <a:t>안드로이드</a:t>
            </a:r>
            <a:r>
              <a:rPr lang="en-US" altLang="ko-KR" dirty="0"/>
              <a:t>, RISC OS, </a:t>
            </a:r>
            <a:r>
              <a:rPr lang="ko-KR" altLang="en-US" dirty="0"/>
              <a:t>크롬 </a:t>
            </a:r>
            <a:r>
              <a:rPr lang="en-US" altLang="ko-KR" dirty="0"/>
              <a:t>OS. Embedded Linux </a:t>
            </a:r>
            <a:r>
              <a:rPr lang="ko-KR" altLang="en-US" dirty="0"/>
              <a:t>등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84CF43-6B0D-1687-4C2A-B2463D6BA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5523B0-41BE-2206-D4DF-A21BC910BBA8}"/>
              </a:ext>
            </a:extLst>
          </p:cNvPr>
          <p:cNvSpPr txBox="1"/>
          <p:nvPr/>
        </p:nvSpPr>
        <p:spPr>
          <a:xfrm>
            <a:off x="4382919" y="5876925"/>
            <a:ext cx="4641784" cy="5232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※ubuntu 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남아프리카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반투어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네가 있으니 내가 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.”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※RISC : Reduced Instruction Set Computer</a:t>
            </a:r>
          </a:p>
        </p:txBody>
      </p:sp>
    </p:spTree>
    <p:extLst>
      <p:ext uri="{BB962C8B-B14F-4D97-AF65-F5344CB8AC3E}">
        <p14:creationId xmlns:p14="http://schemas.microsoft.com/office/powerpoint/2010/main" val="2688826216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69917AB9-0269-5E9E-D046-CB84E34BB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1849952"/>
            <a:ext cx="1566604" cy="11008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부팅에 필요한 준비물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2E8C6E-BE98-537F-26FA-C52DBA40DA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85" t="9905" b="6086"/>
          <a:stretch/>
        </p:blipFill>
        <p:spPr>
          <a:xfrm>
            <a:off x="484210" y="1558614"/>
            <a:ext cx="1835167" cy="18722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04731E-FFCF-7A6C-7E0D-57BCB8679C03}"/>
              </a:ext>
            </a:extLst>
          </p:cNvPr>
          <p:cNvSpPr txBox="1"/>
          <p:nvPr/>
        </p:nvSpPr>
        <p:spPr>
          <a:xfrm>
            <a:off x="141559" y="3489877"/>
            <a:ext cx="25284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&lt;SD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카드 장착된 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Raspberry Pi&gt;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99BE5F-5FCD-A8A9-5AB3-5A36116F8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675" y="1680701"/>
            <a:ext cx="2380826" cy="18091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F4FE95-D2CC-0491-DB44-5170138A7400}"/>
              </a:ext>
            </a:extLst>
          </p:cNvPr>
          <p:cNvSpPr txBox="1"/>
          <p:nvPr/>
        </p:nvSpPr>
        <p:spPr>
          <a:xfrm>
            <a:off x="3851982" y="3489877"/>
            <a:ext cx="1462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 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(HDMI)&gt;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278E684-598A-4DC9-F580-E5C7C020E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148" y="3413686"/>
            <a:ext cx="1500738" cy="9986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447348-CF01-52DF-F685-305A8A8E9720}"/>
              </a:ext>
            </a:extLst>
          </p:cNvPr>
          <p:cNvSpPr txBox="1"/>
          <p:nvPr/>
        </p:nvSpPr>
        <p:spPr>
          <a:xfrm>
            <a:off x="6831392" y="5858323"/>
            <a:ext cx="1353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&lt;HDMI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케이블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74348-F815-EE62-35C0-0DE1E681F763}"/>
              </a:ext>
            </a:extLst>
          </p:cNvPr>
          <p:cNvSpPr txBox="1"/>
          <p:nvPr/>
        </p:nvSpPr>
        <p:spPr>
          <a:xfrm>
            <a:off x="8058689" y="3372428"/>
            <a:ext cx="482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3B+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2009B0-95FD-22D4-818C-400D217D5557}"/>
              </a:ext>
            </a:extLst>
          </p:cNvPr>
          <p:cNvSpPr txBox="1"/>
          <p:nvPr/>
        </p:nvSpPr>
        <p:spPr>
          <a:xfrm>
            <a:off x="7688246" y="1854634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4B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1D4BF5B-AC1B-6587-54C4-668802DBC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559" y="4173807"/>
            <a:ext cx="1715727" cy="14022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9541950-384A-912B-BF34-7E4E0CE2DE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171" y="4182935"/>
            <a:ext cx="2041122" cy="161948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C8D6DB4-0B64-13A3-08D6-4D65212651E2}"/>
              </a:ext>
            </a:extLst>
          </p:cNvPr>
          <p:cNvSpPr txBox="1"/>
          <p:nvPr/>
        </p:nvSpPr>
        <p:spPr>
          <a:xfrm>
            <a:off x="282012" y="5866278"/>
            <a:ext cx="23054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키보드와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(USB 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)&gt;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F5BDF0-9AA5-3EEB-49FB-D03B0560F3C7}"/>
              </a:ext>
            </a:extLst>
          </p:cNvPr>
          <p:cNvSpPr txBox="1"/>
          <p:nvPr/>
        </p:nvSpPr>
        <p:spPr>
          <a:xfrm>
            <a:off x="3346869" y="5866278"/>
            <a:ext cx="27251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어댑터</a:t>
            </a:r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(USB micro-B, 5Vdc 2.5A)&gt;</a:t>
            </a:r>
            <a:endParaRPr lang="ko-KR" altLang="en-US" sz="1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AF8AD278-39A5-D561-9790-43F7137F7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9781" y="4718013"/>
            <a:ext cx="1475541" cy="95598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0994DBF-763D-0289-92CC-B75DD5E51B0C}"/>
              </a:ext>
            </a:extLst>
          </p:cNvPr>
          <p:cNvSpPr txBox="1"/>
          <p:nvPr/>
        </p:nvSpPr>
        <p:spPr>
          <a:xfrm>
            <a:off x="7130402" y="4491131"/>
            <a:ext cx="1285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HDMI</a:t>
            </a:r>
            <a:r>
              <a:rPr lang="ko-KR" altLang="en-US" sz="1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미지원時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1E272-8F6F-CCBB-F881-F5ED741606ED}"/>
              </a:ext>
            </a:extLst>
          </p:cNvPr>
          <p:cNvSpPr txBox="1"/>
          <p:nvPr/>
        </p:nvSpPr>
        <p:spPr>
          <a:xfrm>
            <a:off x="7777194" y="2621875"/>
            <a:ext cx="10432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micro-HDMI</a:t>
            </a:r>
            <a:endParaRPr lang="ko-KR" altLang="en-US" sz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487502"/>
      </p:ext>
    </p:extLst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 err="1"/>
              <a:t>라즈베리파이</a:t>
            </a:r>
            <a:r>
              <a:rPr lang="ko-KR" altLang="en-US" dirty="0"/>
              <a:t> 전용</a:t>
            </a:r>
            <a:r>
              <a:rPr lang="en-US" altLang="ko-KR" dirty="0"/>
              <a:t> LCD Display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전용</a:t>
            </a:r>
            <a:r>
              <a:rPr lang="en-US" altLang="ko-KR" dirty="0"/>
              <a:t> LCD Display</a:t>
            </a:r>
          </a:p>
          <a:p>
            <a:pPr lvl="1"/>
            <a:r>
              <a:rPr lang="en-US" altLang="ko-KR" dirty="0"/>
              <a:t>LCD</a:t>
            </a:r>
            <a:r>
              <a:rPr lang="ko-KR" altLang="en-US" dirty="0"/>
              <a:t> </a:t>
            </a:r>
            <a:r>
              <a:rPr lang="en-US" altLang="ko-KR" dirty="0"/>
              <a:t>Display</a:t>
            </a:r>
            <a:r>
              <a:rPr lang="ko-KR" altLang="en-US" dirty="0"/>
              <a:t> 후면에 </a:t>
            </a:r>
            <a:r>
              <a:rPr lang="ko-KR" altLang="en-US" dirty="0" err="1"/>
              <a:t>라즈베리파이를</a:t>
            </a:r>
            <a:r>
              <a:rPr lang="ko-KR" altLang="en-US" dirty="0"/>
              <a:t> 부착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41FB4A-9127-F110-37A7-502D2BBDC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75" y="2113817"/>
            <a:ext cx="8042674" cy="36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73813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4B</a:t>
            </a:r>
            <a:r>
              <a:rPr lang="ko-KR" altLang="en-US" dirty="0"/>
              <a:t>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연결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E91DA4-2A29-5768-B97C-079B0893E278}"/>
              </a:ext>
            </a:extLst>
          </p:cNvPr>
          <p:cNvSpPr txBox="1"/>
          <p:nvPr/>
        </p:nvSpPr>
        <p:spPr>
          <a:xfrm>
            <a:off x="880555" y="3571667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C752BF-5EEB-7C40-8BF0-C6635CA30018}"/>
              </a:ext>
            </a:extLst>
          </p:cNvPr>
          <p:cNvSpPr txBox="1"/>
          <p:nvPr/>
        </p:nvSpPr>
        <p:spPr>
          <a:xfrm>
            <a:off x="880556" y="4474045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키보드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86CC17-A720-2860-A100-ACD4B0DB1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775" y="2003477"/>
            <a:ext cx="5961905" cy="427619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CCB3418-28EC-C330-31E0-C87D8347A798}"/>
              </a:ext>
            </a:extLst>
          </p:cNvPr>
          <p:cNvSpPr txBox="1"/>
          <p:nvPr/>
        </p:nvSpPr>
        <p:spPr>
          <a:xfrm>
            <a:off x="5612549" y="163158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모니터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2468CB-3B3C-A91D-5023-A43E701F53B4}"/>
              </a:ext>
            </a:extLst>
          </p:cNvPr>
          <p:cNvSpPr txBox="1"/>
          <p:nvPr/>
        </p:nvSpPr>
        <p:spPr>
          <a:xfrm>
            <a:off x="6412768" y="163158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어댑터</a:t>
            </a:r>
          </a:p>
        </p:txBody>
      </p:sp>
    </p:spTree>
    <p:extLst>
      <p:ext uri="{BB962C8B-B14F-4D97-AF65-F5344CB8AC3E}">
        <p14:creationId xmlns:p14="http://schemas.microsoft.com/office/powerpoint/2010/main" val="3116827402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4B</a:t>
            </a:r>
            <a:r>
              <a:rPr lang="ko-KR" altLang="en-US" dirty="0"/>
              <a:t>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실행과정 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 OS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커스터마이징을 적용하면 자동 설정됨 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endParaRPr lang="en-US" altLang="ko-KR" dirty="0">
              <a:solidFill>
                <a:srgbClr val="0070C0"/>
              </a:solidFill>
            </a:endParaRPr>
          </a:p>
          <a:p>
            <a:pPr lvl="1"/>
            <a:r>
              <a:rPr lang="en-US" altLang="ko-KR" dirty="0"/>
              <a:t>Welcome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국가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설정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한국 설정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이전에는 </a:t>
            </a:r>
            <a:r>
              <a:rPr lang="en-US" altLang="ko-KR" dirty="0" err="1">
                <a:sym typeface="Wingdings" panose="05000000000000000000" pitchFamily="2" charset="2"/>
              </a:rPr>
              <a:t>WiFi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버그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현재는 버그 수정 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E68E05-1118-469E-A494-EEE4B752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3" y="1988841"/>
            <a:ext cx="2540352" cy="1800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EA094F-925F-1964-192D-8B66551FA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740" y="1951698"/>
            <a:ext cx="2232248" cy="18300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3CFCA2-4E3C-E446-2A5D-48E27DCB8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44" y="4293096"/>
            <a:ext cx="2540352" cy="212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61823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4B</a:t>
            </a:r>
            <a:r>
              <a:rPr lang="ko-KR" altLang="en-US" dirty="0"/>
              <a:t>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실행과정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  OS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커스터마이징을 적용하면 자동 설정됨 </a:t>
            </a:r>
            <a:endParaRPr lang="en-US" altLang="ko-KR" dirty="0"/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사용자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WiFi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29AD2EC-14A3-EB5C-A72B-2C3EFC26D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09" y="1916832"/>
            <a:ext cx="2483317" cy="19605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5519410-7435-5042-94F7-837091790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71" y="4331478"/>
            <a:ext cx="2558759" cy="19605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C99432E-0532-E1F0-AA19-0F6E0FAFF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88" y="4288326"/>
            <a:ext cx="2664296" cy="20036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8900669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4B</a:t>
            </a:r>
            <a:r>
              <a:rPr lang="ko-KR" altLang="en-US" dirty="0"/>
              <a:t> 부팅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DFB866-FFF5-04F1-4BBF-DC85DB53E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실행과정</a:t>
            </a:r>
            <a:r>
              <a:rPr lang="en-US" altLang="ko-KR" dirty="0">
                <a:solidFill>
                  <a:srgbClr val="0070C0"/>
                </a:solidFill>
                <a:sym typeface="Wingdings" panose="05000000000000000000" pitchFamily="2" charset="2"/>
              </a:rPr>
              <a:t>  OS </a:t>
            </a:r>
            <a:r>
              <a:rPr lang="ko-KR" altLang="en-US" dirty="0">
                <a:solidFill>
                  <a:srgbClr val="0070C0"/>
                </a:solidFill>
                <a:sym typeface="Wingdings" panose="05000000000000000000" pitchFamily="2" charset="2"/>
              </a:rPr>
              <a:t>커스터마이징을 적용하면 자동 설정됨 </a:t>
            </a:r>
            <a:endParaRPr lang="en-US" altLang="ko-KR" dirty="0"/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Browser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업데이트 </a:t>
            </a:r>
            <a:r>
              <a:rPr lang="en-US" altLang="ko-KR" dirty="0">
                <a:sym typeface="Wingdings" panose="05000000000000000000" pitchFamily="2" charset="2"/>
              </a:rPr>
              <a:t> Skip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설치 완료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CB7CA46-8B15-D57E-59CF-277465D72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649" y="1916832"/>
            <a:ext cx="2587216" cy="19744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FC97588-40A8-308F-BB81-AE2634FEF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50" y="4288042"/>
            <a:ext cx="2625126" cy="19744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82D2A96-C449-788F-9041-1EB39F7A066C}"/>
              </a:ext>
            </a:extLst>
          </p:cNvPr>
          <p:cNvSpPr/>
          <p:nvPr/>
        </p:nvSpPr>
        <p:spPr>
          <a:xfrm>
            <a:off x="2339752" y="6021288"/>
            <a:ext cx="432048" cy="21385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AE13EDC-8AA0-9122-AF17-8C7991D7B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4297762"/>
            <a:ext cx="2625127" cy="19598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769327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</a:t>
            </a:r>
            <a:r>
              <a:rPr lang="en-US" altLang="ko-KR" dirty="0"/>
              <a:t>– </a:t>
            </a:r>
            <a:r>
              <a:rPr lang="ko-KR" altLang="en-US" dirty="0"/>
              <a:t>데스크탑 화면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233347-3F7D-3A0A-ADFF-35DC597C74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63"/>
          <a:stretch/>
        </p:blipFill>
        <p:spPr>
          <a:xfrm>
            <a:off x="485800" y="1484783"/>
            <a:ext cx="8172400" cy="45871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32961927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2F32FC8-C758-3B5F-F27E-7D2F4FE1C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35" y="1024543"/>
            <a:ext cx="2638095" cy="17428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</a:t>
            </a:r>
            <a:r>
              <a:rPr lang="en-US" altLang="ko-KR" dirty="0"/>
              <a:t>– </a:t>
            </a:r>
            <a:r>
              <a:rPr lang="ko-KR" altLang="en-US" dirty="0"/>
              <a:t>딸기메뉴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45</a:t>
            </a:fld>
            <a:endParaRPr lang="en-US" altLang="ko-KR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70B7BE6-CCFB-6F3F-47BA-DFF1EA0292DE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444687" y="1356981"/>
            <a:ext cx="600411" cy="171216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DD67FA-5EA4-E1A7-FA7A-9E925A948EE7}"/>
              </a:ext>
            </a:extLst>
          </p:cNvPr>
          <p:cNvSpPr txBox="1"/>
          <p:nvPr/>
        </p:nvSpPr>
        <p:spPr>
          <a:xfrm>
            <a:off x="206949" y="2780928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딸기메뉴</a:t>
            </a:r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윈도우의 시작메뉴 역할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7D76DD9-022C-D5B0-E60B-BD72C52DA4AE}"/>
              </a:ext>
            </a:extLst>
          </p:cNvPr>
          <p:cNvCxnSpPr>
            <a:cxnSpLocks/>
          </p:cNvCxnSpPr>
          <p:nvPr/>
        </p:nvCxnSpPr>
        <p:spPr>
          <a:xfrm>
            <a:off x="744892" y="1273636"/>
            <a:ext cx="1982853" cy="241014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A6CF8E1-C26D-4A4A-369F-B04594F846EB}"/>
              </a:ext>
            </a:extLst>
          </p:cNvPr>
          <p:cNvSpPr txBox="1"/>
          <p:nvPr/>
        </p:nvSpPr>
        <p:spPr>
          <a:xfrm>
            <a:off x="2727745" y="341090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웹브라우저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크롬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884799-9E82-34B5-8280-98E74C15BFCD}"/>
              </a:ext>
            </a:extLst>
          </p:cNvPr>
          <p:cNvSpPr txBox="1"/>
          <p:nvPr/>
        </p:nvSpPr>
        <p:spPr>
          <a:xfrm>
            <a:off x="3803779" y="236649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파일탐색기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A8A8FB-7864-08FD-28C4-9D6F23E7D2AE}"/>
              </a:ext>
            </a:extLst>
          </p:cNvPr>
          <p:cNvSpPr txBox="1"/>
          <p:nvPr/>
        </p:nvSpPr>
        <p:spPr>
          <a:xfrm>
            <a:off x="3506326" y="1207456"/>
            <a:ext cx="1984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터미널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명령 실행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r>
              <a:rPr lang="en-US" altLang="ko-KR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윈도우의 콘솔 역할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424328-830D-4BF1-DFE3-AA4C82934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00" y="3069148"/>
            <a:ext cx="1601195" cy="33625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024F8E2-7A56-3576-1437-F4D5E6927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632" y="3697308"/>
            <a:ext cx="3386825" cy="27625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CC50D3-938B-C48A-FBB4-BA6055FAD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231" y="2780928"/>
            <a:ext cx="4074569" cy="29388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75B69C3-BA9D-7B65-3C4B-6FD512B8CC26}"/>
              </a:ext>
            </a:extLst>
          </p:cNvPr>
          <p:cNvCxnSpPr>
            <a:cxnSpLocks/>
          </p:cNvCxnSpPr>
          <p:nvPr/>
        </p:nvCxnSpPr>
        <p:spPr>
          <a:xfrm>
            <a:off x="1180186" y="1256794"/>
            <a:ext cx="3803530" cy="19755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C33B1F17-4BA9-C51E-D5BC-2BE8B1004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366" y="1136314"/>
            <a:ext cx="3591949" cy="21028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40826D0-11BF-75A3-A81C-C56F48A12821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480392" y="1207456"/>
            <a:ext cx="4004974" cy="98026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5324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3" grpId="0"/>
      <p:bldP spid="26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7697C31-F20D-664F-BA0D-8CE6D308D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061" y="1136378"/>
            <a:ext cx="2733333" cy="15333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</a:t>
            </a:r>
            <a:r>
              <a:rPr lang="en-US" altLang="ko-KR" dirty="0"/>
              <a:t>– </a:t>
            </a:r>
            <a:r>
              <a:rPr lang="ko-KR" altLang="en-US" dirty="0"/>
              <a:t>네트워크 설정 메뉴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46</a:t>
            </a:fld>
            <a:endParaRPr lang="en-US" altLang="ko-KR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70B7BE6-CCFB-6F3F-47BA-DFF1EA0292D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2352962" y="1426015"/>
            <a:ext cx="5027350" cy="12121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13F0AE9-E082-E373-7B4D-32E811B848B0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3316102" y="1484784"/>
            <a:ext cx="4432345" cy="26330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22EF192-D862-1CC0-680A-7CD4F026A56B}"/>
              </a:ext>
            </a:extLst>
          </p:cNvPr>
          <p:cNvSpPr txBox="1"/>
          <p:nvPr/>
        </p:nvSpPr>
        <p:spPr>
          <a:xfrm>
            <a:off x="2781072" y="2859785"/>
            <a:ext cx="19752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 오버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AP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및 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IP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정보 제공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78CD56D-43EA-5C42-1D76-AB7607421184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543924" y="1549561"/>
            <a:ext cx="224107" cy="262044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9F3A3B8-C64C-1A30-36F6-C16D2379EB76}"/>
              </a:ext>
            </a:extLst>
          </p:cNvPr>
          <p:cNvSpPr txBox="1"/>
          <p:nvPr/>
        </p:nvSpPr>
        <p:spPr>
          <a:xfrm>
            <a:off x="5377335" y="3310110"/>
            <a:ext cx="21675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 클릭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AP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정보 제공 및 선택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DD67FA-5EA4-E1A7-FA7A-9E925A948EE7}"/>
              </a:ext>
            </a:extLst>
          </p:cNvPr>
          <p:cNvSpPr txBox="1"/>
          <p:nvPr/>
        </p:nvSpPr>
        <p:spPr>
          <a:xfrm>
            <a:off x="2871614" y="1770463"/>
            <a:ext cx="1324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블루투스 관리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추후 학습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215FA7-DEE4-95FB-CC53-B0DCF57CA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59" y="4117808"/>
            <a:ext cx="4714286" cy="647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3F42AA7-8DCB-9CF7-49CB-84136A1CE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95" y="2190513"/>
            <a:ext cx="1866667" cy="8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89182B3-3B98-A2F7-EED1-F9E6EBC46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448" y="4170009"/>
            <a:ext cx="1980952" cy="20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450451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2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위치 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위치정보 설정 </a:t>
            </a:r>
            <a:r>
              <a:rPr lang="en-US" altLang="ko-KR" sz="1800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OS </a:t>
            </a:r>
            <a:r>
              <a:rPr lang="ko-KR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커스터마이징</a:t>
            </a:r>
            <a:r>
              <a:rPr lang="ko-KR" altLang="en-US" sz="1800" dirty="0">
                <a:solidFill>
                  <a:srgbClr val="0070C0"/>
                </a:solidFill>
                <a:sym typeface="Wingdings" panose="05000000000000000000" pitchFamily="2" charset="2"/>
              </a:rPr>
              <a:t>을 통해 설정 완료</a:t>
            </a:r>
            <a:endParaRPr lang="en-US" altLang="ko-KR" dirty="0">
              <a:solidFill>
                <a:srgbClr val="0070C0"/>
              </a:solidFill>
            </a:endParaRPr>
          </a:p>
          <a:p>
            <a:pPr lvl="1"/>
            <a:r>
              <a:rPr lang="ko-KR" altLang="en-US" dirty="0"/>
              <a:t>딸기 </a:t>
            </a:r>
            <a:r>
              <a:rPr lang="en-US" altLang="ko-KR" dirty="0"/>
              <a:t>– Preferences – Raspberry Pi Configuration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02E380-DBD1-2FA2-8AFE-85F792EFF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820" y="1992333"/>
            <a:ext cx="3240360" cy="45074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517729"/>
      </p:ext>
    </p:extLst>
  </p:cSld>
  <p:clrMapOvr>
    <a:masterClrMapping/>
  </p:clrMapOvr>
  <p:transition>
    <p:zo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en-US" altLang="ko-KR" dirty="0" err="1"/>
              <a:t>Localisation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/>
              <a:t>Locale</a:t>
            </a:r>
          </a:p>
          <a:p>
            <a:pPr lvl="1"/>
            <a:r>
              <a:rPr lang="en-US" altLang="ko-KR" dirty="0"/>
              <a:t>Language</a:t>
            </a:r>
            <a:r>
              <a:rPr lang="ko-KR" altLang="en-US" dirty="0"/>
              <a:t>를 </a:t>
            </a:r>
            <a:r>
              <a:rPr lang="en-US" altLang="ko-KR" dirty="0" err="1"/>
              <a:t>en</a:t>
            </a:r>
            <a:r>
              <a:rPr lang="ko-KR" altLang="en-US" dirty="0"/>
              <a:t>으로 설정하길 추천</a:t>
            </a:r>
            <a:endParaRPr lang="en-US" altLang="ko-KR" dirty="0"/>
          </a:p>
          <a:p>
            <a:pPr lvl="1"/>
            <a:r>
              <a:rPr lang="en-US" altLang="ko-KR" dirty="0"/>
              <a:t>ko(Korean) </a:t>
            </a:r>
            <a:r>
              <a:rPr lang="ko-KR" altLang="en-US" dirty="0"/>
              <a:t>설정</a:t>
            </a:r>
            <a:r>
              <a:rPr lang="en-US" altLang="ko-KR" dirty="0"/>
              <a:t> </a:t>
            </a:r>
            <a:r>
              <a:rPr lang="ko-KR" altLang="en-US" dirty="0"/>
              <a:t>시 글꼴 깨짐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C00000"/>
                </a:solidFill>
                <a:sym typeface="Wingdings" panose="05000000000000000000" pitchFamily="2" charset="2"/>
              </a:rPr>
              <a:t>한글 글꼴 미 설치</a:t>
            </a:r>
            <a:r>
              <a:rPr lang="ko-KR" altLang="en-US" dirty="0">
                <a:sym typeface="Wingdings" panose="05000000000000000000" pitchFamily="2" charset="2"/>
              </a:rPr>
              <a:t> 상태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48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1C7D13-81EF-15B5-D826-21321AF54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185" y="2780928"/>
            <a:ext cx="4193865" cy="28626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509F2F-C45C-95D3-A506-57F4AD851A49}"/>
              </a:ext>
            </a:extLst>
          </p:cNvPr>
          <p:cNvSpPr txBox="1"/>
          <p:nvPr/>
        </p:nvSpPr>
        <p:spPr>
          <a:xfrm>
            <a:off x="5519682" y="4247600"/>
            <a:ext cx="28803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  <a:sym typeface="Wingdings" panose="05000000000000000000" pitchFamily="2" charset="2"/>
              </a:rPr>
              <a:t>ko </a:t>
            </a:r>
            <a:r>
              <a:rPr lang="ko-KR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설정 시 버그</a:t>
            </a:r>
            <a:r>
              <a:rPr lang="en-US" altLang="ko-KR" sz="1600" dirty="0">
                <a:solidFill>
                  <a:srgbClr val="FF0000"/>
                </a:solidFill>
                <a:sym typeface="Wingdings" panose="05000000000000000000" pitchFamily="2" charset="2"/>
              </a:rPr>
              <a:t>(bug) </a:t>
            </a:r>
            <a:r>
              <a:rPr lang="ko-KR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화면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55AE63-0B93-4626-CDF8-A0C294777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780928"/>
            <a:ext cx="3424603" cy="26612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39D6F0-1018-A836-4943-57D1BF79E106}"/>
              </a:ext>
            </a:extLst>
          </p:cNvPr>
          <p:cNvSpPr/>
          <p:nvPr/>
        </p:nvSpPr>
        <p:spPr>
          <a:xfrm>
            <a:off x="1883445" y="3794344"/>
            <a:ext cx="1519410" cy="6635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38513"/>
      </p:ext>
    </p:extLst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ko-KR" altLang="en-US" dirty="0"/>
              <a:t> 환경 설정 </a:t>
            </a:r>
            <a:r>
              <a:rPr lang="en-US" altLang="ko-KR" dirty="0"/>
              <a:t>- </a:t>
            </a:r>
            <a:r>
              <a:rPr lang="en-US" altLang="ko-KR" dirty="0" err="1"/>
              <a:t>Localisation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 err="1"/>
              <a:t>Timezone</a:t>
            </a:r>
            <a:r>
              <a:rPr lang="en-US" altLang="ko-KR" dirty="0"/>
              <a:t> / Set Keyboard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49</a:t>
            </a:fld>
            <a:endParaRPr lang="en-US" altLang="ko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ACA3E93-E693-0602-F4B1-5251EBBA7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17" y="1619181"/>
            <a:ext cx="3256111" cy="27620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25521FA-6487-AC3E-CE98-835A4E0C9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1619181"/>
            <a:ext cx="3276365" cy="27792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5286648"/>
      </p:ext>
    </p:extLst>
  </p:cSld>
  <p:clrMapOvr>
    <a:masterClrMapping/>
  </p:clrMapOvr>
  <p:transition>
    <p:zo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ko-KR" altLang="en-US" dirty="0"/>
              <a:t> 환경 설정 </a:t>
            </a:r>
            <a:r>
              <a:rPr lang="en-US" altLang="ko-KR" dirty="0"/>
              <a:t>- </a:t>
            </a:r>
            <a:r>
              <a:rPr lang="en-US" altLang="ko-KR" dirty="0" err="1"/>
              <a:t>Localisation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Set</a:t>
            </a:r>
            <a:r>
              <a:rPr lang="ko-KR" altLang="en-US" dirty="0"/>
              <a:t> </a:t>
            </a:r>
            <a:r>
              <a:rPr lang="en-US" altLang="ko-KR" dirty="0" err="1"/>
              <a:t>WLANCountry</a:t>
            </a:r>
            <a:endParaRPr lang="en-US" altLang="ko-KR" dirty="0"/>
          </a:p>
          <a:p>
            <a:pPr lvl="1"/>
            <a:r>
              <a:rPr lang="ko-KR" altLang="en-US" dirty="0"/>
              <a:t>이전에는 </a:t>
            </a:r>
            <a:r>
              <a:rPr lang="en-US" altLang="ko-KR" dirty="0"/>
              <a:t>KR</a:t>
            </a:r>
            <a:r>
              <a:rPr lang="ko-KR" altLang="en-US" dirty="0"/>
              <a:t>로 설정할 경우 </a:t>
            </a:r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ko-KR" altLang="en-US" dirty="0"/>
              <a:t>인식 버그</a:t>
            </a:r>
            <a:endParaRPr lang="en-US" altLang="ko-KR" dirty="0"/>
          </a:p>
          <a:p>
            <a:pPr lvl="1"/>
            <a:r>
              <a:rPr lang="ko-KR" altLang="en-US" dirty="0"/>
              <a:t>최신 버전 버그 수정하여 </a:t>
            </a:r>
            <a:r>
              <a:rPr lang="en-US" altLang="ko-KR" dirty="0"/>
              <a:t>KR</a:t>
            </a:r>
            <a:r>
              <a:rPr lang="ko-KR" altLang="en-US" dirty="0"/>
              <a:t>로 지정하여도 문제 없음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C5041E-8878-4A20-EF42-6EA3C229E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636912"/>
            <a:ext cx="3505468" cy="29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12892"/>
      </p:ext>
    </p:extLst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글꼴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한글 오류 확인</a:t>
            </a:r>
            <a:endParaRPr lang="en-US" altLang="ko-KR" dirty="0"/>
          </a:p>
          <a:p>
            <a:pPr lvl="1"/>
            <a:r>
              <a:rPr lang="en-US" altLang="ko-KR" dirty="0"/>
              <a:t>Naver</a:t>
            </a:r>
            <a:r>
              <a:rPr lang="ko-KR" altLang="en-US" dirty="0"/>
              <a:t> 사이트 접속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한글 글꼴 깨짐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한글 글꼴 설치 필요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51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3B4DAC-9BA9-DEF6-32AB-59262B493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204864"/>
            <a:ext cx="6048672" cy="34807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6880004"/>
      </p:ext>
    </p:extLst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글꼴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패키지 업그레이드</a:t>
            </a:r>
            <a:endParaRPr lang="en-US" altLang="ko-KR" dirty="0"/>
          </a:p>
          <a:p>
            <a:pPr lvl="1"/>
            <a:r>
              <a:rPr lang="ko-KR" altLang="en-US" dirty="0"/>
              <a:t>리눅스 환경은 수시로 업그레이드되기 때문에 설치 전 패키지 업그레이드 필요</a:t>
            </a:r>
            <a:endParaRPr lang="en-US" altLang="ko-KR" dirty="0"/>
          </a:p>
          <a:p>
            <a:pPr lvl="2"/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apt-get update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현재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사용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가능한 패키지와 버전 리스트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720000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/</a:t>
            </a:r>
            <a:r>
              <a:rPr lang="en-US" altLang="ko-KR" dirty="0" err="1">
                <a:sym typeface="Wingdings" panose="05000000000000000000" pitchFamily="2" charset="2"/>
              </a:rPr>
              <a:t>etc</a:t>
            </a:r>
            <a:r>
              <a:rPr lang="en-US" altLang="ko-KR" dirty="0">
                <a:sym typeface="Wingdings" panose="05000000000000000000" pitchFamily="2" charset="2"/>
              </a:rPr>
              <a:t>/apt/</a:t>
            </a:r>
            <a:r>
              <a:rPr lang="en-US" altLang="ko-KR" dirty="0" err="1">
                <a:sym typeface="Wingdings" panose="05000000000000000000" pitchFamily="2" charset="2"/>
              </a:rPr>
              <a:t>source.list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 err="1"/>
              <a:t>sudo</a:t>
            </a:r>
            <a:r>
              <a:rPr lang="en-US" altLang="ko-KR" dirty="0"/>
              <a:t> apt-get upgrade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리스트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내부 패키지들을 최신 버전으로 재설치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52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2FEC1D-7FE1-20A9-7B04-420DAEFE8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28" y="3463264"/>
            <a:ext cx="4668343" cy="3006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D669D-D286-FB06-10BA-8404F66C5030}"/>
              </a:ext>
            </a:extLst>
          </p:cNvPr>
          <p:cNvSpPr txBox="1"/>
          <p:nvPr/>
        </p:nvSpPr>
        <p:spPr>
          <a:xfrm>
            <a:off x="3491880" y="5013176"/>
            <a:ext cx="407996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시간이 꽤 걸리는 작업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 계속 할까요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질문에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“y”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눌러줄 것</a:t>
            </a:r>
          </a:p>
        </p:txBody>
      </p:sp>
    </p:spTree>
    <p:extLst>
      <p:ext uri="{BB962C8B-B14F-4D97-AF65-F5344CB8AC3E}">
        <p14:creationId xmlns:p14="http://schemas.microsoft.com/office/powerpoint/2010/main" val="2281939821"/>
      </p:ext>
    </p:extLst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글꼴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한글 글꼴 설치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install fonts-</a:t>
            </a:r>
            <a:r>
              <a:rPr lang="en-US" altLang="ko-KR" dirty="0" err="1"/>
              <a:t>unfonts</a:t>
            </a:r>
            <a:r>
              <a:rPr lang="en-US" altLang="ko-KR" dirty="0"/>
              <a:t>-core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36987D-0AE6-7E7D-DF57-30E5032B0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73" y="2060848"/>
            <a:ext cx="8202054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56225"/>
      </p:ext>
    </p:extLst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38DCE-017C-7615-8FD3-3B8398BAD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글꼴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085CD-1ACC-E414-FEDF-7521DC72F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한글 글꼴 확인 </a:t>
            </a:r>
            <a:r>
              <a:rPr lang="en-US" altLang="ko-KR" sz="1600" dirty="0">
                <a:solidFill>
                  <a:srgbClr val="0070C0"/>
                </a:solidFill>
                <a:sym typeface="Wingdings" panose="05000000000000000000" pitchFamily="2" charset="2"/>
              </a:rPr>
              <a:t> Naver </a:t>
            </a:r>
            <a:r>
              <a:rPr lang="ko-KR" altLang="en-US" sz="1600" dirty="0">
                <a:solidFill>
                  <a:srgbClr val="0070C0"/>
                </a:solidFill>
                <a:sym typeface="Wingdings" panose="05000000000000000000" pitchFamily="2" charset="2"/>
              </a:rPr>
              <a:t>사이트 접속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3D46A5-0E4F-481E-4FB8-E44BF97131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CBABA3-6C39-9217-ED52-689AEA0B3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32" y="1628800"/>
            <a:ext cx="7812360" cy="44913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806260"/>
      </p:ext>
    </p:extLst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05314-5F8C-608C-BAE5-1A226779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9A364-9986-4FD4-96CC-F3A29E2A8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55</a:t>
            </a:fld>
            <a:endParaRPr lang="en-US" altLang="ko-KR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C930E5E-B663-806F-1CF9-935A6C44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install </a:t>
            </a:r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en-US" altLang="ko-KR" dirty="0" err="1"/>
              <a:t>ibus</a:t>
            </a:r>
            <a:r>
              <a:rPr lang="en-US" altLang="ko-KR" dirty="0"/>
              <a:t>-hangul</a:t>
            </a:r>
            <a:endParaRPr lang="ko-KR" altLang="en-US" dirty="0"/>
          </a:p>
        </p:txBody>
      </p:sp>
      <p:pic>
        <p:nvPicPr>
          <p:cNvPr id="11" name="내용 개체 틀 7" descr="텍스트이(가) 표시된 사진&#10;&#10;자동 생성된 설명">
            <a:extLst>
              <a:ext uri="{FF2B5EF4-FFF2-40B4-BE49-F238E27FC236}">
                <a16:creationId xmlns:a16="http://schemas.microsoft.com/office/drawing/2014/main" id="{443672F0-67DB-93D2-DF97-EE6B08BB4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4149" y="2060848"/>
            <a:ext cx="6257925" cy="423862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CB5D6A-B47D-FF1E-EC43-7405402CB298}"/>
              </a:ext>
            </a:extLst>
          </p:cNvPr>
          <p:cNvSpPr txBox="1"/>
          <p:nvPr/>
        </p:nvSpPr>
        <p:spPr>
          <a:xfrm>
            <a:off x="3491880" y="5013176"/>
            <a:ext cx="4079963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시간이 꽤 걸리는 작업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 계속 할까요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질문에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“y”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눌러줄 것</a:t>
            </a:r>
          </a:p>
        </p:txBody>
      </p:sp>
    </p:spTree>
    <p:extLst>
      <p:ext uri="{BB962C8B-B14F-4D97-AF65-F5344CB8AC3E}">
        <p14:creationId xmlns:p14="http://schemas.microsoft.com/office/powerpoint/2010/main" val="1894976427"/>
      </p:ext>
    </p:extLst>
  </p:cSld>
  <p:clrMapOvr>
    <a:masterClrMapping/>
  </p:clrMapOvr>
  <p:transition>
    <p:zoom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05314-5F8C-608C-BAE5-1A226779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9A364-9986-4FD4-96CC-F3A29E2A8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56</a:t>
            </a:fld>
            <a:endParaRPr lang="en-US" altLang="ko-KR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C930E5E-B663-806F-1CF9-935A6C44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ko-KR" altLang="en-US" dirty="0"/>
              <a:t>데몬</a:t>
            </a:r>
            <a:r>
              <a:rPr lang="en-US" altLang="ko-KR" dirty="0"/>
              <a:t>(Daemon) </a:t>
            </a:r>
            <a:r>
              <a:rPr lang="ko-KR" altLang="en-US" dirty="0"/>
              <a:t>구동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F20A46-0FE1-7A1D-8AFD-EB82BD9A5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694" y="2060848"/>
            <a:ext cx="4549929" cy="11521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DA22F87F-3C48-2B0D-FB65-F7B9417B7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072" y="3572118"/>
            <a:ext cx="4531746" cy="15130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0D0CB0-EAF1-9299-D035-2D0B91C55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59" y="1484784"/>
            <a:ext cx="3690293" cy="50493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A8056BD-924E-303E-E078-295CAB538FD6}"/>
              </a:ext>
            </a:extLst>
          </p:cNvPr>
          <p:cNvSpPr txBox="1"/>
          <p:nvPr/>
        </p:nvSpPr>
        <p:spPr>
          <a:xfrm>
            <a:off x="281550" y="5419319"/>
            <a:ext cx="8603124" cy="98488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데몬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(Daemon,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데이먼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디먼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우리말로 직역하면 귀신프로세스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어원은 맥스웰의 악마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부모</a:t>
            </a:r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프로세스에서 별도로 떨어져 나와 백그라운드로 실행되는 프로세스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MS Windows</a:t>
            </a:r>
            <a:r>
              <a:rPr lang="ko-KR" altLang="en-US" sz="14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서비스와 비슷하며 일반적으로 시스템이 켜질 때부터 꺼질 때까지 지속적으로 작동</a:t>
            </a:r>
            <a:endParaRPr lang="en-US" altLang="ko-KR" sz="14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599543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05314-5F8C-608C-BAE5-1A226779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9A364-9986-4FD4-96CC-F3A29E2A8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57</a:t>
            </a:fld>
            <a:endParaRPr lang="en-US" altLang="ko-KR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C930E5E-B663-806F-1CF9-935A6C44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ko-KR" altLang="en-US" dirty="0"/>
              <a:t>데몬</a:t>
            </a:r>
            <a:r>
              <a:rPr lang="en-US" altLang="ko-KR" dirty="0"/>
              <a:t>(Daemon) </a:t>
            </a:r>
            <a:r>
              <a:rPr lang="ko-KR" altLang="en-US" dirty="0"/>
              <a:t>설정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463DAF9-F175-FF10-B157-EFC3BCB62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11" y="4211754"/>
            <a:ext cx="1732610" cy="22019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 descr="텍스트이(가) 표시된 사진&#10;&#10;자동 생성된 설명">
            <a:extLst>
              <a:ext uri="{FF2B5EF4-FFF2-40B4-BE49-F238E27FC236}">
                <a16:creationId xmlns:a16="http://schemas.microsoft.com/office/drawing/2014/main" id="{79E61040-0435-532A-D01C-C8C47C0EC5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688" y="4208571"/>
            <a:ext cx="1715226" cy="21961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A6BBF7-2545-8288-9EE7-119829B40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29" y="1466291"/>
            <a:ext cx="3842231" cy="26486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8CB80C-78FC-5D65-34D9-C9C9170A9547}"/>
              </a:ext>
            </a:extLst>
          </p:cNvPr>
          <p:cNvSpPr/>
          <p:nvPr/>
        </p:nvSpPr>
        <p:spPr>
          <a:xfrm>
            <a:off x="3692016" y="1949893"/>
            <a:ext cx="622096" cy="17291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2F9F15F-50A6-85F8-7F54-D4048FCCF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575" y="1448706"/>
            <a:ext cx="3846454" cy="26462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DE1A3F-C4F6-C23E-37D5-141633F98634}"/>
              </a:ext>
            </a:extLst>
          </p:cNvPr>
          <p:cNvSpPr/>
          <p:nvPr/>
        </p:nvSpPr>
        <p:spPr>
          <a:xfrm>
            <a:off x="8044312" y="2492896"/>
            <a:ext cx="622096" cy="17291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4C7B55F-FC72-3946-B3C5-E11718A9B3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787" y="4192764"/>
            <a:ext cx="1900030" cy="22277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B1D9CB-94A6-85B9-0E45-B97B454E728C}"/>
              </a:ext>
            </a:extLst>
          </p:cNvPr>
          <p:cNvSpPr/>
          <p:nvPr/>
        </p:nvSpPr>
        <p:spPr>
          <a:xfrm>
            <a:off x="6084168" y="5619384"/>
            <a:ext cx="1080120" cy="3600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66625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2" grpId="0" animBg="1"/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05314-5F8C-608C-BAE5-1A226779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9A364-9986-4FD4-96CC-F3A29E2A8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58</a:t>
            </a:fld>
            <a:endParaRPr lang="en-US" altLang="ko-KR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C930E5E-B663-806F-1CF9-935A6C44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리부트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BBA1C2-75E5-F1F8-7DC8-5B64AAE1B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628800"/>
            <a:ext cx="2886075" cy="44680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 descr="테이블이(가) 표시된 사진&#10;&#10;자동 생성된 설명">
            <a:extLst>
              <a:ext uri="{FF2B5EF4-FFF2-40B4-BE49-F238E27FC236}">
                <a16:creationId xmlns:a16="http://schemas.microsoft.com/office/drawing/2014/main" id="{02B4A56B-972C-5A88-5C3C-073E1CFA5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609" y="3212976"/>
            <a:ext cx="2886075" cy="1514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27146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05314-5F8C-608C-BAE5-1A226779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en-US" altLang="ko-KR" dirty="0"/>
              <a:t> </a:t>
            </a:r>
            <a:r>
              <a:rPr lang="ko-KR" altLang="en-US" dirty="0"/>
              <a:t>환경 설정 </a:t>
            </a:r>
            <a:r>
              <a:rPr lang="en-US" altLang="ko-KR" dirty="0"/>
              <a:t>–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49A364-9986-4FD4-96CC-F3A29E2A8F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59</a:t>
            </a:fld>
            <a:endParaRPr lang="en-US" altLang="ko-KR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C930E5E-B663-806F-1CF9-935A6C448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한글 입력 확인</a:t>
            </a:r>
            <a:endParaRPr lang="en-US" altLang="ko-KR" dirty="0"/>
          </a:p>
          <a:p>
            <a:pPr lvl="1"/>
            <a:r>
              <a:rPr lang="ko-KR" altLang="en-US" dirty="0" err="1"/>
              <a:t>웹브라우저에서는</a:t>
            </a:r>
            <a:r>
              <a:rPr lang="ko-KR" altLang="en-US" dirty="0"/>
              <a:t> 한글 입력 오류</a:t>
            </a:r>
            <a:endParaRPr lang="en-US" altLang="ko-KR" dirty="0"/>
          </a:p>
          <a:p>
            <a:pPr lvl="1"/>
            <a:r>
              <a:rPr lang="en-US" altLang="ko-KR" dirty="0"/>
              <a:t>“</a:t>
            </a:r>
            <a:r>
              <a:rPr lang="en-US" altLang="ko-KR" dirty="0" err="1"/>
              <a:t>Tonny</a:t>
            </a:r>
            <a:r>
              <a:rPr lang="en-US" altLang="ko-KR" dirty="0"/>
              <a:t>”</a:t>
            </a:r>
            <a:r>
              <a:rPr lang="ko-KR" altLang="en-US" dirty="0"/>
              <a:t>에서의</a:t>
            </a:r>
            <a:r>
              <a:rPr lang="en-US" altLang="ko-KR" dirty="0"/>
              <a:t> </a:t>
            </a:r>
            <a:r>
              <a:rPr lang="ko-KR" altLang="en-US" dirty="0"/>
              <a:t>한글 입력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CC30DD-86A6-61E4-291C-A677D7B9E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564904"/>
            <a:ext cx="4580952" cy="2761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09E7B8-0713-0235-BECB-4FCBC5EF8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148" y="3945856"/>
            <a:ext cx="4980952" cy="2323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1780691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14EFF-4880-8645-81CA-B16E87C6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ko-KR" altLang="en-US" dirty="0"/>
              <a:t> 환경 </a:t>
            </a:r>
            <a:r>
              <a:rPr lang="en-US" altLang="ko-KR" dirty="0"/>
              <a:t>– </a:t>
            </a:r>
            <a:r>
              <a:rPr lang="ko-KR" altLang="en-US" dirty="0"/>
              <a:t>한글 메뉴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C0E336-15B6-F315-28DA-620F5A98A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딸기 </a:t>
            </a:r>
            <a:r>
              <a:rPr lang="en-US" altLang="ko-KR" dirty="0"/>
              <a:t>– Preferences – Raspberry Pi Configuration</a:t>
            </a:r>
          </a:p>
          <a:p>
            <a:pPr lvl="1"/>
            <a:r>
              <a:rPr lang="ko-KR" altLang="en-US" dirty="0"/>
              <a:t>설정</a:t>
            </a:r>
            <a:r>
              <a:rPr lang="en-US" altLang="ko-KR" dirty="0"/>
              <a:t> </a:t>
            </a:r>
            <a:r>
              <a:rPr lang="ko-KR" altLang="en-US" dirty="0"/>
              <a:t>후 </a:t>
            </a:r>
            <a:r>
              <a:rPr lang="ko-KR" altLang="en-US" dirty="0" err="1"/>
              <a:t>리부트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AF1588-1126-4F73-2B10-DD93C1F7F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54258C-5466-5327-8F5C-2C5529047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207" y="2048354"/>
            <a:ext cx="4923809" cy="38285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1785927"/>
      </p:ext>
    </p:extLst>
  </p:cSld>
  <p:clrMapOvr>
    <a:masterClrMapping/>
  </p:clrMapOvr>
  <p:transition>
    <p:zo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14EFF-4880-8645-81CA-B16E87C6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라즈비안</a:t>
            </a:r>
            <a:r>
              <a:rPr lang="ko-KR" altLang="en-US" dirty="0"/>
              <a:t> 환경 </a:t>
            </a:r>
            <a:r>
              <a:rPr lang="en-US" altLang="ko-KR" dirty="0"/>
              <a:t>– </a:t>
            </a:r>
            <a:r>
              <a:rPr lang="ko-KR" altLang="en-US" dirty="0"/>
              <a:t>한글 메뉴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C0E336-15B6-F315-28DA-620F5A98A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딸기 </a:t>
            </a:r>
            <a:r>
              <a:rPr lang="en-US" altLang="ko-KR" dirty="0"/>
              <a:t>– Preferences – Raspberry Pi Configuration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AF1588-1126-4F73-2B10-DD93C1F7F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61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543FD3-AC03-1F0B-9D44-B25C47981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00808"/>
            <a:ext cx="3428552" cy="38734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DFFCFC3-542B-EB79-4502-246AF2FFD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943" y="1695265"/>
            <a:ext cx="5042468" cy="3647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D1838D-A2CB-27F7-0BBC-99BE569BEB5F}"/>
              </a:ext>
            </a:extLst>
          </p:cNvPr>
          <p:cNvSpPr txBox="1"/>
          <p:nvPr/>
        </p:nvSpPr>
        <p:spPr>
          <a:xfrm>
            <a:off x="2411424" y="5832296"/>
            <a:ext cx="5009705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강좌에서는 영문 메뉴를 권장함</a:t>
            </a:r>
            <a:r>
              <a:rPr lang="en-US" altLang="ko-KR" sz="2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84157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 err="1"/>
              <a:t>라즈베리파이란</a:t>
            </a:r>
            <a:r>
              <a:rPr lang="en-US" altLang="ko-KR" dirty="0"/>
              <a:t>?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학교 및 개도국을 위한 단일보드 컴퓨터</a:t>
            </a:r>
            <a:endParaRPr lang="en-US" altLang="ko-KR" dirty="0"/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OS(</a:t>
            </a:r>
            <a:r>
              <a:rPr lang="ko-KR" altLang="en-US" dirty="0" err="1"/>
              <a:t>라즈비안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이미지 다운로드 및 </a:t>
            </a:r>
            <a:r>
              <a:rPr lang="en-US" altLang="ko-KR" dirty="0"/>
              <a:t>SD Card </a:t>
            </a:r>
            <a:r>
              <a:rPr lang="ko-KR" altLang="en-US" dirty="0"/>
              <a:t>복사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입출력 장치 연결 및 부팅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지역 설정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dirty="0"/>
              <a:t>한글 글꼴 설치</a:t>
            </a:r>
            <a:endParaRPr lang="en-US" altLang="ko-KR" dirty="0"/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dirty="0" err="1"/>
              <a:t>iBus</a:t>
            </a:r>
            <a:r>
              <a:rPr lang="en-US" altLang="ko-KR" dirty="0"/>
              <a:t> </a:t>
            </a:r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설치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62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28788"/>
      </p:ext>
    </p:extLst>
  </p:cSld>
  <p:clrMapOvr>
    <a:masterClrMapping/>
  </p:clrMapOvr>
  <p:transition advTm="65490">
    <p:zo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63</a:t>
            </a:fld>
            <a:endParaRPr lang="en-US" altLang="ko-KR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7F45A5D-D986-C41E-1C49-B79A0619F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685236"/>
              </p:ext>
            </p:extLst>
          </p:nvPr>
        </p:nvGraphicFramePr>
        <p:xfrm>
          <a:off x="251519" y="965337"/>
          <a:ext cx="8640961" cy="5519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3">
                  <a:extLst>
                    <a:ext uri="{9D8B030D-6E8A-4147-A177-3AD203B41FA5}">
                      <a16:colId xmlns:a16="http://schemas.microsoft.com/office/drawing/2014/main" val="94365598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159493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4213127174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307635377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56237207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247992119"/>
                    </a:ext>
                  </a:extLst>
                </a:gridCol>
              </a:tblGrid>
              <a:tr h="1903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760365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active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manually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851071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activity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next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581811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advance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network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06164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alternate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official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438459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available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246129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back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4840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cancel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preference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528267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choose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provide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817543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complete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quick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632032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configuration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reboot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89185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connection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recommend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500726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custom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resolution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6492125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desktop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select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24503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device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setup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040217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display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shield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184888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download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shutdown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2249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easy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socket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516851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finish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source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6348725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storage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414823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image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support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654939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include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turn off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051194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indicate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turn 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620015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install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update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324291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interface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upgrade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689988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launch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variant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307331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legacy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wireless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7152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localisation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wizard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966121"/>
                  </a:ext>
                </a:extLst>
              </a:tr>
              <a:tr h="1903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logout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8652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169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zo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91A8-E1FD-FCB2-16A6-7D3E1447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E47BEA69-0FE8-04A1-B7B8-27548A02E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2B37C0-EA07-09FC-D165-297138C0A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64</a:t>
            </a:fld>
            <a:endParaRPr lang="en-US" altLang="ko-KR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B73A5B7-9350-D419-E1AA-8BC1F9E9F51F}"/>
              </a:ext>
            </a:extLst>
          </p:cNvPr>
          <p:cNvGraphicFramePr>
            <a:graphicFrameLocks noGrp="1"/>
          </p:cNvGraphicFramePr>
          <p:nvPr/>
        </p:nvGraphicFramePr>
        <p:xfrm>
          <a:off x="538572" y="1074420"/>
          <a:ext cx="8066856" cy="5248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3866469544"/>
                    </a:ext>
                  </a:extLst>
                </a:gridCol>
                <a:gridCol w="5690592">
                  <a:extLst>
                    <a:ext uri="{9D8B030D-6E8A-4147-A177-3AD203B41FA5}">
                      <a16:colId xmlns:a16="http://schemas.microsoft.com/office/drawing/2014/main" val="21407948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용어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의미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72327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Bluetooth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70559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CPU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75231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Ethernet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19887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13778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HDMI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0925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iBus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81485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memory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44387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0216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storage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77713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Thonny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88325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USB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43043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WiFi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55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딸기 메뉴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8645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라즈베리파이 </a:t>
                      </a:r>
                      <a:r>
                        <a:rPr lang="en-US" altLang="ko-KR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(raspberry pi)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14484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라즈비안 </a:t>
                      </a:r>
                      <a:r>
                        <a:rPr lang="en-US" altLang="ko-KR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raspbian)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5089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레퍼런스 보드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0797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입출력장치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25671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파이선 </a:t>
                      </a:r>
                      <a:r>
                        <a:rPr lang="en-US" altLang="ko-KR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python)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1293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패키지 업그레이드 </a:t>
                      </a:r>
                      <a:r>
                        <a:rPr lang="en-US" altLang="ko-KR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: update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77934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패키지 업그레이드 </a:t>
                      </a:r>
                      <a:r>
                        <a:rPr lang="en-US" altLang="ko-KR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: upgrade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62571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핀맵</a:t>
                      </a:r>
                      <a:r>
                        <a:rPr lang="en-US" altLang="ko-KR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(</a:t>
                      </a:r>
                      <a:r>
                        <a:rPr 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pin map)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29837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한글 글꼴 설치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797806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한글 입력기 설치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36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498356"/>
      </p:ext>
    </p:extLst>
  </p:cSld>
  <p:clrMapOvr>
    <a:masterClrMapping/>
  </p:clrMapOvr>
  <p:transition advTm="65490">
    <p:zo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ko-KR" altLang="en-US" dirty="0"/>
              <a:t>입출력 장치 연결</a:t>
            </a:r>
            <a:endParaRPr lang="en-US" altLang="ko-KR" dirty="0"/>
          </a:p>
          <a:p>
            <a:pPr lvl="1"/>
            <a:r>
              <a:rPr lang="en-US" altLang="ko-KR" dirty="0"/>
              <a:t>Imager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r>
              <a:rPr lang="ko-KR" altLang="en-US" dirty="0"/>
              <a:t>데스크탑 환경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라즈베리파이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 스크린 샷은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PrtScr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키 누름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ko-KR" altLang="en-US" dirty="0"/>
              <a:t>지역</a:t>
            </a:r>
            <a:r>
              <a:rPr lang="en-US" altLang="ko-KR" dirty="0"/>
              <a:t>(</a:t>
            </a:r>
            <a:r>
              <a:rPr lang="en-US" altLang="ko-KR" dirty="0" err="1"/>
              <a:t>Localisation</a:t>
            </a:r>
            <a:r>
              <a:rPr lang="en-US" altLang="ko-KR" dirty="0"/>
              <a:t>) </a:t>
            </a:r>
            <a:r>
              <a:rPr lang="ko-KR" altLang="en-US" dirty="0"/>
              <a:t>설정 </a:t>
            </a:r>
            <a:endParaRPr lang="en-US" altLang="ko-KR" dirty="0"/>
          </a:p>
          <a:p>
            <a:pPr lvl="1"/>
            <a:r>
              <a:rPr lang="ko-KR" altLang="en-US" dirty="0"/>
              <a:t>한글 글꼴 설정</a:t>
            </a:r>
            <a:endParaRPr lang="en-US" altLang="ko-KR" dirty="0"/>
          </a:p>
          <a:p>
            <a:pPr lvl="1"/>
            <a:r>
              <a:rPr lang="ko-KR" altLang="en-US" dirty="0"/>
              <a:t>한글 </a:t>
            </a:r>
            <a:r>
              <a:rPr lang="ko-KR" altLang="en-US" dirty="0" err="1"/>
              <a:t>입력기</a:t>
            </a:r>
            <a:r>
              <a:rPr lang="ko-KR" altLang="en-US" dirty="0"/>
              <a:t> 설정</a:t>
            </a:r>
            <a:endParaRPr lang="en-US" altLang="ko-KR" dirty="0"/>
          </a:p>
          <a:p>
            <a:pPr lvl="1"/>
            <a:r>
              <a:rPr lang="ko-KR" altLang="en-US" dirty="0"/>
              <a:t>기타 추가 가능</a:t>
            </a:r>
            <a:r>
              <a:rPr lang="en-US" altLang="ko-KR" dirty="0"/>
              <a:t>…</a:t>
            </a:r>
          </a:p>
          <a:p>
            <a:r>
              <a:rPr lang="ko-KR" altLang="en-US" dirty="0"/>
              <a:t>도전과제</a:t>
            </a:r>
            <a:r>
              <a:rPr lang="en-US" altLang="ko-KR" dirty="0"/>
              <a:t>(</a:t>
            </a:r>
            <a:r>
              <a:rPr lang="ko-KR" altLang="en-US" dirty="0"/>
              <a:t>구글 등 검색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라즈베리파이로</a:t>
            </a:r>
            <a:r>
              <a:rPr lang="ko-KR" altLang="en-US" dirty="0"/>
              <a:t> 프로젝트를 수행한다면 무엇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출처</a:t>
            </a:r>
            <a:r>
              <a:rPr lang="en-US" altLang="ko-KR" dirty="0"/>
              <a:t>, </a:t>
            </a:r>
            <a:r>
              <a:rPr lang="ko-KR" altLang="en-US" dirty="0"/>
              <a:t>목적</a:t>
            </a:r>
            <a:r>
              <a:rPr lang="en-US" altLang="ko-KR" dirty="0"/>
              <a:t>, </a:t>
            </a:r>
            <a:r>
              <a:rPr lang="ko-KR" altLang="en-US" dirty="0"/>
              <a:t>회로도</a:t>
            </a:r>
            <a:r>
              <a:rPr lang="en-US" altLang="ko-KR" dirty="0"/>
              <a:t>, </a:t>
            </a:r>
            <a:r>
              <a:rPr lang="ko-KR" altLang="en-US" dirty="0"/>
              <a:t>소스코드 등을 조사하여 요약하기</a:t>
            </a:r>
            <a:endParaRPr lang="en-US" altLang="ko-KR" dirty="0"/>
          </a:p>
          <a:p>
            <a:pPr lvl="2"/>
            <a:r>
              <a:rPr lang="ko-KR" altLang="en-US" dirty="0"/>
              <a:t>프로그램 실행을 요구하는 것은 아님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zo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66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26108</TotalTime>
  <Words>2134</Words>
  <Application>Microsoft Office PowerPoint</Application>
  <PresentationFormat>화면 슬라이드 쇼(4:3)</PresentationFormat>
  <Paragraphs>532</Paragraphs>
  <Slides>66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6" baseType="lpstr">
      <vt:lpstr>HY견고딕</vt:lpstr>
      <vt:lpstr>Malgun Gothic Semilight</vt:lpstr>
      <vt:lpstr>Whitney</vt:lpstr>
      <vt:lpstr>굴림</vt:lpstr>
      <vt:lpstr>맑은 고딕</vt:lpstr>
      <vt:lpstr>휴먼편지체</vt:lpstr>
      <vt:lpstr>Arial</vt:lpstr>
      <vt:lpstr>Times New Roman</vt:lpstr>
      <vt:lpstr>Wingdings</vt:lpstr>
      <vt:lpstr>기본 디자인</vt:lpstr>
      <vt:lpstr>1강. 라즈베리파이 개발환경</vt:lpstr>
      <vt:lpstr>PowerPoint 프레젠테이션</vt:lpstr>
      <vt:lpstr>생각 더하기</vt:lpstr>
      <vt:lpstr>학습목표</vt:lpstr>
      <vt:lpstr>라즈베리파이 운영체제(OS) 설치</vt:lpstr>
      <vt:lpstr>최신 OS 다운로드</vt:lpstr>
      <vt:lpstr>최신 OS 다운로드</vt:lpstr>
      <vt:lpstr>최신 OS 다운로드</vt:lpstr>
      <vt:lpstr>최신 OS 다운로드</vt:lpstr>
      <vt:lpstr>[참고] 현재 제공되는 라즈베리파이 OS 버전</vt:lpstr>
      <vt:lpstr>[참고] bullseye vs. bookworm</vt:lpstr>
      <vt:lpstr>[참고] bullseye vs. bookworm</vt:lpstr>
      <vt:lpstr>최신 OS 다운로드</vt:lpstr>
      <vt:lpstr>[참고] xz 압축파일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운영체제(OS) 설치</vt:lpstr>
      <vt:lpstr>라즈베리파이 개발환경 구축</vt:lpstr>
      <vt:lpstr>컴퓨터 기본구조</vt:lpstr>
      <vt:lpstr>라즈베리파이</vt:lpstr>
      <vt:lpstr>라즈베리파이 4와 5의 비교</vt:lpstr>
      <vt:lpstr>라즈베리파이 HW의 특징</vt:lpstr>
      <vt:lpstr>라즈베리파이 발전 과정</vt:lpstr>
      <vt:lpstr>라즈베리파이 4B의 구성요소</vt:lpstr>
      <vt:lpstr>라즈베리파이의 pin map</vt:lpstr>
      <vt:lpstr>라즈베리파이의 pin map</vt:lpstr>
      <vt:lpstr>[참고] 라즈베리파이 GPIO 확장 모듈</vt:lpstr>
      <vt:lpstr>라즈베리파이로 할 수 있는 일</vt:lpstr>
      <vt:lpstr>라즈베리파이용 운영체제</vt:lpstr>
      <vt:lpstr>라즈베리파이 부팅</vt:lpstr>
      <vt:lpstr>[참고] 라즈베리파이 전용 LCD Display</vt:lpstr>
      <vt:lpstr>라즈베리파이 4B 부팅</vt:lpstr>
      <vt:lpstr>라즈베리파이 4B 부팅</vt:lpstr>
      <vt:lpstr>라즈베리파이 4B 부팅</vt:lpstr>
      <vt:lpstr>라즈베리파이 4B 부팅</vt:lpstr>
      <vt:lpstr>라즈비안 환경 – 데스크탑 화면</vt:lpstr>
      <vt:lpstr>라즈비안 환경 – 딸기메뉴</vt:lpstr>
      <vt:lpstr>라즈비안 환경 – 네트워크 설정 메뉴</vt:lpstr>
      <vt:lpstr>라즈비안 환경 설정 – 위치 정보</vt:lpstr>
      <vt:lpstr>라즈비안 환경 설정 – Localisation</vt:lpstr>
      <vt:lpstr>라즈비안 환경 설정 - Localisation</vt:lpstr>
      <vt:lpstr>라즈비안 환경 설정 - Localisation</vt:lpstr>
      <vt:lpstr>라즈비안 환경 설정 – 한글 글꼴 설치</vt:lpstr>
      <vt:lpstr>라즈비안 환경 설정 – 한글 글꼴 설치</vt:lpstr>
      <vt:lpstr>라즈비안 환경 설정 – 한글 글꼴 설치</vt:lpstr>
      <vt:lpstr>라즈비안 환경 설정 – 한글 글꼴 설치</vt:lpstr>
      <vt:lpstr>라즈비안 환경 설정 – 한글 입력기 설치</vt:lpstr>
      <vt:lpstr>라즈비안 환경 설정 – 한글 입력기 설치</vt:lpstr>
      <vt:lpstr>라즈비안 환경 설정 – 한글 입력기 설치</vt:lpstr>
      <vt:lpstr>라즈비안 환경 설정 – 한글 입력기 설치</vt:lpstr>
      <vt:lpstr>라즈비안 환경 설정 – 한글 입력기 설치</vt:lpstr>
      <vt:lpstr>라즈비안 환경 – 한글 메뉴 사용</vt:lpstr>
      <vt:lpstr>라즈비안 환경 – 한글 메뉴 사용</vt:lpstr>
      <vt:lpstr>Summary</vt:lpstr>
      <vt:lpstr>단어</vt:lpstr>
      <vt:lpstr>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410</cp:revision>
  <cp:lastPrinted>2022-07-06T04:11:04Z</cp:lastPrinted>
  <dcterms:created xsi:type="dcterms:W3CDTF">2003-05-07T20:17:23Z</dcterms:created>
  <dcterms:modified xsi:type="dcterms:W3CDTF">2025-09-01T07:32:31Z</dcterms:modified>
</cp:coreProperties>
</file>