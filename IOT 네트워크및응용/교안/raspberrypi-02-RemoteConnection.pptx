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632" r:id="rId2"/>
    <p:sldId id="648" r:id="rId3"/>
    <p:sldId id="1147" r:id="rId4"/>
    <p:sldId id="705" r:id="rId5"/>
    <p:sldId id="1303" r:id="rId6"/>
    <p:sldId id="1255" r:id="rId7"/>
    <p:sldId id="1256" r:id="rId8"/>
    <p:sldId id="1305" r:id="rId9"/>
    <p:sldId id="1306" r:id="rId10"/>
    <p:sldId id="1148" r:id="rId11"/>
    <p:sldId id="1304" r:id="rId12"/>
    <p:sldId id="1239" r:id="rId13"/>
    <p:sldId id="1240" r:id="rId14"/>
    <p:sldId id="1241" r:id="rId15"/>
    <p:sldId id="1242" r:id="rId16"/>
    <p:sldId id="1248" r:id="rId17"/>
    <p:sldId id="1243" r:id="rId18"/>
    <p:sldId id="1244" r:id="rId19"/>
    <p:sldId id="1246" r:id="rId20"/>
    <p:sldId id="1247" r:id="rId21"/>
    <p:sldId id="1245" r:id="rId22"/>
    <p:sldId id="1238" r:id="rId23"/>
    <p:sldId id="1194" r:id="rId24"/>
    <p:sldId id="1195" r:id="rId25"/>
    <p:sldId id="1196" r:id="rId26"/>
    <p:sldId id="1249" r:id="rId27"/>
    <p:sldId id="1251" r:id="rId28"/>
    <p:sldId id="1252" r:id="rId29"/>
    <p:sldId id="1253" r:id="rId30"/>
    <p:sldId id="1307" r:id="rId31"/>
    <p:sldId id="1198" r:id="rId32"/>
    <p:sldId id="1149" r:id="rId33"/>
    <p:sldId id="1199" r:id="rId34"/>
    <p:sldId id="1201" r:id="rId35"/>
    <p:sldId id="1200" r:id="rId36"/>
    <p:sldId id="1202" r:id="rId37"/>
    <p:sldId id="1204" r:id="rId38"/>
    <p:sldId id="1203" r:id="rId39"/>
    <p:sldId id="1205" r:id="rId40"/>
    <p:sldId id="1206" r:id="rId41"/>
    <p:sldId id="1207" r:id="rId42"/>
    <p:sldId id="1209" r:id="rId43"/>
    <p:sldId id="1210" r:id="rId44"/>
    <p:sldId id="1211" r:id="rId45"/>
    <p:sldId id="1212" r:id="rId46"/>
    <p:sldId id="1213" r:id="rId47"/>
    <p:sldId id="1214" r:id="rId48"/>
    <p:sldId id="1215" r:id="rId49"/>
    <p:sldId id="1216" r:id="rId50"/>
    <p:sldId id="1217" r:id="rId51"/>
    <p:sldId id="1218" r:id="rId52"/>
    <p:sldId id="1219" r:id="rId53"/>
    <p:sldId id="1220" r:id="rId54"/>
    <p:sldId id="1222" r:id="rId55"/>
    <p:sldId id="1236" r:id="rId56"/>
    <p:sldId id="1237" r:id="rId57"/>
    <p:sldId id="1221" r:id="rId58"/>
    <p:sldId id="1223" r:id="rId59"/>
    <p:sldId id="1254" r:id="rId60"/>
    <p:sldId id="1224" r:id="rId61"/>
    <p:sldId id="1225" r:id="rId62"/>
    <p:sldId id="1226" r:id="rId63"/>
    <p:sldId id="702" r:id="rId64"/>
    <p:sldId id="1193" r:id="rId65"/>
    <p:sldId id="1308" r:id="rId66"/>
    <p:sldId id="1192" r:id="rId67"/>
    <p:sldId id="703" r:id="rId68"/>
  </p:sldIdLst>
  <p:sldSz cx="9144000" cy="6858000" type="screen4x3"/>
  <p:notesSz cx="6797675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형래" initials="김" lastIdx="1" clrIdx="0">
    <p:extLst>
      <p:ext uri="{19B8F6BF-5375-455C-9EA6-DF929625EA0E}">
        <p15:presenceInfo xmlns:p15="http://schemas.microsoft.com/office/powerpoint/2012/main" userId="S::broadway4u@office.doowon.ac.kr::d8a570ee-eeba-4a26-8af4-093085b74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6600"/>
    <a:srgbClr val="00518E"/>
    <a:srgbClr val="0066CC"/>
    <a:srgbClr val="CC6600"/>
    <a:srgbClr val="6600CC"/>
    <a:srgbClr val="CC3300"/>
    <a:srgbClr val="CC0000"/>
    <a:srgbClr val="FFFF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5" autoAdjust="0"/>
    <p:restoredTop sz="94148" autoAdjust="0"/>
  </p:normalViewPr>
  <p:slideViewPr>
    <p:cSldViewPr>
      <p:cViewPr varScale="1">
        <p:scale>
          <a:sx n="86" d="100"/>
          <a:sy n="86" d="100"/>
        </p:scale>
        <p:origin x="108" y="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1" y="4715629"/>
            <a:ext cx="4985393" cy="44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4738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540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0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!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CD6F71-2C61-EF2C-4175-145E8E98AD3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335465" y="6619820"/>
            <a:ext cx="1278922" cy="183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90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jpeg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684844-7994-62D8-4E89-48E367E7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07" y="0"/>
            <a:ext cx="5190785" cy="685800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  <a:solidFill>
            <a:srgbClr val="F2F2F2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1360488" y="876821"/>
            <a:ext cx="6400800" cy="1616075"/>
          </a:xfrm>
          <a:solidFill>
            <a:srgbClr val="F2F2F2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2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원격접속</a:t>
            </a:r>
            <a:r>
              <a:rPr lang="en-US" altLang="ko-KR" sz="4000" dirty="0">
                <a:solidFill>
                  <a:srgbClr val="FFFF00"/>
                </a:solidFill>
              </a:rPr>
              <a:t> </a:t>
            </a:r>
            <a:r>
              <a:rPr lang="ko-KR" altLang="en-US" sz="4000" dirty="0">
                <a:solidFill>
                  <a:srgbClr val="FFFF00"/>
                </a:solidFill>
              </a:rPr>
              <a:t>환경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9D8D4E-4BDF-1CE5-8277-89E53A5CC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8830"/>
            <a:ext cx="5328592" cy="67603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6DD05D-6322-25B2-12EE-6AD98F94E23F}"/>
              </a:ext>
            </a:extLst>
          </p:cNvPr>
          <p:cNvSpPr txBox="1"/>
          <p:nvPr/>
        </p:nvSpPr>
        <p:spPr>
          <a:xfrm>
            <a:off x="2035889" y="3068960"/>
            <a:ext cx="5072222" cy="147784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우리의 인생은</a:t>
            </a:r>
            <a:endParaRPr lang="en-US" altLang="ko-KR" sz="3200" b="1" dirty="0">
              <a:solidFill>
                <a:srgbClr val="660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굳은 살 만큼 전진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한다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“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어린 왕자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＂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의 한 구절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하지만 다른 수많은 장미꽃보다도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한송이 나의 장미꽃이 더 중요해</a:t>
            </a:r>
            <a:r>
              <a:rPr kumimoji="0" lang="en-US" altLang="ko-KR" sz="18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왜냐하면 내가 물을 주었던 건 바로 그녀였기 때문이야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내가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유리 고깔을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씌워주었던 것도 </a:t>
            </a:r>
            <a:r>
              <a:rPr kumimoji="0" lang="ko-KR" altLang="en-US" sz="18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바로 그녀였기 때문이야</a:t>
            </a:r>
            <a:endParaRPr kumimoji="0" lang="en-US" altLang="ko-KR" sz="1800" dirty="0"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바람막이를 쳐서 보호해 주었던 것도 </a:t>
            </a:r>
            <a:r>
              <a:rPr kumimoji="0" lang="ko-KR" altLang="en-US" sz="18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그녀였기 때문이야</a:t>
            </a:r>
            <a:r>
              <a:rPr kumimoji="0" lang="en-US" altLang="ko-KR" sz="18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eaLnBrk="0" latinLnBrk="0" hangingPunct="0">
              <a:lnSpc>
                <a:spcPct val="140000"/>
              </a:lnSpc>
            </a:pPr>
            <a:r>
              <a:rPr lang="en-US" altLang="ko-KR" sz="18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1800" b="1" i="0" dirty="0" err="1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생떽쥐베리의</a:t>
            </a:r>
            <a:r>
              <a:rPr lang="ko-KR" altLang="en-US" sz="18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어린 왕자 중에서</a:t>
            </a:r>
            <a:endParaRPr lang="en-US" altLang="ko-KR" sz="1800" b="1" i="0" dirty="0">
              <a:solidFill>
                <a:srgbClr val="800000"/>
              </a:solidFill>
              <a:effectLst/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800" b="0" i="1" dirty="0">
                <a:solidFill>
                  <a:srgbClr val="31708F"/>
                </a:solidFill>
                <a:effectLst/>
                <a:latin typeface="Whitney"/>
              </a:rPr>
              <a:t>But in herself alone she is more important than</a:t>
            </a:r>
          </a:p>
          <a:p>
            <a:pPr algn="l">
              <a:lnSpc>
                <a:spcPct val="140000"/>
              </a:lnSpc>
            </a:pP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all the hundreds of other roses :</a:t>
            </a:r>
          </a:p>
          <a:p>
            <a:pPr algn="l">
              <a:lnSpc>
                <a:spcPct val="140000"/>
              </a:lnSpc>
            </a:pPr>
            <a:r>
              <a:rPr lang="en-US" altLang="ko-KR" sz="1800" b="0" i="1" dirty="0">
                <a:solidFill>
                  <a:srgbClr val="31708F"/>
                </a:solidFill>
                <a:effectLst/>
                <a:latin typeface="Whitney"/>
              </a:rPr>
              <a:t>because it is she that I have watered;</a:t>
            </a:r>
          </a:p>
          <a:p>
            <a:pPr algn="l">
              <a:lnSpc>
                <a:spcPct val="140000"/>
              </a:lnSpc>
            </a:pP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because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it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is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she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that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I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have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put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under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the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glass</a:t>
            </a:r>
            <a:r>
              <a:rPr lang="ko-KR" altLang="en-US" sz="1800" i="1" dirty="0">
                <a:solidFill>
                  <a:srgbClr val="31708F"/>
                </a:solidFill>
                <a:latin typeface="Whitney"/>
              </a:rPr>
              <a:t> </a:t>
            </a:r>
            <a:r>
              <a:rPr lang="en-US" altLang="ko-KR" sz="1800" i="1" dirty="0">
                <a:solidFill>
                  <a:srgbClr val="31708F"/>
                </a:solidFill>
                <a:latin typeface="Whitney"/>
              </a:rPr>
              <a:t>globe;</a:t>
            </a:r>
          </a:p>
          <a:p>
            <a:pPr algn="l">
              <a:lnSpc>
                <a:spcPct val="140000"/>
              </a:lnSpc>
            </a:pPr>
            <a:r>
              <a:rPr lang="en-US" altLang="ko-KR" sz="1800" b="0" i="1" dirty="0">
                <a:solidFill>
                  <a:srgbClr val="31708F"/>
                </a:solidFill>
                <a:effectLst/>
                <a:latin typeface="Whitney"/>
              </a:rPr>
              <a:t>because it is she that I have sheltered behind the screen. 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DDF3D9-E864-8EA8-1FBF-10D07EFD9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1514120"/>
            <a:ext cx="2730114" cy="28217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799187-C844-3AB1-31C4-9DAFF5236306}"/>
              </a:ext>
            </a:extLst>
          </p:cNvPr>
          <p:cNvSpPr txBox="1"/>
          <p:nvPr/>
        </p:nvSpPr>
        <p:spPr>
          <a:xfrm>
            <a:off x="5652120" y="4593908"/>
            <a:ext cx="34315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&lt;Sant-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Exupéry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1900-1944&gt;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프랑스의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작가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비행사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어린 왕자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작가로 유명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세계대전 당시 조종사 경력을 인정받아 공군 대위로 입대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비행부적격자로 분류되어 지상근무를 하던 중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청탁을 넣어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1944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항공사진 촬영 임무 수행 중 실종</a:t>
            </a:r>
          </a:p>
        </p:txBody>
      </p:sp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원격으로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접속하여 작업할 수 있는 개발환경을 구축할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>
                <a:sym typeface="Wingdings" panose="05000000000000000000" pitchFamily="2" charset="2"/>
              </a:rPr>
              <a:t>PC</a:t>
            </a:r>
            <a:r>
              <a:rPr lang="ko-KR" altLang="en-US" dirty="0">
                <a:sym typeface="Wingdings" panose="05000000000000000000" pitchFamily="2" charset="2"/>
              </a:rPr>
              <a:t>의 모바일 핫스팟 기능 활용</a:t>
            </a:r>
            <a:endParaRPr lang="en-US" altLang="ko-KR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>
                <a:solidFill>
                  <a:srgbClr val="C00000"/>
                </a:solidFill>
              </a:rPr>
              <a:t>VNC</a:t>
            </a:r>
            <a:r>
              <a:rPr lang="ko-KR" altLang="en-US" dirty="0">
                <a:solidFill>
                  <a:srgbClr val="C00000"/>
                </a:solidFill>
              </a:rPr>
              <a:t> 서버</a:t>
            </a:r>
            <a:endParaRPr lang="en-US" altLang="ko-KR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 err="1"/>
              <a:t>vnc</a:t>
            </a:r>
            <a:r>
              <a:rPr lang="ko-KR" altLang="en-US" dirty="0"/>
              <a:t> 서버 활성화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Windows PC</a:t>
            </a:r>
            <a:r>
              <a:rPr lang="ko-KR" altLang="en-US" dirty="0"/>
              <a:t>에 </a:t>
            </a:r>
            <a:r>
              <a:rPr lang="en-US" altLang="ko-KR" dirty="0"/>
              <a:t>VNC viewer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원격 데스크톱 연결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 err="1"/>
              <a:t>xrdp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원격 그래픽 로그인 기능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원격 접속 개발환경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PuTTY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문자 기반 원격 접속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>
                <a:sym typeface="Wingdings" panose="05000000000000000000" pitchFamily="2" charset="2"/>
              </a:rPr>
              <a:t>Samba </a:t>
            </a:r>
            <a:r>
              <a:rPr lang="ko-KR" altLang="en-US" dirty="0">
                <a:sym typeface="Wingdings" panose="05000000000000000000" pitchFamily="2" charset="2"/>
              </a:rPr>
              <a:t>서버 </a:t>
            </a:r>
            <a:r>
              <a:rPr lang="en-US" altLang="ko-KR" dirty="0">
                <a:sym typeface="Wingdings" panose="05000000000000000000" pitchFamily="2" charset="2"/>
              </a:rPr>
              <a:t> Windows </a:t>
            </a:r>
            <a:r>
              <a:rPr lang="ko-KR" altLang="en-US" dirty="0">
                <a:sym typeface="Wingdings" panose="05000000000000000000" pitchFamily="2" charset="2"/>
              </a:rPr>
              <a:t>운영체제와 </a:t>
            </a:r>
            <a:r>
              <a:rPr lang="en-US" altLang="ko-KR" dirty="0">
                <a:sym typeface="Wingdings" panose="05000000000000000000" pitchFamily="2" charset="2"/>
              </a:rPr>
              <a:t>Linux </a:t>
            </a:r>
            <a:r>
              <a:rPr lang="ko-KR" altLang="en-US" dirty="0">
                <a:sym typeface="Wingdings" panose="05000000000000000000" pitchFamily="2" charset="2"/>
              </a:rPr>
              <a:t>운영체제간 파일 공유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>
                <a:sym typeface="Wingdings" panose="05000000000000000000" pitchFamily="2" charset="2"/>
              </a:rPr>
              <a:t>파이선</a:t>
            </a:r>
            <a:r>
              <a:rPr lang="ko-KR" altLang="en-US" dirty="0">
                <a:sym typeface="Wingdings" panose="05000000000000000000" pitchFamily="2" charset="2"/>
              </a:rPr>
              <a:t> 프로그램 작성 및 실행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>
                <a:sym typeface="Wingdings" panose="05000000000000000000" pitchFamily="2" charset="2"/>
              </a:rPr>
              <a:t>데스크톱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환경</a:t>
            </a:r>
            <a:r>
              <a:rPr lang="en-US" altLang="ko-KR" dirty="0">
                <a:sym typeface="Wingdings" panose="05000000000000000000" pitchFamily="2" charset="2"/>
              </a:rPr>
              <a:t>(VNC </a:t>
            </a:r>
            <a:r>
              <a:rPr lang="ko-KR" altLang="en-US" dirty="0">
                <a:sym typeface="Wingdings" panose="05000000000000000000" pitchFamily="2" charset="2"/>
              </a:rPr>
              <a:t>서버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E222-0220-D86C-148D-0F18081C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A5560-85A2-7CFA-A86E-B4A03E50B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모바일 핫스팟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38FE3D-E0D9-8C78-083D-372498952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PC </a:t>
            </a:r>
            <a:r>
              <a:rPr lang="ko-KR" altLang="en-US" dirty="0"/>
              <a:t>및 노트북을 이용한 모바일 핫스팟</a:t>
            </a:r>
            <a:endParaRPr lang="en-US" altLang="ko-KR" dirty="0"/>
          </a:p>
          <a:p>
            <a:pPr lvl="1"/>
            <a:r>
              <a:rPr lang="ko-KR" altLang="en-US" dirty="0"/>
              <a:t>모바일 데이터 또는 다른 </a:t>
            </a:r>
            <a:r>
              <a:rPr lang="en-US" altLang="ko-KR" dirty="0" err="1"/>
              <a:t>WiFi</a:t>
            </a:r>
            <a:r>
              <a:rPr lang="ko-KR" altLang="en-US" dirty="0"/>
              <a:t>로 연결된 인터넷을 자신의 기기를 통해 다른 기기와 공유하는 기능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일종의 인터넷 공유기</a:t>
            </a:r>
            <a:endParaRPr lang="en-US" altLang="ko-KR" dirty="0"/>
          </a:p>
          <a:p>
            <a:pPr lvl="1"/>
            <a:r>
              <a:rPr lang="ko-KR" altLang="en-US" dirty="0"/>
              <a:t>속도는 빠른 편이며</a:t>
            </a:r>
            <a:r>
              <a:rPr lang="en-US" altLang="ko-KR" dirty="0"/>
              <a:t>, </a:t>
            </a:r>
            <a:r>
              <a:rPr lang="ko-KR" altLang="en-US" dirty="0"/>
              <a:t>스마트폰을 이용하여 노트북을 연결하는 것이 가장 활성화</a:t>
            </a:r>
            <a:endParaRPr lang="en-US" altLang="ko-KR" dirty="0"/>
          </a:p>
          <a:p>
            <a:pPr lvl="1"/>
            <a:r>
              <a:rPr lang="ko-KR" altLang="en-US" dirty="0"/>
              <a:t>핫스팟 이름 및 비밀번호 설정 가능</a:t>
            </a:r>
            <a:endParaRPr lang="en-US" altLang="ko-KR" dirty="0"/>
          </a:p>
          <a:p>
            <a:pPr lvl="1"/>
            <a:r>
              <a:rPr lang="ko-KR" altLang="en-US" dirty="0"/>
              <a:t>노트북은 </a:t>
            </a:r>
            <a:r>
              <a:rPr lang="en-US" altLang="ko-KR" dirty="0" err="1"/>
              <a:t>WiFi</a:t>
            </a:r>
            <a:r>
              <a:rPr lang="ko-KR" altLang="en-US" dirty="0"/>
              <a:t>가 내장되어 그냥 사용 가능하나</a:t>
            </a:r>
            <a:r>
              <a:rPr lang="en-US" altLang="ko-KR" dirty="0"/>
              <a:t>, PC</a:t>
            </a:r>
            <a:r>
              <a:rPr lang="ko-KR" altLang="en-US" dirty="0"/>
              <a:t>에서는 </a:t>
            </a:r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ko-KR" altLang="en-US" dirty="0" err="1"/>
              <a:t>랜카드</a:t>
            </a:r>
            <a:r>
              <a:rPr lang="en-US" altLang="ko-KR" dirty="0"/>
              <a:t>(</a:t>
            </a:r>
            <a:r>
              <a:rPr lang="ko-KR" altLang="en-US" dirty="0" err="1"/>
              <a:t>동글이</a:t>
            </a:r>
            <a:r>
              <a:rPr lang="en-US" altLang="ko-KR" dirty="0"/>
              <a:t>) </a:t>
            </a:r>
            <a:r>
              <a:rPr lang="ko-KR" altLang="en-US" dirty="0"/>
              <a:t>필요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B93E-19B3-2578-ECB9-F3028E15B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D6362C-3C4D-451D-D7A6-5AC0D390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4869160"/>
            <a:ext cx="1584176" cy="14065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AE0661E-9995-2ED2-3F4C-41E42345B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257421"/>
            <a:ext cx="1411841" cy="2243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F2DCAD-71FF-2BC6-BCBA-5237BCC4766A}"/>
              </a:ext>
            </a:extLst>
          </p:cNvPr>
          <p:cNvSpPr txBox="1"/>
          <p:nvPr/>
        </p:nvSpPr>
        <p:spPr>
          <a:xfrm>
            <a:off x="6775929" y="5967939"/>
            <a:ext cx="2369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ipTIME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USB3.0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무선랜카드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D3E85F-61F6-71ED-D8CB-4BCCA762BD4A}"/>
              </a:ext>
            </a:extLst>
          </p:cNvPr>
          <p:cNvSpPr txBox="1"/>
          <p:nvPr/>
        </p:nvSpPr>
        <p:spPr>
          <a:xfrm>
            <a:off x="2202441" y="5967939"/>
            <a:ext cx="2329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ipTIME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USB2.0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무선랜카드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07156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4AE56-D7D6-CBBA-E1EC-3EC5D3AC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모바일 핫스팟 기능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C35DB-6162-E166-8AD1-93EDFE0F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시작 메뉴 옆의 검색창에서 </a:t>
            </a:r>
            <a:r>
              <a:rPr lang="en-US" altLang="ko-KR" dirty="0"/>
              <a:t>“</a:t>
            </a:r>
            <a:r>
              <a:rPr lang="ko-KR" altLang="en-US" dirty="0"/>
              <a:t>핫스팟</a:t>
            </a:r>
            <a:r>
              <a:rPr lang="en-US" altLang="ko-KR" dirty="0"/>
              <a:t>”</a:t>
            </a:r>
            <a:r>
              <a:rPr lang="ko-KR" altLang="en-US" dirty="0"/>
              <a:t> 검색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3E014-AC6D-1194-B59E-BC31A4C5F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D6D54C-3969-7790-3B50-E22A0F34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16" y="1556792"/>
            <a:ext cx="5112568" cy="475643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A91FEF3-161C-D7F8-0091-55AC7D6E012D}"/>
              </a:ext>
            </a:extLst>
          </p:cNvPr>
          <p:cNvSpPr/>
          <p:nvPr/>
        </p:nvSpPr>
        <p:spPr>
          <a:xfrm>
            <a:off x="2267745" y="6021288"/>
            <a:ext cx="1440160" cy="3203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BF9F94-6A5B-484E-E2FB-303939DC3342}"/>
              </a:ext>
            </a:extLst>
          </p:cNvPr>
          <p:cNvSpPr/>
          <p:nvPr/>
        </p:nvSpPr>
        <p:spPr>
          <a:xfrm>
            <a:off x="2411760" y="2149444"/>
            <a:ext cx="1440160" cy="5040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9302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1B72-76B8-0BBB-A46E-1162D8AF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BFE2F-F4C1-5CBF-C674-2F39BBA5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모바일 핫스팟 기능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E2261-897E-4288-F66F-EC0E2181B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en-US" altLang="ko-KR" dirty="0"/>
              <a:t>“</a:t>
            </a:r>
            <a:r>
              <a:rPr lang="ko-KR" altLang="en-US" dirty="0"/>
              <a:t>모바일 핫스팟</a:t>
            </a:r>
            <a:r>
              <a:rPr lang="en-US" altLang="ko-KR" dirty="0"/>
              <a:t>”</a:t>
            </a:r>
            <a:r>
              <a:rPr lang="ko-KR" altLang="en-US" dirty="0"/>
              <a:t>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6337C-72C4-8D9C-A7C1-52E2DD10D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84603F1-57E8-CC79-8FD7-9B1A66DD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48620"/>
            <a:ext cx="4968552" cy="49037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D5A6A5A-8992-D78F-08BB-E47068ADB29B}"/>
              </a:ext>
            </a:extLst>
          </p:cNvPr>
          <p:cNvSpPr/>
          <p:nvPr/>
        </p:nvSpPr>
        <p:spPr>
          <a:xfrm>
            <a:off x="4680012" y="2060848"/>
            <a:ext cx="54006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B50A19-7CAA-919D-6458-49B8573F09E9}"/>
              </a:ext>
            </a:extLst>
          </p:cNvPr>
          <p:cNvSpPr/>
          <p:nvPr/>
        </p:nvSpPr>
        <p:spPr>
          <a:xfrm>
            <a:off x="4486393" y="3817324"/>
            <a:ext cx="54006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929CB6-CECD-8AA4-4EE6-AF321F2F5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700" y="3031080"/>
            <a:ext cx="3774295" cy="33997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793A92-D386-1779-A1BD-133140EF124E}"/>
              </a:ext>
            </a:extLst>
          </p:cNvPr>
          <p:cNvSpPr/>
          <p:nvPr/>
        </p:nvSpPr>
        <p:spPr>
          <a:xfrm>
            <a:off x="5363642" y="3997344"/>
            <a:ext cx="54006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E5FBD1-68F2-C347-B6D0-43E6411738D0}"/>
              </a:ext>
            </a:extLst>
          </p:cNvPr>
          <p:cNvSpPr/>
          <p:nvPr/>
        </p:nvSpPr>
        <p:spPr>
          <a:xfrm>
            <a:off x="5363642" y="4550933"/>
            <a:ext cx="792534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1C138A-2EF0-D05A-4EAC-01417B20C414}"/>
              </a:ext>
            </a:extLst>
          </p:cNvPr>
          <p:cNvSpPr/>
          <p:nvPr/>
        </p:nvSpPr>
        <p:spPr>
          <a:xfrm>
            <a:off x="5363642" y="5229200"/>
            <a:ext cx="792534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B430C4-D1DF-A679-6A3E-D466047285D0}"/>
              </a:ext>
            </a:extLst>
          </p:cNvPr>
          <p:cNvSpPr/>
          <p:nvPr/>
        </p:nvSpPr>
        <p:spPr>
          <a:xfrm>
            <a:off x="2111850" y="5467931"/>
            <a:ext cx="1236013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FA2755-8B33-AA04-3DD0-FE9EB202EE6F}"/>
              </a:ext>
            </a:extLst>
          </p:cNvPr>
          <p:cNvSpPr txBox="1"/>
          <p:nvPr/>
        </p:nvSpPr>
        <p:spPr>
          <a:xfrm>
            <a:off x="2694654" y="5860079"/>
            <a:ext cx="195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0070C0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현재 연결된 장치 없음</a:t>
            </a:r>
          </a:p>
        </p:txBody>
      </p:sp>
    </p:spTree>
    <p:extLst>
      <p:ext uri="{BB962C8B-B14F-4D97-AF65-F5344CB8AC3E}">
        <p14:creationId xmlns:p14="http://schemas.microsoft.com/office/powerpoint/2010/main" val="565148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E881-8D00-0F61-2C4C-FE4E3346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1DC70-29B3-38AF-2BA3-E47F976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모바일 핫스팟 기능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921A8-AACF-F47D-0955-84657A257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라즈베리파이에서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모바일 핫스팟</a:t>
            </a:r>
            <a:r>
              <a:rPr lang="en-US" altLang="ko-KR" dirty="0"/>
              <a:t>”</a:t>
            </a:r>
            <a:r>
              <a:rPr lang="ko-KR" altLang="en-US" dirty="0"/>
              <a:t>에 접속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D84C7F-B02C-EE75-12AD-6E19B1B15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1E04FB-1B40-D06A-A231-E7EAD1A1F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43" y="1724720"/>
            <a:ext cx="4006764" cy="31206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826A20-7203-F704-5A50-0CD5D8702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724720"/>
            <a:ext cx="3865500" cy="20162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B30841-33A4-8481-5A77-4D1AE1F4A356}"/>
              </a:ext>
            </a:extLst>
          </p:cNvPr>
          <p:cNvSpPr/>
          <p:nvPr/>
        </p:nvSpPr>
        <p:spPr>
          <a:xfrm>
            <a:off x="1465382" y="2372792"/>
            <a:ext cx="2088232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03BA6F-6EE8-A2A1-5B02-9905DAE1F144}"/>
              </a:ext>
            </a:extLst>
          </p:cNvPr>
          <p:cNvSpPr/>
          <p:nvPr/>
        </p:nvSpPr>
        <p:spPr>
          <a:xfrm>
            <a:off x="4796876" y="2420888"/>
            <a:ext cx="2088232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87727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42F71-E052-23EF-A1FE-BF83EBA59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1EDB9-5FC1-F731-C342-DD352E92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모바일 핫스팟 기능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B8438E-1447-8C7B-7B72-182447802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“</a:t>
            </a:r>
            <a:r>
              <a:rPr lang="ko-KR" altLang="en-US" dirty="0"/>
              <a:t>모바일 핫스팟</a:t>
            </a:r>
            <a:r>
              <a:rPr lang="en-US" altLang="ko-KR" dirty="0"/>
              <a:t>” </a:t>
            </a:r>
            <a:r>
              <a:rPr lang="ko-KR" altLang="en-US" dirty="0"/>
              <a:t>설정 창의 연결된 장치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A0FDE-6748-D77F-C6CB-3AC59CFF0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2708D5-90A3-5DF2-2E65-EC6AAA7D6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486181"/>
            <a:ext cx="4032448" cy="50146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DC223E7-305F-6204-1176-417C52873E78}"/>
              </a:ext>
            </a:extLst>
          </p:cNvPr>
          <p:cNvSpPr/>
          <p:nvPr/>
        </p:nvSpPr>
        <p:spPr>
          <a:xfrm>
            <a:off x="2771800" y="5696904"/>
            <a:ext cx="3600400" cy="7564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17049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 연결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VNC </a:t>
            </a:r>
            <a:r>
              <a:rPr lang="ko-KR" altLang="en-US" dirty="0"/>
              <a:t>서버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사용 추천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원격지 </a:t>
            </a:r>
            <a:r>
              <a:rPr lang="en-US" altLang="ko-KR" dirty="0"/>
              <a:t>PC</a:t>
            </a:r>
            <a:r>
              <a:rPr lang="ko-KR" altLang="en-US" dirty="0"/>
              <a:t>에 </a:t>
            </a:r>
            <a:r>
              <a:rPr lang="en-US" altLang="ko-KR" dirty="0"/>
              <a:t>VNC viewer</a:t>
            </a:r>
            <a:r>
              <a:rPr lang="ko-KR" altLang="en-US" dirty="0"/>
              <a:t>를 설치하여 </a:t>
            </a:r>
            <a:r>
              <a:rPr lang="ko-KR" altLang="en-US" dirty="0" err="1"/>
              <a:t>라즈베리파이</a:t>
            </a:r>
            <a:r>
              <a:rPr lang="ko-KR" altLang="en-US" dirty="0"/>
              <a:t> 환경과 동일한 화면을 볼 수 있게 함</a:t>
            </a:r>
            <a:endParaRPr lang="en-US" altLang="ko-KR" dirty="0"/>
          </a:p>
          <a:p>
            <a:pPr lvl="2"/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</a:t>
            </a:r>
            <a:r>
              <a:rPr lang="en-US" altLang="ko-KR" dirty="0"/>
              <a:t>, </a:t>
            </a:r>
            <a:r>
              <a:rPr lang="ko-KR" altLang="en-US" dirty="0"/>
              <a:t>모니터 없이 작업할 수 있는 환경</a:t>
            </a:r>
            <a:endParaRPr lang="en-US" altLang="ko-KR" dirty="0"/>
          </a:p>
          <a:p>
            <a:pPr lvl="2"/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Windows </a:t>
            </a:r>
            <a:r>
              <a:rPr lang="ko-KR" altLang="en-US" dirty="0"/>
              <a:t>화면은 서로 연동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어느 곳에서 작업해도 동일</a:t>
            </a:r>
            <a:endParaRPr lang="en-US" altLang="ko-KR" dirty="0"/>
          </a:p>
          <a:p>
            <a:pPr lvl="1"/>
            <a:r>
              <a:rPr lang="en-US" altLang="ko-KR" dirty="0"/>
              <a:t>VNC viewer</a:t>
            </a:r>
            <a:r>
              <a:rPr lang="ko-KR" altLang="en-US" dirty="0"/>
              <a:t>에서 파일 복사는 안됨 </a:t>
            </a:r>
            <a:r>
              <a:rPr lang="en-US" altLang="ko-KR" dirty="0">
                <a:sym typeface="Wingdings" panose="05000000000000000000" pitchFamily="2" charset="2"/>
              </a:rPr>
              <a:t> Samba </a:t>
            </a:r>
            <a:r>
              <a:rPr lang="ko-KR" altLang="en-US" dirty="0">
                <a:sym typeface="Wingdings" panose="05000000000000000000" pitchFamily="2" charset="2"/>
              </a:rPr>
              <a:t>이용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C516A-6243-83A7-03CC-95E8CBE334E5}"/>
              </a:ext>
            </a:extLst>
          </p:cNvPr>
          <p:cNvSpPr txBox="1"/>
          <p:nvPr/>
        </p:nvSpPr>
        <p:spPr>
          <a:xfrm>
            <a:off x="6141780" y="6104329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DDD862-1901-8AD0-CBB3-027E3D2E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63" y="3886361"/>
            <a:ext cx="3856427" cy="21652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D9D53A-3DB6-41F4-B2FD-7DF8F2338A48}"/>
              </a:ext>
            </a:extLst>
          </p:cNvPr>
          <p:cNvSpPr txBox="1"/>
          <p:nvPr/>
        </p:nvSpPr>
        <p:spPr>
          <a:xfrm>
            <a:off x="1764031" y="6104329"/>
            <a:ext cx="1008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 화면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AE0AD27-1B79-C8E7-F0F1-3B56542CB4C7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 flipV="1">
            <a:off x="3758213" y="4924090"/>
            <a:ext cx="1220500" cy="22408"/>
          </a:xfrm>
          <a:prstGeom prst="straightConnector1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A03AC6-A22F-5484-6305-803E5CFF0CCC}"/>
              </a:ext>
            </a:extLst>
          </p:cNvPr>
          <p:cNvSpPr txBox="1"/>
          <p:nvPr/>
        </p:nvSpPr>
        <p:spPr>
          <a:xfrm>
            <a:off x="4159676" y="4404020"/>
            <a:ext cx="8002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090FE2-D1A9-6D3D-21DC-147A4D634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59" y="4139469"/>
            <a:ext cx="2787354" cy="16140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55969F9-93E4-001A-59A3-83885303D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713" y="3841478"/>
            <a:ext cx="3850248" cy="216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7038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8CE67-4861-35C5-B36F-E02884FE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FA589-4D98-3F8C-EBFA-68927F66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 연결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41539-F463-165E-C708-0DD5ABC7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라즈베리파이만으로</a:t>
            </a:r>
            <a:r>
              <a:rPr lang="ko-KR" altLang="en-US" dirty="0"/>
              <a:t> 구동</a:t>
            </a:r>
            <a:endParaRPr lang="en-US" altLang="ko-KR" dirty="0"/>
          </a:p>
          <a:p>
            <a:pPr lvl="1"/>
            <a:r>
              <a:rPr lang="ko-KR" altLang="en-US" dirty="0"/>
              <a:t>연결이</a:t>
            </a:r>
            <a:r>
              <a:rPr lang="en-US" altLang="ko-KR" dirty="0"/>
              <a:t> </a:t>
            </a:r>
            <a:r>
              <a:rPr lang="ko-KR" altLang="en-US" dirty="0"/>
              <a:t>쉽고</a:t>
            </a:r>
            <a:r>
              <a:rPr lang="en-US" altLang="ko-KR" dirty="0"/>
              <a:t>, PC </a:t>
            </a:r>
            <a:r>
              <a:rPr lang="ko-KR" altLang="en-US" dirty="0"/>
              <a:t>필요 없이 구동</a:t>
            </a:r>
            <a:endParaRPr lang="en-US" altLang="ko-KR" dirty="0"/>
          </a:p>
          <a:p>
            <a:pPr lvl="1"/>
            <a:r>
              <a:rPr lang="ko-KR" altLang="en-US" dirty="0"/>
              <a:t>모니터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등 부가적인 장치 필요</a:t>
            </a:r>
            <a:endParaRPr lang="en-US" altLang="ko-KR" dirty="0"/>
          </a:p>
          <a:p>
            <a:r>
              <a:rPr lang="ko-KR" altLang="en-US" dirty="0"/>
              <a:t>원격 </a:t>
            </a:r>
            <a:r>
              <a:rPr lang="en-US" altLang="ko-KR" dirty="0"/>
              <a:t>GUI </a:t>
            </a:r>
            <a:r>
              <a:rPr lang="ko-KR" altLang="en-US" dirty="0"/>
              <a:t>환경</a:t>
            </a:r>
            <a:endParaRPr lang="en-US" altLang="ko-KR" dirty="0"/>
          </a:p>
          <a:p>
            <a:pPr lvl="1"/>
            <a:r>
              <a:rPr lang="ko-KR" altLang="en-US" dirty="0"/>
              <a:t>모니터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등 부가적인 장치 필요 없음</a:t>
            </a:r>
            <a:endParaRPr lang="en-US" altLang="ko-KR" dirty="0"/>
          </a:p>
          <a:p>
            <a:pPr lvl="1"/>
            <a:r>
              <a:rPr lang="ko-KR" altLang="en-US" dirty="0"/>
              <a:t>익숙한 </a:t>
            </a:r>
            <a:r>
              <a:rPr lang="en-US" altLang="ko-KR" dirty="0"/>
              <a:t>Windows </a:t>
            </a:r>
            <a:r>
              <a:rPr lang="ko-KR" altLang="en-US" dirty="0"/>
              <a:t>환경에서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원격으로 접속</a:t>
            </a:r>
            <a:r>
              <a:rPr lang="en-US" altLang="ko-KR" dirty="0"/>
              <a:t>, </a:t>
            </a:r>
            <a:r>
              <a:rPr lang="ko-KR" altLang="en-US" dirty="0"/>
              <a:t>편리하게 사용 가능</a:t>
            </a:r>
            <a:endParaRPr lang="en-US" altLang="ko-KR" dirty="0"/>
          </a:p>
          <a:p>
            <a:pPr lvl="1"/>
            <a:r>
              <a:rPr lang="ko-KR" altLang="en-US" dirty="0"/>
              <a:t>초기 설정이 필요하며</a:t>
            </a:r>
            <a:r>
              <a:rPr lang="en-US" altLang="ko-KR" dirty="0"/>
              <a:t>, </a:t>
            </a:r>
            <a:r>
              <a:rPr lang="ko-KR" altLang="en-US" dirty="0"/>
              <a:t>약간 어려움</a:t>
            </a:r>
            <a:endParaRPr lang="en-US" altLang="ko-KR" dirty="0"/>
          </a:p>
          <a:p>
            <a:pPr lvl="1"/>
            <a:r>
              <a:rPr lang="ko-KR" altLang="en-US" dirty="0"/>
              <a:t>네트워크 환경 필요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공유기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모바일 핫스팟 등</a:t>
            </a:r>
            <a:endParaRPr lang="en-US" altLang="ko-KR" dirty="0"/>
          </a:p>
          <a:p>
            <a:pPr lvl="1"/>
            <a:r>
              <a:rPr lang="ko-KR" altLang="en-US" dirty="0"/>
              <a:t>추가적인 프로그램 요구</a:t>
            </a:r>
            <a:endParaRPr lang="en-US" altLang="ko-KR" dirty="0"/>
          </a:p>
          <a:p>
            <a:pPr lvl="1"/>
            <a:r>
              <a:rPr lang="ko-KR" altLang="en-US" dirty="0"/>
              <a:t>속도가 약간 늦음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실제 사용에 그리 불편하지 않음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72357-0972-3E3F-F018-86C013984F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505852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Raspberry Pi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VNC</a:t>
            </a:r>
            <a:r>
              <a:rPr lang="ko-KR" altLang="en-US" dirty="0"/>
              <a:t> 서버 활성화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라즈베리파이</a:t>
            </a:r>
            <a:r>
              <a:rPr lang="en-US" altLang="ko-KR" dirty="0"/>
              <a:t>] VNC </a:t>
            </a:r>
            <a:r>
              <a:rPr lang="ko-KR" altLang="en-US" dirty="0"/>
              <a:t>활성화 방법</a:t>
            </a:r>
            <a:r>
              <a:rPr lang="en-US" altLang="ko-KR" dirty="0"/>
              <a:t>(1)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주로 방법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(2) 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이용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96D36F0-5BCE-402B-BBA4-2D9E1307F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556792"/>
            <a:ext cx="6022487" cy="165618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0F8493-BCB1-3BC2-854B-A6941036E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372841"/>
            <a:ext cx="4320480" cy="29490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850B261-0E71-CC74-254E-1D08B002C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959" y="3372841"/>
            <a:ext cx="4320480" cy="29681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9442795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라즈베리파이</a:t>
            </a:r>
            <a:r>
              <a:rPr lang="en-US" altLang="ko-KR" dirty="0"/>
              <a:t>] VNC </a:t>
            </a:r>
            <a:r>
              <a:rPr lang="ko-KR" altLang="en-US" dirty="0"/>
              <a:t>활성화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CDB547-6B8D-641F-37B8-9024CD42921F}"/>
              </a:ext>
            </a:extLst>
          </p:cNvPr>
          <p:cNvGrpSpPr/>
          <p:nvPr/>
        </p:nvGrpSpPr>
        <p:grpSpPr>
          <a:xfrm>
            <a:off x="273744" y="1685170"/>
            <a:ext cx="8618736" cy="3487660"/>
            <a:chOff x="474408" y="1104093"/>
            <a:chExt cx="8326692" cy="278732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C2F0B5C-41C7-0433-9A62-5755CC361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408" y="1104093"/>
              <a:ext cx="4064573" cy="275406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A848A15-822B-023F-B5E2-3BBCE69E2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3136" y="1104093"/>
              <a:ext cx="4037964" cy="278732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43690771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라즈베리파이</a:t>
            </a:r>
            <a:r>
              <a:rPr lang="en-US" altLang="ko-KR" dirty="0"/>
              <a:t>] VNC </a:t>
            </a:r>
            <a:r>
              <a:rPr lang="ko-KR" altLang="en-US" dirty="0"/>
              <a:t>활성화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CDB547-6B8D-641F-37B8-9024CD42921F}"/>
              </a:ext>
            </a:extLst>
          </p:cNvPr>
          <p:cNvGrpSpPr/>
          <p:nvPr/>
        </p:nvGrpSpPr>
        <p:grpSpPr>
          <a:xfrm>
            <a:off x="761499" y="1642977"/>
            <a:ext cx="7609290" cy="2498244"/>
            <a:chOff x="477783" y="3917252"/>
            <a:chExt cx="8308464" cy="276439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5460664-F1B6-77FA-DBBE-3C5DE5398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783" y="3927579"/>
              <a:ext cx="4034869" cy="2754064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406D9C0-1C39-7400-62B5-989D7AB15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8283" y="3917252"/>
              <a:ext cx="4037964" cy="2734108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17EAC50-B831-8EB8-08B2-2FCB5FE21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99" y="4221445"/>
            <a:ext cx="3719645" cy="25164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DA91A1-A3DB-63D2-CE6E-BA540C188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628" y="4186967"/>
            <a:ext cx="3722532" cy="254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9008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라즈베리파이</a:t>
            </a:r>
            <a:r>
              <a:rPr lang="en-US" altLang="ko-KR" dirty="0"/>
              <a:t>] VNC </a:t>
            </a:r>
            <a:r>
              <a:rPr lang="ko-KR" altLang="en-US" dirty="0"/>
              <a:t>활성화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DA4EBB-B9C9-A87C-C188-CD1E2AC8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32" y="1726714"/>
            <a:ext cx="4125250" cy="27951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7910092-8CEE-100A-185A-A61DAB185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056" y="1744105"/>
            <a:ext cx="4111747" cy="27951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1786054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라즈베리파이</a:t>
            </a:r>
            <a:r>
              <a:rPr lang="en-US" altLang="ko-KR" dirty="0"/>
              <a:t>] VNC</a:t>
            </a:r>
            <a:r>
              <a:rPr lang="ko-KR" altLang="en-US" dirty="0"/>
              <a:t> 활성화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r>
              <a:rPr lang="en-US" altLang="ko-KR" dirty="0"/>
              <a:t>(2)</a:t>
            </a:r>
          </a:p>
          <a:p>
            <a:pPr lvl="1"/>
            <a:r>
              <a:rPr lang="en-US" altLang="ko-KR" dirty="0"/>
              <a:t>Raspberry</a:t>
            </a:r>
            <a:r>
              <a:rPr lang="ko-KR" altLang="en-US" dirty="0"/>
              <a:t> </a:t>
            </a:r>
            <a:r>
              <a:rPr lang="en-US" altLang="ko-KR" dirty="0"/>
              <a:t>Pi Configuration </a:t>
            </a:r>
            <a:r>
              <a:rPr lang="ko-KR" altLang="en-US" dirty="0"/>
              <a:t>이용하는 방법</a:t>
            </a:r>
            <a:endParaRPr lang="en-US" altLang="ko-KR" dirty="0"/>
          </a:p>
          <a:p>
            <a:pPr lvl="1"/>
            <a:r>
              <a:rPr lang="ko-KR" altLang="en-US" dirty="0"/>
              <a:t>딸기 </a:t>
            </a:r>
            <a:r>
              <a:rPr lang="en-US" altLang="ko-KR" dirty="0"/>
              <a:t>– Preferences – Raspberry Pi Configuration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92D409-3001-8CA2-77AE-8C451502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57" y="2564904"/>
            <a:ext cx="4914286" cy="38285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8402FA4-96EE-3DB5-3CCE-18291AAD6FC6}"/>
              </a:ext>
            </a:extLst>
          </p:cNvPr>
          <p:cNvSpPr/>
          <p:nvPr/>
        </p:nvSpPr>
        <p:spPr>
          <a:xfrm>
            <a:off x="3768800" y="2852936"/>
            <a:ext cx="936104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6E76B3-1892-8F87-1C8F-C84ABA975B56}"/>
              </a:ext>
            </a:extLst>
          </p:cNvPr>
          <p:cNvSpPr/>
          <p:nvPr/>
        </p:nvSpPr>
        <p:spPr>
          <a:xfrm>
            <a:off x="6217072" y="3609020"/>
            <a:ext cx="936104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38429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[Windows PC] VNC viewer </a:t>
            </a:r>
            <a:r>
              <a:rPr lang="ko-KR" altLang="en-US" dirty="0"/>
              <a:t>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CF5DCE-29A1-A76A-2E1F-15A8F51C2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35" y="1628801"/>
            <a:ext cx="5508176" cy="31683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832D5-B40E-5EE3-19BF-FED8D7304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322" y="1628801"/>
            <a:ext cx="4139166" cy="38641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50D1A2-49DE-83C9-895F-CCAF5E0CA2B5}"/>
              </a:ext>
            </a:extLst>
          </p:cNvPr>
          <p:cNvSpPr/>
          <p:nvPr/>
        </p:nvSpPr>
        <p:spPr>
          <a:xfrm>
            <a:off x="6228184" y="5085184"/>
            <a:ext cx="1368152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E82C0D-066A-2FFE-C75D-BA9D6BC61283}"/>
              </a:ext>
            </a:extLst>
          </p:cNvPr>
          <p:cNvSpPr txBox="1"/>
          <p:nvPr/>
        </p:nvSpPr>
        <p:spPr>
          <a:xfrm>
            <a:off x="47152" y="6021288"/>
            <a:ext cx="5109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>
                <a:solidFill>
                  <a:srgbClr val="0070C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※</a:t>
            </a:r>
            <a:r>
              <a:rPr lang="ko-KR" altLang="en-US" sz="2000" b="1" i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다운로드가 완료되면 기본 옵션으로 설치</a:t>
            </a:r>
          </a:p>
        </p:txBody>
      </p:sp>
    </p:spTree>
    <p:extLst>
      <p:ext uri="{BB962C8B-B14F-4D97-AF65-F5344CB8AC3E}">
        <p14:creationId xmlns:p14="http://schemas.microsoft.com/office/powerpoint/2010/main" val="24911830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[Windows PC] VNC viewer </a:t>
            </a:r>
            <a:r>
              <a:rPr lang="ko-KR" altLang="en-US" dirty="0"/>
              <a:t>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187D17-A6BB-CDB1-856E-4DBED218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44" y="2060848"/>
            <a:ext cx="7380312" cy="35684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81BC41-6249-C4A5-4C7F-03E041C9EBF7}"/>
              </a:ext>
            </a:extLst>
          </p:cNvPr>
          <p:cNvSpPr/>
          <p:nvPr/>
        </p:nvSpPr>
        <p:spPr>
          <a:xfrm>
            <a:off x="1259632" y="2348880"/>
            <a:ext cx="1368152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1469D0-D7A0-DF63-8221-0AFEB9D487C9}"/>
              </a:ext>
            </a:extLst>
          </p:cNvPr>
          <p:cNvSpPr/>
          <p:nvPr/>
        </p:nvSpPr>
        <p:spPr>
          <a:xfrm>
            <a:off x="6157738" y="4386124"/>
            <a:ext cx="440996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21313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[Windows PC] VNC viewer </a:t>
            </a:r>
            <a:r>
              <a:rPr lang="ko-KR" altLang="en-US" dirty="0"/>
              <a:t>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01EFB3-21BD-3738-BFFE-E2C69DB43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28800"/>
            <a:ext cx="6414332" cy="45889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E759F0-736C-E4D5-756D-02A28726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03" y="1825289"/>
            <a:ext cx="1974265" cy="223076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81BC41-6249-C4A5-4C7F-03E041C9EBF7}"/>
              </a:ext>
            </a:extLst>
          </p:cNvPr>
          <p:cNvSpPr/>
          <p:nvPr/>
        </p:nvSpPr>
        <p:spPr>
          <a:xfrm>
            <a:off x="478054" y="1988840"/>
            <a:ext cx="1368152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C2990D4-9D2F-27DD-F124-88D0CC85F1A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846206" y="2096852"/>
            <a:ext cx="377144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01FB9E26-1689-630A-3F6D-96B8EF11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442" y="4318041"/>
            <a:ext cx="3536706" cy="19840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F2711F-7422-C615-2806-ADE154AD6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40" y="4701441"/>
            <a:ext cx="4714286" cy="6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807DFBE-F4D6-7AA1-A95A-2FCFE6B9A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648" y="1664768"/>
            <a:ext cx="3390337" cy="46037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7136D2-8660-57A5-42B6-4254F6516F8E}"/>
              </a:ext>
            </a:extLst>
          </p:cNvPr>
          <p:cNvSpPr/>
          <p:nvPr/>
        </p:nvSpPr>
        <p:spPr>
          <a:xfrm>
            <a:off x="5751838" y="3251808"/>
            <a:ext cx="1648849" cy="648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343AAB6-E483-82FF-FF89-D8A7C103716E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1580629" y="3575844"/>
            <a:ext cx="4171209" cy="17155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0887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[Windows PC] VNC viewer </a:t>
            </a:r>
            <a:r>
              <a:rPr lang="ko-KR" altLang="en-US" dirty="0"/>
              <a:t>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D01DE4-AE42-41D4-CF0F-00E909A94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60" y="1628800"/>
            <a:ext cx="6513780" cy="46348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296F93-D90E-0B67-DAF7-E1DFC65E54BF}"/>
              </a:ext>
            </a:extLst>
          </p:cNvPr>
          <p:cNvSpPr/>
          <p:nvPr/>
        </p:nvSpPr>
        <p:spPr>
          <a:xfrm>
            <a:off x="1334524" y="2304540"/>
            <a:ext cx="1149244" cy="1152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4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 </a:t>
            </a:r>
            <a:endParaRPr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4F22EC-2564-2A20-A505-835596424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949" y="2860339"/>
            <a:ext cx="3380952" cy="24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07BF025-ECCE-0C1A-E904-F7BC2F43C8EC}"/>
              </a:ext>
            </a:extLst>
          </p:cNvPr>
          <p:cNvSpPr/>
          <p:nvPr/>
        </p:nvSpPr>
        <p:spPr>
          <a:xfrm>
            <a:off x="5884594" y="3566746"/>
            <a:ext cx="1368152" cy="648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0B90496-5318-F43E-05D0-9B97A4A815BA}"/>
              </a:ext>
            </a:extLst>
          </p:cNvPr>
          <p:cNvCxnSpPr>
            <a:endCxn id="8" idx="1"/>
          </p:cNvCxnSpPr>
          <p:nvPr/>
        </p:nvCxnSpPr>
        <p:spPr>
          <a:xfrm>
            <a:off x="2483768" y="2880604"/>
            <a:ext cx="2709181" cy="11987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4066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DB63D-0C60-9E2A-019B-E31EA1B8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</a:t>
            </a:r>
            <a:r>
              <a:rPr lang="ko-KR" altLang="en-US" dirty="0"/>
              <a:t> 서버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E6FAF-2B3E-D8E8-609B-42F7DFE5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[Windows PC] VNC viewer </a:t>
            </a:r>
            <a:r>
              <a:rPr lang="ko-KR" altLang="en-US" dirty="0"/>
              <a:t>실행 화면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328EF-37CE-BB2A-577D-519C231C3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CF0E8E-96C3-D965-7A68-B536328BE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80" y="1540204"/>
            <a:ext cx="8492064" cy="477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9764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원격 데스크톱 연결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원격 데스크톱 연결</a:t>
            </a:r>
            <a:endParaRPr lang="en-US" altLang="ko-KR" dirty="0"/>
          </a:p>
          <a:p>
            <a:pPr lvl="1"/>
            <a:r>
              <a:rPr lang="ko-KR" altLang="en-US" dirty="0"/>
              <a:t>원격지 </a:t>
            </a:r>
            <a:r>
              <a:rPr lang="en-US" altLang="ko-KR" dirty="0"/>
              <a:t>PC</a:t>
            </a:r>
            <a:r>
              <a:rPr lang="ko-KR" altLang="en-US" dirty="0"/>
              <a:t>에서 그래픽 환경으로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접속하는 환경</a:t>
            </a:r>
            <a:endParaRPr lang="en-US" altLang="ko-KR" dirty="0"/>
          </a:p>
          <a:p>
            <a:pPr lvl="2"/>
            <a:r>
              <a:rPr lang="ko-KR" altLang="en-US" dirty="0"/>
              <a:t>클라이언트로 </a:t>
            </a:r>
            <a:r>
              <a:rPr lang="en-US" altLang="ko-KR" dirty="0"/>
              <a:t>Windows </a:t>
            </a:r>
            <a:r>
              <a:rPr lang="ko-KR" altLang="en-US" dirty="0"/>
              <a:t>운영체제의 </a:t>
            </a:r>
            <a:r>
              <a:rPr lang="en-US" altLang="ko-KR" dirty="0"/>
              <a:t>“</a:t>
            </a:r>
            <a:r>
              <a:rPr lang="ko-KR" altLang="en-US" dirty="0"/>
              <a:t>원격 데스크톱 연결</a:t>
            </a:r>
            <a:r>
              <a:rPr lang="en-US" altLang="ko-KR" dirty="0"/>
              <a:t>“ </a:t>
            </a:r>
            <a:r>
              <a:rPr lang="ko-KR" altLang="en-US" dirty="0"/>
              <a:t>기능을 활용</a:t>
            </a:r>
            <a:endParaRPr lang="en-US" altLang="ko-KR" dirty="0"/>
          </a:p>
          <a:p>
            <a:pPr lvl="2"/>
            <a:r>
              <a:rPr lang="ko-KR" altLang="en-US" dirty="0"/>
              <a:t>별도의 로그인으로 수행하기에</a:t>
            </a:r>
            <a:r>
              <a:rPr lang="en-US" altLang="ko-KR" dirty="0"/>
              <a:t>, </a:t>
            </a:r>
            <a:r>
              <a:rPr lang="ko-KR" altLang="en-US" dirty="0"/>
              <a:t>두 화면은 연동되지 않음</a:t>
            </a:r>
            <a:endParaRPr lang="en-US" altLang="ko-KR" dirty="0"/>
          </a:p>
          <a:p>
            <a:pPr lvl="2"/>
            <a:r>
              <a:rPr lang="ko-KR" altLang="en-US" dirty="0" err="1"/>
              <a:t>라즈베리파이에</a:t>
            </a:r>
            <a:r>
              <a:rPr lang="ko-KR" altLang="en-US" dirty="0"/>
              <a:t> 별도의 입출력장치 없이도 작업 수행 가능</a:t>
            </a:r>
            <a:endParaRPr lang="en-US" altLang="ko-KR" dirty="0"/>
          </a:p>
          <a:p>
            <a:pPr lvl="1"/>
            <a:r>
              <a:rPr lang="ko-KR" altLang="en-US" dirty="0" err="1"/>
              <a:t>라즈비안</a:t>
            </a:r>
            <a:r>
              <a:rPr lang="ko-KR" altLang="en-US" dirty="0"/>
              <a:t> 환경을 </a:t>
            </a:r>
            <a:r>
              <a:rPr lang="en-US" altLang="ko-KR" dirty="0"/>
              <a:t>GUI</a:t>
            </a:r>
            <a:r>
              <a:rPr lang="ko-KR" altLang="en-US" dirty="0"/>
              <a:t>로 표현 가능하나</a:t>
            </a:r>
            <a:r>
              <a:rPr lang="en-US" altLang="ko-KR" dirty="0"/>
              <a:t>, </a:t>
            </a:r>
            <a:r>
              <a:rPr lang="ko-KR" altLang="en-US" dirty="0"/>
              <a:t>속도는 느린 편</a:t>
            </a:r>
            <a:endParaRPr lang="en-US" altLang="ko-KR" dirty="0"/>
          </a:p>
          <a:p>
            <a:pPr lvl="1"/>
            <a:r>
              <a:rPr lang="ko-KR" altLang="en-US" dirty="0"/>
              <a:t>고정</a:t>
            </a:r>
            <a:r>
              <a:rPr lang="en-US" altLang="ko-KR" dirty="0"/>
              <a:t> IP</a:t>
            </a:r>
            <a:r>
              <a:rPr lang="ko-KR" altLang="en-US" dirty="0"/>
              <a:t>가 아닌 경우</a:t>
            </a:r>
            <a:r>
              <a:rPr lang="en-US" altLang="ko-KR" dirty="0"/>
              <a:t>, </a:t>
            </a:r>
            <a:r>
              <a:rPr lang="ko-KR" altLang="en-US" dirty="0"/>
              <a:t>동일한 </a:t>
            </a:r>
            <a:r>
              <a:rPr lang="en-US" altLang="ko-KR" dirty="0"/>
              <a:t>LAN </a:t>
            </a:r>
            <a:r>
              <a:rPr lang="ko-KR" altLang="en-US" dirty="0"/>
              <a:t>접속이 필요함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C516A-6243-83A7-03CC-95E8CBE334E5}"/>
              </a:ext>
            </a:extLst>
          </p:cNvPr>
          <p:cNvSpPr txBox="1"/>
          <p:nvPr/>
        </p:nvSpPr>
        <p:spPr>
          <a:xfrm>
            <a:off x="6141780" y="6268665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DDD862-1901-8AD0-CBB3-027E3D2E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63" y="4050697"/>
            <a:ext cx="3856427" cy="2165223"/>
          </a:xfrm>
          <a:prstGeom prst="rect">
            <a:avLst/>
          </a:prstGeom>
        </p:spPr>
      </p:pic>
      <p:pic>
        <p:nvPicPr>
          <p:cNvPr id="10" name="그림 9" descr="텍스트, 일몰, 실외, 자연이(가) 표시된 사진&#10;&#10;자동 생성된 설명">
            <a:extLst>
              <a:ext uri="{FF2B5EF4-FFF2-40B4-BE49-F238E27FC236}">
                <a16:creationId xmlns:a16="http://schemas.microsoft.com/office/drawing/2014/main" id="{F5E47824-8C52-0873-1BFF-0A94B7ACFF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43" y="4370528"/>
            <a:ext cx="2833391" cy="15255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638C5D-192E-433D-1939-A058AADCC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327" y="4050697"/>
            <a:ext cx="3917180" cy="20461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D9D53A-3DB6-41F4-B2FD-7DF8F2338A48}"/>
              </a:ext>
            </a:extLst>
          </p:cNvPr>
          <p:cNvSpPr txBox="1"/>
          <p:nvPr/>
        </p:nvSpPr>
        <p:spPr>
          <a:xfrm>
            <a:off x="1764031" y="6268665"/>
            <a:ext cx="1008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 화면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AE0AD27-1B79-C8E7-F0F1-3B56542CB4C7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3892034" y="5073779"/>
            <a:ext cx="1026293" cy="5952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A03AC6-A22F-5484-6305-803E5CFF0CCC}"/>
              </a:ext>
            </a:extLst>
          </p:cNvPr>
          <p:cNvSpPr txBox="1"/>
          <p:nvPr/>
        </p:nvSpPr>
        <p:spPr>
          <a:xfrm>
            <a:off x="4159676" y="462676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FB274-6D4D-7A34-B03E-D8426E2156C9}"/>
              </a:ext>
            </a:extLst>
          </p:cNvPr>
          <p:cNvSpPr txBox="1"/>
          <p:nvPr/>
        </p:nvSpPr>
        <p:spPr>
          <a:xfrm>
            <a:off x="4259947" y="5161849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682693573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F490B-4FE4-4836-363C-4A25E8C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</a:t>
            </a:r>
            <a:r>
              <a:rPr lang="en-US" altLang="ko-KR" dirty="0" err="1"/>
              <a:t>xrdp</a:t>
            </a:r>
            <a:r>
              <a:rPr lang="en-US" altLang="ko-KR" dirty="0"/>
              <a:t> </a:t>
            </a:r>
            <a:r>
              <a:rPr lang="ko-KR" altLang="en-US" dirty="0"/>
              <a:t>패키지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A280D-2F1B-A5FA-7CBC-3F5CE6EF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xrdp</a:t>
            </a:r>
            <a:r>
              <a:rPr lang="ko-KR" altLang="en-US" dirty="0"/>
              <a:t> 패키지 </a:t>
            </a:r>
            <a:endParaRPr lang="en-US" altLang="ko-KR" dirty="0"/>
          </a:p>
          <a:p>
            <a:pPr lvl="1"/>
            <a:r>
              <a:rPr lang="en-US" altLang="ko-KR" dirty="0"/>
              <a:t>Microsoft Windows </a:t>
            </a:r>
            <a:r>
              <a:rPr lang="ko-KR" altLang="en-US" dirty="0"/>
              <a:t>이외의 운영체제에서 완전한 기능의 </a:t>
            </a:r>
            <a:r>
              <a:rPr lang="en-US" altLang="ko-KR" dirty="0"/>
              <a:t>RDP (Remote Desktop Protocol) </a:t>
            </a:r>
            <a:r>
              <a:rPr lang="ko-KR" altLang="en-US" dirty="0"/>
              <a:t>호환 원격 데스크톱 환경을 제공</a:t>
            </a:r>
            <a:endParaRPr lang="en-US" altLang="ko-KR" dirty="0"/>
          </a:p>
          <a:p>
            <a:pPr lvl="1"/>
            <a:r>
              <a:rPr lang="en-US" altLang="ko-KR" dirty="0"/>
              <a:t>Microsoft RDP</a:t>
            </a:r>
            <a:r>
              <a:rPr lang="ko-KR" altLang="en-US" dirty="0"/>
              <a:t> 서버의</a:t>
            </a:r>
            <a:r>
              <a:rPr lang="en-US" altLang="ko-KR" dirty="0"/>
              <a:t> </a:t>
            </a:r>
            <a:r>
              <a:rPr lang="ko-KR" altLang="en-US" dirty="0"/>
              <a:t>무료 오픈소스 구현</a:t>
            </a:r>
            <a:endParaRPr lang="en-US" altLang="ko-KR" dirty="0"/>
          </a:p>
          <a:p>
            <a:r>
              <a:rPr lang="ko-KR" altLang="en-US" dirty="0"/>
              <a:t>설치 명령어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olidFill>
                  <a:srgbClr val="0070C0"/>
                </a:solidFill>
              </a:rPr>
              <a:t>sudo</a:t>
            </a:r>
            <a:r>
              <a:rPr lang="en-US" altLang="ko-KR" dirty="0">
                <a:solidFill>
                  <a:srgbClr val="0070C0"/>
                </a:solidFill>
              </a:rPr>
              <a:t> apt-get install </a:t>
            </a:r>
            <a:r>
              <a:rPr lang="en-US" altLang="ko-KR" dirty="0" err="1">
                <a:solidFill>
                  <a:srgbClr val="0070C0"/>
                </a:solidFill>
              </a:rPr>
              <a:t>xrdp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08F8-BF16-8CFA-2CA1-1FF218386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1BF31E-1596-2982-C898-11D8DB849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474"/>
          <a:stretch/>
        </p:blipFill>
        <p:spPr>
          <a:xfrm>
            <a:off x="1497880" y="3434518"/>
            <a:ext cx="6170464" cy="296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37172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F490B-4FE4-4836-363C-4A25E8C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 PC</a:t>
            </a:r>
            <a:r>
              <a:rPr lang="ko-KR" altLang="en-US" dirty="0"/>
              <a:t>에서 </a:t>
            </a:r>
            <a:r>
              <a:rPr lang="en-US" altLang="ko-KR" dirty="0"/>
              <a:t>“</a:t>
            </a:r>
            <a:r>
              <a:rPr lang="ko-KR" altLang="en-US" dirty="0"/>
              <a:t>원격 데스크톱 연결</a:t>
            </a:r>
            <a:r>
              <a:rPr lang="en-US" altLang="ko-KR" dirty="0"/>
              <a:t>” </a:t>
            </a:r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A280D-2F1B-A5FA-7CBC-3F5CE6EF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시작 메뉴의 검색기능 이용 </a:t>
            </a:r>
            <a:r>
              <a:rPr lang="en-US" altLang="ko-KR" dirty="0">
                <a:sym typeface="Wingdings" panose="05000000000000000000" pitchFamily="2" charset="2"/>
              </a:rPr>
              <a:t> “</a:t>
            </a:r>
            <a:r>
              <a:rPr lang="ko-KR" altLang="en-US" dirty="0">
                <a:sym typeface="Wingdings" panose="05000000000000000000" pitchFamily="2" charset="2"/>
              </a:rPr>
              <a:t>원격</a:t>
            </a:r>
            <a:r>
              <a:rPr lang="en-US" altLang="ko-KR" dirty="0">
                <a:sym typeface="Wingdings" panose="05000000000000000000" pitchFamily="2" charset="2"/>
              </a:rPr>
              <a:t>” </a:t>
            </a:r>
            <a:r>
              <a:rPr lang="ko-KR" altLang="en-US" dirty="0">
                <a:sym typeface="Wingdings" panose="05000000000000000000" pitchFamily="2" charset="2"/>
              </a:rPr>
              <a:t>입력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시작 메뉴 타일에 등록해두면 편리함</a:t>
            </a:r>
            <a:endParaRPr lang="en-US" altLang="ko-KR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원격지 </a:t>
            </a:r>
            <a:r>
              <a:rPr lang="en-US" altLang="ko-KR" dirty="0">
                <a:solidFill>
                  <a:srgbClr val="0070C0"/>
                </a:solidFill>
              </a:rPr>
              <a:t>IP </a:t>
            </a:r>
            <a:r>
              <a:rPr lang="ko-KR" altLang="en-US" dirty="0">
                <a:solidFill>
                  <a:srgbClr val="0070C0"/>
                </a:solidFill>
              </a:rPr>
              <a:t>주소 입력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altLang="ko-KR" dirty="0">
                <a:sym typeface="Wingdings" panose="05000000000000000000" pitchFamily="2" charset="2"/>
              </a:rPr>
              <a:t>Pi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의 네트워크 아이콘 이용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IP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확인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08F8-BF16-8CFA-2CA1-1FF218386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21D2FC-0EFC-5A4A-67E4-396B564DA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1" y="2708920"/>
            <a:ext cx="4377827" cy="26908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D44D613-ACAE-4BB8-9C4C-8EA173D8B691}"/>
              </a:ext>
            </a:extLst>
          </p:cNvPr>
          <p:cNvSpPr/>
          <p:nvPr/>
        </p:nvSpPr>
        <p:spPr>
          <a:xfrm>
            <a:off x="329436" y="3140968"/>
            <a:ext cx="1893478" cy="3600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92D1B1-47D1-2627-668F-FB6C94403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49" y="5724991"/>
            <a:ext cx="4714286" cy="6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677FE22-A7E0-129F-84DF-1C32D3E7F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269" y="2704681"/>
            <a:ext cx="4485714" cy="2476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007322-2250-814E-02F9-657FD0537967}"/>
              </a:ext>
            </a:extLst>
          </p:cNvPr>
          <p:cNvSpPr/>
          <p:nvPr/>
        </p:nvSpPr>
        <p:spPr>
          <a:xfrm>
            <a:off x="5059468" y="3631117"/>
            <a:ext cx="1152128" cy="31735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E20B84-066E-064B-6E36-00533E0A34DD}"/>
              </a:ext>
            </a:extLst>
          </p:cNvPr>
          <p:cNvSpPr/>
          <p:nvPr/>
        </p:nvSpPr>
        <p:spPr>
          <a:xfrm>
            <a:off x="539552" y="5979780"/>
            <a:ext cx="1224136" cy="324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7C8B1EA-0D6A-7C29-44D7-72C95E9DD47D}"/>
              </a:ext>
            </a:extLst>
          </p:cNvPr>
          <p:cNvCxnSpPr>
            <a:cxnSpLocks/>
            <a:stCxn id="13" idx="0"/>
            <a:endCxn id="14" idx="1"/>
          </p:cNvCxnSpPr>
          <p:nvPr/>
        </p:nvCxnSpPr>
        <p:spPr>
          <a:xfrm flipV="1">
            <a:off x="1151620" y="3789793"/>
            <a:ext cx="3907848" cy="218998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1380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F490B-4FE4-4836-363C-4A25E8C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 PC</a:t>
            </a:r>
            <a:r>
              <a:rPr lang="ko-KR" altLang="en-US" dirty="0"/>
              <a:t>에서 </a:t>
            </a:r>
            <a:r>
              <a:rPr lang="en-US" altLang="ko-KR" dirty="0"/>
              <a:t>“</a:t>
            </a:r>
            <a:r>
              <a:rPr lang="ko-KR" altLang="en-US" dirty="0"/>
              <a:t>원격 데스크톱 연결</a:t>
            </a:r>
            <a:r>
              <a:rPr lang="en-US" altLang="ko-KR" dirty="0"/>
              <a:t>” </a:t>
            </a:r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A280D-2F1B-A5FA-7CBC-3F5CE6EF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로그인과 비밀번호 입력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08F8-BF16-8CFA-2CA1-1FF218386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FF716E-7949-DFF5-9D0B-AD16F67A0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7" y="1556792"/>
            <a:ext cx="4304762" cy="24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C0B4F7-255B-378D-6D0A-F79FB3543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99" y="1556792"/>
            <a:ext cx="7693728" cy="47439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160170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B926E-003E-78D4-CC1A-F0772E2C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 PC</a:t>
            </a:r>
            <a:r>
              <a:rPr lang="ko-KR" altLang="en-US" dirty="0"/>
              <a:t>에서 </a:t>
            </a:r>
            <a:r>
              <a:rPr lang="en-US" altLang="ko-KR" dirty="0"/>
              <a:t>“</a:t>
            </a:r>
            <a:r>
              <a:rPr lang="ko-KR" altLang="en-US" dirty="0"/>
              <a:t>원격 데스크톱 연결</a:t>
            </a:r>
            <a:r>
              <a:rPr lang="en-US" altLang="ko-KR" dirty="0"/>
              <a:t>” </a:t>
            </a:r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92F4A2-6EF9-CE11-CD79-FB1CBEF3C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오류 발생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화면 전체가 새까맣게 나타남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88CBE-5A5E-6D48-EF1A-3AB5AF486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E00313-2048-4DD7-EA4E-A592D02B5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84784"/>
            <a:ext cx="7776864" cy="483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55307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F32C-24AE-5761-2402-D2F4D17B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51EA9-BA37-353F-7AA3-8423911A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 PC</a:t>
            </a:r>
            <a:r>
              <a:rPr lang="ko-KR" altLang="en-US" dirty="0"/>
              <a:t>에서 </a:t>
            </a:r>
            <a:r>
              <a:rPr lang="en-US" altLang="ko-KR" dirty="0"/>
              <a:t>“</a:t>
            </a:r>
            <a:r>
              <a:rPr lang="ko-KR" altLang="en-US" dirty="0"/>
              <a:t>원격 데스크톱 연결</a:t>
            </a:r>
            <a:r>
              <a:rPr lang="en-US" altLang="ko-KR" dirty="0"/>
              <a:t>” </a:t>
            </a:r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75199B-7750-C3BC-48FF-9F321570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로그인</a:t>
            </a:r>
            <a:r>
              <a:rPr lang="en-US" altLang="ko-KR" dirty="0"/>
              <a:t> </a:t>
            </a:r>
            <a:r>
              <a:rPr lang="ko-KR" altLang="en-US" dirty="0"/>
              <a:t>세션 문제</a:t>
            </a:r>
            <a:r>
              <a:rPr lang="en-US" altLang="ko-KR" dirty="0"/>
              <a:t>(ChatGPT </a:t>
            </a:r>
            <a:r>
              <a:rPr lang="ko-KR" altLang="en-US" dirty="0"/>
              <a:t>오류 검색 결과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OS(</a:t>
            </a:r>
            <a:r>
              <a:rPr lang="ko-KR" altLang="en-US" dirty="0"/>
              <a:t>특히</a:t>
            </a:r>
            <a:r>
              <a:rPr lang="en-US" altLang="ko-KR" dirty="0"/>
              <a:t>, Bullseye </a:t>
            </a:r>
            <a:r>
              <a:rPr lang="ko-KR" altLang="en-US" dirty="0"/>
              <a:t>이상</a:t>
            </a:r>
            <a:r>
              <a:rPr lang="en-US" altLang="ko-KR" dirty="0"/>
              <a:t>)</a:t>
            </a:r>
            <a:r>
              <a:rPr lang="ko-KR" altLang="en-US" dirty="0"/>
              <a:t>에서는 </a:t>
            </a:r>
            <a:r>
              <a:rPr lang="en-US" altLang="ko-KR" dirty="0" err="1"/>
              <a:t>xrdp</a:t>
            </a:r>
            <a:r>
              <a:rPr lang="en-US" altLang="ko-KR" dirty="0"/>
              <a:t> </a:t>
            </a:r>
            <a:r>
              <a:rPr lang="ko-KR" altLang="en-US" dirty="0"/>
              <a:t>접속 시 자동 로그인 세션과의 충돌로 검은 화면 발생 가능</a:t>
            </a:r>
            <a:endParaRPr lang="en-US" altLang="ko-KR" dirty="0"/>
          </a:p>
          <a:p>
            <a:pPr lvl="1"/>
            <a:r>
              <a:rPr lang="ko-KR" altLang="en-US" dirty="0"/>
              <a:t>자동 로그인 비활성화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raspi</a:t>
            </a:r>
            <a:r>
              <a:rPr lang="en-US" altLang="ko-KR" dirty="0"/>
              <a:t>-config</a:t>
            </a:r>
          </a:p>
          <a:p>
            <a:pPr lvl="2"/>
            <a:r>
              <a:rPr lang="en-US" altLang="ko-KR" dirty="0"/>
              <a:t>1. System Options </a:t>
            </a:r>
            <a:r>
              <a:rPr lang="en-US" altLang="ko-KR" dirty="0">
                <a:sym typeface="Wingdings" panose="05000000000000000000" pitchFamily="2" charset="2"/>
              </a:rPr>
              <a:t> S6 Auto Login</a:t>
            </a:r>
          </a:p>
          <a:p>
            <a:pPr lvl="2"/>
            <a:r>
              <a:rPr lang="ko-KR" altLang="en-US" dirty="0"/>
              <a:t>자동 로그인 비활성화</a:t>
            </a:r>
            <a:endParaRPr lang="en-US" altLang="ko-KR" dirty="0"/>
          </a:p>
          <a:p>
            <a:pPr lvl="2"/>
            <a:r>
              <a:rPr lang="ko-KR" altLang="en-US" dirty="0" err="1"/>
              <a:t>리부팅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446818-538E-E127-6DF9-AE1BB42A9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35E1DD-A675-20C0-8272-F71D5C52E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" y="4493303"/>
            <a:ext cx="2985264" cy="19467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A48AFC-570A-4EAE-B5A7-06B49462D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115" y="4500113"/>
            <a:ext cx="3016594" cy="19452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8471A99-F2F4-BAFA-1DE9-6D1F5B7F0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788" y="4493303"/>
            <a:ext cx="2769111" cy="19452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2221577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AEF90-4370-56AB-EA81-63B6276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1]“</a:t>
            </a:r>
            <a:r>
              <a:rPr lang="ko-KR" altLang="en-US" dirty="0"/>
              <a:t>원격 데스크톱 연결</a:t>
            </a:r>
            <a:r>
              <a:rPr lang="en-US" altLang="ko-KR" dirty="0"/>
              <a:t>” </a:t>
            </a:r>
            <a:r>
              <a:rPr lang="ko-KR" altLang="en-US" dirty="0"/>
              <a:t>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60A99-57A1-9081-66F3-51A2A69B9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19F0B5-78C7-8B39-A996-2EF8B94A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22367"/>
            <a:ext cx="4485714" cy="2476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28C713-6456-537B-DC7A-5A16843C4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180197"/>
            <a:ext cx="2520280" cy="30924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84DD115-AE25-7620-5B05-7C28ACDCC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3635367"/>
            <a:ext cx="4485714" cy="27718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09D270B-D125-FEF9-63EF-079C3F70C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782" y="3640226"/>
            <a:ext cx="4485714" cy="27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724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EC2E9-391D-423B-562B-62276F96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1] </a:t>
            </a:r>
            <a:r>
              <a:rPr lang="ko-KR" altLang="en-US" dirty="0"/>
              <a:t>실습 후 </a:t>
            </a:r>
            <a:r>
              <a:rPr lang="en-US" altLang="ko-KR" dirty="0"/>
              <a:t>“</a:t>
            </a:r>
            <a:r>
              <a:rPr lang="ko-KR" altLang="en-US" dirty="0"/>
              <a:t>자동 로그인</a:t>
            </a:r>
            <a:r>
              <a:rPr lang="en-US" altLang="ko-KR" dirty="0"/>
              <a:t>”</a:t>
            </a:r>
            <a:r>
              <a:rPr lang="ko-KR" altLang="en-US" dirty="0"/>
              <a:t>활성화 요망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0636D7-7F68-BB39-BC89-0D150BD57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우리는 실습에서 </a:t>
            </a:r>
            <a:r>
              <a:rPr lang="en-US" altLang="ko-KR" dirty="0"/>
              <a:t>VNC </a:t>
            </a:r>
            <a:r>
              <a:rPr lang="ko-KR" altLang="en-US" dirty="0"/>
              <a:t>서버를 이용</a:t>
            </a:r>
            <a:endParaRPr lang="en-US" altLang="ko-KR" dirty="0"/>
          </a:p>
          <a:p>
            <a:pPr lvl="1"/>
            <a:r>
              <a:rPr lang="ko-KR" altLang="en-US" dirty="0"/>
              <a:t>자동 로그인 활성화 요망</a:t>
            </a:r>
            <a:endParaRPr lang="en-US" altLang="ko-KR" dirty="0"/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라즈베리파이를</a:t>
            </a:r>
            <a:r>
              <a:rPr lang="ko-KR" altLang="en-US" dirty="0">
                <a:sym typeface="Wingdings" panose="05000000000000000000" pitchFamily="2" charset="2"/>
              </a:rPr>
              <a:t> 부팅하면 자동으로 로그인 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sudo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raspi</a:t>
            </a:r>
            <a:r>
              <a:rPr lang="en-US" altLang="ko-KR" dirty="0">
                <a:sym typeface="Wingdings" panose="05000000000000000000" pitchFamily="2" charset="2"/>
              </a:rPr>
              <a:t>-config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3B59-04E1-2036-B5D6-3967A15EA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12D251-C6F2-0318-DD9F-809E69F92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453" y="2852936"/>
            <a:ext cx="2985264" cy="19467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E0A59B-4A92-C8B7-E2CA-76BC9757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742" y="2854365"/>
            <a:ext cx="3016594" cy="19452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EC7E03-79AE-10A0-AE39-82867F57C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32" y="4478603"/>
            <a:ext cx="2808312" cy="19710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4A90B4-7A7F-9000-BA2E-0A1AD71CA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597" y="4478603"/>
            <a:ext cx="2794255" cy="19710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BFF0DA4-C604-AC86-30AC-E2582876E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305" y="4462143"/>
            <a:ext cx="2808312" cy="19875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7540955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E8B4B-7024-A7DE-78C4-E16588C5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A90A9-C22F-E848-AAA0-3425338EB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9EAD0-C082-E737-C36F-178BF662D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F1B5A8-55B6-290A-3D35-0C1A0072107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BA6D58-65E8-D719-911A-5F87E905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273523"/>
            <a:ext cx="4464496" cy="431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52538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F490B-4FE4-4836-363C-4A25E8C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PuTTY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B08F8-BF16-8CFA-2CA1-1FF218386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16E605-E033-84B0-2A1E-5AB71E25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</a:t>
            </a:r>
          </a:p>
          <a:p>
            <a:pPr lvl="1"/>
            <a:r>
              <a:rPr lang="en-US" altLang="ko-KR" dirty="0">
                <a:solidFill>
                  <a:srgbClr val="C00000"/>
                </a:solidFill>
              </a:rPr>
              <a:t>SSH</a:t>
            </a:r>
            <a:r>
              <a:rPr lang="en-US" altLang="ko-KR" dirty="0"/>
              <a:t>, Telnet, rlogin, raw TCP</a:t>
            </a:r>
            <a:r>
              <a:rPr lang="ko-KR" altLang="en-US" dirty="0"/>
              <a:t>를 위한 클라이언트 프로그램</a:t>
            </a:r>
            <a:endParaRPr lang="en-US" altLang="ko-KR" dirty="0"/>
          </a:p>
          <a:p>
            <a:pPr lvl="2"/>
            <a:r>
              <a:rPr lang="ko-KR" altLang="en-US" dirty="0"/>
              <a:t>문자 기반의 원격 접속 환경</a:t>
            </a:r>
            <a:endParaRPr lang="en-US" altLang="ko-KR" dirty="0"/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명령어를 키보드로 입력해야 하며</a:t>
            </a:r>
            <a:r>
              <a:rPr lang="en-US" altLang="ko-KR" dirty="0">
                <a:sym typeface="Wingdings" panose="05000000000000000000" pitchFamily="2" charset="2"/>
              </a:rPr>
              <a:t>, Linux </a:t>
            </a:r>
            <a:r>
              <a:rPr lang="ko-KR" altLang="en-US" dirty="0">
                <a:sym typeface="Wingdings" panose="05000000000000000000" pitchFamily="2" charset="2"/>
              </a:rPr>
              <a:t>명령어에 익숙해질 필요가 있음</a:t>
            </a:r>
            <a:endParaRPr lang="en-US" altLang="ko-KR" dirty="0"/>
          </a:p>
          <a:p>
            <a:pPr lvl="1"/>
            <a:r>
              <a:rPr lang="ko-KR" altLang="en-US" dirty="0"/>
              <a:t>자유 및 오픈 소스 기반의 단말 에뮬레이터</a:t>
            </a:r>
            <a:endParaRPr lang="en-US" altLang="ko-KR" dirty="0"/>
          </a:p>
          <a:p>
            <a:pPr lvl="1"/>
            <a:r>
              <a:rPr lang="en-US" altLang="ko-KR" dirty="0" err="1"/>
              <a:t>tty</a:t>
            </a:r>
            <a:r>
              <a:rPr lang="ko-KR" altLang="en-US" dirty="0"/>
              <a:t>는 </a:t>
            </a:r>
            <a:r>
              <a:rPr lang="en-US" altLang="ko-KR" dirty="0"/>
              <a:t>UNIX </a:t>
            </a:r>
            <a:r>
              <a:rPr lang="ko-KR" altLang="en-US" dirty="0"/>
              <a:t>전통</a:t>
            </a:r>
            <a:r>
              <a:rPr lang="en-US" altLang="ko-KR" dirty="0"/>
              <a:t> </a:t>
            </a:r>
            <a:r>
              <a:rPr lang="ko-KR" altLang="en-US" dirty="0"/>
              <a:t>터미널 이름</a:t>
            </a:r>
            <a:r>
              <a:rPr lang="en-US" altLang="ko-KR" dirty="0"/>
              <a:t>(teletype)</a:t>
            </a:r>
            <a:r>
              <a:rPr lang="ko-KR" altLang="en-US" dirty="0"/>
              <a:t>을 줄여</a:t>
            </a:r>
            <a:r>
              <a:rPr lang="en-US" altLang="ko-KR" dirty="0"/>
              <a:t> </a:t>
            </a:r>
            <a:r>
              <a:rPr lang="ko-KR" altLang="en-US" dirty="0"/>
              <a:t>나타냄</a:t>
            </a:r>
            <a:endParaRPr lang="en-US" altLang="ko-KR" dirty="0"/>
          </a:p>
          <a:p>
            <a:pPr lvl="1"/>
            <a:r>
              <a:rPr lang="ko-KR" altLang="en-US" dirty="0"/>
              <a:t>일반적으로 </a:t>
            </a:r>
            <a:r>
              <a:rPr lang="en-US" altLang="ko-KR" dirty="0"/>
              <a:t>Samba </a:t>
            </a:r>
            <a:r>
              <a:rPr lang="ko-KR" altLang="en-US" dirty="0"/>
              <a:t>서버</a:t>
            </a:r>
            <a:r>
              <a:rPr lang="en-US" altLang="ko-KR" dirty="0"/>
              <a:t>(</a:t>
            </a:r>
            <a:r>
              <a:rPr lang="ko-KR" altLang="en-US" dirty="0"/>
              <a:t>파일공유 서버</a:t>
            </a:r>
            <a:r>
              <a:rPr lang="en-US" altLang="ko-KR" dirty="0"/>
              <a:t>)</a:t>
            </a:r>
            <a:r>
              <a:rPr lang="ko-KR" altLang="en-US" dirty="0"/>
              <a:t>와 함께 이용함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2D0C7-B7F1-1419-7387-A39403942CFB}"/>
              </a:ext>
            </a:extLst>
          </p:cNvPr>
          <p:cNvSpPr txBox="1"/>
          <p:nvPr/>
        </p:nvSpPr>
        <p:spPr>
          <a:xfrm>
            <a:off x="6141780" y="6266275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D919A6-C0CD-2D7F-058D-ADA686906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152015"/>
            <a:ext cx="3799454" cy="21332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3211E2B-891D-79E6-D4AE-F2FB64E76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27" y="4120027"/>
            <a:ext cx="3917180" cy="20461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FD9AD4-7F13-4D67-3166-A0C34201DD4E}"/>
              </a:ext>
            </a:extLst>
          </p:cNvPr>
          <p:cNvSpPr txBox="1"/>
          <p:nvPr/>
        </p:nvSpPr>
        <p:spPr>
          <a:xfrm>
            <a:off x="1764031" y="6266275"/>
            <a:ext cx="1008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 화면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BA238A7-DCEB-ED88-BC70-AE675597EBEF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755483" y="5018288"/>
            <a:ext cx="1608605" cy="185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4596C6-6A30-52FB-6313-786B79F5ACEF}"/>
              </a:ext>
            </a:extLst>
          </p:cNvPr>
          <p:cNvSpPr txBox="1"/>
          <p:nvPr/>
        </p:nvSpPr>
        <p:spPr>
          <a:xfrm>
            <a:off x="4146846" y="45232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489AA02-C33D-0537-5430-D3E6230F21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220" y="4370267"/>
            <a:ext cx="2118263" cy="13331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AB15CF-17F2-64B6-301D-BF18B686C43F}"/>
              </a:ext>
            </a:extLst>
          </p:cNvPr>
          <p:cNvSpPr txBox="1"/>
          <p:nvPr/>
        </p:nvSpPr>
        <p:spPr>
          <a:xfrm>
            <a:off x="4236619" y="5089336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178487766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SSH</a:t>
            </a:r>
            <a:r>
              <a:rPr lang="ko-KR" altLang="en-US" dirty="0"/>
              <a:t> 서버 활성화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딸기</a:t>
            </a:r>
            <a:r>
              <a:rPr lang="en-US" altLang="ko-KR" dirty="0"/>
              <a:t>] – [Preferences] – [Raspberry Pi Configuration]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72AB6E-A87A-B152-80C4-3F8AD9DE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091" y="2216978"/>
            <a:ext cx="4464466" cy="38057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1C0586-2878-BE54-94EF-74A6DDA4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65" y="1953022"/>
            <a:ext cx="2935710" cy="4581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B95755-C922-DB43-6E4C-215B34003F7C}"/>
              </a:ext>
            </a:extLst>
          </p:cNvPr>
          <p:cNvSpPr/>
          <p:nvPr/>
        </p:nvSpPr>
        <p:spPr>
          <a:xfrm>
            <a:off x="4223930" y="2852936"/>
            <a:ext cx="4464465" cy="31735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97E97-C2E9-08FE-CD3E-3394528B7A02}"/>
              </a:ext>
            </a:extLst>
          </p:cNvPr>
          <p:cNvSpPr txBox="1"/>
          <p:nvPr/>
        </p:nvSpPr>
        <p:spPr>
          <a:xfrm>
            <a:off x="4139952" y="6140863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 변경 후에는 </a:t>
            </a:r>
            <a:r>
              <a:rPr lang="ko-KR" altLang="en-US" sz="18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리부트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필요</a:t>
            </a:r>
          </a:p>
        </p:txBody>
      </p:sp>
    </p:spTree>
    <p:extLst>
      <p:ext uri="{BB962C8B-B14F-4D97-AF65-F5344CB8AC3E}">
        <p14:creationId xmlns:p14="http://schemas.microsoft.com/office/powerpoint/2010/main" val="390290675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의 운영체제 확인 </a:t>
            </a:r>
            <a:r>
              <a:rPr lang="en-US" altLang="ko-KR" dirty="0">
                <a:sym typeface="Wingdings" panose="05000000000000000000" pitchFamily="2" charset="2"/>
              </a:rPr>
              <a:t> 64</a:t>
            </a:r>
            <a:r>
              <a:rPr lang="ko-KR" altLang="en-US" dirty="0">
                <a:sym typeface="Wingdings" panose="05000000000000000000" pitchFamily="2" charset="2"/>
              </a:rPr>
              <a:t>비트 운영체제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시작</a:t>
            </a:r>
            <a:r>
              <a:rPr lang="en-US" altLang="ko-KR" dirty="0"/>
              <a:t>] – [Windows </a:t>
            </a:r>
            <a:r>
              <a:rPr lang="ko-KR" altLang="en-US" dirty="0"/>
              <a:t>관리 도구</a:t>
            </a:r>
            <a:r>
              <a:rPr lang="en-US" altLang="ko-KR" dirty="0"/>
              <a:t>] – [</a:t>
            </a:r>
            <a:r>
              <a:rPr lang="ko-KR" altLang="en-US" dirty="0"/>
              <a:t>시스템 정보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257836-6B93-F64B-BC19-4C40FB17F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92" y="1988840"/>
            <a:ext cx="6255216" cy="44041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70C8A9-DAC1-94A2-FCF8-BCD0A37AD6FC}"/>
              </a:ext>
            </a:extLst>
          </p:cNvPr>
          <p:cNvSpPr/>
          <p:nvPr/>
        </p:nvSpPr>
        <p:spPr>
          <a:xfrm>
            <a:off x="5004049" y="3740944"/>
            <a:ext cx="1512168" cy="19211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5819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다운로드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D7153D-44FC-FF6C-ADC6-9CC68704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56793"/>
            <a:ext cx="5976664" cy="36105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9CD7A66-5348-19E2-D629-B07B76DAA68C}"/>
              </a:ext>
            </a:extLst>
          </p:cNvPr>
          <p:cNvSpPr/>
          <p:nvPr/>
        </p:nvSpPr>
        <p:spPr>
          <a:xfrm>
            <a:off x="467544" y="4203158"/>
            <a:ext cx="4536504" cy="19211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D682F7D-3F06-7346-1681-0DC277A5F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908" y="3573016"/>
            <a:ext cx="7092641" cy="28194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E6AE59-ECA6-575F-701F-77034991D3CD}"/>
              </a:ext>
            </a:extLst>
          </p:cNvPr>
          <p:cNvSpPr/>
          <p:nvPr/>
        </p:nvSpPr>
        <p:spPr>
          <a:xfrm>
            <a:off x="4067944" y="5200690"/>
            <a:ext cx="1008112" cy="17252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165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다운로드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11BFC2A-5419-31A0-1277-CFA00C786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96" y="1484679"/>
            <a:ext cx="7488832" cy="50055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E2BA1C7-0C49-84CA-7591-6D783F374605}"/>
              </a:ext>
            </a:extLst>
          </p:cNvPr>
          <p:cNvSpPr/>
          <p:nvPr/>
        </p:nvSpPr>
        <p:spPr>
          <a:xfrm>
            <a:off x="1133546" y="5322917"/>
            <a:ext cx="2502350" cy="2573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08373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2883FE-D1DA-CAB5-C7C8-C1014BF35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76" y="1497688"/>
            <a:ext cx="4044924" cy="31588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5A5573-DE3D-66E5-F23C-6A3B6F462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75" y="1512587"/>
            <a:ext cx="4167514" cy="31588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7137095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E1736F-3FD3-5439-9036-2DE634C1F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" y="1706951"/>
            <a:ext cx="4393887" cy="34085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729E1CE-2E5A-500C-9012-B11B6513C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552" y="1706951"/>
            <a:ext cx="4385010" cy="34440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3844270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AFD5B9-8209-6F74-8BA5-B27E8D8DB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76" y="1756358"/>
            <a:ext cx="4057136" cy="31848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5E52A7-B8DD-64C6-7977-0B8BF34B4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3" y="1740278"/>
            <a:ext cx="4115941" cy="32208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8161273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아이콘을 우측 타일에 등록해두면 실행에 편리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55C71A-F8FC-19DF-1F12-4DCF51B30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" y="2030333"/>
            <a:ext cx="6213598" cy="2998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AB094A-A98A-7AA6-CF9A-7D9E8F0C07D4}"/>
              </a:ext>
            </a:extLst>
          </p:cNvPr>
          <p:cNvSpPr/>
          <p:nvPr/>
        </p:nvSpPr>
        <p:spPr>
          <a:xfrm>
            <a:off x="395536" y="2233252"/>
            <a:ext cx="936104" cy="2880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7439B4-50E9-0F03-A648-34151CE9AFC4}"/>
              </a:ext>
            </a:extLst>
          </p:cNvPr>
          <p:cNvSpPr/>
          <p:nvPr/>
        </p:nvSpPr>
        <p:spPr>
          <a:xfrm>
            <a:off x="4211960" y="3978746"/>
            <a:ext cx="355648" cy="2880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7B5217-BEF2-288F-DA09-0568113DC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47" y="2037047"/>
            <a:ext cx="4266667" cy="41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A1DA733-1CC0-8F1E-AF8C-B808E0921E60}"/>
              </a:ext>
            </a:extLst>
          </p:cNvPr>
          <p:cNvSpPr/>
          <p:nvPr/>
        </p:nvSpPr>
        <p:spPr>
          <a:xfrm>
            <a:off x="6228183" y="3068960"/>
            <a:ext cx="1728193" cy="2160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7774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</a:t>
            </a:r>
            <a:r>
              <a:rPr lang="en-US" altLang="ko-KR" dirty="0"/>
              <a:t>2] PuTTY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PuTTY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ID</a:t>
            </a:r>
            <a:r>
              <a:rPr lang="ko-KR" altLang="en-US" dirty="0"/>
              <a:t>와 </a:t>
            </a:r>
            <a:r>
              <a:rPr lang="en-US" altLang="ko-KR" dirty="0"/>
              <a:t>PW(</a:t>
            </a:r>
            <a:r>
              <a:rPr lang="ko-KR" altLang="en-US" dirty="0"/>
              <a:t>타이핑해도 글자 안보임</a:t>
            </a:r>
            <a:r>
              <a:rPr lang="en-US" altLang="ko-KR" dirty="0"/>
              <a:t>)</a:t>
            </a:r>
            <a:r>
              <a:rPr lang="ko-KR" altLang="en-US" dirty="0"/>
              <a:t>를 입력하면 원격으로 터미널 사용 가능</a:t>
            </a:r>
            <a:r>
              <a:rPr lang="en-US" altLang="ko-KR" dirty="0"/>
              <a:t>, CUI </a:t>
            </a:r>
            <a:r>
              <a:rPr lang="ko-KR" altLang="en-US" dirty="0"/>
              <a:t>환경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9843B1-72F1-398B-2DA2-DDF37853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322897"/>
            <a:ext cx="4847619" cy="36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0B712E5-FD13-B5AB-03F4-1476E4AE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973" y="2318437"/>
            <a:ext cx="6718523" cy="42143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3389A7-8A89-B778-EF1C-B5B426CDC5F6}"/>
              </a:ext>
            </a:extLst>
          </p:cNvPr>
          <p:cNvSpPr/>
          <p:nvPr/>
        </p:nvSpPr>
        <p:spPr>
          <a:xfrm>
            <a:off x="3326085" y="2589925"/>
            <a:ext cx="576064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41ACD4-2EC7-CEA9-50BE-15551D94C091}"/>
              </a:ext>
            </a:extLst>
          </p:cNvPr>
          <p:cNvSpPr/>
          <p:nvPr/>
        </p:nvSpPr>
        <p:spPr>
          <a:xfrm>
            <a:off x="5281777" y="2742325"/>
            <a:ext cx="576064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01271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Samba</a:t>
            </a:r>
          </a:p>
          <a:p>
            <a:pPr lvl="1"/>
            <a:r>
              <a:rPr lang="en-US" altLang="ko-KR" dirty="0"/>
              <a:t>Windows </a:t>
            </a:r>
            <a:r>
              <a:rPr lang="ko-KR" altLang="en-US" dirty="0"/>
              <a:t>운영체제를 사용하는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en-US" altLang="ko-KR" dirty="0"/>
              <a:t>Linux </a:t>
            </a:r>
            <a:r>
              <a:rPr lang="ko-KR" altLang="en-US" dirty="0"/>
              <a:t>또는 </a:t>
            </a:r>
            <a:r>
              <a:rPr lang="en-US" altLang="ko-KR" dirty="0"/>
              <a:t>UNIX </a:t>
            </a:r>
            <a:r>
              <a:rPr lang="ko-KR" altLang="en-US" dirty="0"/>
              <a:t>서버에 접속하여 파일이나 프린터를 공유할 수 있는 소프트웨어</a:t>
            </a:r>
            <a:endParaRPr lang="en-US" altLang="ko-KR" dirty="0"/>
          </a:p>
          <a:p>
            <a:pPr lvl="2"/>
            <a:r>
              <a:rPr lang="en-US" altLang="ko-KR" dirty="0"/>
              <a:t>SMB </a:t>
            </a:r>
            <a:r>
              <a:rPr lang="ko-KR" altLang="en-US" dirty="0"/>
              <a:t>프로토콜 이용</a:t>
            </a:r>
            <a:endParaRPr lang="en-US" altLang="ko-KR" dirty="0"/>
          </a:p>
          <a:p>
            <a:pPr lvl="1"/>
            <a:r>
              <a:rPr lang="en-US" altLang="ko-KR" dirty="0"/>
              <a:t>1991</a:t>
            </a:r>
            <a:r>
              <a:rPr lang="ko-KR" altLang="en-US" dirty="0"/>
              <a:t>년 호주의 박사과정 학생이던 </a:t>
            </a:r>
            <a:r>
              <a:rPr lang="ko-KR" altLang="en-US" dirty="0" err="1"/>
              <a:t>앤드루</a:t>
            </a:r>
            <a:r>
              <a:rPr lang="ko-KR" altLang="en-US" dirty="0"/>
              <a:t> </a:t>
            </a:r>
            <a:r>
              <a:rPr lang="ko-KR" altLang="en-US" dirty="0" err="1"/>
              <a:t>트리젤이</a:t>
            </a:r>
            <a:r>
              <a:rPr lang="ko-KR" altLang="en-US" dirty="0"/>
              <a:t> 개발</a:t>
            </a:r>
            <a:endParaRPr lang="en-US" altLang="ko-KR" dirty="0"/>
          </a:p>
          <a:p>
            <a:pPr lvl="1"/>
            <a:r>
              <a:rPr lang="ko-KR" altLang="en-US" dirty="0"/>
              <a:t>편리하기는 하나 보안이 중요한 곳에서는 사용하지 않음</a:t>
            </a:r>
            <a:endParaRPr lang="en-US" altLang="ko-KR" dirty="0"/>
          </a:p>
          <a:p>
            <a:pPr lvl="1"/>
            <a:r>
              <a:rPr lang="en-US" altLang="ko-KR" dirty="0"/>
              <a:t>PuTTY/VNC</a:t>
            </a:r>
            <a:r>
              <a:rPr lang="ko-KR" altLang="en-US" dirty="0"/>
              <a:t>와 함께 사용함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6CDB8-EF18-EC3F-0E3E-275193A9C412}"/>
              </a:ext>
            </a:extLst>
          </p:cNvPr>
          <p:cNvSpPr txBox="1"/>
          <p:nvPr/>
        </p:nvSpPr>
        <p:spPr>
          <a:xfrm>
            <a:off x="6141780" y="6266275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0D8709-F39B-4939-BDD5-AD44FCCF6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152015"/>
            <a:ext cx="3799454" cy="21332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8B29588-E095-68C8-8145-C387187A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27" y="4120027"/>
            <a:ext cx="3917180" cy="20461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83C72-AC69-C215-AD25-0B93087388FD}"/>
              </a:ext>
            </a:extLst>
          </p:cNvPr>
          <p:cNvSpPr txBox="1"/>
          <p:nvPr/>
        </p:nvSpPr>
        <p:spPr>
          <a:xfrm>
            <a:off x="1764031" y="6266275"/>
            <a:ext cx="1008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 화면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0D0F867-A566-CEE3-435C-E5C5D6586C5A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 flipV="1">
            <a:off x="3729823" y="4975065"/>
            <a:ext cx="1749786" cy="16804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9EA025C-364C-23F4-ECB7-D7A46F09DCEF}"/>
              </a:ext>
            </a:extLst>
          </p:cNvPr>
          <p:cNvSpPr txBox="1"/>
          <p:nvPr/>
        </p:nvSpPr>
        <p:spPr>
          <a:xfrm>
            <a:off x="4148793" y="4436336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endParaRPr lang="en-US" altLang="ko-KR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파일공유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8416EAE-CEAE-25A4-DD63-BB86560F6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609" y="4387854"/>
            <a:ext cx="1620188" cy="11744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4755329-AB04-33D5-12C3-4EC1D7E0D9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967" y="4322716"/>
            <a:ext cx="2208856" cy="164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4241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라즈베리파이에</a:t>
            </a:r>
            <a:r>
              <a:rPr lang="ko-KR" altLang="en-US" dirty="0"/>
              <a:t> </a:t>
            </a:r>
            <a:r>
              <a:rPr lang="en-US" altLang="ko-KR" dirty="0"/>
              <a:t>Samba </a:t>
            </a:r>
            <a:r>
              <a:rPr lang="ko-KR" altLang="en-US" dirty="0"/>
              <a:t>서버 설치</a:t>
            </a:r>
            <a:endParaRPr lang="en-US" altLang="ko-KR" dirty="0"/>
          </a:p>
          <a:p>
            <a:pPr lvl="1"/>
            <a:r>
              <a:rPr lang="ko-KR" altLang="en-US" dirty="0"/>
              <a:t>보통 패키지 업그레이드 후 설치하나</a:t>
            </a:r>
            <a:r>
              <a:rPr lang="en-US" altLang="ko-KR" dirty="0"/>
              <a:t>, </a:t>
            </a:r>
            <a:r>
              <a:rPr lang="ko-KR" altLang="en-US" dirty="0"/>
              <a:t>이미 </a:t>
            </a:r>
            <a:r>
              <a:rPr lang="en-US" altLang="ko-KR" dirty="0"/>
              <a:t>1</a:t>
            </a:r>
            <a:r>
              <a:rPr lang="ko-KR" altLang="en-US" dirty="0"/>
              <a:t>강에서 업그레이드함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apt-get update</a:t>
            </a:r>
          </a:p>
          <a:p>
            <a:pPr lvl="1"/>
            <a:r>
              <a:rPr lang="en-US" altLang="ko-KR" dirty="0"/>
              <a:t>Samba </a:t>
            </a:r>
            <a:r>
              <a:rPr lang="ko-KR" altLang="en-US" dirty="0"/>
              <a:t>서버 설치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apt-get install samba samba-common-bin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3BB6DF-DA80-2E3C-8232-E535202B89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16"/>
          <a:stretch/>
        </p:blipFill>
        <p:spPr>
          <a:xfrm>
            <a:off x="993824" y="3296390"/>
            <a:ext cx="7178576" cy="31840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3C991B-4971-ABF0-CD23-C80B2BFF921D}"/>
              </a:ext>
            </a:extLst>
          </p:cNvPr>
          <p:cNvSpPr txBox="1"/>
          <p:nvPr/>
        </p:nvSpPr>
        <p:spPr>
          <a:xfrm>
            <a:off x="3491880" y="5013176"/>
            <a:ext cx="407996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시간이 약간 걸리는 작업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 계속 할까요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질문에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“y”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눌러줄 것</a:t>
            </a:r>
          </a:p>
        </p:txBody>
      </p:sp>
    </p:spTree>
    <p:extLst>
      <p:ext uri="{BB962C8B-B14F-4D97-AF65-F5344CB8AC3E}">
        <p14:creationId xmlns:p14="http://schemas.microsoft.com/office/powerpoint/2010/main" val="3158675120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r>
              <a:rPr lang="ko-KR" altLang="en-US" dirty="0"/>
              <a:t>설치 확인</a:t>
            </a:r>
            <a:r>
              <a:rPr lang="en-US" altLang="ko-KR" dirty="0"/>
              <a:t>(1)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/>
              <a:t>ps</a:t>
            </a:r>
            <a:r>
              <a:rPr lang="en-US" altLang="ko-KR" dirty="0"/>
              <a:t> </a:t>
            </a:r>
            <a:r>
              <a:rPr lang="ko-KR" altLang="en-US" dirty="0"/>
              <a:t>명령어 이용</a:t>
            </a:r>
            <a:endParaRPr lang="en-US" altLang="ko-KR" dirty="0"/>
          </a:p>
          <a:p>
            <a:pPr lvl="1"/>
            <a:r>
              <a:rPr lang="ko-KR" altLang="en-US" dirty="0"/>
              <a:t>아래</a:t>
            </a:r>
            <a:r>
              <a:rPr lang="en-US" altLang="ko-KR" dirty="0"/>
              <a:t> </a:t>
            </a:r>
            <a:r>
              <a:rPr lang="ko-KR" altLang="en-US" dirty="0"/>
              <a:t>출력이 나타나면 정상적으로 설치된 것</a:t>
            </a:r>
            <a:endParaRPr lang="en-US" altLang="ko-KR" dirty="0"/>
          </a:p>
          <a:p>
            <a:pPr lvl="2"/>
            <a:r>
              <a:rPr lang="en-US" altLang="ko-KR" dirty="0" err="1"/>
              <a:t>ps</a:t>
            </a:r>
            <a:r>
              <a:rPr lang="en-US" altLang="ko-KR" dirty="0"/>
              <a:t> -</a:t>
            </a:r>
            <a:r>
              <a:rPr lang="en-US" altLang="ko-KR" dirty="0" err="1"/>
              <a:t>ef</a:t>
            </a:r>
            <a:r>
              <a:rPr lang="en-US" altLang="ko-KR" dirty="0"/>
              <a:t> | grep </a:t>
            </a:r>
            <a:r>
              <a:rPr lang="en-US" altLang="ko-KR" dirty="0" err="1"/>
              <a:t>smbd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0D76D9-5553-8E71-FF28-69E5DAECC5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77" r="1986"/>
          <a:stretch/>
        </p:blipFill>
        <p:spPr>
          <a:xfrm>
            <a:off x="823652" y="2420888"/>
            <a:ext cx="7496696" cy="24045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BE8738-5033-E7A2-03F1-CACA265A1AD5}"/>
              </a:ext>
            </a:extLst>
          </p:cNvPr>
          <p:cNvSpPr txBox="1"/>
          <p:nvPr/>
        </p:nvSpPr>
        <p:spPr>
          <a:xfrm>
            <a:off x="823652" y="5013925"/>
            <a:ext cx="7496696" cy="132343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ps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프로세스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(process)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확인 명령어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-e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커널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프로세스를 제외한 모든 프로세스 출력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-f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전체 리스트 내용 출력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※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명령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│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명령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파이프라인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명령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결과를 명령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입력으로 전달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※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grep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입력으로 전달된 문서에서 특정 문자열 찾음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710008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r>
              <a:rPr lang="ko-KR" altLang="en-US" dirty="0"/>
              <a:t>서버 설치 확인</a:t>
            </a:r>
            <a:r>
              <a:rPr lang="en-US" altLang="ko-KR" dirty="0"/>
              <a:t>(2)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netstat </a:t>
            </a:r>
            <a:r>
              <a:rPr lang="ko-KR" altLang="en-US" dirty="0"/>
              <a:t>명령어</a:t>
            </a:r>
            <a:endParaRPr lang="en-US" altLang="ko-KR" dirty="0"/>
          </a:p>
          <a:p>
            <a:pPr lvl="1"/>
            <a:r>
              <a:rPr lang="en-US" altLang="ko-KR" dirty="0"/>
              <a:t>Samba </a:t>
            </a:r>
            <a:r>
              <a:rPr lang="ko-KR" altLang="en-US" dirty="0"/>
              <a:t>서버 동작은 </a:t>
            </a:r>
            <a:r>
              <a:rPr lang="en-US" altLang="ko-KR" dirty="0"/>
              <a:t>445</a:t>
            </a:r>
            <a:r>
              <a:rPr lang="ko-KR" altLang="en-US" dirty="0"/>
              <a:t>번 포트에 할당</a:t>
            </a:r>
            <a:endParaRPr lang="en-US" altLang="ko-KR" dirty="0"/>
          </a:p>
          <a:p>
            <a:pPr lvl="2"/>
            <a:r>
              <a:rPr lang="en-US" altLang="ko-KR" dirty="0"/>
              <a:t>netstat</a:t>
            </a:r>
            <a:r>
              <a:rPr lang="ko-KR" altLang="en-US" dirty="0"/>
              <a:t> </a:t>
            </a:r>
            <a:r>
              <a:rPr lang="en-US" altLang="ko-KR" dirty="0"/>
              <a:t>-an</a:t>
            </a:r>
            <a:r>
              <a:rPr lang="ko-KR" altLang="en-US" dirty="0"/>
              <a:t> </a:t>
            </a:r>
            <a:r>
              <a:rPr lang="en-US" altLang="ko-KR" dirty="0"/>
              <a:t>--</a:t>
            </a:r>
            <a:r>
              <a:rPr lang="en-US" altLang="ko-KR" dirty="0" err="1"/>
              <a:t>tcp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E8738-5033-E7A2-03F1-CACA265A1AD5}"/>
              </a:ext>
            </a:extLst>
          </p:cNvPr>
          <p:cNvSpPr txBox="1"/>
          <p:nvPr/>
        </p:nvSpPr>
        <p:spPr>
          <a:xfrm>
            <a:off x="1111756" y="5238670"/>
            <a:ext cx="6920484" cy="10772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netstat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연결상태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라우팅 테이블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상태 등 표시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-a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모든 네트워크 상태 출력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-n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도메인 주소를 숫자로 출력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--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tcp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TCP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소켓의 정보만 표시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D152E1D-E103-3C1F-C32C-0DF951FFF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6" y="2436019"/>
            <a:ext cx="7477125" cy="26098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DBED363-BD85-B40B-6BB0-7352AA71D3B3}"/>
              </a:ext>
            </a:extLst>
          </p:cNvPr>
          <p:cNvSpPr/>
          <p:nvPr/>
        </p:nvSpPr>
        <p:spPr>
          <a:xfrm>
            <a:off x="833436" y="3156099"/>
            <a:ext cx="7477125" cy="21602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2058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r>
              <a:rPr lang="ko-KR" altLang="en-US" dirty="0"/>
              <a:t>서버 설정</a:t>
            </a:r>
            <a:endParaRPr lang="en-US" altLang="ko-KR" dirty="0"/>
          </a:p>
          <a:p>
            <a:pPr lvl="1"/>
            <a:r>
              <a:rPr lang="en-US" altLang="ko-KR" dirty="0"/>
              <a:t>nano</a:t>
            </a:r>
            <a:r>
              <a:rPr lang="ko-KR" altLang="en-US" dirty="0"/>
              <a:t> 편집기로 설정 파일 편집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nano /</a:t>
            </a:r>
            <a:r>
              <a:rPr lang="en-US" altLang="ko-KR" dirty="0" err="1"/>
              <a:t>etc</a:t>
            </a:r>
            <a:r>
              <a:rPr lang="en-US" altLang="ko-KR" dirty="0"/>
              <a:t>/samba/</a:t>
            </a:r>
            <a:r>
              <a:rPr lang="en-US" altLang="ko-KR" dirty="0" err="1"/>
              <a:t>smb.conf</a:t>
            </a:r>
            <a:r>
              <a:rPr lang="en-US" altLang="ko-KR" dirty="0"/>
              <a:t>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E8738-5033-E7A2-03F1-CACA265A1AD5}"/>
              </a:ext>
            </a:extLst>
          </p:cNvPr>
          <p:cNvSpPr txBox="1"/>
          <p:nvPr/>
        </p:nvSpPr>
        <p:spPr>
          <a:xfrm>
            <a:off x="923805" y="5461426"/>
            <a:ext cx="6662401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nano 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오픈 소스로 대부분의 리눅스 시스템에서 제공하는 편집기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 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가장 널리 사용하는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vi(vim)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에 비해 사용하기 쉬움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 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편집기 옵션을 하단에 표시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B3336A-D806-817D-85D8-790F64DAF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55" y="2564904"/>
            <a:ext cx="62865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77670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r>
              <a:rPr lang="ko-KR" altLang="en-US" dirty="0"/>
              <a:t>서버 설정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추가 후 </a:t>
            </a:r>
            <a:r>
              <a:rPr lang="en-US" altLang="ko-KR" dirty="0" err="1">
                <a:solidFill>
                  <a:srgbClr val="FF0000"/>
                </a:solidFill>
                <a:sym typeface="Wingdings" panose="05000000000000000000" pitchFamily="2" charset="2"/>
              </a:rPr>
              <a:t>Ctrl+X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,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y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, </a:t>
            </a:r>
            <a:r>
              <a:rPr lang="en-US" altLang="ko-KR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en-US" altLang="ko-KR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sym typeface="Symbol" panose="05050102010706020507" pitchFamily="18" charset="2"/>
              </a:rPr>
              <a:t>눌러</a:t>
            </a:r>
            <a:r>
              <a:rPr lang="en-US" altLang="ko-KR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sym typeface="Symbol" panose="05050102010706020507" pitchFamily="18" charset="2"/>
              </a:rPr>
              <a:t>저장</a:t>
            </a:r>
            <a:endParaRPr lang="en-US" altLang="ko-KR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nano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/samba/</a:t>
            </a:r>
            <a:r>
              <a:rPr lang="en-US" altLang="ko-KR" dirty="0" err="1"/>
              <a:t>smb.conf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FC13BB-107F-C36A-9E36-851E0F03D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5" y="2167975"/>
            <a:ext cx="8086051" cy="352249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36E49F6-50EB-2A4C-6990-DC711F79DCFF}"/>
              </a:ext>
            </a:extLst>
          </p:cNvPr>
          <p:cNvSpPr/>
          <p:nvPr/>
        </p:nvSpPr>
        <p:spPr>
          <a:xfrm>
            <a:off x="612006" y="3927490"/>
            <a:ext cx="3239914" cy="17387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86A6D3F-1F84-3126-041D-A450518A778A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475656" y="3850929"/>
            <a:ext cx="3536592" cy="21910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B39BAC-36BE-4A9B-AD6B-ED5F70127D21}"/>
              </a:ext>
            </a:extLst>
          </p:cNvPr>
          <p:cNvSpPr txBox="1"/>
          <p:nvPr/>
        </p:nvSpPr>
        <p:spPr>
          <a:xfrm>
            <a:off x="5012248" y="3681652"/>
            <a:ext cx="206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[hrkim]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사용자 정의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EE97C-738A-0297-BCCA-834DCFB53F1D}"/>
              </a:ext>
            </a:extLst>
          </p:cNvPr>
          <p:cNvSpPr txBox="1"/>
          <p:nvPr/>
        </p:nvSpPr>
        <p:spPr>
          <a:xfrm>
            <a:off x="5012248" y="4003800"/>
            <a:ext cx="1662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주석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(comment)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59606-2598-23ED-461A-61986F8F1F4F}"/>
              </a:ext>
            </a:extLst>
          </p:cNvPr>
          <p:cNvSpPr txBox="1"/>
          <p:nvPr/>
        </p:nvSpPr>
        <p:spPr>
          <a:xfrm>
            <a:off x="5012248" y="4325948"/>
            <a:ext cx="3369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 폴더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(hrkim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작업공간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5A13B1-28C2-EEF2-7BCA-A65009645A62}"/>
              </a:ext>
            </a:extLst>
          </p:cNvPr>
          <p:cNvSpPr txBox="1"/>
          <p:nvPr/>
        </p:nvSpPr>
        <p:spPr>
          <a:xfrm>
            <a:off x="5012248" y="4648096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 가능한 사용자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AC0CF-9CCE-5C76-E2E4-20C784BC3671}"/>
              </a:ext>
            </a:extLst>
          </p:cNvPr>
          <p:cNvSpPr txBox="1"/>
          <p:nvPr/>
        </p:nvSpPr>
        <p:spPr>
          <a:xfrm>
            <a:off x="5012248" y="4989096"/>
            <a:ext cx="2569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쓰기 허용 여부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5FC9D5-DADD-C18E-6AFD-762F3A2F2FE7}"/>
              </a:ext>
            </a:extLst>
          </p:cNvPr>
          <p:cNvSpPr txBox="1"/>
          <p:nvPr/>
        </p:nvSpPr>
        <p:spPr>
          <a:xfrm>
            <a:off x="5012248" y="5327650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읽기 전용 여부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1041D9-5CB4-1DA3-500A-8D33A5D48A37}"/>
              </a:ext>
            </a:extLst>
          </p:cNvPr>
          <p:cNvSpPr txBox="1"/>
          <p:nvPr/>
        </p:nvSpPr>
        <p:spPr>
          <a:xfrm>
            <a:off x="5012248" y="5666204"/>
            <a:ext cx="369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 폴더 내부의 목록 보여줄 지 여부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107B173-FD22-BDE9-6D6F-49A635FE7BD5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851920" y="4173077"/>
            <a:ext cx="1160328" cy="905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F7F6E9A-E6F6-AB35-D743-F3999977A967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041837" y="4495225"/>
            <a:ext cx="1970411" cy="4882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F0624F6-FA6D-9D39-A792-A35FA2EC4E3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041837" y="4737592"/>
            <a:ext cx="1970411" cy="7978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6D69FB1-8AD5-F18B-F1FE-FC93BBAE8EA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041837" y="5059740"/>
            <a:ext cx="1970411" cy="9863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D07AE53-6E1B-B412-9ABB-D78C38E498D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3041837" y="5292392"/>
            <a:ext cx="1970411" cy="2045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E35F3BD-B665-05F4-2065-101FDC87FB34}"/>
              </a:ext>
            </a:extLst>
          </p:cNvPr>
          <p:cNvCxnSpPr>
            <a:cxnSpLocks/>
          </p:cNvCxnSpPr>
          <p:nvPr/>
        </p:nvCxnSpPr>
        <p:spPr>
          <a:xfrm>
            <a:off x="3041836" y="5545751"/>
            <a:ext cx="1934282" cy="2897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6953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3" grpId="0"/>
      <p:bldP spid="14" grpId="0"/>
      <p:bldP spid="15" grpId="0"/>
      <p:bldP spid="18" grpId="0"/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2391-CFFA-709A-9600-E59B5B92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r>
              <a:rPr lang="ko-KR" altLang="en-US" dirty="0"/>
              <a:t>서버에 접근 가능한 사용자의 </a:t>
            </a:r>
            <a:r>
              <a:rPr lang="en-US" altLang="ko-KR" dirty="0"/>
              <a:t>password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smbpasswd</a:t>
            </a:r>
            <a:r>
              <a:rPr lang="en-US" altLang="ko-KR" dirty="0"/>
              <a:t> –a hrkim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>
                <a:solidFill>
                  <a:srgbClr val="0070C0"/>
                </a:solidFill>
              </a:rPr>
              <a:t>지정한 비밀번호 기억할 것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 PC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에서 연결할 때 필요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ko-KR" altLang="en-US" dirty="0"/>
              <a:t>삼바 서버 재실행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sudo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/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etc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init.d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smbd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restart</a:t>
            </a:r>
          </a:p>
          <a:p>
            <a:pPr lvl="1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혹은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시스템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리부트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혹은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sudo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systemctl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restart </a:t>
            </a: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smbd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3A5C2E-7BE6-901C-250E-ED684A5D5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1988840"/>
            <a:ext cx="7528565" cy="17281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E52BC-5F4C-FBE5-FD7D-62AEB5CF810A}"/>
              </a:ext>
            </a:extLst>
          </p:cNvPr>
          <p:cNvSpPr txBox="1"/>
          <p:nvPr/>
        </p:nvSpPr>
        <p:spPr>
          <a:xfrm>
            <a:off x="5220072" y="2840716"/>
            <a:ext cx="2712602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비밀번호는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보이지 않으나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그냥 입력할 것</a:t>
            </a:r>
          </a:p>
        </p:txBody>
      </p:sp>
    </p:spTree>
    <p:extLst>
      <p:ext uri="{BB962C8B-B14F-4D97-AF65-F5344CB8AC3E}">
        <p14:creationId xmlns:p14="http://schemas.microsoft.com/office/powerpoint/2010/main" val="154774872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</a:t>
            </a:r>
            <a:r>
              <a:rPr lang="ko-KR" altLang="en-US" dirty="0"/>
              <a:t> 운영체제에서 </a:t>
            </a:r>
            <a:r>
              <a:rPr lang="en-US" altLang="ko-KR" dirty="0"/>
              <a:t>Samba </a:t>
            </a:r>
            <a:r>
              <a:rPr lang="ko-KR" altLang="en-US" dirty="0"/>
              <a:t>서버 연결</a:t>
            </a:r>
            <a:endParaRPr lang="en-US" altLang="ko-KR" dirty="0"/>
          </a:p>
          <a:p>
            <a:pPr lvl="1"/>
            <a:r>
              <a:rPr lang="ko-KR" altLang="en-US" dirty="0"/>
              <a:t>실행</a:t>
            </a:r>
            <a:r>
              <a:rPr lang="en-US" altLang="ko-KR" dirty="0"/>
              <a:t>(</a:t>
            </a:r>
            <a:r>
              <a:rPr lang="en-US" altLang="ko-KR" dirty="0">
                <a:sym typeface="Wingdings" panose="05000000000000000000" pitchFamily="2" charset="2"/>
              </a:rPr>
              <a:t>+R)  </a:t>
            </a:r>
            <a:r>
              <a:rPr lang="ko-KR" altLang="en-US" dirty="0" err="1">
                <a:sym typeface="Wingdings" panose="05000000000000000000" pitchFamily="2" charset="2"/>
              </a:rPr>
              <a:t>라즈베리파이의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IP </a:t>
            </a:r>
            <a:r>
              <a:rPr lang="ko-KR" altLang="en-US" dirty="0">
                <a:sym typeface="Wingdings" panose="05000000000000000000" pitchFamily="2" charset="2"/>
              </a:rPr>
              <a:t>주소 입력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오류가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발생하는 경우 </a:t>
            </a:r>
            <a:r>
              <a:rPr lang="en-US" altLang="ko-KR" dirty="0">
                <a:sym typeface="Wingdings" panose="05000000000000000000" pitchFamily="2" charset="2"/>
              </a:rPr>
              <a:t>Windows PC</a:t>
            </a:r>
            <a:r>
              <a:rPr lang="ko-KR" altLang="en-US" dirty="0">
                <a:sym typeface="Wingdings" panose="05000000000000000000" pitchFamily="2" charset="2"/>
              </a:rPr>
              <a:t>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설정을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변경하여야 함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BA0A2A-87B3-AB25-FD0A-02A4C9AE4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83" y="2060848"/>
            <a:ext cx="4285714" cy="21861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EECC7F-8E32-C53B-B2C6-0C725444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060848"/>
            <a:ext cx="3421618" cy="31250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0326244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검색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삼바 연결 오류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6E9A43-9998-6945-8985-5D8FB5F62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4"/>
            <a:ext cx="5817443" cy="46821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0F31B9-4E0C-3750-445A-86787F99C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51" y="2060848"/>
            <a:ext cx="6341899" cy="43324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1133850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</a:t>
            </a:r>
            <a:r>
              <a:rPr lang="ko-KR" altLang="en-US" dirty="0"/>
              <a:t> </a:t>
            </a:r>
            <a:r>
              <a:rPr lang="en-US" altLang="ko-KR" dirty="0"/>
              <a:t>PC</a:t>
            </a:r>
            <a:r>
              <a:rPr lang="ko-KR" altLang="en-US" dirty="0"/>
              <a:t>의 설정</a:t>
            </a:r>
            <a:r>
              <a:rPr lang="en-US" altLang="ko-KR" dirty="0"/>
              <a:t>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1"/>
            <a:r>
              <a:rPr lang="ko-KR" altLang="en-US" dirty="0"/>
              <a:t>제어판 </a:t>
            </a:r>
            <a:r>
              <a:rPr lang="en-US" altLang="ko-KR" dirty="0"/>
              <a:t>– </a:t>
            </a:r>
            <a:r>
              <a:rPr lang="ko-KR" altLang="en-US" dirty="0"/>
              <a:t>프로그램 </a:t>
            </a:r>
            <a:r>
              <a:rPr lang="en-US" altLang="ko-KR" dirty="0"/>
              <a:t>– Windows </a:t>
            </a:r>
            <a:r>
              <a:rPr lang="ko-KR" altLang="en-US" dirty="0"/>
              <a:t>기능 켜기</a:t>
            </a:r>
            <a:r>
              <a:rPr lang="en-US" altLang="ko-KR" dirty="0"/>
              <a:t>/</a:t>
            </a:r>
            <a:r>
              <a:rPr lang="ko-KR" altLang="en-US" dirty="0"/>
              <a:t>끄기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2C80C0-4E6A-F5AE-0A86-C4E77F0F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137" y="1987003"/>
            <a:ext cx="4842120" cy="42924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21F761-6B17-86FD-39B1-3EAA096F5F45}"/>
              </a:ext>
            </a:extLst>
          </p:cNvPr>
          <p:cNvSpPr/>
          <p:nvPr/>
        </p:nvSpPr>
        <p:spPr>
          <a:xfrm>
            <a:off x="2195736" y="4509120"/>
            <a:ext cx="4392488" cy="10801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1110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</a:t>
            </a:r>
            <a:r>
              <a:rPr lang="ko-KR" altLang="en-US" dirty="0"/>
              <a:t> </a:t>
            </a:r>
            <a:r>
              <a:rPr lang="en-US" altLang="ko-KR" dirty="0"/>
              <a:t>PC</a:t>
            </a:r>
            <a:r>
              <a:rPr lang="ko-KR" altLang="en-US" dirty="0"/>
              <a:t>의 설정</a:t>
            </a:r>
            <a:r>
              <a:rPr lang="en-US" altLang="ko-KR" dirty="0"/>
              <a:t>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1"/>
            <a:r>
              <a:rPr lang="ko-KR" altLang="en-US" dirty="0"/>
              <a:t>실행</a:t>
            </a:r>
            <a:r>
              <a:rPr lang="en-US" altLang="ko-KR" dirty="0"/>
              <a:t>(</a:t>
            </a:r>
            <a:r>
              <a:rPr lang="en-US" altLang="ko-KR" dirty="0">
                <a:sym typeface="Wingdings" panose="05000000000000000000" pitchFamily="2" charset="2"/>
              </a:rPr>
              <a:t>+R)  </a:t>
            </a:r>
            <a:r>
              <a:rPr lang="en-US" altLang="ko-KR" dirty="0" err="1">
                <a:sym typeface="Wingdings" panose="05000000000000000000" pitchFamily="2" charset="2"/>
              </a:rPr>
              <a:t>gpedit.msc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43E3C8-5E14-283F-410E-E7B9B7EC6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036317"/>
            <a:ext cx="3790950" cy="1933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E58F042-2468-900B-A7AE-43CE773F7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85" y="2036317"/>
            <a:ext cx="6338065" cy="44644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E58DC9-8DCD-28E2-FF74-18F3DCBF4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782" y="4437112"/>
            <a:ext cx="4404442" cy="19603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61A445-8CAE-FF3F-E207-EF6FC0D5F206}"/>
              </a:ext>
            </a:extLst>
          </p:cNvPr>
          <p:cNvSpPr/>
          <p:nvPr/>
        </p:nvSpPr>
        <p:spPr>
          <a:xfrm>
            <a:off x="1868427" y="4511425"/>
            <a:ext cx="2199518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E4E2FB-1F58-BA7F-DC36-5DB77A97535C}"/>
              </a:ext>
            </a:extLst>
          </p:cNvPr>
          <p:cNvSpPr/>
          <p:nvPr/>
        </p:nvSpPr>
        <p:spPr>
          <a:xfrm>
            <a:off x="4355976" y="3218935"/>
            <a:ext cx="2199518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343DD7-4657-C43F-CA39-6A281A5CFD21}"/>
              </a:ext>
            </a:extLst>
          </p:cNvPr>
          <p:cNvSpPr/>
          <p:nvPr/>
        </p:nvSpPr>
        <p:spPr>
          <a:xfrm>
            <a:off x="4652608" y="5129278"/>
            <a:ext cx="1143528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11973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</a:t>
            </a:r>
            <a:r>
              <a:rPr lang="ko-KR" altLang="en-US" dirty="0"/>
              <a:t>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Samba </a:t>
            </a:r>
            <a:r>
              <a:rPr lang="ko-KR" altLang="en-US" dirty="0"/>
              <a:t>서버에 연결</a:t>
            </a:r>
            <a:endParaRPr lang="en-US" altLang="ko-KR" dirty="0"/>
          </a:p>
          <a:p>
            <a:pPr lvl="1"/>
            <a:r>
              <a:rPr lang="ko-KR" altLang="en-US" dirty="0"/>
              <a:t>실행</a:t>
            </a:r>
            <a:r>
              <a:rPr lang="en-US" altLang="ko-KR" dirty="0"/>
              <a:t>(</a:t>
            </a:r>
            <a:r>
              <a:rPr lang="en-US" altLang="ko-KR" dirty="0">
                <a:sym typeface="Wingdings" panose="05000000000000000000" pitchFamily="2" charset="2"/>
              </a:rPr>
              <a:t>+R)  </a:t>
            </a:r>
            <a:r>
              <a:rPr lang="ko-KR" altLang="en-US" dirty="0" err="1">
                <a:sym typeface="Wingdings" panose="05000000000000000000" pitchFamily="2" charset="2"/>
              </a:rPr>
              <a:t>라즈베리파이의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IP </a:t>
            </a:r>
            <a:r>
              <a:rPr lang="ko-KR" altLang="en-US" dirty="0">
                <a:sym typeface="Wingdings" panose="05000000000000000000" pitchFamily="2" charset="2"/>
              </a:rPr>
              <a:t>주소 입력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5DD512-F0F0-6859-85E9-EFCDAB82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60" y="2132856"/>
            <a:ext cx="3780952" cy="19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39937740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</a:t>
            </a:r>
            <a:r>
              <a:rPr lang="ko-KR" altLang="en-US" dirty="0"/>
              <a:t>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Samba </a:t>
            </a:r>
            <a:r>
              <a:rPr lang="ko-KR" altLang="en-US" dirty="0"/>
              <a:t>서버에 연결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79DE7C1-D010-D3BB-CF91-B4CB39E8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395" y="1628800"/>
            <a:ext cx="5785209" cy="45585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EB5409-82ED-5AF4-4C02-881E0834EB1B}"/>
              </a:ext>
            </a:extLst>
          </p:cNvPr>
          <p:cNvSpPr txBox="1"/>
          <p:nvPr/>
        </p:nvSpPr>
        <p:spPr>
          <a:xfrm>
            <a:off x="5513097" y="3908061"/>
            <a:ext cx="352295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smbpasswd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설정한 비밀번호 입력</a:t>
            </a:r>
          </a:p>
        </p:txBody>
      </p:sp>
    </p:spTree>
    <p:extLst>
      <p:ext uri="{BB962C8B-B14F-4D97-AF65-F5344CB8AC3E}">
        <p14:creationId xmlns:p14="http://schemas.microsoft.com/office/powerpoint/2010/main" val="30315439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Samba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</a:t>
            </a:r>
            <a:r>
              <a:rPr lang="ko-KR" altLang="en-US" dirty="0"/>
              <a:t>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en-US" altLang="ko-KR" dirty="0"/>
              <a:t>Samba </a:t>
            </a:r>
            <a:r>
              <a:rPr lang="ko-KR" altLang="en-US" dirty="0"/>
              <a:t>서버 연결 완료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C88AB-C24E-6838-6A32-EC479739590F}"/>
              </a:ext>
            </a:extLst>
          </p:cNvPr>
          <p:cNvSpPr txBox="1"/>
          <p:nvPr/>
        </p:nvSpPr>
        <p:spPr>
          <a:xfrm>
            <a:off x="1064469" y="5894854"/>
            <a:ext cx="701506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라즈베리파이의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공유 폴더인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/home/hrkim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디렉토리의 파일 목록 출력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Windows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운영체제와 </a:t>
            </a:r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라즈베리파이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운영체제간 파일 복사 및 이동 가능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2BFBD3-BFC4-7E9E-E118-53044A85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35997"/>
            <a:ext cx="5616624" cy="43255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456272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BD5FB-6B06-CAA4-CAC7-EBE9FA19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삼바 접속 오류 </a:t>
            </a:r>
            <a:r>
              <a:rPr lang="en-US" altLang="ko-KR" dirty="0"/>
              <a:t>– </a:t>
            </a:r>
            <a:r>
              <a:rPr lang="ko-KR" altLang="en-US" dirty="0"/>
              <a:t>동일한 사용자가 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50CED0-5AB8-5892-3D03-D39F1713D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아래와 같은 삼바 접속 오류 발생시</a:t>
            </a:r>
            <a:endParaRPr lang="en-US" altLang="ko-KR" dirty="0"/>
          </a:p>
          <a:p>
            <a:pPr lvl="1"/>
            <a:r>
              <a:rPr lang="ko-KR" altLang="en-US" dirty="0"/>
              <a:t>공유리소스를 끊고 다시 연결 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89A94-1A42-4717-2D8E-5AE828889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49CCC1-BAFA-9FC9-5A50-69B732BB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47272"/>
            <a:ext cx="7924800" cy="278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23183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BD5FB-6B06-CAA4-CAC7-EBE9FA19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삼바 접속 오류 </a:t>
            </a:r>
            <a:r>
              <a:rPr lang="en-US" altLang="ko-KR" dirty="0"/>
              <a:t>– </a:t>
            </a:r>
            <a:r>
              <a:rPr lang="ko-KR" altLang="en-US" dirty="0"/>
              <a:t>동일한 사용자가 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89A94-1A42-4717-2D8E-5AE828889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08ABD7-31DA-AF99-0FB7-3EE98A40A1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278"/>
          <a:stretch/>
        </p:blipFill>
        <p:spPr>
          <a:xfrm>
            <a:off x="405940" y="1052736"/>
            <a:ext cx="8027337" cy="53854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826A319-F562-1C58-D576-C4787D24F30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339752" y="1774138"/>
            <a:ext cx="331236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781B88-1BA3-9539-FFCB-18A4D930F021}"/>
              </a:ext>
            </a:extLst>
          </p:cNvPr>
          <p:cNvSpPr txBox="1"/>
          <p:nvPr/>
        </p:nvSpPr>
        <p:spPr>
          <a:xfrm>
            <a:off x="5652120" y="1604861"/>
            <a:ext cx="3332964" cy="33855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사용중인 네트워크 연결 확인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E6F9120-9022-7077-3B45-28899087200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259664" y="2675558"/>
            <a:ext cx="41145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F6EC87-5E53-8CEB-7804-3CB823EA9AC7}"/>
              </a:ext>
            </a:extLst>
          </p:cNvPr>
          <p:cNvSpPr txBox="1"/>
          <p:nvPr/>
        </p:nvSpPr>
        <p:spPr>
          <a:xfrm>
            <a:off x="5671116" y="2506281"/>
            <a:ext cx="2863284" cy="33855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사용중인 네트워크 목록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11C4066-D92B-46CC-26C2-FB6805EB77B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491880" y="3354711"/>
            <a:ext cx="217923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5F5CC2-8EF9-689C-7E19-DDAD30B68066}"/>
              </a:ext>
            </a:extLst>
          </p:cNvPr>
          <p:cNvSpPr txBox="1"/>
          <p:nvPr/>
        </p:nvSpPr>
        <p:spPr>
          <a:xfrm>
            <a:off x="5671116" y="3185434"/>
            <a:ext cx="1970411" cy="33855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불필요한 연결 제거</a:t>
            </a:r>
          </a:p>
        </p:txBody>
      </p:sp>
    </p:spTree>
    <p:extLst>
      <p:ext uri="{BB962C8B-B14F-4D97-AF65-F5344CB8AC3E}">
        <p14:creationId xmlns:p14="http://schemas.microsoft.com/office/powerpoint/2010/main" val="2825324814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</a:t>
            </a:r>
            <a:r>
              <a:rPr lang="ko-KR" altLang="en-US" dirty="0"/>
              <a:t> 예제 프로그램 </a:t>
            </a:r>
            <a:r>
              <a:rPr lang="en-US" altLang="ko-KR" dirty="0"/>
              <a:t>– </a:t>
            </a:r>
            <a:r>
              <a:rPr lang="ko-KR" altLang="en-US" dirty="0"/>
              <a:t>데스크톱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57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Terminal</a:t>
            </a:r>
            <a:r>
              <a:rPr lang="ko-KR" altLang="en-US" dirty="0"/>
              <a:t>을 이용 작업용 디렉토리 생성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E55FF3-995B-38AB-3CE8-BC7DD22D1858}"/>
              </a:ext>
            </a:extLst>
          </p:cNvPr>
          <p:cNvSpPr/>
          <p:nvPr/>
        </p:nvSpPr>
        <p:spPr>
          <a:xfrm>
            <a:off x="1187624" y="1567567"/>
            <a:ext cx="288032" cy="2772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4583855-BA21-49C8-6D3F-ACE4BB1D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76" y="1390713"/>
            <a:ext cx="5893652" cy="4486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4D81D4-8DBE-1BC0-9570-B9B0B9259C3D}"/>
              </a:ext>
            </a:extLst>
          </p:cNvPr>
          <p:cNvSpPr txBox="1"/>
          <p:nvPr/>
        </p:nvSpPr>
        <p:spPr>
          <a:xfrm>
            <a:off x="667424" y="5201905"/>
            <a:ext cx="7831375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ls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list directory contents,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디렉토리 내부의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목록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cd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change directory,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현재 작업 디렉토리를 이동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경로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(path)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개념이 요구됨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  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절대경로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루트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(root)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기준으로 목적지 디렉토리 지정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  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상대경로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현재 디렉토리를 기준으로 목적지 디렉토리 지정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mkdir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make directory,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새로운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디렉토리를 생성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5F7E172-99F2-B60A-D984-DEAAC66002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4"/>
          <a:stretch>
            <a:fillRect/>
          </a:stretch>
        </p:blipFill>
        <p:spPr>
          <a:xfrm>
            <a:off x="1187624" y="2492896"/>
            <a:ext cx="7176777" cy="252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1801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파이선</a:t>
            </a:r>
            <a:r>
              <a:rPr lang="ko-KR" altLang="en-US" dirty="0"/>
              <a:t> 예제 프로그램 </a:t>
            </a:r>
            <a:r>
              <a:rPr lang="en-US" altLang="ko-KR" dirty="0"/>
              <a:t>– </a:t>
            </a:r>
            <a:r>
              <a:rPr lang="ko-KR" altLang="en-US" dirty="0"/>
              <a:t>데스크톱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58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en-US" altLang="ko-KR" dirty="0" err="1"/>
              <a:t>Thonny</a:t>
            </a:r>
            <a:r>
              <a:rPr lang="en-US" altLang="ko-KR" dirty="0"/>
              <a:t> Python IDE” </a:t>
            </a:r>
            <a:r>
              <a:rPr lang="ko-KR" altLang="en-US" dirty="0"/>
              <a:t>실행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32F208-20E3-4C6C-D639-65F22DCB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500955"/>
            <a:ext cx="4942857" cy="49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3E8B7F6-8503-5D06-69BE-B2DFF43C24B4}"/>
              </a:ext>
            </a:extLst>
          </p:cNvPr>
          <p:cNvSpPr/>
          <p:nvPr/>
        </p:nvSpPr>
        <p:spPr>
          <a:xfrm>
            <a:off x="4343108" y="3742014"/>
            <a:ext cx="189443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4657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E45A-4ECC-0230-D722-FE632D9A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94DFA-D9E1-C564-3086-CCA6CEA7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파이선</a:t>
            </a:r>
            <a:r>
              <a:rPr lang="ko-KR" altLang="en-US" dirty="0"/>
              <a:t> 예제 프로그램 </a:t>
            </a:r>
            <a:r>
              <a:rPr lang="en-US" altLang="ko-KR" dirty="0"/>
              <a:t>– </a:t>
            </a:r>
            <a:r>
              <a:rPr lang="ko-KR" altLang="en-US" dirty="0"/>
              <a:t>데스크톱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FBA53-3857-5349-651A-44DFEE761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59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B3A52F-48AE-ED7E-2F73-9EDB4EB75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“Thonny”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Python </a:t>
            </a:r>
            <a:r>
              <a:rPr lang="ko-KR" altLang="en-US" dirty="0"/>
              <a:t>프로그램 작성을 위한 </a:t>
            </a:r>
            <a:r>
              <a:rPr lang="en-US" altLang="ko-KR" dirty="0"/>
              <a:t>IDE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40386F-25BA-45BE-796F-503A8CC90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52" y="1484784"/>
            <a:ext cx="7236296" cy="48670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039160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파이선</a:t>
            </a:r>
            <a:r>
              <a:rPr lang="ko-KR" altLang="en-US" dirty="0"/>
              <a:t> 예제 프로그램 </a:t>
            </a:r>
            <a:r>
              <a:rPr lang="en-US" altLang="ko-KR" dirty="0"/>
              <a:t>– </a:t>
            </a:r>
            <a:r>
              <a:rPr lang="ko-KR" altLang="en-US" dirty="0"/>
              <a:t>데스크톱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60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“_01_hello.py” </a:t>
            </a:r>
            <a:r>
              <a:rPr lang="ko-KR" altLang="en-US" dirty="0"/>
              <a:t>코드 입력 및 저장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43EAFB0-BA88-8CC3-0522-F5AB82058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556792"/>
            <a:ext cx="5697503" cy="30695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953AC9-85F6-A4CB-BD96-0A9D2D926119}"/>
              </a:ext>
            </a:extLst>
          </p:cNvPr>
          <p:cNvSpPr/>
          <p:nvPr/>
        </p:nvSpPr>
        <p:spPr>
          <a:xfrm>
            <a:off x="1057463" y="2238040"/>
            <a:ext cx="461389" cy="5040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5626055-D915-C823-150F-EA5074157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703" y="2492896"/>
            <a:ext cx="5409347" cy="39955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0ED10D9-6A80-590B-3A7B-4668E1DCF1FA}"/>
              </a:ext>
            </a:extLst>
          </p:cNvPr>
          <p:cNvSpPr/>
          <p:nvPr/>
        </p:nvSpPr>
        <p:spPr>
          <a:xfrm>
            <a:off x="5120354" y="3212976"/>
            <a:ext cx="2547990" cy="27669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783E20-137E-80FD-B8CB-3571978F4D1B}"/>
              </a:ext>
            </a:extLst>
          </p:cNvPr>
          <p:cNvSpPr/>
          <p:nvPr/>
        </p:nvSpPr>
        <p:spPr>
          <a:xfrm>
            <a:off x="4211960" y="2796603"/>
            <a:ext cx="1867578" cy="27669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6856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파이선</a:t>
            </a:r>
            <a:r>
              <a:rPr lang="ko-KR" altLang="en-US" dirty="0"/>
              <a:t> 예제 프로그램 </a:t>
            </a:r>
            <a:r>
              <a:rPr lang="en-US" altLang="ko-KR" dirty="0"/>
              <a:t>– </a:t>
            </a:r>
            <a:r>
              <a:rPr lang="ko-KR" altLang="en-US" dirty="0"/>
              <a:t>데스크톱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61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“_01_hello.py” </a:t>
            </a:r>
            <a:r>
              <a:rPr lang="ko-KR" altLang="en-US" dirty="0"/>
              <a:t>실행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4E1B775-0C33-C7E4-FDD5-4BD85E2E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97" y="1631420"/>
            <a:ext cx="6571429" cy="42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CF76AE4-9CC6-F198-AF86-FDA6C8007EF6}"/>
              </a:ext>
            </a:extLst>
          </p:cNvPr>
          <p:cNvSpPr/>
          <p:nvPr/>
        </p:nvSpPr>
        <p:spPr>
          <a:xfrm>
            <a:off x="2414493" y="2060848"/>
            <a:ext cx="576064" cy="5760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56D277-4286-EDBF-4F86-5BD3318CC75E}"/>
              </a:ext>
            </a:extLst>
          </p:cNvPr>
          <p:cNvSpPr/>
          <p:nvPr/>
        </p:nvSpPr>
        <p:spPr>
          <a:xfrm>
            <a:off x="1345087" y="4910725"/>
            <a:ext cx="2277361" cy="5760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14579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파이선</a:t>
            </a:r>
            <a:r>
              <a:rPr lang="ko-KR" altLang="en-US" dirty="0"/>
              <a:t> 예제 프로그램 </a:t>
            </a:r>
            <a:r>
              <a:rPr lang="en-US" altLang="ko-KR" dirty="0"/>
              <a:t>– </a:t>
            </a:r>
            <a:r>
              <a:rPr lang="ko-KR" altLang="en-US" dirty="0"/>
              <a:t>데스크톱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62</a:t>
            </a:fld>
            <a:endParaRPr lang="en-US" altLang="ko-KR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D89FA0-6EDD-92AD-09D1-B23ED424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Terminal</a:t>
            </a:r>
            <a:r>
              <a:rPr lang="ko-KR" altLang="en-US" dirty="0"/>
              <a:t>을 이용한 </a:t>
            </a:r>
            <a:r>
              <a:rPr lang="en-US" altLang="ko-KR" dirty="0"/>
              <a:t>“_00_hello.py”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[Tools] – [Open system shell …]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A5A835-3324-0550-7E10-89811BA0C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44" y="2075280"/>
            <a:ext cx="7766936" cy="423980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FCBB95-52E5-877E-72D4-8D58BB45C373}"/>
              </a:ext>
            </a:extLst>
          </p:cNvPr>
          <p:cNvSpPr/>
          <p:nvPr/>
        </p:nvSpPr>
        <p:spPr>
          <a:xfrm>
            <a:off x="677420" y="4725144"/>
            <a:ext cx="7411555" cy="6019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2148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/>
              <a:t>PC</a:t>
            </a:r>
            <a:r>
              <a:rPr lang="ko-KR" altLang="en-US" dirty="0"/>
              <a:t>의 모바일 핫스팟 기능 활용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/>
              <a:t>VNC</a:t>
            </a:r>
            <a:r>
              <a:rPr lang="ko-KR" altLang="en-US" dirty="0"/>
              <a:t> </a:t>
            </a:r>
            <a:r>
              <a:rPr lang="en-US" altLang="ko-KR" dirty="0"/>
              <a:t>Server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원격 </a:t>
            </a:r>
            <a:r>
              <a:rPr lang="ko-KR" altLang="en-US" dirty="0" err="1"/>
              <a:t>데스트톱</a:t>
            </a:r>
            <a:r>
              <a:rPr lang="ko-KR" altLang="en-US" dirty="0"/>
              <a:t> </a:t>
            </a:r>
            <a:endParaRPr lang="en-US" altLang="ko-KR" dirty="0"/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/>
              <a:t>PuTTY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/>
              <a:t>Samba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/>
              <a:t>Python </a:t>
            </a:r>
            <a:r>
              <a:rPr lang="ko-KR" altLang="en-US" dirty="0"/>
              <a:t>예제 프로그램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데스크톱</a:t>
            </a:r>
            <a:r>
              <a:rPr lang="en-US" altLang="ko-KR" dirty="0"/>
              <a:t>(VNC</a:t>
            </a:r>
            <a:r>
              <a:rPr lang="ko-KR" altLang="en-US" dirty="0"/>
              <a:t> 서버</a:t>
            </a:r>
            <a:r>
              <a:rPr lang="en-US" altLang="ko-KR" dirty="0"/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63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28788"/>
      </p:ext>
    </p:extLst>
  </p:cSld>
  <p:clrMapOvr>
    <a:masterClrMapping/>
  </p:clrMapOvr>
  <p:transition advTm="65490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64</a:t>
            </a:fld>
            <a:endParaRPr lang="en-US" altLang="ko-KR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E89FA3F-57BB-3A02-C926-56E7F7B9B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498160"/>
              </p:ext>
            </p:extLst>
          </p:nvPr>
        </p:nvGraphicFramePr>
        <p:xfrm>
          <a:off x="395535" y="948516"/>
          <a:ext cx="8352931" cy="55197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224086956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2082941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51588735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62694795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836983295"/>
                    </a:ext>
                  </a:extLst>
                </a:gridCol>
                <a:gridCol w="1656186">
                  <a:extLst>
                    <a:ext uri="{9D8B030D-6E8A-4147-A177-3AD203B41FA5}">
                      <a16:colId xmlns:a16="http://schemas.microsoft.com/office/drawing/2014/main" val="3992891460"/>
                    </a:ext>
                  </a:extLst>
                </a:gridCol>
              </a:tblGrid>
              <a:tr h="2044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041971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abort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interface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886393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access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24931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add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338162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authenticate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000170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back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password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37878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binary (bin)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010964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browseable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peripheral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69927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cancel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preference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35049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print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558827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comment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readonly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273765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common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reboot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462367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complete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release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641985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configuration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remote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3057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connect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resolution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399525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connection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restart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932982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content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select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627603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control (ctl)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session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569640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directory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shell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483025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disable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36878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download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terminal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063144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enable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894450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finish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valid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155373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viewer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83477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host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wizard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025357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writable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209086"/>
                  </a:ext>
                </a:extLst>
              </a:tr>
              <a:tr h="204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install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29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27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BB3A0-B6FC-399E-5AA8-C3FFFEFF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A5CD043-6FEE-8724-9866-EECC1410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51238E-8A10-4C42-1ACF-FA8164D21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65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B7E570B-9709-3EA3-AC54-A5F1424FA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2786"/>
              </p:ext>
            </p:extLst>
          </p:nvPr>
        </p:nvGraphicFramePr>
        <p:xfrm>
          <a:off x="251520" y="1196752"/>
          <a:ext cx="8134448" cy="3902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044852986"/>
                    </a:ext>
                  </a:extLst>
                </a:gridCol>
                <a:gridCol w="5758184">
                  <a:extLst>
                    <a:ext uri="{9D8B030D-6E8A-4147-A177-3AD203B41FA5}">
                      <a16:colId xmlns:a16="http://schemas.microsoft.com/office/drawing/2014/main" val="3792361897"/>
                    </a:ext>
                  </a:extLst>
                </a:gridCol>
              </a:tblGrid>
              <a:tr h="433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용어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의미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546794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VNC 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95347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mobile hotspot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253494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nano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025825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PuTTY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468565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Samba 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257123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sudo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771740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Thonny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61288"/>
                  </a:ext>
                </a:extLst>
              </a:tr>
              <a:tr h="4335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원격데스크톱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012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351182"/>
      </p:ext>
    </p:extLst>
  </p:cSld>
  <p:clrMapOvr>
    <a:masterClrMapping/>
  </p:clrMapOvr>
  <p:transition advTm="65490"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ko-KR" altLang="en-US" dirty="0"/>
              <a:t>원격</a:t>
            </a:r>
            <a:r>
              <a:rPr lang="en-US" altLang="ko-KR" dirty="0"/>
              <a:t> </a:t>
            </a:r>
            <a:r>
              <a:rPr lang="ko-KR" altLang="en-US" dirty="0"/>
              <a:t>데스크톱 연결 화면</a:t>
            </a:r>
            <a:endParaRPr lang="en-US" altLang="ko-KR" dirty="0"/>
          </a:p>
          <a:p>
            <a:pPr lvl="1"/>
            <a:r>
              <a:rPr lang="en-US" altLang="ko-KR" dirty="0"/>
              <a:t>PuTTY </a:t>
            </a:r>
            <a:r>
              <a:rPr lang="ko-KR" altLang="en-US" dirty="0"/>
              <a:t>연결 화면</a:t>
            </a:r>
            <a:endParaRPr lang="en-US" altLang="ko-KR" dirty="0"/>
          </a:p>
          <a:p>
            <a:pPr lvl="1"/>
            <a:r>
              <a:rPr lang="en-US" altLang="ko-KR" dirty="0"/>
              <a:t>Samba </a:t>
            </a:r>
            <a:r>
              <a:rPr lang="ko-KR" altLang="en-US" dirty="0"/>
              <a:t>이용 파일탐색기 연결 화면</a:t>
            </a:r>
            <a:endParaRPr lang="en-US" altLang="ko-KR" dirty="0"/>
          </a:p>
          <a:p>
            <a:pPr lvl="1"/>
            <a:r>
              <a:rPr lang="ko-KR" altLang="en-US" dirty="0" err="1"/>
              <a:t>파이선</a:t>
            </a:r>
            <a:r>
              <a:rPr lang="ko-KR" altLang="en-US" dirty="0"/>
              <a:t> 예제</a:t>
            </a:r>
            <a:endParaRPr lang="en-US" altLang="ko-KR" dirty="0"/>
          </a:p>
          <a:p>
            <a:pPr lvl="2"/>
            <a:r>
              <a:rPr lang="ko-KR" altLang="en-US" dirty="0"/>
              <a:t>데스크톱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ko-KR" altLang="en-US" dirty="0" err="1"/>
              <a:t>원격데스크톱</a:t>
            </a:r>
            <a:endParaRPr lang="en-US" altLang="ko-KR" dirty="0"/>
          </a:p>
          <a:p>
            <a:pPr lvl="1"/>
            <a:r>
              <a:rPr lang="en-US" altLang="ko-KR" dirty="0"/>
              <a:t>PuTTY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67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28465</TotalTime>
  <Words>2019</Words>
  <Application>Microsoft Office PowerPoint</Application>
  <PresentationFormat>화면 슬라이드 쇼(4:3)</PresentationFormat>
  <Paragraphs>465</Paragraphs>
  <Slides>67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9" baseType="lpstr">
      <vt:lpstr>HY견고딕</vt:lpstr>
      <vt:lpstr>Malgun Gothic Semilight</vt:lpstr>
      <vt:lpstr>Whitney</vt:lpstr>
      <vt:lpstr>굴림</vt:lpstr>
      <vt:lpstr>맑은 고딕</vt:lpstr>
      <vt:lpstr>바탕</vt:lpstr>
      <vt:lpstr>휴먼편지체</vt:lpstr>
      <vt:lpstr>Arial</vt:lpstr>
      <vt:lpstr>Symbol</vt:lpstr>
      <vt:lpstr>Times New Roman</vt:lpstr>
      <vt:lpstr>Wingdings</vt:lpstr>
      <vt:lpstr>기본 디자인</vt:lpstr>
      <vt:lpstr>2강. 원격접속 환경</vt:lpstr>
      <vt:lpstr>PowerPoint 프레젠테이션</vt:lpstr>
      <vt:lpstr>생각 더하기</vt:lpstr>
      <vt:lpstr>학습목표</vt:lpstr>
      <vt:lpstr>PC의 모바일 핫스팟 기능</vt:lpstr>
      <vt:lpstr>PC의 모바일 핫스팟 기능 활성화</vt:lpstr>
      <vt:lpstr>PC의 모바일 핫스팟 기능 활성화</vt:lpstr>
      <vt:lpstr>PC의 모바일 핫스팟 기능 활성화</vt:lpstr>
      <vt:lpstr>PC의 모바일 핫스팟 기능 활성화</vt:lpstr>
      <vt:lpstr>VNC 서버 연결 개념</vt:lpstr>
      <vt:lpstr>VNC 서버 연결 개념</vt:lpstr>
      <vt:lpstr>Raspberry Pi  VNC 서버 활성화(1)</vt:lpstr>
      <vt:lpstr>VNC 서버</vt:lpstr>
      <vt:lpstr>VNC 서버</vt:lpstr>
      <vt:lpstr>VNC 서버</vt:lpstr>
      <vt:lpstr>VNC 서버</vt:lpstr>
      <vt:lpstr>VNC 서버</vt:lpstr>
      <vt:lpstr>VNC 서버</vt:lpstr>
      <vt:lpstr>VNC 서버</vt:lpstr>
      <vt:lpstr>VNC 서버</vt:lpstr>
      <vt:lpstr>VNC 서버</vt:lpstr>
      <vt:lpstr>원격 데스크톱 연결 개념</vt:lpstr>
      <vt:lpstr>[도전1] 라즈베리파이에 xrdp 패키지 설치</vt:lpstr>
      <vt:lpstr>[도전1] PC에서 “원격 데스크톱 연결” 실행</vt:lpstr>
      <vt:lpstr>[도전1] PC에서 “원격 데스크톱 연결” 실행</vt:lpstr>
      <vt:lpstr>[도전1] PC에서 “원격 데스크톱 연결” 실행</vt:lpstr>
      <vt:lpstr>[도전1] PC에서 “원격 데스크톱 연결” 실행</vt:lpstr>
      <vt:lpstr>[도전1]“원격 데스크톱 연결” 실행</vt:lpstr>
      <vt:lpstr>[도전1] 실습 후 “자동 로그인”활성화 요망</vt:lpstr>
      <vt:lpstr>PowerPoint 프레젠테이션</vt:lpstr>
      <vt:lpstr>PuTTY</vt:lpstr>
      <vt:lpstr>[도전2] PuTTY </vt:lpstr>
      <vt:lpstr>[도전2] PuTTY </vt:lpstr>
      <vt:lpstr>[도전2] PuTTY </vt:lpstr>
      <vt:lpstr>[도전2] PuTTY </vt:lpstr>
      <vt:lpstr>[도전2] PuTTY </vt:lpstr>
      <vt:lpstr>[도전2] PuTTY </vt:lpstr>
      <vt:lpstr>[도전2] PuTTY </vt:lpstr>
      <vt:lpstr>[도전2] PuTTY </vt:lpstr>
      <vt:lpstr>[도전2] PuTTY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Samba </vt:lpstr>
      <vt:lpstr>삼바 접속 오류 – 동일한 사용자가 …</vt:lpstr>
      <vt:lpstr>삼바 접속 오류 – 동일한 사용자가 …</vt:lpstr>
      <vt:lpstr>Python 예제 프로그램 – 데스크톱</vt:lpstr>
      <vt:lpstr>파이선 예제 프로그램 – 데스크톱</vt:lpstr>
      <vt:lpstr>파이선 예제 프로그램 – 데스크톱</vt:lpstr>
      <vt:lpstr>파이선 예제 프로그램 – 데스크톱</vt:lpstr>
      <vt:lpstr>파이선 예제 프로그램 – 데스크톱</vt:lpstr>
      <vt:lpstr>파이선 예제 프로그램 – 데스크톱</vt:lpstr>
      <vt:lpstr>Summary</vt:lpstr>
      <vt:lpstr>단어</vt:lpstr>
      <vt:lpstr>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410</cp:revision>
  <cp:lastPrinted>2022-07-06T04:11:04Z</cp:lastPrinted>
  <dcterms:created xsi:type="dcterms:W3CDTF">2003-05-07T20:17:23Z</dcterms:created>
  <dcterms:modified xsi:type="dcterms:W3CDTF">2025-09-01T07:51:06Z</dcterms:modified>
</cp:coreProperties>
</file>