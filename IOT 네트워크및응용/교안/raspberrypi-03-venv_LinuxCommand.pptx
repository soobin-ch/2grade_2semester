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632" r:id="rId2"/>
    <p:sldId id="648" r:id="rId3"/>
    <p:sldId id="1147" r:id="rId4"/>
    <p:sldId id="705" r:id="rId5"/>
    <p:sldId id="1265" r:id="rId6"/>
    <p:sldId id="1266" r:id="rId7"/>
    <p:sldId id="1267" r:id="rId8"/>
    <p:sldId id="1268" r:id="rId9"/>
    <p:sldId id="1269" r:id="rId10"/>
    <p:sldId id="1264" r:id="rId11"/>
    <p:sldId id="1270" r:id="rId12"/>
    <p:sldId id="1271" r:id="rId13"/>
    <p:sldId id="1272" r:id="rId14"/>
    <p:sldId id="1273" r:id="rId15"/>
    <p:sldId id="1274" r:id="rId16"/>
    <p:sldId id="1275" r:id="rId17"/>
    <p:sldId id="1307" r:id="rId18"/>
    <p:sldId id="1233" r:id="rId19"/>
    <p:sldId id="1232" r:id="rId20"/>
    <p:sldId id="1242" r:id="rId21"/>
    <p:sldId id="1261" r:id="rId22"/>
    <p:sldId id="1148" r:id="rId23"/>
    <p:sldId id="1237" r:id="rId24"/>
    <p:sldId id="1236" r:id="rId25"/>
    <p:sldId id="1253" r:id="rId26"/>
    <p:sldId id="1243" r:id="rId27"/>
    <p:sldId id="1251" r:id="rId28"/>
    <p:sldId id="1259" r:id="rId29"/>
    <p:sldId id="1260" r:id="rId30"/>
    <p:sldId id="1240" r:id="rId31"/>
    <p:sldId id="1234" r:id="rId32"/>
    <p:sldId id="1244" r:id="rId33"/>
    <p:sldId id="1262" r:id="rId34"/>
    <p:sldId id="1308" r:id="rId35"/>
    <p:sldId id="1241" r:id="rId36"/>
    <p:sldId id="1263" r:id="rId37"/>
    <p:sldId id="1235" r:id="rId38"/>
    <p:sldId id="1254" r:id="rId39"/>
    <p:sldId id="1245" r:id="rId40"/>
    <p:sldId id="1246" r:id="rId41"/>
    <p:sldId id="1247" r:id="rId42"/>
    <p:sldId id="1255" r:id="rId43"/>
    <p:sldId id="1256" r:id="rId44"/>
    <p:sldId id="1248" r:id="rId45"/>
    <p:sldId id="1258" r:id="rId46"/>
    <p:sldId id="1257" r:id="rId47"/>
    <p:sldId id="1249" r:id="rId48"/>
    <p:sldId id="1309" r:id="rId49"/>
    <p:sldId id="1250" r:id="rId50"/>
    <p:sldId id="1238" r:id="rId51"/>
    <p:sldId id="1252" r:id="rId52"/>
    <p:sldId id="1239" r:id="rId53"/>
    <p:sldId id="702" r:id="rId54"/>
    <p:sldId id="1193" r:id="rId55"/>
    <p:sldId id="1310" r:id="rId56"/>
    <p:sldId id="1192" r:id="rId57"/>
    <p:sldId id="703" r:id="rId58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518E"/>
    <a:srgbClr val="0066CC"/>
    <a:srgbClr val="CC6600"/>
    <a:srgbClr val="6600CC"/>
    <a:srgbClr val="CC3300"/>
    <a:srgbClr val="CC0000"/>
    <a:srgbClr val="FFFF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8" autoAdjust="0"/>
    <p:restoredTop sz="94148" autoAdjust="0"/>
  </p:normalViewPr>
  <p:slideViewPr>
    <p:cSldViewPr>
      <p:cViewPr varScale="1">
        <p:scale>
          <a:sx n="85" d="100"/>
          <a:sy n="85" d="100"/>
        </p:scale>
        <p:origin x="108" y="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36553F-C038-F682-C3F8-067D3E4C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770"/>
            <a:ext cx="9144000" cy="4629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3F4370-B167-FA42-4608-407D44E72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0214"/>
            <a:ext cx="9144000" cy="36778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DBE35D-327E-C5FE-088D-51EB02A3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7786"/>
            <a:ext cx="9144000" cy="6122428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61080" y="5445224"/>
            <a:ext cx="7199616" cy="503460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64688" y="876821"/>
            <a:ext cx="7296008" cy="1616075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3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파이썬 가상환경 및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            </a:t>
            </a:r>
            <a:r>
              <a:rPr lang="ko-KR" altLang="en-US" sz="4000" dirty="0">
                <a:solidFill>
                  <a:srgbClr val="FFFF00"/>
                </a:solidFill>
              </a:rPr>
              <a:t>리눅스</a:t>
            </a:r>
            <a:r>
              <a:rPr lang="en-US" altLang="ko-KR" sz="4000" dirty="0">
                <a:solidFill>
                  <a:srgbClr val="FFFF00"/>
                </a:solidFill>
              </a:rPr>
              <a:t>(Linux) </a:t>
            </a:r>
            <a:r>
              <a:rPr lang="ko-KR" altLang="en-US" sz="4000" dirty="0">
                <a:solidFill>
                  <a:srgbClr val="FFFF00"/>
                </a:solidFill>
              </a:rPr>
              <a:t>명령어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47CE7E-73AA-6B32-9C7B-E88F97D01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47" y="0"/>
            <a:ext cx="459730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5F0C8F-2336-E98F-CBBA-F33E5FF0D5C7}"/>
              </a:ext>
            </a:extLst>
          </p:cNvPr>
          <p:cNvSpPr txBox="1"/>
          <p:nvPr/>
        </p:nvSpPr>
        <p:spPr>
          <a:xfrm>
            <a:off x="1099742" y="3068960"/>
            <a:ext cx="6944530" cy="73584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당신이 향하고 있는 </a:t>
            </a:r>
            <a:r>
              <a:rPr lang="ko-KR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목적지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는 어디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?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괴테의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en-US" altLang="ko-KR" sz="18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인생은 속도가 아니라 방향이다</a:t>
            </a:r>
            <a:r>
              <a:rPr lang="en-US" altLang="ko-KR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.. 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altLang="ko-KR" sz="18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18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볼프강 괴테</a:t>
            </a:r>
            <a:r>
              <a:rPr lang="en-US" altLang="ko-KR" sz="18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(Johann Wolfgang von Goethe)</a:t>
            </a:r>
          </a:p>
          <a:p>
            <a:pPr algn="l">
              <a:lnSpc>
                <a:spcPct val="150000"/>
              </a:lnSpc>
            </a:pP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000" i="1" dirty="0">
              <a:solidFill>
                <a:srgbClr val="31708F"/>
              </a:solidFill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Life is not speed but direction.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548440" y="3959945"/>
            <a:ext cx="3334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&lt;Johann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Wolfgang von Goethe, 1749-1832&gt;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20D0A1-31BB-5CD0-8101-8EC92C7E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30" y="1663596"/>
            <a:ext cx="1996061" cy="224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기본적인 </a:t>
            </a:r>
            <a:r>
              <a:rPr lang="en-US" altLang="ko-KR" dirty="0"/>
              <a:t>Linux </a:t>
            </a:r>
            <a:r>
              <a:rPr lang="ko-KR" altLang="en-US" dirty="0"/>
              <a:t>명령어를 활용할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파이썬 가상환경 및 라이브러리 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터미널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시작과 종료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네트워크 관리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루트 권한 획득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파일 관리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디렉토리 관리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패키지 관리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텍스트 편집기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E9269-28E2-250A-D24E-1FCFEA05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가상환경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314F4-0A7A-B81E-6402-455B7D3EE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파이썬 가상환경</a:t>
            </a:r>
            <a:endParaRPr lang="en-US" altLang="ko-KR" dirty="0"/>
          </a:p>
          <a:p>
            <a:pPr lvl="1"/>
            <a:r>
              <a:rPr lang="ko-KR" altLang="en-US" dirty="0"/>
              <a:t>프로젝트 별로 독립적인 파이썬 환경구축</a:t>
            </a:r>
            <a:endParaRPr lang="en-US" altLang="ko-KR" dirty="0"/>
          </a:p>
          <a:p>
            <a:pPr lvl="1"/>
            <a:r>
              <a:rPr lang="ko-KR" altLang="en-US" dirty="0"/>
              <a:t>프로젝트마다 다른 라이브러리 버전이나 파이썬 버전을 사용해야 할 때</a:t>
            </a:r>
            <a:r>
              <a:rPr lang="en-US" altLang="ko-KR" dirty="0"/>
              <a:t>, </a:t>
            </a:r>
            <a:r>
              <a:rPr lang="ko-KR" altLang="en-US" dirty="0"/>
              <a:t>시스템 전체에 영향을 주지 않고 의존성 관리 가능</a:t>
            </a:r>
            <a:endParaRPr lang="en-US" altLang="ko-KR" dirty="0"/>
          </a:p>
          <a:p>
            <a:pPr lvl="1"/>
            <a:r>
              <a:rPr lang="ko-KR" altLang="en-US" dirty="0"/>
              <a:t>주요 개념</a:t>
            </a:r>
            <a:endParaRPr lang="en-US" altLang="ko-KR" dirty="0"/>
          </a:p>
          <a:p>
            <a:pPr lvl="2"/>
            <a:r>
              <a:rPr lang="ko-KR" altLang="en-US" dirty="0"/>
              <a:t>독립적인 환경 </a:t>
            </a:r>
            <a:r>
              <a:rPr lang="en-US" altLang="ko-KR" dirty="0"/>
              <a:t>: </a:t>
            </a:r>
            <a:r>
              <a:rPr lang="ko-KR" altLang="en-US" dirty="0"/>
              <a:t>각 프로젝트에 필요한 라이브러리나 패키지를 독립적 관리</a:t>
            </a:r>
            <a:endParaRPr lang="en-US" altLang="ko-KR" dirty="0"/>
          </a:p>
          <a:p>
            <a:pPr lvl="2"/>
            <a:r>
              <a:rPr lang="ko-KR" altLang="en-US" dirty="0"/>
              <a:t>패키지 관리 </a:t>
            </a:r>
            <a:r>
              <a:rPr lang="en-US" altLang="ko-KR" dirty="0"/>
              <a:t>: </a:t>
            </a:r>
            <a:r>
              <a:rPr lang="ko-KR" altLang="en-US" dirty="0"/>
              <a:t>가상환경 내에 설치된 패키지는 그 환경에서만 동작</a:t>
            </a:r>
            <a:r>
              <a:rPr lang="en-US" altLang="ko-KR" dirty="0"/>
              <a:t>, </a:t>
            </a:r>
            <a:r>
              <a:rPr lang="ko-KR" altLang="en-US" dirty="0"/>
              <a:t>전체 시스템에 영향을 주지 않음</a:t>
            </a:r>
            <a:endParaRPr lang="en-US" altLang="ko-KR" dirty="0"/>
          </a:p>
          <a:p>
            <a:pPr lvl="2"/>
            <a:r>
              <a:rPr lang="ko-KR" altLang="en-US" dirty="0"/>
              <a:t>파이썬 버전 관리 </a:t>
            </a:r>
            <a:r>
              <a:rPr lang="en-US" altLang="ko-KR" dirty="0"/>
              <a:t>: </a:t>
            </a:r>
            <a:r>
              <a:rPr lang="ko-KR" altLang="en-US" dirty="0"/>
              <a:t>프로젝트 별 다양한 버전의 </a:t>
            </a:r>
            <a:r>
              <a:rPr lang="ko-KR" altLang="en-US" dirty="0" err="1"/>
              <a:t>파이썬을</a:t>
            </a:r>
            <a:r>
              <a:rPr lang="ko-KR" altLang="en-US" dirty="0"/>
              <a:t> 동시에 </a:t>
            </a:r>
            <a:r>
              <a:rPr lang="ko-KR" altLang="en-US" dirty="0" err="1"/>
              <a:t>설치ㆍ관리</a:t>
            </a:r>
            <a:endParaRPr lang="en-US" altLang="ko-KR" dirty="0"/>
          </a:p>
          <a:p>
            <a:r>
              <a:rPr lang="en-US" altLang="ko-KR" dirty="0"/>
              <a:t>Bookworm </a:t>
            </a:r>
            <a:r>
              <a:rPr lang="ko-KR" altLang="en-US" dirty="0"/>
              <a:t>버전에서 파이썬 가상환경의 필요성</a:t>
            </a:r>
            <a:endParaRPr lang="en-US" altLang="ko-KR" dirty="0"/>
          </a:p>
          <a:p>
            <a:pPr lvl="1"/>
            <a:r>
              <a:rPr lang="en-US" altLang="ko-KR" dirty="0"/>
              <a:t>bookworm </a:t>
            </a:r>
            <a:r>
              <a:rPr lang="ko-KR" altLang="en-US" dirty="0"/>
              <a:t>버전 이후에는 보안이 강화되어 기본 설치된 </a:t>
            </a:r>
            <a:r>
              <a:rPr lang="ko-KR" altLang="en-US" dirty="0" err="1"/>
              <a:t>파이썬에</a:t>
            </a:r>
            <a:r>
              <a:rPr lang="ko-KR" altLang="en-US" dirty="0"/>
              <a:t> 추가적인 라이브러리 등을 설치하지 못하도록 변경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31B36-A880-89C8-88B3-A81178C7D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310301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34E04-9819-9D51-F47F-8AC58BA9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/>
              <a:t>파이썬 가상환경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038BA4-3645-E642-1A9E-E6B464172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홈 디렉토리에 </a:t>
            </a:r>
            <a:r>
              <a:rPr lang="en-US" altLang="ko-KR" dirty="0">
                <a:latin typeface="Gadugi" panose="020B0502040204020203" pitchFamily="34" charset="0"/>
                <a:ea typeface="Gadugi" panose="020B0502040204020203" pitchFamily="34" charset="0"/>
              </a:rPr>
              <a:t>works </a:t>
            </a:r>
            <a:r>
              <a:rPr lang="ko-KR" altLang="en-US" dirty="0"/>
              <a:t>폴더 생성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 </a:t>
            </a:r>
            <a:r>
              <a:rPr lang="ko-KR" altLang="en-US" dirty="0"/>
              <a:t>실습에서</a:t>
            </a:r>
            <a:r>
              <a:rPr lang="en-US" altLang="ko-KR" dirty="0"/>
              <a:t> </a:t>
            </a:r>
            <a:r>
              <a:rPr lang="ko-KR" altLang="en-US" dirty="0"/>
              <a:t>이미 생성되어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E049B-F444-6625-B02B-75906BD9F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654445F-13EB-57C8-8184-80F262A3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005946"/>
            <a:ext cx="4968552" cy="35832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3CF958F-7FF2-0408-8632-B312F056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590121"/>
            <a:ext cx="1190476" cy="15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658D8E-DCF1-393A-1E6E-E863D4E3D47B}"/>
              </a:ext>
            </a:extLst>
          </p:cNvPr>
          <p:cNvSpPr/>
          <p:nvPr/>
        </p:nvSpPr>
        <p:spPr>
          <a:xfrm>
            <a:off x="2267744" y="3581569"/>
            <a:ext cx="1190476" cy="2245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9065AD-42D9-137D-F8FE-FDE80B467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997376"/>
            <a:ext cx="3746376" cy="1488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63C9D7-E68A-F790-C9DE-C0D12563F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3615570"/>
            <a:ext cx="3746376" cy="25366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54E107-81D6-B748-B27D-D07A1AC34C1D}"/>
              </a:ext>
            </a:extLst>
          </p:cNvPr>
          <p:cNvSpPr/>
          <p:nvPr/>
        </p:nvSpPr>
        <p:spPr>
          <a:xfrm>
            <a:off x="7152713" y="5385665"/>
            <a:ext cx="540223" cy="4333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152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38F7-5D6D-0AFA-0B84-2AC3A18C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8B1EF-BABC-62D8-657C-C93BEDCE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/>
              <a:t>파이썬 가상환경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8BA8B-F3D4-D376-915D-4B4E6672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works </a:t>
            </a:r>
            <a:r>
              <a:rPr lang="ko-KR" altLang="en-US" dirty="0"/>
              <a:t>폴더 내부에 가상환경 설치</a:t>
            </a:r>
            <a:endParaRPr lang="en-US" altLang="ko-KR" dirty="0"/>
          </a:p>
          <a:p>
            <a:pPr lvl="1"/>
            <a:r>
              <a:rPr lang="en-US" altLang="ko-KR" dirty="0"/>
              <a:t>works –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우클릭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 Open in Terminal  </a:t>
            </a:r>
            <a:r>
              <a:rPr lang="ko-KR" altLang="en-US" dirty="0">
                <a:sym typeface="Wingdings" panose="05000000000000000000" pitchFamily="2" charset="2"/>
              </a:rPr>
              <a:t>별도 터미널 실행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015E0-0053-793D-91A0-F5AEFF9F5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F26521-33C6-6C65-2F60-4904FD04D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6" y="2047011"/>
            <a:ext cx="4765236" cy="32403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AFD8D6-B9CC-F314-6FB4-E952C5BF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811"/>
          <a:stretch>
            <a:fillRect/>
          </a:stretch>
        </p:blipFill>
        <p:spPr>
          <a:xfrm>
            <a:off x="3629660" y="4696773"/>
            <a:ext cx="1518404" cy="18373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34B5F29-E55C-41C9-E442-7B204EFB8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2462429"/>
            <a:ext cx="3852931" cy="214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165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8C78-0502-A3A3-63DD-9C29221F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46BE1-AED7-217A-CF8C-9FB130EF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/>
              <a:t>파이썬 가상환경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16B749-53BD-A623-D9FF-97AD2C24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파이썬</a:t>
            </a:r>
            <a:r>
              <a:rPr lang="en-US" altLang="ko-KR" dirty="0"/>
              <a:t> </a:t>
            </a:r>
            <a:r>
              <a:rPr lang="ko-KR" altLang="en-US" dirty="0"/>
              <a:t>가상환경 설치</a:t>
            </a:r>
            <a:endParaRPr lang="en-US" altLang="ko-KR" dirty="0"/>
          </a:p>
          <a:p>
            <a:pPr lvl="1"/>
            <a:r>
              <a:rPr lang="en-US" altLang="ko-KR" dirty="0"/>
              <a:t>works</a:t>
            </a:r>
            <a:r>
              <a:rPr lang="ko-KR" altLang="en-US" dirty="0"/>
              <a:t>에서 명령 실행</a:t>
            </a:r>
            <a:endParaRPr lang="en-US" altLang="ko-KR" dirty="0"/>
          </a:p>
          <a:p>
            <a:pPr lvl="1"/>
            <a:r>
              <a:rPr lang="en-US" altLang="ko-KR" dirty="0"/>
              <a:t>python -m </a:t>
            </a:r>
            <a:r>
              <a:rPr lang="en-US" altLang="ko-KR" dirty="0" err="1"/>
              <a:t>venv</a:t>
            </a:r>
            <a:r>
              <a:rPr lang="en-US" altLang="ko-KR" dirty="0"/>
              <a:t> --system-site-packages env</a:t>
            </a:r>
          </a:p>
          <a:p>
            <a:pPr lvl="2"/>
            <a:r>
              <a:rPr lang="en-US" altLang="ko-KR" dirty="0"/>
              <a:t>python -m </a:t>
            </a:r>
            <a:r>
              <a:rPr lang="en-US" altLang="ko-KR" dirty="0" err="1"/>
              <a:t>venv</a:t>
            </a:r>
            <a:r>
              <a:rPr lang="en-US" altLang="ko-KR" dirty="0"/>
              <a:t> :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ko-KR" altLang="en-US" dirty="0"/>
              <a:t>모듈을 이용하여 가상환경을 생성하는 명령</a:t>
            </a:r>
            <a:endParaRPr lang="en-US" altLang="ko-KR" dirty="0"/>
          </a:p>
          <a:p>
            <a:pPr lvl="2"/>
            <a:r>
              <a:rPr lang="en-US" altLang="ko-KR" dirty="0"/>
              <a:t>-m : </a:t>
            </a:r>
            <a:r>
              <a:rPr lang="ko-KR" altLang="en-US" dirty="0"/>
              <a:t>라이브러리</a:t>
            </a:r>
            <a:r>
              <a:rPr lang="en-US" altLang="ko-KR" dirty="0"/>
              <a:t> </a:t>
            </a:r>
            <a:r>
              <a:rPr lang="ko-KR" altLang="en-US" dirty="0"/>
              <a:t>모듈을 스크립트처럼 실행</a:t>
            </a:r>
            <a:endParaRPr lang="en-US" altLang="ko-KR" dirty="0"/>
          </a:p>
          <a:p>
            <a:pPr lvl="2"/>
            <a:r>
              <a:rPr lang="en-US" altLang="ko-KR" dirty="0"/>
              <a:t>--system-site-packages : </a:t>
            </a:r>
            <a:r>
              <a:rPr lang="ko-KR" altLang="en-US" dirty="0"/>
              <a:t>가상환경 내에서 시스템의 파이썬 패키지들을 참조</a:t>
            </a:r>
            <a:r>
              <a:rPr lang="en-US" altLang="ko-KR" dirty="0"/>
              <a:t>, </a:t>
            </a:r>
            <a:r>
              <a:rPr lang="ko-KR" altLang="en-US" dirty="0"/>
              <a:t>보통 가상환경은 시스템 패키지와 독립적으로 동작하나 이 옵션을 사용하면 시스템 패키지에 접근 가능</a:t>
            </a:r>
            <a:r>
              <a:rPr lang="en-US" altLang="ko-KR" dirty="0"/>
              <a:t>, </a:t>
            </a:r>
            <a:r>
              <a:rPr lang="ko-KR" altLang="en-US" dirty="0"/>
              <a:t>의존성 문제 발생 가능성</a:t>
            </a:r>
            <a:r>
              <a:rPr lang="en-US" altLang="ko-KR" dirty="0"/>
              <a:t>, </a:t>
            </a:r>
            <a:r>
              <a:rPr lang="ko-KR" altLang="en-US" dirty="0"/>
              <a:t>권장하지는 않음</a:t>
            </a:r>
            <a:r>
              <a:rPr lang="en-US" altLang="ko-KR" dirty="0"/>
              <a:t>, </a:t>
            </a:r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HW </a:t>
            </a:r>
            <a:r>
              <a:rPr lang="ko-KR" altLang="en-US" dirty="0"/>
              <a:t>제어를 위해 필수적으로 입력해야 함</a:t>
            </a:r>
            <a:endParaRPr lang="en-US" altLang="ko-KR" dirty="0"/>
          </a:p>
          <a:p>
            <a:pPr lvl="2"/>
            <a:r>
              <a:rPr lang="en-US" altLang="ko-KR" dirty="0"/>
              <a:t>env : </a:t>
            </a:r>
            <a:r>
              <a:rPr lang="ko-KR" altLang="en-US" dirty="0"/>
              <a:t>생성할 가상환경의 이름</a:t>
            </a:r>
            <a:r>
              <a:rPr lang="en-US" altLang="ko-KR" dirty="0"/>
              <a:t>, </a:t>
            </a:r>
            <a:r>
              <a:rPr lang="ko-KR" altLang="en-US" dirty="0"/>
              <a:t>사용자가 지정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720000" lvl="2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AC810-5789-D2B6-F6EF-9A37BDB10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503D90-5256-4F77-06A5-251EA284A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09" y="4929154"/>
            <a:ext cx="6071344" cy="1501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982257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839B-A97F-72DC-82FE-C3EA5A3D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21B21-9D93-0464-CED2-498E388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/>
              <a:t>파이썬 가상환경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FCF809-15F1-0D0E-7935-1DC3934F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설치된 파이썬</a:t>
            </a:r>
            <a:r>
              <a:rPr lang="en-US" altLang="ko-KR" dirty="0"/>
              <a:t> </a:t>
            </a:r>
            <a:r>
              <a:rPr lang="ko-KR" altLang="en-US" dirty="0"/>
              <a:t>가상환경</a:t>
            </a:r>
            <a:endParaRPr lang="en-US" altLang="ko-KR" dirty="0"/>
          </a:p>
          <a:p>
            <a:pPr marL="720000" lvl="2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7D85B-9D9D-1518-237C-AD8FEC4F4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F67A36-7F2B-82A2-C331-7D4AD5CF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2" y="1482566"/>
            <a:ext cx="4099783" cy="27878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F5A1C9-D319-CF62-BB27-BD4F7A305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703" y="2708920"/>
            <a:ext cx="4106913" cy="27735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AFE4D9-4C38-1D23-ACBE-78D5718ED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063" y="3573016"/>
            <a:ext cx="4370725" cy="28092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D92D34-0926-61DB-F33F-4DF290447282}"/>
              </a:ext>
            </a:extLst>
          </p:cNvPr>
          <p:cNvSpPr/>
          <p:nvPr/>
        </p:nvSpPr>
        <p:spPr>
          <a:xfrm>
            <a:off x="611560" y="3164118"/>
            <a:ext cx="1008112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98DCA1-54DF-3CE0-4902-0E34CDF53AC1}"/>
              </a:ext>
            </a:extLst>
          </p:cNvPr>
          <p:cNvSpPr/>
          <p:nvPr/>
        </p:nvSpPr>
        <p:spPr>
          <a:xfrm>
            <a:off x="2230461" y="2120482"/>
            <a:ext cx="504056" cy="543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4C578E-E87F-3868-8C77-470FF1B949C8}"/>
              </a:ext>
            </a:extLst>
          </p:cNvPr>
          <p:cNvSpPr/>
          <p:nvPr/>
        </p:nvSpPr>
        <p:spPr>
          <a:xfrm>
            <a:off x="4002108" y="3301253"/>
            <a:ext cx="504056" cy="543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35B399-925B-E0D4-7A75-3790E74EB137}"/>
              </a:ext>
            </a:extLst>
          </p:cNvPr>
          <p:cNvSpPr/>
          <p:nvPr/>
        </p:nvSpPr>
        <p:spPr>
          <a:xfrm>
            <a:off x="6514772" y="4434110"/>
            <a:ext cx="2496016" cy="16591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4F3C9-C13C-9706-27BC-101F81F52ADD}"/>
              </a:ext>
            </a:extLst>
          </p:cNvPr>
          <p:cNvSpPr txBox="1"/>
          <p:nvPr/>
        </p:nvSpPr>
        <p:spPr>
          <a:xfrm>
            <a:off x="363136" y="5676965"/>
            <a:ext cx="4036394" cy="69705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/bin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: binary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의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줄임말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기본적인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명령어의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실행코드들을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보관하는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폴더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 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909914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F1363-6EE1-7BE1-DF25-90BA3538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/>
              <a:t>파이썬 가상환경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1D8B7-3D67-60EA-2789-D56FA476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가상환경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참고</a:t>
            </a:r>
            <a:r>
              <a:rPr lang="en-US" altLang="ko-KR" dirty="0">
                <a:sym typeface="Wingdings" panose="05000000000000000000" pitchFamily="2" charset="2"/>
              </a:rPr>
              <a:t>] hrkim/works/env </a:t>
            </a:r>
            <a:r>
              <a:rPr lang="ko-KR" altLang="en-US" dirty="0">
                <a:sym typeface="Wingdings" panose="05000000000000000000" pitchFamily="2" charset="2"/>
              </a:rPr>
              <a:t>폴더에서 실행</a:t>
            </a:r>
            <a:endParaRPr lang="en-US" altLang="ko-KR" dirty="0"/>
          </a:p>
          <a:p>
            <a:pPr lvl="1"/>
            <a:r>
              <a:rPr lang="ko-KR" altLang="en-US" dirty="0"/>
              <a:t>가상환경 실행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tx1"/>
                </a:solidFill>
              </a:rPr>
              <a:t>$</a:t>
            </a:r>
            <a:r>
              <a:rPr lang="en-US" altLang="ko-KR" dirty="0"/>
              <a:t>source ./bin/activate </a:t>
            </a:r>
            <a:r>
              <a:rPr lang="ko-KR" altLang="en-US" dirty="0"/>
              <a:t>혹은 </a:t>
            </a:r>
            <a:r>
              <a:rPr lang="en-US" altLang="ko-KR" dirty="0">
                <a:solidFill>
                  <a:schemeClr val="tx1"/>
                </a:solidFill>
              </a:rPr>
              <a:t>$</a:t>
            </a:r>
            <a:r>
              <a:rPr lang="en-US" altLang="ko-KR" dirty="0"/>
              <a:t>. ./bin/activate</a:t>
            </a:r>
          </a:p>
          <a:p>
            <a:pPr lvl="2"/>
            <a:r>
              <a:rPr lang="ko-KR" altLang="en-US" dirty="0"/>
              <a:t> 가상환경이</a:t>
            </a:r>
            <a:r>
              <a:rPr lang="en-US" altLang="ko-KR" dirty="0"/>
              <a:t> </a:t>
            </a:r>
            <a:r>
              <a:rPr lang="ko-KR" altLang="en-US" dirty="0"/>
              <a:t>실행되면 프롬프트</a:t>
            </a:r>
            <a:r>
              <a:rPr lang="en-US" altLang="ko-KR" dirty="0"/>
              <a:t>(prompt) </a:t>
            </a:r>
            <a:r>
              <a:rPr lang="ko-KR" altLang="en-US" dirty="0"/>
              <a:t>앞에 </a:t>
            </a:r>
            <a:r>
              <a:rPr lang="en-US" altLang="ko-KR" dirty="0">
                <a:solidFill>
                  <a:srgbClr val="C00000"/>
                </a:solidFill>
              </a:rPr>
              <a:t>(env)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붙음</a:t>
            </a:r>
            <a:endParaRPr lang="en-US" altLang="ko-KR" dirty="0"/>
          </a:p>
          <a:p>
            <a:pPr lvl="1"/>
            <a:r>
              <a:rPr lang="ko-KR" altLang="en-US" dirty="0"/>
              <a:t>가상환경 종료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chemeClr val="tx1"/>
                </a:solidFill>
              </a:rPr>
              <a:t>$</a:t>
            </a:r>
            <a:r>
              <a:rPr lang="en-US" altLang="ko-KR" dirty="0"/>
              <a:t>deactivate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20B42-5422-C286-7AD3-80269EC7F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819CDC-B352-04BD-3A3A-91C4520DC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18" y="3740944"/>
            <a:ext cx="7962388" cy="13200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B46C20A-E356-D193-B109-F2832C142995}"/>
              </a:ext>
            </a:extLst>
          </p:cNvPr>
          <p:cNvSpPr/>
          <p:nvPr/>
        </p:nvSpPr>
        <p:spPr>
          <a:xfrm>
            <a:off x="601918" y="4077072"/>
            <a:ext cx="945746" cy="720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4562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28A-F72A-10AF-9138-1FFE142C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CA515-10D5-52F5-8ADC-9E173EB4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77E7F-1902-B55B-74D5-362752643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Thonny IDE</a:t>
            </a:r>
            <a:r>
              <a:rPr lang="ko-KR" altLang="en-US" dirty="0"/>
              <a:t>의 인터프리터 변경</a:t>
            </a:r>
            <a:endParaRPr lang="en-US" altLang="ko-KR" dirty="0"/>
          </a:p>
          <a:p>
            <a:pPr lvl="1"/>
            <a:r>
              <a:rPr lang="ko-KR" altLang="en-US" dirty="0"/>
              <a:t>우측</a:t>
            </a:r>
            <a:r>
              <a:rPr lang="en-US" altLang="ko-KR" dirty="0"/>
              <a:t> </a:t>
            </a:r>
            <a:r>
              <a:rPr lang="ko-KR" altLang="en-US" dirty="0"/>
              <a:t>하단 </a:t>
            </a:r>
            <a:r>
              <a:rPr lang="en-US" altLang="ko-KR" dirty="0"/>
              <a:t>Python3</a:t>
            </a:r>
            <a:r>
              <a:rPr lang="ko-KR" altLang="en-US" dirty="0"/>
              <a:t>을 클릭 </a:t>
            </a:r>
            <a:r>
              <a:rPr lang="en-US" altLang="ko-KR" dirty="0">
                <a:sym typeface="Wingdings" panose="05000000000000000000" pitchFamily="2" charset="2"/>
              </a:rPr>
              <a:t> Configure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interpreter </a:t>
            </a:r>
            <a:r>
              <a:rPr lang="ko-KR" altLang="en-US" dirty="0">
                <a:sym typeface="Wingdings" panose="05000000000000000000" pitchFamily="2" charset="2"/>
              </a:rPr>
              <a:t>선택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1D2EBE-CB03-7A73-2845-9F74E3E96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5D0BF1-0A9B-8898-0BEF-276954BE4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04864"/>
            <a:ext cx="5832347" cy="40662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BF9949A-289B-6F36-572E-E0D13B2B7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543" y="5254663"/>
            <a:ext cx="3542857" cy="7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8B6B03-31C2-5934-2065-15F5BAF4C841}"/>
              </a:ext>
            </a:extLst>
          </p:cNvPr>
          <p:cNvSpPr/>
          <p:nvPr/>
        </p:nvSpPr>
        <p:spPr>
          <a:xfrm>
            <a:off x="4514125" y="6039718"/>
            <a:ext cx="1799899" cy="2313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2CEF29-9169-FCC1-C1CB-46EE62FF7D63}"/>
              </a:ext>
            </a:extLst>
          </p:cNvPr>
          <p:cNvSpPr/>
          <p:nvPr/>
        </p:nvSpPr>
        <p:spPr>
          <a:xfrm>
            <a:off x="4991543" y="5771638"/>
            <a:ext cx="1799899" cy="2313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1056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3195-4D34-1622-6928-1A2A38C9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1081A-3043-F9AD-E41D-E3EF0C36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E99B02-2F17-D7F9-B266-F2FFD373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Thonny IDE</a:t>
            </a:r>
            <a:r>
              <a:rPr lang="ko-KR" altLang="en-US" dirty="0"/>
              <a:t>의 인터프리터 변경</a:t>
            </a:r>
            <a:endParaRPr lang="en-US" altLang="ko-KR" dirty="0"/>
          </a:p>
          <a:p>
            <a:pPr lvl="1"/>
            <a:r>
              <a:rPr lang="ko-KR" altLang="en-US" dirty="0"/>
              <a:t>가상환경에</a:t>
            </a:r>
            <a:r>
              <a:rPr lang="en-US" altLang="ko-KR" dirty="0"/>
              <a:t> </a:t>
            </a:r>
            <a:r>
              <a:rPr lang="ko-KR" altLang="en-US" dirty="0"/>
              <a:t>설치된 인터프리터를 선택하여 변경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DA109-647C-B767-94AB-8EBEE3C8F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E324AD-A151-C850-F790-E02474A9E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963132"/>
            <a:ext cx="4957493" cy="45017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808A9C-A969-0B4E-D810-8C5C4B09CE8D}"/>
              </a:ext>
            </a:extLst>
          </p:cNvPr>
          <p:cNvSpPr/>
          <p:nvPr/>
        </p:nvSpPr>
        <p:spPr>
          <a:xfrm>
            <a:off x="4884681" y="3398064"/>
            <a:ext cx="263383" cy="246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1F7160-8F8D-862B-EDF5-127B1C494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732418"/>
            <a:ext cx="3665631" cy="2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6456EF-CFA9-743C-8AB2-CEFCF70A4249}"/>
              </a:ext>
            </a:extLst>
          </p:cNvPr>
          <p:cNvSpPr/>
          <p:nvPr/>
        </p:nvSpPr>
        <p:spPr>
          <a:xfrm>
            <a:off x="6156176" y="3911481"/>
            <a:ext cx="1800200" cy="2144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FA70FE-8626-DF68-D77B-02B602CD1E65}"/>
              </a:ext>
            </a:extLst>
          </p:cNvPr>
          <p:cNvSpPr/>
          <p:nvPr/>
        </p:nvSpPr>
        <p:spPr>
          <a:xfrm>
            <a:off x="6156175" y="5650901"/>
            <a:ext cx="2657519" cy="2144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3EB79B-5166-B2B4-AC59-A8E302E96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38" y="3424768"/>
            <a:ext cx="2180952" cy="200000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915615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10F8-8D36-FBDF-00B2-75D496B4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41C57-4EF9-099C-C3F6-AE9C77FC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FD242-3409-1F7C-C2FA-511462430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Thonny IDE</a:t>
            </a:r>
            <a:r>
              <a:rPr lang="ko-KR" altLang="en-US" dirty="0"/>
              <a:t>로 프로그래밍 작업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F4850-9F43-A999-B714-CB446B09F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853F00-DECD-8D5E-57AC-F5E268FA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84" y="1484784"/>
            <a:ext cx="6752381" cy="471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E1E8D7-F488-1C6A-0196-B8D57542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34" y="2704831"/>
            <a:ext cx="4219048" cy="56190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87A4CE-3DF8-D7FA-80DC-874504144A5F}"/>
              </a:ext>
            </a:extLst>
          </p:cNvPr>
          <p:cNvSpPr/>
          <p:nvPr/>
        </p:nvSpPr>
        <p:spPr>
          <a:xfrm>
            <a:off x="3672493" y="5931744"/>
            <a:ext cx="3352972" cy="2673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FFF99F-54F5-0046-DFE8-4A90091E4F30}"/>
              </a:ext>
            </a:extLst>
          </p:cNvPr>
          <p:cNvSpPr/>
          <p:nvPr/>
        </p:nvSpPr>
        <p:spPr>
          <a:xfrm>
            <a:off x="1020458" y="2041530"/>
            <a:ext cx="288032" cy="3615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A4F506-6DF7-C8E0-6F25-A433C7152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474" y="1764753"/>
            <a:ext cx="5352381" cy="39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89C3A7-5640-E209-13BD-46A8C28E30B1}"/>
              </a:ext>
            </a:extLst>
          </p:cNvPr>
          <p:cNvSpPr/>
          <p:nvPr/>
        </p:nvSpPr>
        <p:spPr>
          <a:xfrm>
            <a:off x="4900584" y="2418214"/>
            <a:ext cx="3284288" cy="3615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489D1A-1A7E-8287-E986-F651B15D1D8A}"/>
              </a:ext>
            </a:extLst>
          </p:cNvPr>
          <p:cNvSpPr/>
          <p:nvPr/>
        </p:nvSpPr>
        <p:spPr>
          <a:xfrm>
            <a:off x="3970766" y="1985581"/>
            <a:ext cx="929818" cy="3615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4366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924D-6F7F-54A8-0B67-18D8352A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3EBCB-BC17-AE41-7D90-63332470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7E3AE-A78E-E665-41AB-EC9606E5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Thonny IDE</a:t>
            </a:r>
            <a:r>
              <a:rPr lang="ko-KR" altLang="en-US" dirty="0"/>
              <a:t>에서 실행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95B9D-A005-828D-106B-D0177C35C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EF67F4-5BA7-AA0F-B734-FEBA6E72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3" y="1556792"/>
            <a:ext cx="6733333" cy="46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17730CA-8AD1-BC5A-113A-B6FA3451CDF9}"/>
              </a:ext>
            </a:extLst>
          </p:cNvPr>
          <p:cNvSpPr/>
          <p:nvPr/>
        </p:nvSpPr>
        <p:spPr>
          <a:xfrm>
            <a:off x="2374477" y="2049273"/>
            <a:ext cx="288032" cy="3615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FE185D-2FD3-0124-8BFF-CA4ECB627DAB}"/>
              </a:ext>
            </a:extLst>
          </p:cNvPr>
          <p:cNvSpPr/>
          <p:nvPr/>
        </p:nvSpPr>
        <p:spPr>
          <a:xfrm>
            <a:off x="1240388" y="5219292"/>
            <a:ext cx="2683539" cy="5165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0984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5FC7-E6A6-A151-4730-861370C2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42CAF-E7DA-184C-0E67-F8BFA0CD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873BFB-D25E-E9B9-023F-44400DF58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가상환경의 터미널에서 실행</a:t>
            </a:r>
            <a:endParaRPr lang="en-US" altLang="ko-KR" dirty="0"/>
          </a:p>
          <a:p>
            <a:pPr lvl="1"/>
            <a:r>
              <a:rPr lang="en-US" altLang="ko-KR" dirty="0"/>
              <a:t>Thonny</a:t>
            </a:r>
            <a:r>
              <a:rPr lang="ko-KR" altLang="en-US" dirty="0"/>
              <a:t> </a:t>
            </a:r>
            <a:r>
              <a:rPr lang="en-US" altLang="ko-KR" dirty="0"/>
              <a:t>– Tools</a:t>
            </a:r>
            <a:r>
              <a:rPr lang="ko-KR" altLang="en-US" dirty="0"/>
              <a:t> </a:t>
            </a:r>
            <a:r>
              <a:rPr lang="en-US" altLang="ko-KR" dirty="0"/>
              <a:t>– Open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r>
              <a:rPr lang="ko-KR" altLang="en-US" dirty="0"/>
              <a:t> </a:t>
            </a:r>
            <a:r>
              <a:rPr lang="en-US" altLang="ko-KR" dirty="0"/>
              <a:t>shell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C85631-6A92-ED18-85AB-ED1DEFB56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307985C-39C4-E5F9-5F0D-1B66FCF3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25606"/>
            <a:ext cx="6264696" cy="43418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BE47032-5F34-FC81-C749-D3E6BCAB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738" y="2433757"/>
            <a:ext cx="2047619" cy="17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397A4C-54C5-91A4-9BB9-B28638660C11}"/>
              </a:ext>
            </a:extLst>
          </p:cNvPr>
          <p:cNvSpPr/>
          <p:nvPr/>
        </p:nvSpPr>
        <p:spPr>
          <a:xfrm>
            <a:off x="2483767" y="2205538"/>
            <a:ext cx="360040" cy="2282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EE92C3-A4A9-9DEB-2A8F-94227D8F19B2}"/>
              </a:ext>
            </a:extLst>
          </p:cNvPr>
          <p:cNvSpPr/>
          <p:nvPr/>
        </p:nvSpPr>
        <p:spPr>
          <a:xfrm>
            <a:off x="2483767" y="2613689"/>
            <a:ext cx="1296144" cy="2282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7149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7EED-B310-0B0A-99E7-6A68DEA9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4944C-0D17-E3B3-16C2-C5AD0675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/>
              <a:t>가상환경으로 파이썬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46855-519C-86F2-1796-27287298D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가상환경의 터미널에서 실행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95CCD-236F-8CC6-9441-00D25B4E9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0CBBBA-FB15-3CF0-2E39-32BB29C91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15" y="1470651"/>
            <a:ext cx="7076970" cy="499273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E74EFC-7029-3461-8129-7BE59683430A}"/>
              </a:ext>
            </a:extLst>
          </p:cNvPr>
          <p:cNvSpPr/>
          <p:nvPr/>
        </p:nvSpPr>
        <p:spPr>
          <a:xfrm>
            <a:off x="1045088" y="2420888"/>
            <a:ext cx="4391008" cy="1152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692D6-3A13-48F8-BDAC-8FF799248AF3}"/>
              </a:ext>
            </a:extLst>
          </p:cNvPr>
          <p:cNvSpPr txBox="1"/>
          <p:nvPr/>
        </p:nvSpPr>
        <p:spPr>
          <a:xfrm>
            <a:off x="5701138" y="2337305"/>
            <a:ext cx="2144305" cy="134338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00B0F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이 셸에서는 일부 파이썬 명령어의 경로</a:t>
            </a:r>
            <a:r>
              <a:rPr lang="en-US" altLang="ko-KR" sz="1400" b="1" dirty="0">
                <a:solidFill>
                  <a:srgbClr val="00B0F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(path)</a:t>
            </a:r>
            <a:r>
              <a:rPr lang="ko-KR" altLang="en-US" sz="1400" b="1" dirty="0">
                <a:solidFill>
                  <a:srgbClr val="00B0F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가 가상환경으로 변경됨을 알려줌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FF135C2-2FC2-46DE-79DA-9A44C86CCDB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5436096" y="2996952"/>
            <a:ext cx="265042" cy="120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56BD6137-84AC-D7A2-56B5-C87D6215A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88" y="3891739"/>
            <a:ext cx="6912000" cy="138946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0674956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E8B4B-7024-A7DE-78C4-E16588C5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A90A9-C22F-E848-AAA0-3425338EB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9EAD0-C082-E737-C36F-178BF662D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F1B5A8-55B6-290A-3D35-0C1A0072107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BA6D58-65E8-D719-911A-5F87E905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273523"/>
            <a:ext cx="4464496" cy="43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5253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42518-328E-9ABC-0CF0-FE0DC469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터미널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44FDB2-C4EE-96E8-468F-FEDE7C6CB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셸</a:t>
            </a:r>
            <a:r>
              <a:rPr lang="en-US" altLang="ko-KR" dirty="0"/>
              <a:t> </a:t>
            </a:r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프롬프트</a:t>
            </a:r>
            <a:r>
              <a:rPr lang="en-US" altLang="ko-KR" dirty="0"/>
              <a:t>(Prompt) : </a:t>
            </a:r>
            <a:r>
              <a:rPr lang="ko-KR" altLang="en-US" dirty="0"/>
              <a:t>사용자의 명령을 받을 준비가 되었음을 알림</a:t>
            </a:r>
            <a:endParaRPr lang="en-US" altLang="ko-KR" dirty="0"/>
          </a:p>
          <a:p>
            <a:pPr lvl="2"/>
            <a:r>
              <a:rPr lang="en-US" altLang="ko-KR" dirty="0" err="1"/>
              <a:t>username@hostname</a:t>
            </a:r>
            <a:r>
              <a:rPr lang="en-US" altLang="ko-KR" dirty="0"/>
              <a:t>:~$ </a:t>
            </a:r>
            <a:r>
              <a:rPr lang="ko-KR" altLang="en-US" dirty="0"/>
              <a:t>형식으로 구성</a:t>
            </a:r>
            <a:endParaRPr lang="en-US" altLang="ko-KR" dirty="0"/>
          </a:p>
          <a:p>
            <a:pPr lvl="1"/>
            <a:r>
              <a:rPr lang="ko-KR" altLang="en-US" dirty="0"/>
              <a:t>커서</a:t>
            </a:r>
            <a:r>
              <a:rPr lang="en-US" altLang="ko-KR" dirty="0"/>
              <a:t>(Cursor) : </a:t>
            </a:r>
            <a:r>
              <a:rPr lang="ko-KR" altLang="en-US" dirty="0"/>
              <a:t>사용자가 글자를 입력할 수 있는 화면의 위치 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7A8F8-41C4-10A3-DF9E-2CE657B2F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6CC62F-2874-08F2-E1FC-9F8B2F76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61" y="2923488"/>
            <a:ext cx="6387198" cy="13926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1D2FC95-7BB6-0328-DA9B-5D5D639431AF}"/>
              </a:ext>
            </a:extLst>
          </p:cNvPr>
          <p:cNvCxnSpPr>
            <a:cxnSpLocks/>
          </p:cNvCxnSpPr>
          <p:nvPr/>
        </p:nvCxnSpPr>
        <p:spPr>
          <a:xfrm>
            <a:off x="857520" y="3717032"/>
            <a:ext cx="163783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D22EDC4-EBD6-3DA5-C1F7-B8E25532607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3982" y="3717032"/>
            <a:ext cx="1" cy="3109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59CC222-19FF-06AA-FB86-C784C97EF6BF}"/>
              </a:ext>
            </a:extLst>
          </p:cNvPr>
          <p:cNvSpPr txBox="1"/>
          <p:nvPr/>
        </p:nvSpPr>
        <p:spPr>
          <a:xfrm>
            <a:off x="1031281" y="4027938"/>
            <a:ext cx="1005403" cy="338554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8E434B-8BAB-9D75-C838-8CCD796B6376}"/>
              </a:ext>
            </a:extLst>
          </p:cNvPr>
          <p:cNvSpPr/>
          <p:nvPr/>
        </p:nvSpPr>
        <p:spPr>
          <a:xfrm>
            <a:off x="2525276" y="3420993"/>
            <a:ext cx="216024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FF6C37A-E47C-D252-C645-54872E4CEB3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741300" y="3565009"/>
            <a:ext cx="731609" cy="1772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56CA58-361F-F27D-730A-4E7E3E8051E0}"/>
              </a:ext>
            </a:extLst>
          </p:cNvPr>
          <p:cNvSpPr txBox="1"/>
          <p:nvPr/>
        </p:nvSpPr>
        <p:spPr>
          <a:xfrm>
            <a:off x="3472909" y="3573016"/>
            <a:ext cx="595035" cy="338554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FBD363A-2C33-A973-B643-AA3134F16F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05" b="33972"/>
          <a:stretch>
            <a:fillRect/>
          </a:stretch>
        </p:blipFill>
        <p:spPr>
          <a:xfrm>
            <a:off x="771619" y="5429076"/>
            <a:ext cx="7762781" cy="73622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D31849-1CA6-9495-309E-06802C50E550}"/>
              </a:ext>
            </a:extLst>
          </p:cNvPr>
          <p:cNvSpPr/>
          <p:nvPr/>
        </p:nvSpPr>
        <p:spPr>
          <a:xfrm>
            <a:off x="778154" y="5492796"/>
            <a:ext cx="1543928" cy="5059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724AC0C-DFAB-EC89-5F55-26CDA4CCFDBC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1550118" y="5095660"/>
            <a:ext cx="6" cy="3971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A97E0A-8025-F29D-18AD-478FF6BCE7BD}"/>
              </a:ext>
            </a:extLst>
          </p:cNvPr>
          <p:cNvSpPr txBox="1"/>
          <p:nvPr/>
        </p:nvSpPr>
        <p:spPr>
          <a:xfrm>
            <a:off x="982244" y="4757106"/>
            <a:ext cx="1135760" cy="3385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username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CD39C3D-EE63-F982-8871-F254B6393043}"/>
              </a:ext>
            </a:extLst>
          </p:cNvPr>
          <p:cNvSpPr/>
          <p:nvPr/>
        </p:nvSpPr>
        <p:spPr>
          <a:xfrm>
            <a:off x="2636024" y="5518320"/>
            <a:ext cx="3376136" cy="5029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EC9B45C-DF94-26C4-138B-53A987CA5DB0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2988115" y="5090522"/>
            <a:ext cx="0" cy="4277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AFDE9A-D5DB-1579-F258-2588571753EE}"/>
              </a:ext>
            </a:extLst>
          </p:cNvPr>
          <p:cNvSpPr txBox="1"/>
          <p:nvPr/>
        </p:nvSpPr>
        <p:spPr>
          <a:xfrm>
            <a:off x="2414079" y="4751968"/>
            <a:ext cx="1148071" cy="3385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hostname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C5EB51-3B6E-8BB2-E877-7C789C7F3BEF}"/>
              </a:ext>
            </a:extLst>
          </p:cNvPr>
          <p:cNvSpPr/>
          <p:nvPr/>
        </p:nvSpPr>
        <p:spPr>
          <a:xfrm>
            <a:off x="6322274" y="5515374"/>
            <a:ext cx="349247" cy="5029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84391D9-3410-420A-7AAC-FF7ACE4B7940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6496897" y="5209430"/>
            <a:ext cx="1" cy="3059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09EDD48-956C-FEDE-2D06-DF619A388C3F}"/>
              </a:ext>
            </a:extLst>
          </p:cNvPr>
          <p:cNvSpPr txBox="1"/>
          <p:nvPr/>
        </p:nvSpPr>
        <p:spPr>
          <a:xfrm>
            <a:off x="4312309" y="4628857"/>
            <a:ext cx="2419931" cy="5847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디렉토리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홈 디렉토리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CBDA6B2-AA6C-0CE7-2CF5-59DE23DE580B}"/>
              </a:ext>
            </a:extLst>
          </p:cNvPr>
          <p:cNvSpPr/>
          <p:nvPr/>
        </p:nvSpPr>
        <p:spPr>
          <a:xfrm>
            <a:off x="6914397" y="5511172"/>
            <a:ext cx="349247" cy="5029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D835C12-2E4C-26EC-9C0C-D0A8A296A524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7089021" y="5209430"/>
            <a:ext cx="0" cy="3017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EC41416-6926-A86D-0B1A-9CA83111D4F2}"/>
              </a:ext>
            </a:extLst>
          </p:cNvPr>
          <p:cNvSpPr txBox="1"/>
          <p:nvPr/>
        </p:nvSpPr>
        <p:spPr>
          <a:xfrm>
            <a:off x="6963388" y="4628856"/>
            <a:ext cx="1785076" cy="5847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: root, $ :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5275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000"/>
                            </p:stCondLst>
                            <p:childTnLst>
                              <p:par>
                                <p:cTn id="9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5" grpId="0"/>
      <p:bldP spid="19" grpId="0" animBg="1"/>
      <p:bldP spid="21" grpId="0" animBg="1"/>
      <p:bldP spid="29" grpId="0" animBg="1"/>
      <p:bldP spid="31" grpId="0" animBg="1"/>
      <p:bldP spid="37" grpId="0" animBg="1"/>
      <p:bldP spid="39" grpId="0" animBg="1"/>
      <p:bldP spid="47" grpId="0" animBg="1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시작과 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</a:t>
            </a:r>
            <a:r>
              <a:rPr lang="en-US" altLang="ko-KR" dirty="0"/>
              <a:t> </a:t>
            </a:r>
            <a:r>
              <a:rPr lang="ko-KR" altLang="en-US" dirty="0"/>
              <a:t>끄기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딸기</a:t>
            </a:r>
            <a:r>
              <a:rPr lang="en-US" altLang="ko-KR" dirty="0"/>
              <a:t>] – [Logout] </a:t>
            </a:r>
            <a:r>
              <a:rPr lang="en-US" altLang="ko-KR" dirty="0">
                <a:sym typeface="Wingdings" panose="05000000000000000000" pitchFamily="2" charset="2"/>
              </a:rPr>
              <a:t> Shutdown</a:t>
            </a:r>
          </a:p>
          <a:p>
            <a:pPr lvl="1"/>
            <a:r>
              <a:rPr lang="en-US" altLang="ko-KR" dirty="0"/>
              <a:t>Linux </a:t>
            </a:r>
            <a:r>
              <a:rPr lang="ko-KR" altLang="en-US" dirty="0"/>
              <a:t>명령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shutdown</a:t>
            </a:r>
          </a:p>
          <a:p>
            <a:pPr lvl="2"/>
            <a:r>
              <a:rPr lang="ko-KR" altLang="en-US" dirty="0"/>
              <a:t>옵션</a:t>
            </a:r>
            <a:r>
              <a:rPr lang="en-US" altLang="ko-KR" dirty="0"/>
              <a:t> : -r (</a:t>
            </a:r>
            <a:r>
              <a:rPr lang="ko-KR" altLang="en-US" dirty="0"/>
              <a:t>재시작</a:t>
            </a:r>
            <a:r>
              <a:rPr lang="en-US" altLang="ko-KR" dirty="0"/>
              <a:t>), -P(</a:t>
            </a:r>
            <a:r>
              <a:rPr lang="ko-KR" altLang="en-US" dirty="0"/>
              <a:t>강제종료</a:t>
            </a:r>
            <a:r>
              <a:rPr lang="en-US" altLang="ko-KR" dirty="0"/>
              <a:t>), -h (</a:t>
            </a:r>
            <a:r>
              <a:rPr lang="ko-KR" altLang="en-US" dirty="0"/>
              <a:t>종료</a:t>
            </a:r>
            <a:r>
              <a:rPr lang="en-US" altLang="ko-KR" dirty="0"/>
              <a:t>), -c (</a:t>
            </a:r>
            <a:r>
              <a:rPr lang="ko-KR" altLang="en-US" dirty="0"/>
              <a:t>취소</a:t>
            </a:r>
            <a:r>
              <a:rPr lang="en-US" altLang="ko-KR" dirty="0"/>
              <a:t>), -k (</a:t>
            </a:r>
            <a:r>
              <a:rPr lang="ko-KR" altLang="en-US" dirty="0"/>
              <a:t>경고</a:t>
            </a:r>
            <a:r>
              <a:rPr lang="en-US" altLang="ko-KR" dirty="0"/>
              <a:t>), +m (</a:t>
            </a:r>
            <a:r>
              <a:rPr lang="ko-KR" altLang="en-US" dirty="0"/>
              <a:t>예약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914C88-D901-DFA4-1C8B-805ADAFA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880474"/>
            <a:ext cx="2427451" cy="1241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3511237-43A5-2BA2-085F-4C861EAB6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814" y="4509120"/>
            <a:ext cx="5567526" cy="185584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CB0916-B2CB-CE95-B50B-FB4B3A7A9015}"/>
              </a:ext>
            </a:extLst>
          </p:cNvPr>
          <p:cNvSpPr/>
          <p:nvPr/>
        </p:nvSpPr>
        <p:spPr>
          <a:xfrm>
            <a:off x="2870268" y="3151985"/>
            <a:ext cx="2216805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192D52-6EB9-42EE-7420-02AB972CF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86" y="2837295"/>
            <a:ext cx="1648747" cy="36502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581BD5-4AFF-B4A1-BEDA-34BE616ED287}"/>
              </a:ext>
            </a:extLst>
          </p:cNvPr>
          <p:cNvSpPr/>
          <p:nvPr/>
        </p:nvSpPr>
        <p:spPr>
          <a:xfrm>
            <a:off x="864914" y="6181998"/>
            <a:ext cx="1402830" cy="305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7D3DC2-C4A9-31F5-D237-66F2B51BDA33}"/>
              </a:ext>
            </a:extLst>
          </p:cNvPr>
          <p:cNvSpPr/>
          <p:nvPr/>
        </p:nvSpPr>
        <p:spPr>
          <a:xfrm>
            <a:off x="5183454" y="5326076"/>
            <a:ext cx="255689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8090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로그인과 로그아웃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로그아웃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딸기</a:t>
            </a:r>
            <a:r>
              <a:rPr lang="en-US" altLang="ko-KR" dirty="0"/>
              <a:t>] – [Logout] </a:t>
            </a:r>
            <a:r>
              <a:rPr lang="en-US" altLang="ko-KR" dirty="0">
                <a:sym typeface="Wingdings" panose="05000000000000000000" pitchFamily="2" charset="2"/>
              </a:rPr>
              <a:t> Logout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15A36F-133D-0E8E-6011-4943AE21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42" y="2060848"/>
            <a:ext cx="1908942" cy="42263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4851CD8-8AA3-ABEE-E3A4-8B250AE8D8C4}"/>
              </a:ext>
            </a:extLst>
          </p:cNvPr>
          <p:cNvSpPr/>
          <p:nvPr/>
        </p:nvSpPr>
        <p:spPr>
          <a:xfrm>
            <a:off x="740904" y="5981615"/>
            <a:ext cx="1402830" cy="3055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F1ED06-5222-1069-0E48-0D06A346A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856" y="2026568"/>
            <a:ext cx="2439264" cy="1536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D197A6-EAFC-C264-FF7A-E1C572343C0F}"/>
              </a:ext>
            </a:extLst>
          </p:cNvPr>
          <p:cNvSpPr/>
          <p:nvPr/>
        </p:nvSpPr>
        <p:spPr>
          <a:xfrm>
            <a:off x="3352368" y="3279176"/>
            <a:ext cx="2160240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1DFEAA-F523-8DF6-8BD6-F357EE58A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856" y="3736048"/>
            <a:ext cx="4209146" cy="25737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759664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로그인과 로그아웃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로그아웃</a:t>
            </a:r>
            <a:endParaRPr lang="en-US" altLang="ko-KR" dirty="0"/>
          </a:p>
          <a:p>
            <a:pPr lvl="1"/>
            <a:r>
              <a:rPr lang="en-US" altLang="ko-KR" dirty="0"/>
              <a:t>Linux </a:t>
            </a:r>
            <a:r>
              <a:rPr lang="ko-KR" altLang="en-US" dirty="0"/>
              <a:t>명령 </a:t>
            </a:r>
            <a:r>
              <a:rPr lang="en-US" altLang="ko-KR" dirty="0">
                <a:sym typeface="Wingdings" panose="05000000000000000000" pitchFamily="2" charset="2"/>
              </a:rPr>
              <a:t> exit, </a:t>
            </a:r>
            <a:r>
              <a:rPr lang="ko-KR" altLang="en-US" dirty="0"/>
              <a:t>터미널 모드에서 동작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실습은 하지 않음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/>
              <a:t>터미널　모드로　설정</a:t>
            </a:r>
            <a:r>
              <a:rPr lang="en-US" altLang="ko-KR" dirty="0"/>
              <a:t> </a:t>
            </a:r>
            <a:r>
              <a:rPr lang="ko-KR" altLang="en-US" dirty="0"/>
              <a:t>변경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 err="1"/>
              <a:t>raspi</a:t>
            </a:r>
            <a:r>
              <a:rPr lang="en-US" altLang="ko-KR" dirty="0"/>
              <a:t>-config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부팅 화면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B7545D9-FA3A-B474-E761-07B45F6C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84" y="2348880"/>
            <a:ext cx="2676093" cy="19255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98905E-42F9-B9C3-9AB9-9BC5F654D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348880"/>
            <a:ext cx="2676092" cy="19344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AF5A828-09AD-0D43-29AB-160513791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658" y="2348880"/>
            <a:ext cx="2685027" cy="193000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2BD4650-B0CF-3AE4-E2D3-0B28D0C4B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84" y="4754909"/>
            <a:ext cx="3431860" cy="174979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FC3187C-3674-9F36-025B-613B5E609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573" y="4754909"/>
            <a:ext cx="4144343" cy="110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1679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시작과 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</a:t>
            </a:r>
            <a:endParaRPr lang="en-US" altLang="ko-KR" dirty="0"/>
          </a:p>
          <a:p>
            <a:pPr lvl="1"/>
            <a:r>
              <a:rPr lang="ko-KR" altLang="en-US" dirty="0"/>
              <a:t>로그아웃 처리 후 로그인 화면에서 사용자 계정과 패스워드 이용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EA094A-E270-C792-6171-4416D9CF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42" y="2132856"/>
            <a:ext cx="6637740" cy="424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70388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Raspberry Pi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raspi</a:t>
            </a:r>
            <a:r>
              <a:rPr lang="en-US" altLang="ko-KR" dirty="0"/>
              <a:t>-config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라즈베리파이의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SW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설정 툴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C6B78A-96B0-FA71-3D9C-9C74F8F9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85" y="2492896"/>
            <a:ext cx="5171429" cy="35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90959080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확인</a:t>
            </a:r>
            <a:endParaRPr lang="en-US" altLang="ko-KR" dirty="0"/>
          </a:p>
          <a:p>
            <a:pPr lvl="1"/>
            <a:r>
              <a:rPr lang="en-US" altLang="ko-KR" dirty="0" err="1"/>
              <a:t>ifconfig</a:t>
            </a:r>
            <a:r>
              <a:rPr lang="en-US" altLang="ko-KR" dirty="0"/>
              <a:t> (</a:t>
            </a:r>
            <a:r>
              <a:rPr lang="en-US" altLang="ko-KR" dirty="0">
                <a:sym typeface="Wingdings" panose="05000000000000000000" pitchFamily="2" charset="2"/>
              </a:rPr>
              <a:t>interface configuration)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네트워크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관리를 위한 인터페이스 구성 유틸리티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8F65C3-3C51-1F9C-7B3E-069E6BE6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03" y="2420888"/>
            <a:ext cx="5935594" cy="3998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D9FE69-C122-9698-156D-1DEDE50FF230}"/>
              </a:ext>
            </a:extLst>
          </p:cNvPr>
          <p:cNvSpPr txBox="1"/>
          <p:nvPr/>
        </p:nvSpPr>
        <p:spPr>
          <a:xfrm>
            <a:off x="6084168" y="299695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이더넷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4908C-61F3-F288-4837-631FA9099294}"/>
              </a:ext>
            </a:extLst>
          </p:cNvPr>
          <p:cNvSpPr txBox="1"/>
          <p:nvPr/>
        </p:nvSpPr>
        <p:spPr>
          <a:xfrm>
            <a:off x="6084168" y="4073376"/>
            <a:ext cx="12209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localhost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(loopback)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471DB-A3A5-55A7-B5FB-81569B966587}"/>
              </a:ext>
            </a:extLst>
          </p:cNvPr>
          <p:cNvSpPr txBox="1"/>
          <p:nvPr/>
        </p:nvSpPr>
        <p:spPr>
          <a:xfrm>
            <a:off x="6084168" y="571009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66854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확인</a:t>
            </a:r>
            <a:endParaRPr lang="en-US" altLang="ko-KR" dirty="0"/>
          </a:p>
          <a:p>
            <a:pPr lvl="1"/>
            <a:r>
              <a:rPr lang="en-US" altLang="ko-KR" dirty="0" err="1"/>
              <a:t>ifconfig</a:t>
            </a:r>
            <a:r>
              <a:rPr lang="en-US" altLang="ko-KR" dirty="0"/>
              <a:t> (</a:t>
            </a:r>
            <a:r>
              <a:rPr lang="en-US" altLang="ko-KR" dirty="0">
                <a:sym typeface="Wingdings" panose="05000000000000000000" pitchFamily="2" charset="2"/>
              </a:rPr>
              <a:t>interface configuration)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WiFi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결과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449A231-4340-41FB-DBF2-37816C65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6" y="2564904"/>
            <a:ext cx="9126784" cy="207638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04D8CA-3F82-0152-F1D0-84349E17D69B}"/>
              </a:ext>
            </a:extLst>
          </p:cNvPr>
          <p:cNvSpPr txBox="1"/>
          <p:nvPr/>
        </p:nvSpPr>
        <p:spPr>
          <a:xfrm>
            <a:off x="1680032" y="2602648"/>
            <a:ext cx="2063633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 상태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ED860F-3FFD-2A0A-CC5D-F9C41D3EEE33}"/>
              </a:ext>
            </a:extLst>
          </p:cNvPr>
          <p:cNvSpPr txBox="1"/>
          <p:nvPr/>
        </p:nvSpPr>
        <p:spPr>
          <a:xfrm>
            <a:off x="7360074" y="2602648"/>
            <a:ext cx="1303809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최대전송단위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AB834-A2B5-019C-8DFB-58B78BA6508D}"/>
              </a:ext>
            </a:extLst>
          </p:cNvPr>
          <p:cNvSpPr txBox="1"/>
          <p:nvPr/>
        </p:nvSpPr>
        <p:spPr>
          <a:xfrm>
            <a:off x="1695373" y="2882206"/>
            <a:ext cx="903059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IPv4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F6462-08EB-9DB9-BD2C-9C9CA40A94FF}"/>
              </a:ext>
            </a:extLst>
          </p:cNvPr>
          <p:cNvSpPr txBox="1"/>
          <p:nvPr/>
        </p:nvSpPr>
        <p:spPr>
          <a:xfrm>
            <a:off x="4242192" y="2845769"/>
            <a:ext cx="1016872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 Mask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E2209-26E5-A565-25FE-6B3633B557D6}"/>
              </a:ext>
            </a:extLst>
          </p:cNvPr>
          <p:cNvSpPr txBox="1"/>
          <p:nvPr/>
        </p:nvSpPr>
        <p:spPr>
          <a:xfrm>
            <a:off x="7365370" y="2882206"/>
            <a:ext cx="965576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방송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8BAA53-6930-C701-D168-0EBF5B2CA3DA}"/>
              </a:ext>
            </a:extLst>
          </p:cNvPr>
          <p:cNvSpPr txBox="1"/>
          <p:nvPr/>
        </p:nvSpPr>
        <p:spPr>
          <a:xfrm>
            <a:off x="1680032" y="3147110"/>
            <a:ext cx="976797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Ipv6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7E407-2C7E-2E4E-28FC-5D5E34886415}"/>
              </a:ext>
            </a:extLst>
          </p:cNvPr>
          <p:cNvSpPr txBox="1"/>
          <p:nvPr/>
        </p:nvSpPr>
        <p:spPr>
          <a:xfrm>
            <a:off x="6491385" y="3727734"/>
            <a:ext cx="1448080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정보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FC5499-1BC2-3863-C1D9-23E03224E3D5}"/>
              </a:ext>
            </a:extLst>
          </p:cNvPr>
          <p:cNvSpPr txBox="1"/>
          <p:nvPr/>
        </p:nvSpPr>
        <p:spPr>
          <a:xfrm>
            <a:off x="6491385" y="4206149"/>
            <a:ext cx="1448080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송신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3E074B-8DBA-96F8-5FF5-94F1CB0B07A7}"/>
              </a:ext>
            </a:extLst>
          </p:cNvPr>
          <p:cNvSpPr txBox="1"/>
          <p:nvPr/>
        </p:nvSpPr>
        <p:spPr>
          <a:xfrm>
            <a:off x="2598432" y="3376362"/>
            <a:ext cx="2956506" cy="24622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카드 하드웨어 주소</a:t>
            </a:r>
          </a:p>
        </p:txBody>
      </p:sp>
    </p:spTree>
    <p:extLst>
      <p:ext uri="{BB962C8B-B14F-4D97-AF65-F5344CB8AC3E}">
        <p14:creationId xmlns:p14="http://schemas.microsoft.com/office/powerpoint/2010/main" val="75534384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확인</a:t>
            </a:r>
            <a:endParaRPr lang="en-US" altLang="ko-KR" dirty="0"/>
          </a:p>
          <a:p>
            <a:pPr lvl="1"/>
            <a:r>
              <a:rPr lang="en-US" altLang="ko-KR" dirty="0" err="1"/>
              <a:t>iwconfig</a:t>
            </a:r>
            <a:r>
              <a:rPr lang="en-US" altLang="ko-KR" dirty="0"/>
              <a:t> (configure a wireless network interface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ifconfig</a:t>
            </a:r>
            <a:r>
              <a:rPr lang="ko-KR" altLang="en-US" dirty="0">
                <a:sym typeface="Wingdings" panose="05000000000000000000" pitchFamily="2" charset="2"/>
              </a:rPr>
              <a:t>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유사하나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무선 네트워크 인터페이스 환경만 고려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EAFD69-9F98-AF01-3DCB-9C3C8EB5A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189" y="2298758"/>
            <a:ext cx="6699621" cy="423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07587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route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>
                <a:sym typeface="Wingdings" panose="05000000000000000000" pitchFamily="2" charset="2"/>
              </a:rPr>
              <a:t>라우팅 테이블을 수정하거나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Destination : </a:t>
            </a:r>
            <a:r>
              <a:rPr lang="ko-KR" altLang="en-US" dirty="0">
                <a:sym typeface="Wingdings" panose="05000000000000000000" pitchFamily="2" charset="2"/>
              </a:rPr>
              <a:t>목적지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네트워크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Gateway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다음 홈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라우터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Genmask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 err="1">
                <a:sym typeface="Wingdings" panose="05000000000000000000" pitchFamily="2" charset="2"/>
              </a:rPr>
              <a:t>서브넷마스크</a:t>
            </a:r>
            <a:r>
              <a:rPr lang="en-US" altLang="ko-KR" dirty="0">
                <a:sym typeface="Wingdings" panose="05000000000000000000" pitchFamily="2" charset="2"/>
              </a:rPr>
              <a:t>(Subnet mask)</a:t>
            </a: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Iface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해당 경로에서 사용하는 인터페이스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C6A5C8-DC5D-287F-CF64-8A9F1AA8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98" y="3933056"/>
            <a:ext cx="8083404" cy="10987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281177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ping  </a:t>
            </a:r>
            <a:r>
              <a:rPr lang="ko-KR" altLang="en-US" dirty="0">
                <a:sym typeface="Wingdings" panose="05000000000000000000" pitchFamily="2" charset="2"/>
              </a:rPr>
              <a:t>연결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상태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진단 도구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EA3C94-BE5D-33D1-E6D1-8BC215B2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1444639"/>
            <a:ext cx="5400600" cy="505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58223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ping </a:t>
            </a:r>
            <a:r>
              <a:rPr lang="ko-KR" altLang="en-US" dirty="0">
                <a:sym typeface="Wingdings" panose="05000000000000000000" pitchFamily="2" charset="2"/>
              </a:rPr>
              <a:t>실행 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종료를 원할 경우 </a:t>
            </a:r>
            <a:r>
              <a:rPr lang="en-US" altLang="ko-KR" dirty="0">
                <a:sym typeface="Wingdings" panose="05000000000000000000" pitchFamily="2" charset="2"/>
              </a:rPr>
              <a:t>^C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2A2CD3-22B3-F66E-65CD-68FE4DAF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05" y="2204864"/>
            <a:ext cx="8425413" cy="222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10301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F65A8-4749-C080-1D88-671907D1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Linux</a:t>
            </a:r>
            <a:r>
              <a:rPr lang="ko-KR" altLang="en-US" dirty="0"/>
              <a:t> 시스템의 디렉토리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A8C8E-DB32-9D16-3D0F-2A0C7E8C9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F753B0-E8DD-AC79-4B77-87FDF356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87"/>
          <a:stretch>
            <a:fillRect/>
          </a:stretch>
        </p:blipFill>
        <p:spPr>
          <a:xfrm>
            <a:off x="232927" y="1196752"/>
            <a:ext cx="6127984" cy="5241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6CA6DA-1AB6-E16E-13D3-8C2CFD3D74A9}"/>
              </a:ext>
            </a:extLst>
          </p:cNvPr>
          <p:cNvSpPr txBox="1"/>
          <p:nvPr/>
        </p:nvSpPr>
        <p:spPr>
          <a:xfrm>
            <a:off x="5529608" y="1274240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루트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(root)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최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디렉토리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절대경로 기준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CE2EC-CDD2-4D4A-1D35-7076D8FE3086}"/>
              </a:ext>
            </a:extLst>
          </p:cNvPr>
          <p:cNvSpPr txBox="1"/>
          <p:nvPr/>
        </p:nvSpPr>
        <p:spPr>
          <a:xfrm>
            <a:off x="6285992" y="254954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이진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(binary)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명령어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F6D9FF-E829-7BED-B9CA-5525E8291399}"/>
              </a:ext>
            </a:extLst>
          </p:cNvPr>
          <p:cNvSpPr txBox="1"/>
          <p:nvPr/>
        </p:nvSpPr>
        <p:spPr>
          <a:xfrm>
            <a:off x="6285992" y="275291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부팅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(booting)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2BE71-4979-9AEF-4CDF-0E3D6C8640D5}"/>
              </a:ext>
            </a:extLst>
          </p:cNvPr>
          <p:cNvSpPr txBox="1"/>
          <p:nvPr/>
        </p:nvSpPr>
        <p:spPr>
          <a:xfrm>
            <a:off x="6285992" y="295628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장치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(device)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저장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B86DCA-1F8A-38F3-507A-E256B2EA73AC}"/>
              </a:ext>
            </a:extLst>
          </p:cNvPr>
          <p:cNvSpPr txBox="1"/>
          <p:nvPr/>
        </p:nvSpPr>
        <p:spPr>
          <a:xfrm>
            <a:off x="6285992" y="315965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설정 파일을 저장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674FC-274A-CCD7-CF83-188F0B906B69}"/>
              </a:ext>
            </a:extLst>
          </p:cNvPr>
          <p:cNvSpPr txBox="1"/>
          <p:nvPr/>
        </p:nvSpPr>
        <p:spPr>
          <a:xfrm>
            <a:off x="6285992" y="336302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홈 디렉토리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/home/</a:t>
            </a:r>
            <a:r>
              <a:rPr lang="en-US" altLang="ko-KR" sz="1200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khr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C850CA-738E-93F5-C376-3B434E366EA0}"/>
              </a:ext>
            </a:extLst>
          </p:cNvPr>
          <p:cNvSpPr txBox="1"/>
          <p:nvPr/>
        </p:nvSpPr>
        <p:spPr>
          <a:xfrm>
            <a:off x="6285992" y="356639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커널 요구 라이브러리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 파일 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B32226-B5B6-3668-E729-359E39155B67}"/>
              </a:ext>
            </a:extLst>
          </p:cNvPr>
          <p:cNvSpPr txBox="1"/>
          <p:nvPr/>
        </p:nvSpPr>
        <p:spPr>
          <a:xfrm>
            <a:off x="6285992" y="376976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휴지통의 개념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647301-FFFB-C8FC-DD95-FE86EEFEC874}"/>
              </a:ext>
            </a:extLst>
          </p:cNvPr>
          <p:cNvSpPr txBox="1"/>
          <p:nvPr/>
        </p:nvSpPr>
        <p:spPr>
          <a:xfrm>
            <a:off x="6285992" y="397313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외부장치 자동 연결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(mount)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001C1B-04A5-414F-2246-D79A1F3BC1F1}"/>
              </a:ext>
            </a:extLst>
          </p:cNvPr>
          <p:cNvSpPr txBox="1"/>
          <p:nvPr/>
        </p:nvSpPr>
        <p:spPr>
          <a:xfrm>
            <a:off x="6285992" y="417650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외부장치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연결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5C3C8D-9F20-2868-83B2-875A485AE161}"/>
              </a:ext>
            </a:extLst>
          </p:cNvPr>
          <p:cNvSpPr txBox="1"/>
          <p:nvPr/>
        </p:nvSpPr>
        <p:spPr>
          <a:xfrm>
            <a:off x="6285992" y="437987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설치 장소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70C22A-8B7E-B386-446E-113CFE91407E}"/>
              </a:ext>
            </a:extLst>
          </p:cNvPr>
          <p:cNvSpPr txBox="1"/>
          <p:nvPr/>
        </p:nvSpPr>
        <p:spPr>
          <a:xfrm>
            <a:off x="6285992" y="458324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(process)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들을 파일 형태 보관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58B846-E6E3-FEF7-3159-FCFCCBE096C0}"/>
              </a:ext>
            </a:extLst>
          </p:cNvPr>
          <p:cNvSpPr txBox="1"/>
          <p:nvPr/>
        </p:nvSpPr>
        <p:spPr>
          <a:xfrm>
            <a:off x="6285992" y="478661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계정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(root)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홈 디렉토리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C01AE6-84A9-3CA4-F6F5-3AD48FCC0A55}"/>
              </a:ext>
            </a:extLst>
          </p:cNvPr>
          <p:cNvSpPr txBox="1"/>
          <p:nvPr/>
        </p:nvSpPr>
        <p:spPr>
          <a:xfrm>
            <a:off x="6285992" y="498998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run-time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데이터 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E41271-6570-C8E1-7EFB-920DB3C4BFD9}"/>
              </a:ext>
            </a:extLst>
          </p:cNvPr>
          <p:cNvSpPr txBox="1"/>
          <p:nvPr/>
        </p:nvSpPr>
        <p:spPr>
          <a:xfrm>
            <a:off x="6285992" y="519335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실행 파일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C4B277-6106-6702-C21B-CD99550A78FF}"/>
              </a:ext>
            </a:extLst>
          </p:cNvPr>
          <p:cNvSpPr txBox="1"/>
          <p:nvPr/>
        </p:nvSpPr>
        <p:spPr>
          <a:xfrm>
            <a:off x="6285992" y="539672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시스템에 제공되는 파일들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16C112-A5C9-B073-902F-B87BEC489C7F}"/>
              </a:ext>
            </a:extLst>
          </p:cNvPr>
          <p:cNvSpPr txBox="1"/>
          <p:nvPr/>
        </p:nvSpPr>
        <p:spPr>
          <a:xfrm>
            <a:off x="6285992" y="560009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관리용 가상 파일 시스템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0B2D89-4FB4-767D-206B-FC131D06D5A3}"/>
              </a:ext>
            </a:extLst>
          </p:cNvPr>
          <p:cNvSpPr txBox="1"/>
          <p:nvPr/>
        </p:nvSpPr>
        <p:spPr>
          <a:xfrm>
            <a:off x="6285992" y="580346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임시 파일 저장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80B345-972A-B00B-1C7A-5758B6F7D5C5}"/>
              </a:ext>
            </a:extLst>
          </p:cNvPr>
          <p:cNvSpPr txBox="1"/>
          <p:nvPr/>
        </p:nvSpPr>
        <p:spPr>
          <a:xfrm>
            <a:off x="6285992" y="6006830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사용자들이 사용하는 디렉토리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3B2AC9-A285-2BDF-87CD-BCB952D3BA24}"/>
              </a:ext>
            </a:extLst>
          </p:cNvPr>
          <p:cNvSpPr txBox="1"/>
          <p:nvPr/>
        </p:nvSpPr>
        <p:spPr>
          <a:xfrm>
            <a:off x="6285992" y="6210204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다용도로 사용되는 파일 저장</a:t>
            </a:r>
          </a:p>
        </p:txBody>
      </p:sp>
    </p:spTree>
    <p:extLst>
      <p:ext uri="{BB962C8B-B14F-4D97-AF65-F5344CB8AC3E}">
        <p14:creationId xmlns:p14="http://schemas.microsoft.com/office/powerpoint/2010/main" val="30154628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5" grpId="0"/>
      <p:bldP spid="37" grpId="0"/>
      <p:bldP spid="39" grpId="0"/>
      <p:bldP spid="41" grpId="0"/>
      <p:bldP spid="43" grpId="0"/>
      <p:bldP spid="61" grpId="0"/>
      <p:bldP spid="63" grpId="0"/>
      <p:bldP spid="65" grpId="0"/>
      <p:bldP spid="67" grpId="0"/>
      <p:bldP spid="6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루트 권한 획득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(substitute user do)</a:t>
            </a:r>
          </a:p>
          <a:p>
            <a:pPr lvl="1"/>
            <a:r>
              <a:rPr lang="en-US" altLang="ko-KR" dirty="0"/>
              <a:t>Linux</a:t>
            </a:r>
            <a:r>
              <a:rPr lang="ko-KR" altLang="en-US" dirty="0"/>
              <a:t>에서는</a:t>
            </a:r>
            <a:r>
              <a:rPr lang="en-US" altLang="ko-KR" dirty="0"/>
              <a:t> </a:t>
            </a:r>
            <a:r>
              <a:rPr lang="ko-KR" altLang="en-US" dirty="0"/>
              <a:t>실수로 인한 사고 예방을 위해 루트 사용자</a:t>
            </a:r>
            <a:r>
              <a:rPr lang="en-US" altLang="ko-KR" dirty="0"/>
              <a:t>(</a:t>
            </a:r>
            <a:r>
              <a:rPr lang="ko-KR" altLang="en-US" dirty="0"/>
              <a:t>시스템 관리 권한을 가진 수퍼 유저</a:t>
            </a:r>
            <a:r>
              <a:rPr lang="en-US" altLang="ko-KR" dirty="0"/>
              <a:t>)</a:t>
            </a:r>
            <a:r>
              <a:rPr lang="ko-KR" altLang="en-US" dirty="0"/>
              <a:t>의 로그인을 제한 </a:t>
            </a:r>
            <a:endParaRPr lang="en-US" altLang="ko-KR" dirty="0"/>
          </a:p>
          <a:p>
            <a:pPr lvl="1"/>
            <a:r>
              <a:rPr lang="ko-KR" altLang="en-US" dirty="0"/>
              <a:t>루트 권한 요구 </a:t>
            </a:r>
            <a:r>
              <a:rPr lang="en-US" altLang="ko-KR" dirty="0"/>
              <a:t>:</a:t>
            </a:r>
            <a:r>
              <a:rPr lang="ko-KR" altLang="en-US" dirty="0"/>
              <a:t> 명령어 앞에 </a:t>
            </a:r>
            <a:r>
              <a:rPr lang="en-US" altLang="ko-KR" dirty="0" err="1"/>
              <a:t>sudo</a:t>
            </a:r>
            <a:r>
              <a:rPr lang="ko-KR" altLang="en-US" dirty="0"/>
              <a:t>를 기술</a:t>
            </a:r>
            <a:r>
              <a:rPr lang="en-US" altLang="ko-KR" dirty="0"/>
              <a:t>, </a:t>
            </a:r>
            <a:r>
              <a:rPr lang="ko-KR" altLang="en-US" dirty="0"/>
              <a:t>루트권한을 획득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B1F282-838D-FA63-AE10-3071E042D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9" y="2910378"/>
            <a:ext cx="8957830" cy="2318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AFEA7C-D450-2D5D-E84B-4196E3B5CCB8}"/>
              </a:ext>
            </a:extLst>
          </p:cNvPr>
          <p:cNvSpPr txBox="1"/>
          <p:nvPr/>
        </p:nvSpPr>
        <p:spPr>
          <a:xfrm>
            <a:off x="3779912" y="3140968"/>
            <a:ext cx="496577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권한이 없어 실행되지 않음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(Permission denied)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49565-606A-435C-DD31-CD885AEA73EC}"/>
              </a:ext>
            </a:extLst>
          </p:cNvPr>
          <p:cNvSpPr txBox="1"/>
          <p:nvPr/>
        </p:nvSpPr>
        <p:spPr>
          <a:xfrm>
            <a:off x="3563888" y="4910971"/>
            <a:ext cx="521635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권한을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획득하여 명령이 정상적으로 실행되고 있음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D9DEF9-307F-6E79-F6D9-11B892CB9562}"/>
              </a:ext>
            </a:extLst>
          </p:cNvPr>
          <p:cNvSpPr/>
          <p:nvPr/>
        </p:nvSpPr>
        <p:spPr>
          <a:xfrm>
            <a:off x="1952674" y="2924944"/>
            <a:ext cx="2160240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384D2C-8820-7ADC-ACF7-2378D8632770}"/>
              </a:ext>
            </a:extLst>
          </p:cNvPr>
          <p:cNvSpPr/>
          <p:nvPr/>
        </p:nvSpPr>
        <p:spPr>
          <a:xfrm>
            <a:off x="1952674" y="4077072"/>
            <a:ext cx="2160240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6076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루트 권한 획득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</a:t>
            </a:r>
            <a:r>
              <a:rPr lang="en-US" altLang="ko-KR" dirty="0"/>
              <a:t> (switch user) </a:t>
            </a:r>
          </a:p>
          <a:p>
            <a:pPr lvl="1"/>
            <a:r>
              <a:rPr lang="ko-KR" altLang="en-US" dirty="0"/>
              <a:t>현재 계정을 </a:t>
            </a:r>
            <a:r>
              <a:rPr lang="ko-KR" altLang="en-US" dirty="0" err="1"/>
              <a:t>로그아웃하지</a:t>
            </a:r>
            <a:r>
              <a:rPr lang="ko-KR" altLang="en-US" dirty="0"/>
              <a:t> 않고</a:t>
            </a:r>
            <a:r>
              <a:rPr lang="en-US" altLang="ko-KR" dirty="0"/>
              <a:t>, </a:t>
            </a:r>
            <a:r>
              <a:rPr lang="ko-KR" altLang="en-US" dirty="0"/>
              <a:t>다른 계정으로 전환</a:t>
            </a:r>
            <a:endParaRPr lang="en-US" altLang="ko-KR" dirty="0"/>
          </a:p>
          <a:p>
            <a:pPr lvl="1"/>
            <a:r>
              <a:rPr lang="ko-KR" altLang="en-US" dirty="0"/>
              <a:t>많이 사용하지 않음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1597FCE-52B7-3EAB-E746-2083685BF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582214"/>
            <a:ext cx="5689645" cy="3511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8B29AE-B699-30B9-260A-8F7409D7C974}"/>
              </a:ext>
            </a:extLst>
          </p:cNvPr>
          <p:cNvSpPr txBox="1"/>
          <p:nvPr/>
        </p:nvSpPr>
        <p:spPr>
          <a:xfrm>
            <a:off x="5292080" y="2996952"/>
            <a:ext cx="374397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비밀번호 설정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D525A-5947-3A1B-607F-8388E40FAA12}"/>
              </a:ext>
            </a:extLst>
          </p:cNvPr>
          <p:cNvSpPr txBox="1"/>
          <p:nvPr/>
        </p:nvSpPr>
        <p:spPr>
          <a:xfrm>
            <a:off x="5292080" y="3804603"/>
            <a:ext cx="374397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이용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root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사용자로 전환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F7A55-DE69-6B51-6D5C-4231535CB24A}"/>
              </a:ext>
            </a:extLst>
          </p:cNvPr>
          <p:cNvSpPr txBox="1"/>
          <p:nvPr/>
        </p:nvSpPr>
        <p:spPr>
          <a:xfrm>
            <a:off x="5292080" y="4149080"/>
            <a:ext cx="374397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원래 사용자로 전환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34768-B2B9-2EA8-D7A7-B54B5982FE36}"/>
              </a:ext>
            </a:extLst>
          </p:cNvPr>
          <p:cNvSpPr txBox="1"/>
          <p:nvPr/>
        </p:nvSpPr>
        <p:spPr>
          <a:xfrm>
            <a:off x="5292080" y="4653599"/>
            <a:ext cx="3743970" cy="4924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없이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root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사용자로 전환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요구</a:t>
            </a:r>
          </a:p>
        </p:txBody>
      </p:sp>
    </p:spTree>
    <p:extLst>
      <p:ext uri="{BB962C8B-B14F-4D97-AF65-F5344CB8AC3E}">
        <p14:creationId xmlns:p14="http://schemas.microsoft.com/office/powerpoint/2010/main" val="13616269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BF658-6E2F-81D8-E26A-79EA208E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사용자 계정 관련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8142C-8F25-AF46-271E-15080907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who</a:t>
            </a:r>
          </a:p>
          <a:p>
            <a:pPr lvl="1"/>
            <a:r>
              <a:rPr lang="ko-KR" altLang="en-US" dirty="0"/>
              <a:t>사용자</a:t>
            </a:r>
            <a:r>
              <a:rPr lang="en-US" altLang="ko-KR" dirty="0"/>
              <a:t> </a:t>
            </a:r>
            <a:r>
              <a:rPr lang="ko-KR" altLang="en-US" dirty="0"/>
              <a:t>계정은 관리자로부터 발급받은 로그인 이름 및 이와 동시에 생성되는 디스크 상의 작업공간을 의미</a:t>
            </a:r>
            <a:endParaRPr lang="en-US" altLang="ko-KR" dirty="0"/>
          </a:p>
          <a:p>
            <a:pPr lvl="1"/>
            <a:r>
              <a:rPr lang="ko-KR" altLang="en-US" dirty="0"/>
              <a:t>리눅스 시스템은 완벽한 다중사용자 운영체제</a:t>
            </a:r>
            <a:endParaRPr lang="en-US" altLang="ko-KR" dirty="0"/>
          </a:p>
          <a:p>
            <a:pPr lvl="2"/>
            <a:r>
              <a:rPr lang="en-US" altLang="ko-KR" dirty="0"/>
              <a:t>who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호스트에 로그인한 사용자 정보 출력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whoami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현재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로그인한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사용자 정보 출력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6964E-DDD8-021A-5897-CF2F2515E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1AC8617-1ACD-4790-A220-12B8912DA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653290"/>
            <a:ext cx="4176464" cy="24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57773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490B-4FE4-4836-363C-4A25E8C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새로운 사용자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A280D-2F1B-A5FA-7CBC-3F5CE6EF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root </a:t>
            </a:r>
            <a:r>
              <a:rPr lang="ko-KR" altLang="en-US" dirty="0"/>
              <a:t>계정을 이용하여 새로운 사용자 추가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08F8-BF16-8CFA-2CA1-1FF218386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001D145-4EB1-97C0-B20D-BBC96CFAA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42" y="1403195"/>
            <a:ext cx="7703382" cy="509761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50CB5B2-3F50-84BD-AC16-754F8541B464}"/>
              </a:ext>
            </a:extLst>
          </p:cNvPr>
          <p:cNvSpPr/>
          <p:nvPr/>
        </p:nvSpPr>
        <p:spPr>
          <a:xfrm>
            <a:off x="2688503" y="1383439"/>
            <a:ext cx="100811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54A7EA-8533-AF5A-14EB-BA96E2D3128D}"/>
              </a:ext>
            </a:extLst>
          </p:cNvPr>
          <p:cNvSpPr/>
          <p:nvPr/>
        </p:nvSpPr>
        <p:spPr>
          <a:xfrm>
            <a:off x="2438165" y="1617511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B2E20E-6947-1A21-535C-00704C18F973}"/>
              </a:ext>
            </a:extLst>
          </p:cNvPr>
          <p:cNvSpPr/>
          <p:nvPr/>
        </p:nvSpPr>
        <p:spPr>
          <a:xfrm>
            <a:off x="1743600" y="2936233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D55433-9A8E-3993-EF2A-0904AB24E91B}"/>
              </a:ext>
            </a:extLst>
          </p:cNvPr>
          <p:cNvSpPr/>
          <p:nvPr/>
        </p:nvSpPr>
        <p:spPr>
          <a:xfrm>
            <a:off x="2548314" y="3178321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D313A4-D284-FCBA-E64F-0854167C3BC7}"/>
              </a:ext>
            </a:extLst>
          </p:cNvPr>
          <p:cNvSpPr/>
          <p:nvPr/>
        </p:nvSpPr>
        <p:spPr>
          <a:xfrm>
            <a:off x="2634799" y="4027642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213AF1-B824-9696-3F07-7732099BF288}"/>
              </a:ext>
            </a:extLst>
          </p:cNvPr>
          <p:cNvSpPr/>
          <p:nvPr/>
        </p:nvSpPr>
        <p:spPr>
          <a:xfrm>
            <a:off x="3347864" y="5134614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69B91E-C33D-E860-DEA9-0566835FA1D2}"/>
              </a:ext>
            </a:extLst>
          </p:cNvPr>
          <p:cNvSpPr/>
          <p:nvPr/>
        </p:nvSpPr>
        <p:spPr>
          <a:xfrm>
            <a:off x="2461190" y="5791866"/>
            <a:ext cx="1807662" cy="25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0A10-B958-893E-8405-3C65AEFD4C89}"/>
              </a:ext>
            </a:extLst>
          </p:cNvPr>
          <p:cNvSpPr txBox="1"/>
          <p:nvPr/>
        </p:nvSpPr>
        <p:spPr>
          <a:xfrm>
            <a:off x="5378230" y="1483692"/>
            <a:ext cx="356976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switch user  root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계정 이동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4724C-3505-FCD6-5F62-5F57DD3A3206}"/>
              </a:ext>
            </a:extLst>
          </p:cNvPr>
          <p:cNvSpPr txBox="1"/>
          <p:nvPr/>
        </p:nvSpPr>
        <p:spPr>
          <a:xfrm>
            <a:off x="4542616" y="2876914"/>
            <a:ext cx="4426212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비밀번호는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화면에 나타나지 않으나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입력되니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동일한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password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입력할 것</a:t>
            </a:r>
          </a:p>
        </p:txBody>
      </p:sp>
    </p:spTree>
    <p:extLst>
      <p:ext uri="{BB962C8B-B14F-4D97-AF65-F5344CB8AC3E}">
        <p14:creationId xmlns:p14="http://schemas.microsoft.com/office/powerpoint/2010/main" val="378408425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F6E86-E6D6-0759-6765-E6ABB5C7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사용자 운영체제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8B8CA-8737-5B5D-7081-16DFE6F2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다중 사용자 운영체제</a:t>
            </a:r>
            <a:r>
              <a:rPr lang="en-US" altLang="ko-KR" dirty="0"/>
              <a:t>(Multiuser Operating System)</a:t>
            </a:r>
          </a:p>
          <a:p>
            <a:pPr lvl="1"/>
            <a:r>
              <a:rPr lang="ko-KR" altLang="en-US" dirty="0"/>
              <a:t>여러 사용자들이 동시에 같은 </a:t>
            </a:r>
            <a:r>
              <a:rPr lang="en-US" altLang="ko-KR" dirty="0"/>
              <a:t>OS</a:t>
            </a:r>
            <a:r>
              <a:rPr lang="ko-KR" altLang="en-US" dirty="0"/>
              <a:t>에 접근하여 이용 가능</a:t>
            </a:r>
            <a:endParaRPr lang="en-US" altLang="ko-KR" dirty="0"/>
          </a:p>
          <a:p>
            <a:pPr lvl="1"/>
            <a:r>
              <a:rPr lang="en-US" altLang="ko-KR" dirty="0"/>
              <a:t>Linux</a:t>
            </a:r>
            <a:r>
              <a:rPr lang="ko-KR" altLang="en-US" dirty="0"/>
              <a:t>는 완벽한 다중 사용자 운영체제</a:t>
            </a:r>
            <a:endParaRPr lang="en-US" altLang="ko-KR" dirty="0"/>
          </a:p>
          <a:p>
            <a:pPr lvl="2"/>
            <a:r>
              <a:rPr lang="en-US" altLang="ko-KR" dirty="0"/>
              <a:t>root </a:t>
            </a:r>
            <a:r>
              <a:rPr lang="ko-KR" altLang="en-US" dirty="0"/>
              <a:t>사용자</a:t>
            </a:r>
            <a:r>
              <a:rPr lang="en-US" altLang="ko-KR" dirty="0"/>
              <a:t>(</a:t>
            </a:r>
            <a:r>
              <a:rPr lang="ko-KR" altLang="en-US" dirty="0"/>
              <a:t>설치할 때 자동 생성</a:t>
            </a:r>
            <a:r>
              <a:rPr lang="en-US" altLang="ko-KR" dirty="0"/>
              <a:t>) </a:t>
            </a:r>
            <a:r>
              <a:rPr lang="ko-KR" altLang="en-US" dirty="0"/>
              <a:t>권한을 이용</a:t>
            </a:r>
            <a:r>
              <a:rPr lang="en-US" altLang="ko-KR" dirty="0"/>
              <a:t>, </a:t>
            </a:r>
            <a:r>
              <a:rPr lang="ko-KR" altLang="en-US" dirty="0"/>
              <a:t>사용자 추가 가능</a:t>
            </a:r>
            <a:endParaRPr lang="en-US" altLang="ko-KR" dirty="0"/>
          </a:p>
          <a:p>
            <a:pPr lvl="2"/>
            <a:r>
              <a:rPr lang="en-US" altLang="ko-KR" dirty="0"/>
              <a:t>/home </a:t>
            </a:r>
            <a:r>
              <a:rPr lang="ko-KR" altLang="en-US" dirty="0"/>
              <a:t>디렉토리에 개별 사용자를 위한 독립 저장공간 제공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F834C-9FAD-DBD3-FBCB-6F41590A0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7B3CEB-3FCD-1D8E-849E-F5ECD452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55" y="3429000"/>
            <a:ext cx="3520446" cy="27424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AEC7B8-DE71-5E57-DA88-88D525C6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218" y="3189829"/>
            <a:ext cx="3217324" cy="21877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AE0702-01AE-1243-E235-3D8B0E742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363" y="4269565"/>
            <a:ext cx="3401117" cy="21877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8BCCF05-3E60-9EBD-41B2-40991DB439B8}"/>
              </a:ext>
            </a:extLst>
          </p:cNvPr>
          <p:cNvSpPr/>
          <p:nvPr/>
        </p:nvSpPr>
        <p:spPr>
          <a:xfrm>
            <a:off x="4289591" y="4380667"/>
            <a:ext cx="1021014" cy="2724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AA74E8-BC52-316D-E45A-9CE7AADC90B8}"/>
              </a:ext>
            </a:extLst>
          </p:cNvPr>
          <p:cNvSpPr/>
          <p:nvPr/>
        </p:nvSpPr>
        <p:spPr>
          <a:xfrm>
            <a:off x="5501566" y="5485429"/>
            <a:ext cx="977908" cy="3914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04428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BF658-6E2F-81D8-E26A-79EA208E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사용자 계정 관련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8142C-8F25-AF46-271E-15080907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passwd</a:t>
            </a:r>
          </a:p>
          <a:p>
            <a:pPr lvl="1"/>
            <a:r>
              <a:rPr lang="ko-KR" altLang="en-US" dirty="0"/>
              <a:t>사용자의</a:t>
            </a:r>
            <a:r>
              <a:rPr lang="en-US" altLang="ko-KR" dirty="0"/>
              <a:t> </a:t>
            </a:r>
            <a:r>
              <a:rPr lang="ko-KR" altLang="en-US" dirty="0"/>
              <a:t>로그인 </a:t>
            </a:r>
            <a:r>
              <a:rPr lang="en-US" altLang="ko-KR" dirty="0"/>
              <a:t>password</a:t>
            </a:r>
            <a:r>
              <a:rPr lang="ko-KR" altLang="en-US" dirty="0"/>
              <a:t>를 변경</a:t>
            </a:r>
            <a:endParaRPr lang="en-US" altLang="ko-KR" dirty="0"/>
          </a:p>
          <a:p>
            <a:pPr lvl="2"/>
            <a:r>
              <a:rPr lang="en-US" altLang="ko-KR" dirty="0"/>
              <a:t>passwd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현재 로그인한 사용자 계정의 비밀번호 변경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passwd test </a:t>
            </a:r>
            <a:r>
              <a:rPr lang="en-US" altLang="ko-KR" dirty="0">
                <a:sym typeface="Wingdings" panose="05000000000000000000" pitchFamily="2" charset="2"/>
              </a:rPr>
              <a:t> root </a:t>
            </a:r>
            <a:r>
              <a:rPr lang="ko-KR" altLang="en-US" dirty="0">
                <a:sym typeface="Wingdings" panose="05000000000000000000" pitchFamily="2" charset="2"/>
              </a:rPr>
              <a:t>권한으로 사용자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의 비밀번호 변경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6964E-DDD8-021A-5897-CF2F2515E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E72EB8-E335-D520-DEFD-14F5CF2DA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45" y="2852936"/>
            <a:ext cx="4403719" cy="15841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21C219-C1CC-8D69-1EF1-035E458E1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445" y="4550864"/>
            <a:ext cx="5533587" cy="11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70070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ls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(list)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/>
              <a:t>파일정보 확인</a:t>
            </a:r>
            <a:endParaRPr lang="en-US" altLang="ko-KR" dirty="0"/>
          </a:p>
          <a:p>
            <a:pPr lvl="1"/>
            <a:r>
              <a:rPr lang="ko-KR" altLang="en-US" dirty="0"/>
              <a:t>옵션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8E0C22-15BB-78D9-E45E-7D2339B3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93" y="2636912"/>
            <a:ext cx="8261014" cy="316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79995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ls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(list)</a:t>
            </a:r>
            <a:endParaRPr lang="en-US" altLang="ko-KR" dirty="0"/>
          </a:p>
          <a:p>
            <a:pPr lvl="1"/>
            <a:r>
              <a:rPr lang="ko-KR" altLang="en-US" dirty="0"/>
              <a:t>실행 예</a:t>
            </a:r>
            <a:r>
              <a:rPr lang="en-US" altLang="ko-KR" dirty="0"/>
              <a:t>) ls, ls /home, ls –l, ls –a, ls –al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1839D6-890D-AED1-E466-65934D7AE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2011925"/>
            <a:ext cx="7619963" cy="38649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24E326-45B9-8B68-FFA2-D32A6BA3EE3D}"/>
              </a:ext>
            </a:extLst>
          </p:cNvPr>
          <p:cNvSpPr txBox="1"/>
          <p:nvPr/>
        </p:nvSpPr>
        <p:spPr>
          <a:xfrm>
            <a:off x="4274445" y="1988840"/>
            <a:ext cx="446449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디렉토리의 파일정보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240A8-6539-E946-9327-3C9EA462F044}"/>
              </a:ext>
            </a:extLst>
          </p:cNvPr>
          <p:cNvSpPr txBox="1"/>
          <p:nvPr/>
        </p:nvSpPr>
        <p:spPr>
          <a:xfrm>
            <a:off x="4283969" y="2855438"/>
            <a:ext cx="446449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절대경로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(/home)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디렉토리의 파일정보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E9EC5-5819-C7B3-B174-1C33E24364DE}"/>
              </a:ext>
            </a:extLst>
          </p:cNvPr>
          <p:cNvSpPr txBox="1"/>
          <p:nvPr/>
        </p:nvSpPr>
        <p:spPr>
          <a:xfrm>
            <a:off x="4283969" y="3949452"/>
            <a:ext cx="4464496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디렉토리의 파일정보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long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옵션사용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파일의 전체정보와 숨김 파일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(hidden file, “.”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으로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시작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까지 표시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4593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파일정보의 이해 </a:t>
            </a:r>
            <a:r>
              <a:rPr lang="en-US" altLang="ko-KR" dirty="0">
                <a:sym typeface="Wingdings" panose="05000000000000000000" pitchFamily="2" charset="2"/>
              </a:rPr>
              <a:t> long</a:t>
            </a:r>
            <a:r>
              <a:rPr lang="ko-KR" altLang="en-US" dirty="0">
                <a:sym typeface="Wingdings" panose="05000000000000000000" pitchFamily="2" charset="2"/>
              </a:rPr>
              <a:t> 옵션 사용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접근권한 이해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AFF153-34CB-F0B5-16A4-AF19007D7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2" y="4599310"/>
            <a:ext cx="3598031" cy="13992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45E942-B753-8E88-13CF-ACA342819EAD}"/>
              </a:ext>
            </a:extLst>
          </p:cNvPr>
          <p:cNvSpPr txBox="1"/>
          <p:nvPr/>
        </p:nvSpPr>
        <p:spPr>
          <a:xfrm>
            <a:off x="33751" y="5808307"/>
            <a:ext cx="54000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CA411-092B-D509-FCCE-BBE9D96A696E}"/>
              </a:ext>
            </a:extLst>
          </p:cNvPr>
          <p:cNvSpPr txBox="1"/>
          <p:nvPr/>
        </p:nvSpPr>
        <p:spPr>
          <a:xfrm>
            <a:off x="643045" y="5808307"/>
            <a:ext cx="117512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소유자권한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6A8758-405A-E1A3-5570-749EA8956E45}"/>
              </a:ext>
            </a:extLst>
          </p:cNvPr>
          <p:cNvSpPr txBox="1"/>
          <p:nvPr/>
        </p:nvSpPr>
        <p:spPr>
          <a:xfrm>
            <a:off x="1917045" y="5808307"/>
            <a:ext cx="13566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소유그룹권한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FD1B01-8C56-A45E-5D00-439A095AF7CD}"/>
              </a:ext>
            </a:extLst>
          </p:cNvPr>
          <p:cNvSpPr txBox="1"/>
          <p:nvPr/>
        </p:nvSpPr>
        <p:spPr>
          <a:xfrm>
            <a:off x="3351547" y="5808307"/>
            <a:ext cx="16503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사용자권한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00BE05F-AA9C-4B46-1D29-75255BA76F89}"/>
              </a:ext>
            </a:extLst>
          </p:cNvPr>
          <p:cNvCxnSpPr>
            <a:cxnSpLocks/>
          </p:cNvCxnSpPr>
          <p:nvPr/>
        </p:nvCxnSpPr>
        <p:spPr>
          <a:xfrm>
            <a:off x="226061" y="5230615"/>
            <a:ext cx="32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58AEF16-A65E-D86F-82ED-04B698FDA048}"/>
              </a:ext>
            </a:extLst>
          </p:cNvPr>
          <p:cNvCxnSpPr>
            <a:cxnSpLocks/>
          </p:cNvCxnSpPr>
          <p:nvPr/>
        </p:nvCxnSpPr>
        <p:spPr>
          <a:xfrm>
            <a:off x="643045" y="5230615"/>
            <a:ext cx="828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133BF27-B479-30EE-28D1-D8F235BC1F3F}"/>
              </a:ext>
            </a:extLst>
          </p:cNvPr>
          <p:cNvCxnSpPr>
            <a:cxnSpLocks/>
          </p:cNvCxnSpPr>
          <p:nvPr/>
        </p:nvCxnSpPr>
        <p:spPr>
          <a:xfrm>
            <a:off x="1646130" y="5230615"/>
            <a:ext cx="828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A0D547-B44A-3A50-AB81-157A0EE77037}"/>
              </a:ext>
            </a:extLst>
          </p:cNvPr>
          <p:cNvCxnSpPr>
            <a:cxnSpLocks/>
          </p:cNvCxnSpPr>
          <p:nvPr/>
        </p:nvCxnSpPr>
        <p:spPr>
          <a:xfrm>
            <a:off x="2611115" y="5230615"/>
            <a:ext cx="828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EEB65F6-BAB0-7CEA-79CB-F90136CCFCCA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303751" y="5230615"/>
            <a:ext cx="118317" cy="5776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3B8EF62-D914-A27C-4B5F-3459FE5D38DE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69409" y="5230615"/>
            <a:ext cx="261197" cy="5776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3C7CD11-936B-A3B3-77E5-F12A44D8F61F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955152" y="5230615"/>
            <a:ext cx="640203" cy="5776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C1ACD1E-F65B-FC01-D53C-5E7F78DDB159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993502" y="5230615"/>
            <a:ext cx="1183199" cy="5776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A7AD2-48AA-3916-F389-721D6B1BF8E3}"/>
              </a:ext>
            </a:extLst>
          </p:cNvPr>
          <p:cNvSpPr txBox="1"/>
          <p:nvPr/>
        </p:nvSpPr>
        <p:spPr>
          <a:xfrm>
            <a:off x="5116766" y="4588111"/>
            <a:ext cx="14040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종류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디렉토리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- 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파일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CAB33B-9C01-FA08-E1FD-71C5D0E3A98A}"/>
              </a:ext>
            </a:extLst>
          </p:cNvPr>
          <p:cNvSpPr txBox="1"/>
          <p:nvPr/>
        </p:nvSpPr>
        <p:spPr>
          <a:xfrm>
            <a:off x="6647472" y="4599310"/>
            <a:ext cx="1404000" cy="9848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읽기권한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 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쓰기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“</a:t>
            </a:r>
          </a:p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실행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“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8088E1-6181-0698-3B76-ED4B1EBFA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1" y="1589613"/>
            <a:ext cx="8742728" cy="22988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60BB1E-B203-510B-1EBB-5F92E277F31C}"/>
              </a:ext>
            </a:extLst>
          </p:cNvPr>
          <p:cNvSpPr txBox="1"/>
          <p:nvPr/>
        </p:nvSpPr>
        <p:spPr>
          <a:xfrm>
            <a:off x="1682042" y="1846897"/>
            <a:ext cx="7920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갯수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ABE54-972E-8C90-286C-B0DF7A12073C}"/>
              </a:ext>
            </a:extLst>
          </p:cNvPr>
          <p:cNvSpPr txBox="1"/>
          <p:nvPr/>
        </p:nvSpPr>
        <p:spPr>
          <a:xfrm>
            <a:off x="587857" y="2290010"/>
            <a:ext cx="86409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접근권한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036B3F-6E10-84C1-D8FC-0B36E45AD577}"/>
              </a:ext>
            </a:extLst>
          </p:cNvPr>
          <p:cNvSpPr txBox="1"/>
          <p:nvPr/>
        </p:nvSpPr>
        <p:spPr>
          <a:xfrm>
            <a:off x="1826815" y="2586066"/>
            <a:ext cx="54000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DD1EB-7A53-8481-CFD7-5D03C8F49AA8}"/>
              </a:ext>
            </a:extLst>
          </p:cNvPr>
          <p:cNvSpPr txBox="1"/>
          <p:nvPr/>
        </p:nvSpPr>
        <p:spPr>
          <a:xfrm>
            <a:off x="2355492" y="2334932"/>
            <a:ext cx="674023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161846-AD6B-7B02-90AD-7829AB79AADB}"/>
              </a:ext>
            </a:extLst>
          </p:cNvPr>
          <p:cNvSpPr txBox="1"/>
          <p:nvPr/>
        </p:nvSpPr>
        <p:spPr>
          <a:xfrm>
            <a:off x="3241662" y="2340449"/>
            <a:ext cx="86409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소유그룹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5E7CF-8F93-6F69-1C9B-EBDEA2E19CB3}"/>
              </a:ext>
            </a:extLst>
          </p:cNvPr>
          <p:cNvSpPr txBox="1"/>
          <p:nvPr/>
        </p:nvSpPr>
        <p:spPr>
          <a:xfrm>
            <a:off x="4302000" y="2615908"/>
            <a:ext cx="54000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D728BB-FB90-750D-6DCC-036E40E61524}"/>
              </a:ext>
            </a:extLst>
          </p:cNvPr>
          <p:cNvSpPr txBox="1"/>
          <p:nvPr/>
        </p:nvSpPr>
        <p:spPr>
          <a:xfrm>
            <a:off x="5170693" y="2334931"/>
            <a:ext cx="12961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최종변경일시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CFF883-E8BE-1312-7CE4-B5AC29BC6979}"/>
              </a:ext>
            </a:extLst>
          </p:cNvPr>
          <p:cNvSpPr txBox="1"/>
          <p:nvPr/>
        </p:nvSpPr>
        <p:spPr>
          <a:xfrm>
            <a:off x="6995515" y="2332628"/>
            <a:ext cx="1730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디렉토리명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07838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42" grpId="0" animBg="1"/>
      <p:bldP spid="4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chown</a:t>
            </a:r>
            <a:r>
              <a:rPr lang="en-US" altLang="ko-KR" dirty="0"/>
              <a:t> (change of the owner of a file)</a:t>
            </a:r>
          </a:p>
          <a:p>
            <a:pPr lvl="1"/>
            <a:r>
              <a:rPr lang="ko-KR" altLang="en-US" dirty="0"/>
              <a:t>소유권변경 </a:t>
            </a:r>
            <a:r>
              <a:rPr lang="en-US" altLang="ko-KR" dirty="0"/>
              <a:t>(root </a:t>
            </a:r>
            <a:r>
              <a:rPr lang="ko-KR" altLang="en-US" dirty="0"/>
              <a:t>권한 필요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chmod</a:t>
            </a:r>
            <a:r>
              <a:rPr lang="en-US" altLang="ko-KR" dirty="0"/>
              <a:t> (change mode)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접근권한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r>
              <a:rPr lang="ko-KR" altLang="en-US" dirty="0"/>
              <a:t>권한의 추가 및 삭제 예</a:t>
            </a:r>
            <a:endParaRPr lang="en-US" altLang="ko-KR" dirty="0"/>
          </a:p>
          <a:p>
            <a:pPr lvl="2"/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en-US" altLang="ko-KR" dirty="0" err="1"/>
              <a:t>ugo+rwx</a:t>
            </a:r>
            <a:r>
              <a:rPr lang="en-US" altLang="ko-KR" dirty="0"/>
              <a:t> sample</a:t>
            </a:r>
          </a:p>
          <a:p>
            <a:pPr lvl="2"/>
            <a:r>
              <a:rPr lang="en-US" altLang="ko-KR" dirty="0" err="1"/>
              <a:t>chmod</a:t>
            </a:r>
            <a:r>
              <a:rPr lang="en-US" altLang="ko-KR" dirty="0"/>
              <a:t> o-</a:t>
            </a:r>
            <a:r>
              <a:rPr lang="en-US" altLang="ko-KR" dirty="0" err="1"/>
              <a:t>rwx</a:t>
            </a:r>
            <a:r>
              <a:rPr lang="en-US" altLang="ko-KR" dirty="0"/>
              <a:t> sample</a:t>
            </a:r>
          </a:p>
          <a:p>
            <a:pPr lvl="1"/>
            <a:r>
              <a:rPr lang="ko-KR" altLang="en-US" dirty="0"/>
              <a:t>접근권한 값 이용 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아래 표 참고</a:t>
            </a:r>
            <a:endParaRPr lang="en-US" altLang="ko-KR" dirty="0"/>
          </a:p>
          <a:p>
            <a:pPr lvl="2"/>
            <a:r>
              <a:rPr lang="en-US" altLang="ko-KR" dirty="0" err="1"/>
              <a:t>chmod</a:t>
            </a:r>
            <a:r>
              <a:rPr lang="en-US" altLang="ko-KR" dirty="0"/>
              <a:t> 741 sample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4C16E7E9-4D6C-FEFF-6EA3-F803E0548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26328"/>
              </p:ext>
            </p:extLst>
          </p:nvPr>
        </p:nvGraphicFramePr>
        <p:xfrm>
          <a:off x="22797" y="4797152"/>
          <a:ext cx="9073006" cy="1530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6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진수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진수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소유자 읽기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읽기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기타사용자 읽기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소유자 쓰기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쓰기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기타사용자 쓰기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소유자 실행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실행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기타사용자 실행 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073395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 (copy)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파일복사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cp file1 file2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file1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을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file2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로 복사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cp –f file1 file2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이름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중복될 경우 강제 복사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cp –r file1 file2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디렉토리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내의 모든 하위 경로와 파일 복사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154386-C449-D634-595E-8D9E11E1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60" y="2924944"/>
            <a:ext cx="6120680" cy="347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5119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 (move)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파일이동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mv file1 file2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file1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을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file2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로 이름 변경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mv file1 /</a:t>
            </a:r>
            <a:r>
              <a:rPr lang="en-US" altLang="ko-KR" dirty="0" err="1">
                <a:sym typeface="Wingdings" panose="05000000000000000000" pitchFamily="2" charset="2"/>
              </a:rPr>
              <a:t>dir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file1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을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dir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디렉토리로 이동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9CD5B0-77F8-DCCE-DBAA-16D9063B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2" y="2564904"/>
            <a:ext cx="8190476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57046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 </a:t>
            </a:r>
          </a:p>
          <a:p>
            <a:pPr lvl="1"/>
            <a:r>
              <a:rPr lang="ko-KR" altLang="en-US" dirty="0"/>
              <a:t>실행 예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6933A9-2F9B-FF66-40EE-D7D971F0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4" y="2492896"/>
            <a:ext cx="8776912" cy="1872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8712550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rm (remove)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파일삭제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rm file1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file1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을 삭제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rm -f file1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file1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을 강제로 삭제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rm -r </a:t>
            </a:r>
            <a:r>
              <a:rPr lang="en-US" altLang="ko-KR" dirty="0" err="1">
                <a:sym typeface="Wingdings" panose="05000000000000000000" pitchFamily="2" charset="2"/>
              </a:rPr>
              <a:t>dir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dir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디렉토리 삭제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디렉토리 삭제에는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-r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옵션 필수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10000"/>
              </a:lnSpc>
            </a:pP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BB45D2-7B11-3459-6027-75FD7020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69" y="3354851"/>
            <a:ext cx="7013062" cy="251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2149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rm </a:t>
            </a:r>
            <a:r>
              <a:rPr lang="ko-KR" altLang="en-US" dirty="0"/>
              <a:t>실행 예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0FA5B0-745E-8AED-5F81-FEDC92FD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63" y="1921024"/>
            <a:ext cx="8085898" cy="15841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9666247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파일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cat (catenate)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파일의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내용을 화면에 출력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cat</a:t>
            </a:r>
            <a:r>
              <a:rPr lang="ko-KR" altLang="en-US" dirty="0"/>
              <a:t> </a:t>
            </a:r>
            <a:r>
              <a:rPr lang="en-US" altLang="ko-KR" dirty="0"/>
              <a:t>_02_hello.py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파이선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프로그램 내용 출력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cat</a:t>
            </a:r>
            <a:r>
              <a:rPr lang="ko-KR" altLang="en-US" dirty="0"/>
              <a:t> </a:t>
            </a:r>
            <a:r>
              <a:rPr lang="en-US" altLang="ko-KR" dirty="0"/>
              <a:t>_02_hello.py | more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페이지 단위 출력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6357F4-E022-54D8-FCD6-EEF435303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3" y="2444799"/>
            <a:ext cx="8448444" cy="25922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5807861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디렉토리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디렉토리 관련 명령어</a:t>
            </a:r>
            <a:endParaRPr lang="en-US" altLang="ko-KR" dirty="0"/>
          </a:p>
          <a:p>
            <a:pPr lvl="1"/>
            <a:r>
              <a:rPr lang="en-US" altLang="ko-KR" dirty="0" err="1"/>
              <a:t>pwd</a:t>
            </a:r>
            <a:r>
              <a:rPr lang="en-US" altLang="ko-KR" dirty="0"/>
              <a:t> (print name of working directory)</a:t>
            </a:r>
          </a:p>
          <a:p>
            <a:pPr lvl="1"/>
            <a:r>
              <a:rPr lang="en-US" altLang="ko-KR" dirty="0" err="1"/>
              <a:t>mkdir</a:t>
            </a:r>
            <a:r>
              <a:rPr lang="en-US" altLang="ko-KR" dirty="0"/>
              <a:t> (make directory)</a:t>
            </a:r>
          </a:p>
          <a:p>
            <a:pPr lvl="1"/>
            <a:r>
              <a:rPr lang="en-US" altLang="ko-KR" dirty="0"/>
              <a:t>cd (change directory)</a:t>
            </a:r>
          </a:p>
          <a:p>
            <a:pPr lvl="1"/>
            <a:r>
              <a:rPr lang="en-US" altLang="ko-KR" dirty="0" err="1"/>
              <a:t>rmdir</a:t>
            </a:r>
            <a:r>
              <a:rPr lang="en-US" altLang="ko-KR" dirty="0"/>
              <a:t>  (remove directory)</a:t>
            </a:r>
          </a:p>
          <a:p>
            <a:r>
              <a:rPr lang="ko-KR" altLang="en-US" dirty="0"/>
              <a:t>디렉토리 관련 위치 정보</a:t>
            </a:r>
            <a:endParaRPr lang="en-US" altLang="ko-KR" dirty="0"/>
          </a:p>
          <a:p>
            <a:pPr lvl="1"/>
            <a:r>
              <a:rPr lang="en-US" altLang="ko-KR" dirty="0"/>
              <a:t>. </a:t>
            </a:r>
            <a:r>
              <a:rPr lang="en-US" altLang="ko-KR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현재 디렉토리</a:t>
            </a:r>
            <a:endParaRPr lang="en-US" altLang="ko-KR" dirty="0">
              <a:solidFill>
                <a:srgbClr val="002060"/>
              </a:solidFill>
            </a:endParaRPr>
          </a:p>
          <a:p>
            <a:pPr lvl="1"/>
            <a:r>
              <a:rPr lang="en-US" altLang="ko-KR" dirty="0"/>
              <a:t>.. </a:t>
            </a:r>
            <a:r>
              <a:rPr lang="en-US" altLang="ko-KR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상위 디렉토리</a:t>
            </a:r>
            <a:endParaRPr lang="en-US" altLang="ko-KR" dirty="0">
              <a:solidFill>
                <a:srgbClr val="002060"/>
              </a:solidFill>
            </a:endParaRPr>
          </a:p>
          <a:p>
            <a:pPr lvl="1"/>
            <a:r>
              <a:rPr lang="en-US" altLang="ko-KR" dirty="0"/>
              <a:t>~ </a:t>
            </a:r>
            <a:r>
              <a:rPr lang="en-US" altLang="ko-KR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홈 디렉토리</a:t>
            </a:r>
            <a:endParaRPr lang="en-US" altLang="ko-KR" dirty="0">
              <a:solidFill>
                <a:srgbClr val="002060"/>
              </a:solidFill>
            </a:endParaRPr>
          </a:p>
          <a:p>
            <a:pPr lvl="1"/>
            <a:r>
              <a:rPr lang="en-US" altLang="ko-KR" dirty="0"/>
              <a:t>/ </a:t>
            </a:r>
            <a:r>
              <a:rPr lang="en-US" altLang="ko-KR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002060"/>
                </a:solidFill>
              </a:rPr>
              <a:t> root</a:t>
            </a:r>
            <a:r>
              <a:rPr lang="ko-KR" altLang="en-US" dirty="0">
                <a:solidFill>
                  <a:srgbClr val="002060"/>
                </a:solidFill>
              </a:rPr>
              <a:t> 디렉토리</a:t>
            </a:r>
            <a:endParaRPr lang="en-US" altLang="ko-KR" dirty="0">
              <a:solidFill>
                <a:srgbClr val="002060"/>
              </a:solidFill>
            </a:endParaRPr>
          </a:p>
          <a:p>
            <a:pPr lvl="1"/>
            <a:endParaRPr lang="en-US" altLang="ko-KR" dirty="0">
              <a:solidFill>
                <a:srgbClr val="00206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D5D06A-EFDC-4965-4C9B-5F0B94070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996" y="3767622"/>
            <a:ext cx="5342857" cy="2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42118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B117E-6B4D-EF41-6A12-53B0580A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파일시스템의 경로</a:t>
            </a:r>
            <a:r>
              <a:rPr lang="en-US" altLang="ko-KR" dirty="0"/>
              <a:t>(path)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D0B05-1A30-EA08-E3CF-3358AA3C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6192241" cy="5519738"/>
          </a:xfrm>
        </p:spPr>
        <p:txBody>
          <a:bodyPr/>
          <a:lstStyle/>
          <a:p>
            <a:r>
              <a:rPr lang="ko-KR" altLang="en-US" dirty="0"/>
              <a:t>절대경로</a:t>
            </a:r>
            <a:endParaRPr lang="en-US" altLang="ko-KR" dirty="0"/>
          </a:p>
          <a:p>
            <a:pPr lvl="1"/>
            <a:r>
              <a:rPr lang="ko-KR" altLang="en-US" dirty="0"/>
              <a:t>루트</a:t>
            </a:r>
            <a:r>
              <a:rPr lang="en-US" altLang="ko-KR" dirty="0"/>
              <a:t>(/)</a:t>
            </a:r>
            <a:r>
              <a:rPr lang="ko-KR" altLang="en-US" dirty="0"/>
              <a:t>로부터</a:t>
            </a:r>
            <a:r>
              <a:rPr lang="en-US" altLang="ko-KR" dirty="0"/>
              <a:t> </a:t>
            </a:r>
            <a:r>
              <a:rPr lang="ko-KR" altLang="en-US" dirty="0"/>
              <a:t>경유한</a:t>
            </a:r>
            <a:r>
              <a:rPr lang="en-US" altLang="ko-KR" dirty="0"/>
              <a:t> </a:t>
            </a:r>
            <a:r>
              <a:rPr lang="ko-KR" altLang="en-US" dirty="0"/>
              <a:t>경로를</a:t>
            </a:r>
            <a:r>
              <a:rPr lang="en-US" altLang="ko-KR" dirty="0"/>
              <a:t> </a:t>
            </a:r>
            <a:r>
              <a:rPr lang="ko-KR" altLang="en-US" dirty="0"/>
              <a:t>전부</a:t>
            </a:r>
            <a:r>
              <a:rPr lang="en-US" altLang="ko-KR" dirty="0"/>
              <a:t> </a:t>
            </a:r>
            <a:r>
              <a:rPr lang="ko-KR" altLang="en-US" dirty="0"/>
              <a:t>기입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상대경로</a:t>
            </a:r>
            <a:endParaRPr lang="en-US" altLang="ko-KR" dirty="0"/>
          </a:p>
          <a:p>
            <a:pPr lvl="1"/>
            <a:r>
              <a:rPr lang="ko-KR" altLang="en-US" dirty="0"/>
              <a:t>현재</a:t>
            </a:r>
            <a:r>
              <a:rPr lang="en-US" altLang="ko-KR" dirty="0"/>
              <a:t> </a:t>
            </a:r>
            <a:r>
              <a:rPr lang="ko-KR" altLang="en-US" dirty="0"/>
              <a:t>위치를</a:t>
            </a:r>
            <a:r>
              <a:rPr lang="en-US" altLang="ko-KR" dirty="0"/>
              <a:t> </a:t>
            </a:r>
            <a:r>
              <a:rPr lang="ko-KR" altLang="en-US" dirty="0"/>
              <a:t>중심으로 경로</a:t>
            </a:r>
            <a:r>
              <a:rPr lang="en-US" altLang="ko-KR" dirty="0"/>
              <a:t> </a:t>
            </a:r>
            <a:r>
              <a:rPr lang="ko-KR" altLang="en-US" dirty="0"/>
              <a:t>표현</a:t>
            </a:r>
            <a:endParaRPr lang="en-US" altLang="ko-KR" dirty="0"/>
          </a:p>
          <a:p>
            <a:pPr lvl="2"/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현재 위치</a:t>
            </a:r>
            <a:endParaRPr lang="en-US" altLang="ko-KR" dirty="0"/>
          </a:p>
          <a:p>
            <a:pPr lvl="2"/>
            <a:r>
              <a:rPr lang="en-US" altLang="ko-KR" dirty="0"/>
              <a:t>..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상위 위치</a:t>
            </a: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4CBF2-AAA5-7322-419F-414F30DDC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AD00F1EC-C3B2-21CD-1765-4C1D7B4F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438" y="1635268"/>
            <a:ext cx="2986612" cy="315096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8E0EAB19-AEC5-A769-B699-2DDC2E79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736917"/>
            <a:ext cx="4680520" cy="274010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DA8AC2F-9872-DEE4-085E-F69D4C6AE4B8}"/>
              </a:ext>
            </a:extLst>
          </p:cNvPr>
          <p:cNvSpPr txBox="1"/>
          <p:nvPr/>
        </p:nvSpPr>
        <p:spPr>
          <a:xfrm>
            <a:off x="5287412" y="4255436"/>
            <a:ext cx="902811" cy="307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절대경로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25A2FB-26D9-DC56-8107-4B66F62B7A8F}"/>
              </a:ext>
            </a:extLst>
          </p:cNvPr>
          <p:cNvSpPr txBox="1"/>
          <p:nvPr/>
        </p:nvSpPr>
        <p:spPr>
          <a:xfrm>
            <a:off x="5272722" y="4845292"/>
            <a:ext cx="902811" cy="307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상대경로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F53E33-19EC-C17B-9C55-0605DAA4B00D}"/>
              </a:ext>
            </a:extLst>
          </p:cNvPr>
          <p:cNvSpPr txBox="1"/>
          <p:nvPr/>
        </p:nvSpPr>
        <p:spPr>
          <a:xfrm>
            <a:off x="5272721" y="5224235"/>
            <a:ext cx="902811" cy="307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절대경로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B8E411-34B5-809F-BE18-87D110F67A7B}"/>
              </a:ext>
            </a:extLst>
          </p:cNvPr>
          <p:cNvSpPr txBox="1"/>
          <p:nvPr/>
        </p:nvSpPr>
        <p:spPr>
          <a:xfrm>
            <a:off x="5272720" y="5723036"/>
            <a:ext cx="902811" cy="307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상대경로</a:t>
            </a:r>
          </a:p>
        </p:txBody>
      </p:sp>
    </p:spTree>
    <p:extLst>
      <p:ext uri="{BB962C8B-B14F-4D97-AF65-F5344CB8AC3E}">
        <p14:creationId xmlns:p14="http://schemas.microsoft.com/office/powerpoint/2010/main" val="1302461284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</a:t>
            </a:r>
            <a:r>
              <a:rPr lang="ko-KR" altLang="en-US" dirty="0"/>
              <a:t>패키지 관리 </a:t>
            </a:r>
            <a:r>
              <a:rPr lang="en-US" altLang="ko-KR" dirty="0"/>
              <a:t>(</a:t>
            </a:r>
            <a:r>
              <a:rPr lang="ko-KR" altLang="en-US" dirty="0"/>
              <a:t>실습 생략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apt (advance package tool)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저장소</a:t>
            </a:r>
            <a:r>
              <a:rPr lang="en-US" altLang="ko-KR" dirty="0"/>
              <a:t>(package repository)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패키지를 다운로드하여 관리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apt-get</a:t>
            </a:r>
            <a:r>
              <a:rPr lang="ko-KR" altLang="en-US" dirty="0"/>
              <a:t>이 원칙이나</a:t>
            </a:r>
            <a:r>
              <a:rPr lang="en-US" altLang="ko-KR" dirty="0"/>
              <a:t>, </a:t>
            </a:r>
            <a:r>
              <a:rPr lang="ko-KR" altLang="en-US" dirty="0"/>
              <a:t>최근 </a:t>
            </a:r>
            <a:r>
              <a:rPr lang="en-US" altLang="ko-KR" dirty="0"/>
              <a:t>apt</a:t>
            </a:r>
            <a:r>
              <a:rPr lang="ko-KR" altLang="en-US" dirty="0"/>
              <a:t>만을 많이 사용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설치과정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패키지 저장소의 주소를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/apt/</a:t>
            </a:r>
            <a:r>
              <a:rPr lang="en-US" altLang="ko-KR" dirty="0" err="1"/>
              <a:t>sources.list</a:t>
            </a:r>
            <a:r>
              <a:rPr lang="ko-KR" altLang="en-US" dirty="0"/>
              <a:t>에 등록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en-US" altLang="ko-KR" dirty="0"/>
              <a:t>apt-get update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패키지 새로운 목록을 받아 옴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en-US" altLang="ko-KR" dirty="0"/>
              <a:t>apt-cache search [</a:t>
            </a:r>
            <a:r>
              <a:rPr lang="ko-KR" altLang="en-US" dirty="0"/>
              <a:t>패턴</a:t>
            </a:r>
            <a:r>
              <a:rPr lang="en-US" altLang="ko-KR" dirty="0"/>
              <a:t>]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설치 희망 패키지 검색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en-US" altLang="ko-KR" dirty="0"/>
              <a:t>apt-get install [</a:t>
            </a:r>
            <a:r>
              <a:rPr lang="ko-KR" altLang="en-US" dirty="0"/>
              <a:t>패키지</a:t>
            </a:r>
            <a:r>
              <a:rPr lang="en-US" altLang="ko-KR" dirty="0"/>
              <a:t>]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패키지 설치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apt-get </a:t>
            </a:r>
            <a:r>
              <a:rPr lang="ko-KR" altLang="en-US" dirty="0"/>
              <a:t>하위명령과 옵션</a:t>
            </a:r>
            <a:endParaRPr lang="en-US" altLang="ko-KR" dirty="0"/>
          </a:p>
          <a:p>
            <a:pPr lvl="1"/>
            <a:endParaRPr lang="en-US" altLang="ko-KR" dirty="0">
              <a:solidFill>
                <a:srgbClr val="00206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5E20CC-D54E-F659-D42A-A716435F9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58435"/>
              </p:ext>
            </p:extLst>
          </p:nvPr>
        </p:nvGraphicFramePr>
        <p:xfrm>
          <a:off x="136697" y="4330784"/>
          <a:ext cx="8827791" cy="2194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4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하위명령</a:t>
                      </a: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목록 얻어 옴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-d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내려 받기만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upgrade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업데이트 검색 및 설치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-f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의존성 문제 해결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install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설치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-u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업그레이드된 패키지 보여 줌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remove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삭제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-purge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설정파일까지 삭제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autoclean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불완전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패키지 삭제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-reinstall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버전의 패키지 다시 설치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838591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vi</a:t>
            </a:r>
            <a:r>
              <a:rPr lang="ko-KR" altLang="en-US" dirty="0"/>
              <a:t> 편집기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기능이</a:t>
            </a:r>
            <a:r>
              <a:rPr lang="en-US" altLang="ko-KR" dirty="0"/>
              <a:t> </a:t>
            </a:r>
            <a:r>
              <a:rPr lang="ko-KR" altLang="en-US" dirty="0"/>
              <a:t>추가된 </a:t>
            </a:r>
            <a:r>
              <a:rPr lang="en-US" altLang="ko-KR" dirty="0"/>
              <a:t>vim(vi improved) </a:t>
            </a:r>
            <a:r>
              <a:rPr lang="ko-KR" altLang="en-US" dirty="0"/>
              <a:t>사용가능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update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vim</a:t>
            </a:r>
          </a:p>
          <a:p>
            <a:r>
              <a:rPr lang="en-US" altLang="ko-KR" dirty="0"/>
              <a:t>vi</a:t>
            </a:r>
            <a:r>
              <a:rPr lang="ko-KR" altLang="en-US" dirty="0"/>
              <a:t>의 모드</a:t>
            </a:r>
            <a:endParaRPr lang="en-US" altLang="ko-KR" dirty="0"/>
          </a:p>
          <a:p>
            <a:pPr lvl="1"/>
            <a:r>
              <a:rPr lang="ko-KR" altLang="en-US" dirty="0"/>
              <a:t>명령모드 </a:t>
            </a:r>
            <a:r>
              <a:rPr lang="en-US" altLang="ko-KR" dirty="0"/>
              <a:t>(Command Mode)</a:t>
            </a:r>
          </a:p>
          <a:p>
            <a:pPr lvl="2"/>
            <a:r>
              <a:rPr lang="ko-KR" altLang="en-US" dirty="0"/>
              <a:t>이동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복사 등 일반적인 기능 활용 모드</a:t>
            </a:r>
            <a:endParaRPr lang="en-US" altLang="ko-KR" dirty="0"/>
          </a:p>
          <a:p>
            <a:pPr lvl="1"/>
            <a:r>
              <a:rPr lang="ko-KR" altLang="en-US" dirty="0"/>
              <a:t>입력모드 </a:t>
            </a:r>
            <a:r>
              <a:rPr lang="en-US" altLang="ko-KR" dirty="0"/>
              <a:t>(insert</a:t>
            </a:r>
            <a:r>
              <a:rPr lang="ko-KR" altLang="en-US" dirty="0"/>
              <a:t> </a:t>
            </a:r>
            <a:r>
              <a:rPr lang="en-US" altLang="ko-KR" dirty="0"/>
              <a:t>mode)</a:t>
            </a:r>
          </a:p>
          <a:p>
            <a:pPr lvl="2"/>
            <a:r>
              <a:rPr lang="ko-KR" altLang="en-US" dirty="0"/>
              <a:t>명령모드에서</a:t>
            </a:r>
            <a:r>
              <a:rPr lang="en-US" altLang="ko-KR" dirty="0"/>
              <a:t> </a:t>
            </a:r>
            <a:r>
              <a:rPr lang="ko-KR" altLang="en-US" dirty="0"/>
              <a:t>입력키</a:t>
            </a:r>
            <a:r>
              <a:rPr lang="en-US" altLang="ko-KR" dirty="0"/>
              <a:t>(a, o, 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  <a:r>
              <a:rPr lang="ko-KR" altLang="en-US" dirty="0"/>
              <a:t>를 눌러 입력모드 전환</a:t>
            </a:r>
            <a:r>
              <a:rPr lang="en-US" altLang="ko-KR" dirty="0"/>
              <a:t>. </a:t>
            </a:r>
            <a:r>
              <a:rPr lang="ko-KR" altLang="en-US" dirty="0"/>
              <a:t>텍스트 입력 가능</a:t>
            </a:r>
            <a:r>
              <a:rPr lang="en-US" altLang="ko-KR" dirty="0"/>
              <a:t>, “Esc”</a:t>
            </a:r>
            <a:r>
              <a:rPr lang="ko-KR" altLang="en-US" dirty="0"/>
              <a:t>키 이용 명령모드로 전환</a:t>
            </a:r>
            <a:endParaRPr lang="en-US" altLang="ko-KR" dirty="0"/>
          </a:p>
          <a:p>
            <a:pPr lvl="1"/>
            <a:r>
              <a:rPr lang="en-US" altLang="ko-KR" dirty="0"/>
              <a:t>Ex </a:t>
            </a:r>
            <a:r>
              <a:rPr lang="ko-KR" altLang="en-US" dirty="0"/>
              <a:t>모드</a:t>
            </a:r>
            <a:endParaRPr lang="en-US" altLang="ko-KR" dirty="0"/>
          </a:p>
          <a:p>
            <a:pPr lvl="2"/>
            <a:r>
              <a:rPr lang="en-US" altLang="ko-KR" dirty="0"/>
              <a:t>“:”</a:t>
            </a:r>
            <a:r>
              <a:rPr lang="ko-KR" altLang="en-US" dirty="0"/>
              <a:t>키를</a:t>
            </a:r>
            <a:r>
              <a:rPr lang="en-US" altLang="ko-KR" dirty="0"/>
              <a:t> </a:t>
            </a:r>
            <a:r>
              <a:rPr lang="ko-KR" altLang="en-US" dirty="0"/>
              <a:t>누르면 </a:t>
            </a:r>
            <a:r>
              <a:rPr lang="en-US" altLang="ko-KR" dirty="0"/>
              <a:t>ex </a:t>
            </a:r>
            <a:r>
              <a:rPr lang="ko-KR" altLang="en-US" dirty="0"/>
              <a:t>모드로 전환</a:t>
            </a:r>
            <a:r>
              <a:rPr lang="en-US" altLang="ko-KR" dirty="0"/>
              <a:t>. </a:t>
            </a:r>
            <a:r>
              <a:rPr lang="ko-KR" altLang="en-US" dirty="0"/>
              <a:t>확장된 기능</a:t>
            </a:r>
            <a:r>
              <a:rPr lang="en-US" altLang="ko-KR" dirty="0"/>
              <a:t>(</a:t>
            </a:r>
            <a:r>
              <a:rPr lang="ko-KR" altLang="en-US" dirty="0"/>
              <a:t>파일저장</a:t>
            </a:r>
            <a:r>
              <a:rPr lang="en-US" altLang="ko-KR" dirty="0"/>
              <a:t>, </a:t>
            </a:r>
            <a:r>
              <a:rPr lang="ko-KR" altLang="en-US" dirty="0"/>
              <a:t>종료</a:t>
            </a:r>
            <a:r>
              <a:rPr lang="en-US" altLang="ko-KR" dirty="0"/>
              <a:t>, </a:t>
            </a:r>
            <a:r>
              <a:rPr lang="ko-KR" altLang="en-US" dirty="0"/>
              <a:t>특정 행 이동</a:t>
            </a:r>
            <a:r>
              <a:rPr lang="en-US" altLang="ko-KR" dirty="0"/>
              <a:t>, </a:t>
            </a:r>
            <a:r>
              <a:rPr lang="ko-KR" altLang="en-US" dirty="0"/>
              <a:t>행 번호 붙이기</a:t>
            </a:r>
            <a:r>
              <a:rPr lang="en-US" altLang="ko-KR" dirty="0"/>
              <a:t>) </a:t>
            </a:r>
            <a:r>
              <a:rPr lang="ko-KR" altLang="en-US" dirty="0"/>
              <a:t>활용 가능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3485055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vi</a:t>
            </a:r>
            <a:r>
              <a:rPr lang="ko-KR" altLang="en-US" dirty="0"/>
              <a:t> 편집기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9E8F49-F1D9-5D6E-4B53-DB2D86BF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22" y="1016964"/>
            <a:ext cx="7965556" cy="54755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6082070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명령어 </a:t>
            </a:r>
            <a:r>
              <a:rPr lang="en-US" altLang="ko-KR" dirty="0"/>
              <a:t>: nano</a:t>
            </a:r>
            <a:r>
              <a:rPr lang="ko-KR" altLang="en-US" dirty="0"/>
              <a:t> 편집기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nano</a:t>
            </a:r>
          </a:p>
          <a:p>
            <a:pPr lvl="1"/>
            <a:r>
              <a:rPr lang="en-US" altLang="ko-KR" dirty="0"/>
              <a:t>vi </a:t>
            </a:r>
            <a:r>
              <a:rPr lang="ko-KR" altLang="en-US" dirty="0"/>
              <a:t>편집기보다 사용하기 간단한 텍스트 편집기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저장은 </a:t>
            </a:r>
            <a:r>
              <a:rPr lang="en-US" altLang="ko-KR" dirty="0"/>
              <a:t>^X </a:t>
            </a:r>
            <a:r>
              <a:rPr lang="ko-KR" altLang="en-US" dirty="0"/>
              <a:t>후 </a:t>
            </a:r>
            <a:r>
              <a:rPr lang="en-US" altLang="ko-KR" dirty="0"/>
              <a:t>“Y”, </a:t>
            </a:r>
            <a:r>
              <a:rPr lang="ko-KR" altLang="en-US" dirty="0"/>
              <a:t>마지막으로</a:t>
            </a:r>
            <a:r>
              <a:rPr lang="en-US" altLang="ko-KR" dirty="0"/>
              <a:t> “Enter” </a:t>
            </a:r>
            <a:r>
              <a:rPr lang="ko-KR" altLang="en-US" dirty="0"/>
              <a:t>키 누름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AE88D4-C48A-6008-0DA0-690E30CCD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43" y="3415486"/>
            <a:ext cx="6085714" cy="28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B3095D1-3782-BF08-58D5-A6719AF74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492896"/>
            <a:ext cx="7994848" cy="65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92306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가상환경 설치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터미널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시작과 종료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네트워크 관리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루트 권한 획득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파일 관리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디렉토리 관리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패키지 관리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텍스트 편집기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 advTm="65490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4EF644E-1DB6-59AA-9185-EA9737548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88400"/>
              </p:ext>
            </p:extLst>
          </p:nvPr>
        </p:nvGraphicFramePr>
        <p:xfrm>
          <a:off x="323528" y="916967"/>
          <a:ext cx="8424934" cy="5615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78716217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8856203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33199485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46771308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65849839"/>
                    </a:ext>
                  </a:extLst>
                </a:gridCol>
                <a:gridCol w="1872206">
                  <a:extLst>
                    <a:ext uri="{9D8B030D-6E8A-4147-A177-3AD203B41FA5}">
                      <a16:colId xmlns:a16="http://schemas.microsoft.com/office/drawing/2014/main" val="3516576112"/>
                    </a:ext>
                  </a:extLst>
                </a:gridCol>
              </a:tblGrid>
              <a:tr h="1665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04506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activate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move (mv)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311275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add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operate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16716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advance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693055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binary (bin)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owner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668539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boot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package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037647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catenate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password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582115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154834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command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permission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1902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configuration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333377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configure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306953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copy (cp)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process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0320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correct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raspi-config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776886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deactivate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remove (rm)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346226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repository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100611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destination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903813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root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214554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directory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runtime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6903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environment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search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092559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exit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2052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gateway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shutdown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29705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hidden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992727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host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substitute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2963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information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successfully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931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insert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switch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165569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install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861208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interface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terminal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17183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interpret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586704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list (ls)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update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251382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make (mk)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user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038196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virtual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19477"/>
                  </a:ext>
                </a:extLst>
              </a:tr>
              <a:tr h="166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work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78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82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1CCD-4D60-B86F-C3A8-FA9464B3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43F8B1E-65E0-3321-6C90-789FC79B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55DD49-0F4E-41C2-3C3A-A001282A3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1E96207-E4D8-79B6-F502-A7BC9FBD6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94755"/>
              </p:ext>
            </p:extLst>
          </p:nvPr>
        </p:nvGraphicFramePr>
        <p:xfrm>
          <a:off x="935596" y="1286287"/>
          <a:ext cx="7272808" cy="4824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322039444"/>
                    </a:ext>
                  </a:extLst>
                </a:gridCol>
                <a:gridCol w="4859808">
                  <a:extLst>
                    <a:ext uri="{9D8B030D-6E8A-4147-A177-3AD203B41FA5}">
                      <a16:colId xmlns:a16="http://schemas.microsoft.com/office/drawing/2014/main" val="3274209739"/>
                    </a:ext>
                  </a:extLst>
                </a:gridCol>
              </a:tblGrid>
              <a:tr h="3446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35768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39212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Cursor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7508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Linux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737304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localhost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685063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nano editor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868736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Prompt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41787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sudo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483702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Thonny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8667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가상환경</a:t>
                      </a:r>
                      <a:r>
                        <a:rPr lang="en-US" altLang="ko-KR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Virtual Environment)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924188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다중사용자 운영체제 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538742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상대경로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48439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절대경로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556593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파일의 접근 권한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80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599107"/>
      </p:ext>
    </p:extLst>
  </p:cSld>
  <p:clrMapOvr>
    <a:masterClrMapping/>
  </p:clrMapOvr>
  <p:transition advTm="65490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en-US" altLang="ko-KR" dirty="0"/>
              <a:t>shutdown,</a:t>
            </a:r>
            <a:r>
              <a:rPr lang="ko-KR" altLang="en-US" dirty="0"/>
              <a:t> </a:t>
            </a:r>
            <a:r>
              <a:rPr lang="en-US" altLang="ko-KR" dirty="0"/>
              <a:t>reboot,</a:t>
            </a:r>
            <a:r>
              <a:rPr lang="ko-KR" altLang="en-US" dirty="0"/>
              <a:t> </a:t>
            </a:r>
            <a:r>
              <a:rPr lang="en-US" altLang="ko-KR" dirty="0"/>
              <a:t>ls,</a:t>
            </a:r>
            <a:r>
              <a:rPr lang="ko-KR" altLang="en-US" dirty="0"/>
              <a:t> </a:t>
            </a:r>
            <a:r>
              <a:rPr lang="en-US" altLang="ko-KR" dirty="0" err="1"/>
              <a:t>mkdir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cat,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en-US" altLang="ko-KR" dirty="0"/>
              <a:t>vi </a:t>
            </a:r>
            <a:r>
              <a:rPr lang="ko-KR" altLang="en-US" dirty="0"/>
              <a:t>혹은 </a:t>
            </a:r>
            <a:r>
              <a:rPr lang="en-US" altLang="ko-KR" dirty="0"/>
              <a:t>nano </a:t>
            </a:r>
            <a:r>
              <a:rPr lang="ko-KR" altLang="en-US" dirty="0"/>
              <a:t>편집기를 이용하여 문서 작성하기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27469</TotalTime>
  <Words>2145</Words>
  <Application>Microsoft Office PowerPoint</Application>
  <PresentationFormat>화면 슬라이드 쇼(4:3)</PresentationFormat>
  <Paragraphs>536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7" baseType="lpstr">
      <vt:lpstr>HY견고딕</vt:lpstr>
      <vt:lpstr>Malgun Gothic Semilight</vt:lpstr>
      <vt:lpstr>Whitney</vt:lpstr>
      <vt:lpstr>굴림</vt:lpstr>
      <vt:lpstr>맑은 고딕</vt:lpstr>
      <vt:lpstr>휴먼편지체</vt:lpstr>
      <vt:lpstr>Gadugi</vt:lpstr>
      <vt:lpstr>Times New Roman</vt:lpstr>
      <vt:lpstr>Wingdings</vt:lpstr>
      <vt:lpstr>기본 디자인</vt:lpstr>
      <vt:lpstr>3강. 파이썬 가상환경 및             리눅스(Linux) 명령어</vt:lpstr>
      <vt:lpstr>PowerPoint 프레젠테이션</vt:lpstr>
      <vt:lpstr>생각 더하기</vt:lpstr>
      <vt:lpstr>학습목표</vt:lpstr>
      <vt:lpstr>파이썬 가상환경</vt:lpstr>
      <vt:lpstr>[실습 1] 파이썬 가상환경 구성</vt:lpstr>
      <vt:lpstr>[실습 1] 파이썬 가상환경 구성</vt:lpstr>
      <vt:lpstr>[실습 1] 파이썬 가상환경 구성</vt:lpstr>
      <vt:lpstr>[실습 1] 파이썬 가상환경 구성</vt:lpstr>
      <vt:lpstr>[실습 1] 파이썬 가상환경 구성</vt:lpstr>
      <vt:lpstr>[실습 2] 가상환경으로 파이썬 실행</vt:lpstr>
      <vt:lpstr>[실습 2] 가상환경으로 파이썬 실행</vt:lpstr>
      <vt:lpstr>[실습 2] 가상환경으로 파이썬 실행</vt:lpstr>
      <vt:lpstr>[실습 2] 가상환경으로 파이썬 실행</vt:lpstr>
      <vt:lpstr>[실습 2] 가상환경으로 파이썬 실행</vt:lpstr>
      <vt:lpstr>[실습 2] 가상환경으로 파이썬 실행</vt:lpstr>
      <vt:lpstr>PowerPoint 프레젠테이션</vt:lpstr>
      <vt:lpstr>터미널 </vt:lpstr>
      <vt:lpstr>리눅스 명령어 : 시작과 종료</vt:lpstr>
      <vt:lpstr>리눅스 명령어 : 로그인과 로그아웃</vt:lpstr>
      <vt:lpstr>리눅스 명령어 : 로그인과 로그아웃</vt:lpstr>
      <vt:lpstr>리눅스 명령어 : 시작과 종료</vt:lpstr>
      <vt:lpstr>리눅스 명령어 : Raspberry Pi 설정</vt:lpstr>
      <vt:lpstr>리눅스 명령어 : 네트워크 확인</vt:lpstr>
      <vt:lpstr>리눅스 명령어 : 네트워크 확인</vt:lpstr>
      <vt:lpstr>리눅스 명령어 : 네트워크 확인</vt:lpstr>
      <vt:lpstr>리눅스 명령어 : 네트워크 확인</vt:lpstr>
      <vt:lpstr>리눅스 명령어 : 네트워크 확인</vt:lpstr>
      <vt:lpstr>리눅스 명령어 : 네트워크 확인</vt:lpstr>
      <vt:lpstr>Linux 시스템의 디렉토리 구조</vt:lpstr>
      <vt:lpstr>리눅스 명령어 : 루트 권한 획득</vt:lpstr>
      <vt:lpstr>리눅스 명령어 : 루트 권한 획득</vt:lpstr>
      <vt:lpstr>리눅스 명령어 : 사용자 계정 관련</vt:lpstr>
      <vt:lpstr>리눅스 명령어 : 새로운 사용자 추가</vt:lpstr>
      <vt:lpstr>다중 사용자 운영체제</vt:lpstr>
      <vt:lpstr>리눅스 명령어 : 사용자 계정 관련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파일 관리</vt:lpstr>
      <vt:lpstr>리눅스 명령어 : 디렉토리 관리</vt:lpstr>
      <vt:lpstr>파일시스템의 경로(path)</vt:lpstr>
      <vt:lpstr>리눅스 명령어 : 패키지 관리 (실습 생략)</vt:lpstr>
      <vt:lpstr>리눅스 명령어 : vi 편집기</vt:lpstr>
      <vt:lpstr>리눅스 명령어 : vi 편집기</vt:lpstr>
      <vt:lpstr>리눅스 명령어 : nano 편집기</vt:lpstr>
      <vt:lpstr>Summary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401</cp:revision>
  <cp:lastPrinted>2022-07-06T04:11:04Z</cp:lastPrinted>
  <dcterms:created xsi:type="dcterms:W3CDTF">2003-05-07T20:17:23Z</dcterms:created>
  <dcterms:modified xsi:type="dcterms:W3CDTF">2025-09-03T07:41:40Z</dcterms:modified>
</cp:coreProperties>
</file>