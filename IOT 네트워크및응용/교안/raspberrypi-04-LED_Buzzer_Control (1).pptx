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handoutMasterIdLst>
    <p:handoutMasterId r:id="rId46"/>
  </p:handoutMasterIdLst>
  <p:sldIdLst>
    <p:sldId id="632" r:id="rId2"/>
    <p:sldId id="648" r:id="rId3"/>
    <p:sldId id="1147" r:id="rId4"/>
    <p:sldId id="705" r:id="rId5"/>
    <p:sldId id="1194" r:id="rId6"/>
    <p:sldId id="1195" r:id="rId7"/>
    <p:sldId id="1197" r:id="rId8"/>
    <p:sldId id="1196" r:id="rId9"/>
    <p:sldId id="1198" r:id="rId10"/>
    <p:sldId id="1199" r:id="rId11"/>
    <p:sldId id="1200" r:id="rId12"/>
    <p:sldId id="772" r:id="rId13"/>
    <p:sldId id="778" r:id="rId14"/>
    <p:sldId id="773" r:id="rId15"/>
    <p:sldId id="775" r:id="rId16"/>
    <p:sldId id="714" r:id="rId17"/>
    <p:sldId id="1201" r:id="rId18"/>
    <p:sldId id="1203" r:id="rId19"/>
    <p:sldId id="1204" r:id="rId20"/>
    <p:sldId id="1202" r:id="rId21"/>
    <p:sldId id="1205" r:id="rId22"/>
    <p:sldId id="1206" r:id="rId23"/>
    <p:sldId id="1207" r:id="rId24"/>
    <p:sldId id="1219" r:id="rId25"/>
    <p:sldId id="1176" r:id="rId26"/>
    <p:sldId id="1208" r:id="rId27"/>
    <p:sldId id="1209" r:id="rId28"/>
    <p:sldId id="1210" r:id="rId29"/>
    <p:sldId id="1211" r:id="rId30"/>
    <p:sldId id="1212" r:id="rId31"/>
    <p:sldId id="1213" r:id="rId32"/>
    <p:sldId id="1214" r:id="rId33"/>
    <p:sldId id="1215" r:id="rId34"/>
    <p:sldId id="1216" r:id="rId35"/>
    <p:sldId id="1217" r:id="rId36"/>
    <p:sldId id="1218" r:id="rId37"/>
    <p:sldId id="1220" r:id="rId38"/>
    <p:sldId id="702" r:id="rId39"/>
    <p:sldId id="1221" r:id="rId40"/>
    <p:sldId id="1222" r:id="rId41"/>
    <p:sldId id="1193" r:id="rId42"/>
    <p:sldId id="1192" r:id="rId43"/>
    <p:sldId id="703" r:id="rId44"/>
  </p:sldIdLst>
  <p:sldSz cx="9144000" cy="6858000" type="screen4x3"/>
  <p:notesSz cx="6797675" cy="9929813"/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5pPr>
    <a:lvl6pPr marL="22860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6pPr>
    <a:lvl7pPr marL="27432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7pPr>
    <a:lvl8pPr marL="32004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8pPr>
    <a:lvl9pPr marL="3657600" algn="l" defTabSz="914400" rtl="0" eaLnBrk="1" latinLnBrk="1" hangingPunct="1">
      <a:defRPr kumimoji="1" sz="1600" kern="1200">
        <a:solidFill>
          <a:schemeClr val="tx1"/>
        </a:solidFill>
        <a:latin typeface="HY견고딕" pitchFamily="18" charset="-127"/>
        <a:ea typeface="HY견고딕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형래" initials="김" lastIdx="1" clrIdx="0">
    <p:extLst>
      <p:ext uri="{19B8F6BF-5375-455C-9EA6-DF929625EA0E}">
        <p15:presenceInfo xmlns:p15="http://schemas.microsoft.com/office/powerpoint/2012/main" userId="S::broadway4u@office.doowon.ac.kr::d8a570ee-eeba-4a26-8af4-093085b7416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  <a:srgbClr val="FF6600"/>
    <a:srgbClr val="00518E"/>
    <a:srgbClr val="0066CC"/>
    <a:srgbClr val="CC6600"/>
    <a:srgbClr val="6600CC"/>
    <a:srgbClr val="CC3300"/>
    <a:srgbClr val="CC0000"/>
    <a:srgbClr val="FFFF00"/>
    <a:srgbClr val="FFCC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55" autoAdjust="0"/>
    <p:restoredTop sz="94148" autoAdjust="0"/>
  </p:normalViewPr>
  <p:slideViewPr>
    <p:cSldViewPr>
      <p:cViewPr varScale="1">
        <p:scale>
          <a:sx n="57" d="100"/>
          <a:sy n="57" d="100"/>
        </p:scale>
        <p:origin x="66" y="107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30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501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A8C382E9-E5ED-4CED-B6BC-23B4AA5643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849321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51099" y="0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86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19163" y="746125"/>
            <a:ext cx="496093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6141" y="4715629"/>
            <a:ext cx="4985393" cy="44679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51099" y="9431259"/>
            <a:ext cx="2946576" cy="4985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28" tIns="46715" rIns="93428" bIns="46715" numCol="1" anchor="b" anchorCtr="0" compatLnSpc="1">
            <a:prstTxWarp prst="textNoShape">
              <a:avLst/>
            </a:prstTxWarp>
          </a:bodyPr>
          <a:lstStyle>
            <a:lvl1pPr algn="r" defTabSz="934331">
              <a:defRPr sz="1200">
                <a:latin typeface="굴림" pitchFamily="50" charset="-127"/>
                <a:ea typeface="굴림" pitchFamily="50" charset="-127"/>
              </a:defRPr>
            </a:lvl1pPr>
          </a:lstStyle>
          <a:p>
            <a:pPr>
              <a:defRPr/>
            </a:pPr>
            <a:fld id="{53C7CC32-617A-4543-9F16-0492C8AD01F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61329893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53C7CC32-617A-4543-9F16-0492C8AD01FA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697593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A4C1E9-341E-47A5-AC3A-D9E2B75F852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accent6">
                  <a:lumMod val="50000"/>
                </a:schemeClr>
              </a:buClr>
              <a:defRPr b="1">
                <a:latin typeface="맑은 고딕" pitchFamily="50" charset="-127"/>
                <a:ea typeface="맑은 고딕" pitchFamily="50" charset="-127"/>
              </a:defRPr>
            </a:lvl1pPr>
            <a:lvl2pPr marL="540000" indent="-216000">
              <a:buClr>
                <a:schemeClr val="accent6">
                  <a:lumMod val="50000"/>
                </a:schemeClr>
              </a:buClr>
              <a:defRPr sz="2000" b="1">
                <a:solidFill>
                  <a:srgbClr val="0070C0"/>
                </a:solidFill>
                <a:latin typeface="맑은 고딕" pitchFamily="50" charset="-127"/>
                <a:ea typeface="맑은 고딕" pitchFamily="50" charset="-127"/>
              </a:defRPr>
            </a:lvl2pPr>
            <a:lvl3pPr marL="900000">
              <a:defRPr sz="1800" b="1">
                <a:solidFill>
                  <a:schemeClr val="tx1">
                    <a:lumMod val="75000"/>
                    <a:lumOff val="25000"/>
                  </a:schemeClr>
                </a:solidFill>
                <a:latin typeface="맑은 고딕" pitchFamily="50" charset="-127"/>
                <a:ea typeface="맑은 고딕" pitchFamily="50" charset="-127"/>
              </a:defRPr>
            </a:lvl3pPr>
            <a:lvl4pPr>
              <a:defRPr sz="1800" b="1">
                <a:latin typeface="맑은 고딕" pitchFamily="50" charset="-127"/>
                <a:ea typeface="맑은 고딕" pitchFamily="50" charset="-127"/>
              </a:defRPr>
            </a:lvl4pPr>
            <a:lvl5pPr>
              <a:defRPr sz="1800" b="1">
                <a:latin typeface="맑은 고딕" pitchFamily="50" charset="-127"/>
                <a:ea typeface="맑은 고딕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77C9E6-AAC5-4CE3-AEB9-B27125AB2F7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ACB472-C4C4-477E-8AC0-53956F98114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481EA1-F96D-428B-BAD9-77C664AB889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581765-32A9-43A2-A13B-73A4EFC8A23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534400" y="6597352"/>
            <a:ext cx="533400" cy="235185"/>
          </a:xfrm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8C69D1-562B-4BA3-B970-F557F717323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9A63119-A075-4A06-B8B9-191AF54DF5F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1034A6-DBBC-48F1-A09B-6AF30E1274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1C30B49-4FB7-4305-BEBF-6D643FD0662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ABB478B-1B83-4F62-9152-5F83492182B6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21488" y="188913"/>
            <a:ext cx="2236787" cy="6373812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07950" y="188913"/>
            <a:ext cx="6561138" cy="6373812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C8E164-0165-4B37-AF99-AD7B6ECE1734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 preserve="1">
  <p:cSld name="제목, 텍스트 및 차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7950" y="188913"/>
            <a:ext cx="8928100" cy="546100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107950" y="981075"/>
            <a:ext cx="4398963" cy="558165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차트 개체 틀 3"/>
          <p:cNvSpPr>
            <a:spLocks noGrp="1"/>
          </p:cNvSpPr>
          <p:nvPr>
            <p:ph type="chart" sz="half" idx="2"/>
          </p:nvPr>
        </p:nvSpPr>
        <p:spPr>
          <a:xfrm>
            <a:off x="4659313" y="981075"/>
            <a:ext cx="4398962" cy="5581650"/>
          </a:xfrm>
        </p:spPr>
        <p:txBody>
          <a:bodyPr/>
          <a:lstStyle/>
          <a:p>
            <a:pPr lvl="0"/>
            <a:endParaRPr lang="ko-KR" altLang="en-US" noProof="0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B23F4B-D0D5-4898-8A05-343EBDC5E87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15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3175" y="6500813"/>
            <a:ext cx="7232650" cy="35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27" name="Picture 14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9144000" cy="1052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07950" y="55672"/>
            <a:ext cx="8928100" cy="8072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07950" y="981075"/>
            <a:ext cx="8950325" cy="55197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534400" y="6534150"/>
            <a:ext cx="533400" cy="28272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rgbClr val="0066CC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C0C53A76-8A71-4B64-A76C-1B97F54C0D92}" type="slidenum">
              <a:rPr lang="en-US" altLang="ko-KR" smtClean="0"/>
              <a:pPr>
                <a:defRPr/>
              </a:pPr>
              <a:t>‹#›</a:t>
            </a:fld>
            <a:endParaRPr lang="en-US" altLang="ko-KR" dirty="0"/>
          </a:p>
        </p:txBody>
      </p:sp>
      <p:sp>
        <p:nvSpPr>
          <p:cNvPr id="9" name="TextBox 8"/>
          <p:cNvSpPr txBox="1"/>
          <p:nvPr userDrawn="1"/>
        </p:nvSpPr>
        <p:spPr>
          <a:xfrm>
            <a:off x="0" y="6512359"/>
            <a:ext cx="226774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꿈     은 이루어진다</a:t>
            </a:r>
            <a:r>
              <a:rPr kumimoji="1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rgbClr val="CC33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맑은 고딕" pitchFamily="50" charset="-127"/>
                <a:ea typeface="맑은 고딕" pitchFamily="50" charset="-127"/>
                <a:cs typeface="+mn-cs"/>
              </a:rPr>
              <a:t>!</a:t>
            </a:r>
            <a:endParaRPr lang="ko-KR" altLang="en-US" dirty="0">
              <a:solidFill>
                <a:srgbClr val="CC3300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0" name="포인트가 5개인 별 9"/>
          <p:cNvSpPr/>
          <p:nvPr userDrawn="1"/>
        </p:nvSpPr>
        <p:spPr>
          <a:xfrm>
            <a:off x="286457" y="6453336"/>
            <a:ext cx="360040" cy="380578"/>
          </a:xfrm>
          <a:prstGeom prst="star5">
            <a:avLst/>
          </a:prstGeom>
          <a:solidFill>
            <a:srgbClr val="FF0000"/>
          </a:solidFill>
          <a:ln w="3175">
            <a:solidFill>
              <a:srgbClr val="FFFF6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6CD6F71-2C61-EF2C-4175-145E8E98AD35}"/>
              </a:ext>
            </a:extLst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7335465" y="6619820"/>
            <a:ext cx="1278922" cy="183216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zoom/>
  </p:transition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3200" b="1">
          <a:solidFill>
            <a:srgbClr val="333399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3366"/>
        </a:buClr>
        <a:buFont typeface="Wingdings" pitchFamily="2" charset="2"/>
        <a:buChar char="v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4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lr>
          <a:schemeClr val="accent2">
            <a:lumMod val="50000"/>
          </a:schemeClr>
        </a:buClr>
        <a:buFont typeface="Wingdings" pitchFamily="2" charset="2"/>
        <a:buChar char="§"/>
        <a:defRPr kumimoji="1" sz="2000" b="1">
          <a:solidFill>
            <a:schemeClr val="accent2">
              <a:lumMod val="75000"/>
            </a:schemeClr>
          </a:solidFill>
          <a:latin typeface="맑은 고딕" pitchFamily="50" charset="-127"/>
          <a:ea typeface="맑은 고딕" pitchFamily="50" charset="-127"/>
        </a:defRPr>
      </a:lvl2pPr>
      <a:lvl3pPr marL="900000" indent="-1800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Char char="•"/>
        <a:defRPr kumimoji="1" sz="2000" b="1">
          <a:solidFill>
            <a:srgbClr val="404040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4pPr>
      <a:lvl5pPr marL="2057400" indent="-228600" algn="l" rtl="0" eaLnBrk="0" fontAlgn="base" latinLnBrk="1" hangingPunct="0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 sz="2000">
          <a:solidFill>
            <a:srgbClr val="5F5F5F"/>
          </a:solidFill>
          <a:latin typeface="+mn-lt"/>
          <a:ea typeface="+mn-ea"/>
        </a:defRPr>
      </a:lvl5pPr>
      <a:lvl6pPr marL="25146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6pPr>
      <a:lvl7pPr marL="29718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7pPr>
      <a:lvl8pPr marL="34290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8pPr>
      <a:lvl9pPr marL="3886200" indent="-228600" algn="l" rtl="0" fontAlgn="base" latinLnBrk="1">
        <a:lnSpc>
          <a:spcPct val="120000"/>
        </a:lnSpc>
        <a:spcBef>
          <a:spcPct val="20000"/>
        </a:spcBef>
        <a:spcAft>
          <a:spcPct val="0"/>
        </a:spcAft>
        <a:buBlip>
          <a:blip r:embed="rId17"/>
        </a:buBlip>
        <a:defRPr kumimoji="1">
          <a:solidFill>
            <a:srgbClr val="5F5F5F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2.png"/><Relationship Id="rId2" Type="http://schemas.openxmlformats.org/officeDocument/2006/relationships/image" Target="../media/image27.png"/><Relationship Id="rId16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40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wmf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1BE838-21C4-44E0-A59C-8FA45DC8143D}" type="slidenum">
              <a:rPr lang="en-US" altLang="ko-KR" smtClean="0"/>
              <a:pPr/>
              <a:t>1</a:t>
            </a:fld>
            <a:endParaRPr lang="en-US" altLang="ko-KR" dirty="0"/>
          </a:p>
        </p:txBody>
      </p:sp>
      <p:sp>
        <p:nvSpPr>
          <p:cNvPr id="12" name="직사각형 1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 descr="나무, 실외, 하늘, 식물이(가) 표시된 사진&#10;&#10;자동 생성된 설명">
            <a:extLst>
              <a:ext uri="{FF2B5EF4-FFF2-40B4-BE49-F238E27FC236}">
                <a16:creationId xmlns:a16="http://schemas.microsoft.com/office/drawing/2014/main" id="{E5680CF3-CA85-EF27-FF10-7D7DFD0B5D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05855"/>
            <a:ext cx="9144000" cy="3246290"/>
          </a:xfrm>
          <a:prstGeom prst="rect">
            <a:avLst/>
          </a:prstGeom>
        </p:spPr>
      </p:pic>
      <p:sp>
        <p:nvSpPr>
          <p:cNvPr id="205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755576" y="5445224"/>
            <a:ext cx="7514232" cy="503460"/>
          </a:xfrm>
          <a:solidFill>
            <a:srgbClr val="D9D9D9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eaLnBrk="1" hangingPunct="1">
              <a:defRPr/>
            </a:pP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두원공과대학교 컴퓨터공학과 </a:t>
            </a:r>
            <a:r>
              <a:rPr lang="en-US" altLang="ko-KR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학년</a:t>
            </a:r>
          </a:p>
        </p:txBody>
      </p:sp>
      <p:sp>
        <p:nvSpPr>
          <p:cNvPr id="10" name="제목 9"/>
          <p:cNvSpPr>
            <a:spLocks noGrp="1"/>
          </p:cNvSpPr>
          <p:nvPr>
            <p:ph type="ctrTitle"/>
          </p:nvPr>
        </p:nvSpPr>
        <p:spPr>
          <a:xfrm>
            <a:off x="755576" y="548680"/>
            <a:ext cx="7514232" cy="1616075"/>
          </a:xfrm>
          <a:solidFill>
            <a:srgbClr val="D9D9D9">
              <a:alpha val="50196"/>
            </a:srgbClr>
          </a:solidFill>
        </p:spPr>
        <p:txBody>
          <a:bodyPr>
            <a:scene3d>
              <a:camera prst="orthographicFront"/>
              <a:lightRig rig="threePt" dir="t"/>
            </a:scene3d>
            <a:sp3d extrusionH="6350" contourW="6350"/>
          </a:bodyPr>
          <a:lstStyle/>
          <a:p>
            <a:pPr algn="ctr">
              <a:defRPr/>
            </a:pPr>
            <a:r>
              <a:rPr lang="en-US" altLang="ko-KR" sz="4000" dirty="0">
                <a:solidFill>
                  <a:srgbClr val="FFFF00"/>
                </a:solidFill>
              </a:rPr>
              <a:t>4</a:t>
            </a:r>
            <a:r>
              <a:rPr lang="ko-KR" altLang="en-US" sz="4000" dirty="0">
                <a:solidFill>
                  <a:srgbClr val="FFFF00"/>
                </a:solidFill>
              </a:rPr>
              <a:t>강</a:t>
            </a:r>
            <a:r>
              <a:rPr lang="en-US" altLang="ko-KR" sz="4000" dirty="0">
                <a:solidFill>
                  <a:srgbClr val="FFFF00"/>
                </a:solidFill>
              </a:rPr>
              <a:t>. LED </a:t>
            </a:r>
            <a:r>
              <a:rPr lang="ko-KR" altLang="en-US" sz="4000" dirty="0">
                <a:solidFill>
                  <a:srgbClr val="FFFF00"/>
                </a:solidFill>
              </a:rPr>
              <a:t>및 </a:t>
            </a:r>
            <a:r>
              <a:rPr lang="en-US" altLang="ko-KR" sz="4000" dirty="0">
                <a:solidFill>
                  <a:srgbClr val="FFFF00"/>
                </a:solidFill>
              </a:rPr>
              <a:t>Buzzer </a:t>
            </a:r>
            <a:r>
              <a:rPr lang="ko-KR" altLang="en-US" sz="4000" dirty="0">
                <a:solidFill>
                  <a:srgbClr val="FFFF00"/>
                </a:solidFill>
              </a:rPr>
              <a:t>제어</a:t>
            </a:r>
          </a:p>
        </p:txBody>
      </p:sp>
    </p:spTree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36053847-62A1-4E89-8DAA-4521CF1C0422}" type="slidenum">
              <a:rPr lang="en-US" altLang="ko-KR" smtClean="0"/>
              <a:pPr/>
              <a:t>2</a:t>
            </a:fld>
            <a:endParaRPr lang="en-US" altLang="ko-KR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1C1CFBD8-781C-B3D5-71BB-31A4CAAF7AFB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8BA4D7D6-71E6-63F7-57B6-A727A1AA3B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2" y="0"/>
            <a:ext cx="4504762" cy="65142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E9EA3DEF-F11C-3FF8-B1D8-6E8F7016D0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5678" y="41127"/>
            <a:ext cx="4476190" cy="6723809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BB6A087-D962-9101-C11A-74F5E5B0995C}"/>
              </a:ext>
            </a:extLst>
          </p:cNvPr>
          <p:cNvSpPr txBox="1"/>
          <p:nvPr/>
        </p:nvSpPr>
        <p:spPr>
          <a:xfrm>
            <a:off x="1747347" y="3068960"/>
            <a:ext cx="5649302" cy="1474506"/>
          </a:xfrm>
          <a:prstGeom prst="rect">
            <a:avLst/>
          </a:prstGeom>
          <a:solidFill>
            <a:srgbClr val="FFFFFF">
              <a:alpha val="80000"/>
            </a:srgb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부재를 통해 존재를 증명한다</a:t>
            </a: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</a:t>
            </a:r>
          </a:p>
          <a:p>
            <a:pPr algn="ctr">
              <a:lnSpc>
                <a:spcPct val="150000"/>
              </a:lnSpc>
            </a:pP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</a:t>
            </a:r>
            <a:r>
              <a:rPr lang="ko-KR" altLang="en-US" sz="32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있을 때 잘해</a:t>
            </a:r>
            <a:r>
              <a:rPr lang="en-US" altLang="ko-KR" sz="3200" b="1" dirty="0">
                <a:solidFill>
                  <a:srgbClr val="660033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r>
              <a:rPr lang="en-US" altLang="ko-KR" sz="3200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.</a:t>
            </a:r>
            <a:endParaRPr lang="ko-KR" altLang="en-US" sz="32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6837AAA-9225-BF7A-E059-120515509C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생각 더하기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7D299EF-1918-3AF4-E997-ADA91BD4285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</a:t>
            </a:fld>
            <a:endParaRPr lang="en-US" altLang="ko-KR"/>
          </a:p>
        </p:txBody>
      </p:sp>
      <p:sp>
        <p:nvSpPr>
          <p:cNvPr id="5" name="AutoShape 7">
            <a:extLst>
              <a:ext uri="{FF2B5EF4-FFF2-40B4-BE49-F238E27FC236}">
                <a16:creationId xmlns:a16="http://schemas.microsoft.com/office/drawing/2014/main" id="{89726EAC-9563-E113-C8EF-5A4608B19C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052736"/>
            <a:ext cx="8997950" cy="431800"/>
          </a:xfrm>
          <a:prstGeom prst="roundRect">
            <a:avLst>
              <a:gd name="adj" fmla="val 0"/>
            </a:avLst>
          </a:prstGeom>
          <a:solidFill>
            <a:srgbClr val="FFFFCC"/>
          </a:solidFill>
          <a:ln w="19050">
            <a:solidFill>
              <a:srgbClr val="339966"/>
            </a:solidFill>
            <a:round/>
            <a:headEnd/>
            <a:tailEnd/>
          </a:ln>
        </p:spPr>
        <p:txBody>
          <a:bodyPr wrap="none" anchor="ctr"/>
          <a:lstStyle/>
          <a:p>
            <a:pPr algn="just"/>
            <a:r>
              <a:rPr lang="ko-KR" altLang="en-US" sz="2400" dirty="0">
                <a:solidFill>
                  <a:srgbClr val="339966"/>
                </a:solidFill>
                <a:latin typeface="+mn-ea"/>
                <a:ea typeface="+mn-ea"/>
              </a:rPr>
              <a:t>키케로의 명언</a:t>
            </a:r>
            <a:endParaRPr lang="en-US" altLang="ko-KR" sz="2400" dirty="0">
              <a:solidFill>
                <a:schemeClr val="tx1">
                  <a:lumMod val="50000"/>
                  <a:lumOff val="50000"/>
                </a:schemeClr>
              </a:solidFill>
              <a:latin typeface="+mn-ea"/>
              <a:ea typeface="+mn-ea"/>
            </a:endParaRP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8C88A8E1-671F-10F7-DF36-A829A93D7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325" y="1484536"/>
            <a:ext cx="8997950" cy="4891087"/>
          </a:xfrm>
          <a:prstGeom prst="rect">
            <a:avLst/>
          </a:prstGeom>
          <a:solidFill>
            <a:schemeClr val="bg1"/>
          </a:solidFill>
          <a:ln w="19050">
            <a:solidFill>
              <a:srgbClr val="339966"/>
            </a:solidFill>
            <a:miter lim="800000"/>
            <a:headEnd/>
            <a:tailEnd/>
          </a:ln>
        </p:spPr>
        <p:txBody>
          <a:bodyPr anchor="ctr"/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나는 숨쉬는 동안 희망한다</a:t>
            </a:r>
            <a:r>
              <a:rPr lang="en-US" altLang="ko-KR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Dum spiro, </a:t>
            </a:r>
            <a:r>
              <a:rPr lang="en-US" altLang="ko-KR" sz="2000" b="0" i="1" dirty="0" err="1">
                <a:solidFill>
                  <a:srgbClr val="31708F"/>
                </a:solidFill>
                <a:effectLst/>
                <a:latin typeface="Whitney"/>
              </a:rPr>
              <a:t>spero</a:t>
            </a: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.</a:t>
            </a:r>
            <a:endParaRPr lang="en-US" altLang="ko-KR" sz="1800" b="1" i="0" dirty="0">
              <a:solidFill>
                <a:srgbClr val="000000"/>
              </a:solidFill>
              <a:effectLst/>
              <a:latin typeface="Oswald Light" panose="020B0604020202020204" pitchFamily="2" charset="0"/>
            </a:endParaRPr>
          </a:p>
          <a:p>
            <a:pPr>
              <a:lnSpc>
                <a:spcPct val="130000"/>
              </a:lnSpc>
            </a:pPr>
            <a:r>
              <a:rPr lang="en-US" altLang="ko-KR" sz="1800" b="1" i="0" dirty="0">
                <a:effectLst/>
                <a:latin typeface="맑은 고딕" panose="020B0503020000020004" pitchFamily="50" charset="-127"/>
                <a:ea typeface="맑은 고딕" panose="020B0503020000020004" pitchFamily="50" charset="-127"/>
              </a:rPr>
              <a:t>​﻿</a:t>
            </a:r>
          </a:p>
          <a:p>
            <a:pPr>
              <a:lnSpc>
                <a:spcPct val="130000"/>
              </a:lnSpc>
            </a:pPr>
            <a:r>
              <a:rPr kumimoji="0" lang="en-US" altLang="ko-KR" sz="2000" b="1" dirty="0">
                <a:solidFill>
                  <a:srgbClr val="0070C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</a:t>
            </a:r>
          </a:p>
          <a:p>
            <a:pPr>
              <a:lnSpc>
                <a:spcPct val="130000"/>
              </a:lnSpc>
            </a:pPr>
            <a:endParaRPr kumimoji="0" lang="en-US" altLang="ko-KR" sz="2000" b="1" i="0" dirty="0"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ko-KR" altLang="en-US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삶이</a:t>
            </a:r>
            <a:r>
              <a:rPr lang="en-US" altLang="ko-KR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 </a:t>
            </a:r>
            <a:r>
              <a:rPr lang="ko-KR" altLang="en-US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있는 한</a:t>
            </a:r>
            <a:r>
              <a:rPr lang="en-US" altLang="ko-KR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, </a:t>
            </a:r>
            <a:r>
              <a:rPr lang="ko-KR" altLang="en-US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희망은 있다</a:t>
            </a:r>
            <a:r>
              <a:rPr lang="en-US" altLang="ko-KR" sz="1800" dirty="0">
                <a:solidFill>
                  <a:srgbClr val="181818"/>
                </a:solidFill>
                <a:latin typeface="휴먼편지체" panose="02030504000101010101" pitchFamily="18" charset="-127"/>
                <a:ea typeface="휴먼편지체" panose="02030504000101010101" pitchFamily="18" charset="-127"/>
              </a:rPr>
              <a:t>.</a:t>
            </a:r>
            <a:endParaRPr lang="en-US" altLang="ko-KR" sz="2000" b="0" i="1" dirty="0">
              <a:solidFill>
                <a:srgbClr val="31708F"/>
              </a:solidFill>
              <a:effectLst/>
              <a:latin typeface="Whitney"/>
            </a:endParaRPr>
          </a:p>
          <a:p>
            <a:pPr algn="l">
              <a:lnSpc>
                <a:spcPct val="150000"/>
              </a:lnSpc>
            </a:pP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Dum vita </a:t>
            </a:r>
            <a:r>
              <a:rPr lang="en-US" altLang="ko-KR" sz="2000" b="0" i="1" dirty="0" err="1">
                <a:solidFill>
                  <a:srgbClr val="31708F"/>
                </a:solidFill>
                <a:effectLst/>
                <a:latin typeface="Whitney"/>
              </a:rPr>
              <a:t>est</a:t>
            </a: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, </a:t>
            </a:r>
            <a:r>
              <a:rPr lang="en-US" altLang="ko-KR" sz="2000" b="0" i="1" dirty="0" err="1">
                <a:solidFill>
                  <a:srgbClr val="31708F"/>
                </a:solidFill>
                <a:effectLst/>
                <a:latin typeface="Whitney"/>
              </a:rPr>
              <a:t>spes</a:t>
            </a:r>
            <a:r>
              <a:rPr lang="en-US" altLang="ko-KR" sz="2000" b="0" i="1" dirty="0">
                <a:solidFill>
                  <a:srgbClr val="31708F"/>
                </a:solidFill>
                <a:effectLst/>
                <a:latin typeface="Whitney"/>
              </a:rPr>
              <a:t> est. </a:t>
            </a:r>
            <a:endParaRPr kumimoji="0" lang="ko-KR" altLang="ko-KR" sz="1800" b="1" i="0" u="none" strike="noStrike" cap="none" normalizeH="0" baseline="0" dirty="0">
              <a:ln>
                <a:noFill/>
              </a:ln>
              <a:effectLst/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Picture 10" descr="mouse">
            <a:extLst>
              <a:ext uri="{FF2B5EF4-FFF2-40B4-BE49-F238E27FC236}">
                <a16:creationId xmlns:a16="http://schemas.microsoft.com/office/drawing/2014/main" id="{1CBFBD61-7228-2393-82AD-793AFFAC19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59813" y="1125538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2541CC0-CBFF-6EBE-8827-6D15109E1EE1}"/>
              </a:ext>
            </a:extLst>
          </p:cNvPr>
          <p:cNvSpPr txBox="1"/>
          <p:nvPr/>
        </p:nvSpPr>
        <p:spPr>
          <a:xfrm>
            <a:off x="5436096" y="4468274"/>
            <a:ext cx="3533435" cy="11784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&lt;Marcus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Tullius Cicero, BC 106-43&gt;</a:t>
            </a: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로마의 정치인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변호사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라틴어 작가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차 </a:t>
            </a:r>
            <a:r>
              <a:rPr lang="en-US" altLang="ko-KR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두정치에서 反카이사르편에 섬</a:t>
            </a:r>
            <a:endParaRPr lang="en-US" altLang="ko-KR" sz="1200" dirty="0">
              <a:solidFill>
                <a:schemeClr val="tx1">
                  <a:lumMod val="50000"/>
                  <a:lumOff val="50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44000" indent="-1440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ko-KR" alt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카이사르에게 사면 받은 이후 고전 라틴어 표현의 전형으로 평가받은 풍부한 작품들을 남김 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08BAFFD0-5C53-55A4-3CEF-6E1B208ACD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29527" y="1726952"/>
            <a:ext cx="3430286" cy="20789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6428073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학습목표</a:t>
            </a:r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808C69D1-562B-4BA3-B970-F557F7173233}" type="slidenum">
              <a:rPr lang="en-US" altLang="ko-KR" smtClean="0"/>
              <a:pPr>
                <a:defRPr/>
              </a:pPr>
              <a:t>4</a:t>
            </a:fld>
            <a:endParaRPr lang="en-US" altLang="ko-KR"/>
          </a:p>
        </p:txBody>
      </p:sp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4643438"/>
            <a:ext cx="3892550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내용 개체 틀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/>
              <a:t>본 강의를 이수하면 </a:t>
            </a:r>
            <a:r>
              <a:rPr lang="en-US" altLang="ko-KR" dirty="0"/>
              <a:t>LED</a:t>
            </a:r>
            <a:r>
              <a:rPr lang="ko-KR" altLang="en-US" dirty="0"/>
              <a:t>와</a:t>
            </a:r>
            <a:r>
              <a:rPr lang="en-US" altLang="ko-KR" dirty="0"/>
              <a:t> Buzzer</a:t>
            </a:r>
            <a:r>
              <a:rPr lang="ko-KR" altLang="en-US" dirty="0"/>
              <a:t>를 제어할 수 있다</a:t>
            </a:r>
            <a:r>
              <a:rPr lang="en-US" altLang="ko-KR" dirty="0"/>
              <a:t>.</a:t>
            </a:r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Python</a:t>
            </a:r>
            <a:r>
              <a:rPr lang="ko-KR" altLang="en-US" dirty="0"/>
              <a:t> 기본 명령어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LED </a:t>
            </a:r>
            <a:r>
              <a:rPr lang="ko-KR" altLang="en-US" dirty="0"/>
              <a:t>점멸 제어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LED </a:t>
            </a:r>
            <a:r>
              <a:rPr lang="ko-KR" altLang="en-US" dirty="0"/>
              <a:t>밝기 제어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Buzzer</a:t>
            </a:r>
            <a:r>
              <a:rPr lang="ko-KR" altLang="en-US" dirty="0"/>
              <a:t> 제어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18452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print()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print()</a:t>
            </a:r>
          </a:p>
          <a:p>
            <a:pPr lvl="1"/>
            <a:r>
              <a:rPr lang="ko-KR" altLang="en-US" dirty="0"/>
              <a:t>문자열과</a:t>
            </a:r>
            <a:r>
              <a:rPr lang="en-US" altLang="ko-KR" dirty="0"/>
              <a:t> </a:t>
            </a:r>
            <a:r>
              <a:rPr lang="ko-KR" altLang="en-US" dirty="0"/>
              <a:t>숫자를 출력하는 함수</a:t>
            </a:r>
            <a:endParaRPr lang="en-US" altLang="ko-KR" dirty="0"/>
          </a:p>
          <a:p>
            <a:pPr lvl="1"/>
            <a:r>
              <a:rPr lang="ko-KR" altLang="en-US" dirty="0"/>
              <a:t>프로그램 내부의 중요한 정보를 사용자에게 알려줌</a:t>
            </a:r>
            <a:endParaRPr lang="en-US" altLang="ko-KR" dirty="0"/>
          </a:p>
          <a:p>
            <a:r>
              <a:rPr lang="ko-KR" altLang="en-US" dirty="0"/>
              <a:t>주석</a:t>
            </a:r>
            <a:r>
              <a:rPr lang="en-US" altLang="ko-KR" dirty="0"/>
              <a:t>(Comment) </a:t>
            </a:r>
            <a:r>
              <a:rPr lang="ko-KR" altLang="en-US" dirty="0"/>
              <a:t>처리</a:t>
            </a:r>
            <a:endParaRPr lang="en-US" altLang="ko-KR" dirty="0"/>
          </a:p>
          <a:p>
            <a:pPr lvl="1"/>
            <a:r>
              <a:rPr lang="en-US" altLang="ko-KR" dirty="0"/>
              <a:t>#-----------------------</a:t>
            </a:r>
          </a:p>
          <a:p>
            <a:r>
              <a:rPr lang="ko-KR" altLang="en-US" dirty="0"/>
              <a:t>예제</a:t>
            </a:r>
            <a:r>
              <a:rPr lang="en-US" altLang="ko-KR" dirty="0"/>
              <a:t>1. </a:t>
            </a:r>
            <a:r>
              <a:rPr lang="ko-KR" altLang="en-US" dirty="0"/>
              <a:t>문자열 출력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5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3E073FA4-FB72-C8AD-0F57-19F0462CA9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3765996"/>
            <a:ext cx="5085714" cy="26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85821006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while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while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대표적인 반복 처리 구문</a:t>
            </a:r>
            <a:endParaRPr lang="en-US" altLang="ko-KR" dirty="0"/>
          </a:p>
          <a:p>
            <a:pPr lvl="1"/>
            <a:r>
              <a:rPr lang="ko-KR" altLang="en-US" dirty="0"/>
              <a:t>조건이 참</a:t>
            </a:r>
            <a:r>
              <a:rPr lang="en-US" altLang="ko-KR" dirty="0"/>
              <a:t>(true)</a:t>
            </a:r>
            <a:r>
              <a:rPr lang="ko-KR" altLang="en-US" dirty="0"/>
              <a:t>인 동안 반복 수행</a:t>
            </a:r>
            <a:endParaRPr lang="en-US" altLang="ko-KR" dirty="0"/>
          </a:p>
          <a:p>
            <a:r>
              <a:rPr lang="ko-KR" altLang="en-US" dirty="0"/>
              <a:t>예제</a:t>
            </a:r>
            <a:r>
              <a:rPr lang="en-US" altLang="ko-KR" dirty="0"/>
              <a:t>2. while </a:t>
            </a:r>
            <a:r>
              <a:rPr lang="ko-KR" altLang="en-US" dirty="0"/>
              <a:t>활용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6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F0C04EA-5069-420E-B48E-D228E36F3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520" y="2996952"/>
            <a:ext cx="5085714" cy="25904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B77B44D8-C8A7-5D69-D0D9-20CF9A39AD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0756" y="2492896"/>
            <a:ext cx="3638095" cy="278095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8AAE21E3-8838-A5D5-66E6-D9BC9A9959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64621" y="5620765"/>
            <a:ext cx="6371429" cy="7714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67337886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try~except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try~except</a:t>
            </a:r>
            <a:r>
              <a:rPr lang="en-US" altLang="ko-KR" dirty="0"/>
              <a:t> </a:t>
            </a:r>
            <a:r>
              <a:rPr lang="ko-KR" altLang="en-US" dirty="0"/>
              <a:t>문</a:t>
            </a:r>
            <a:endParaRPr lang="en-US" altLang="ko-KR" dirty="0"/>
          </a:p>
          <a:p>
            <a:pPr lvl="1"/>
            <a:r>
              <a:rPr lang="ko-KR" altLang="en-US" dirty="0"/>
              <a:t>예외</a:t>
            </a:r>
            <a:r>
              <a:rPr lang="en-US" altLang="ko-KR" dirty="0"/>
              <a:t>(exception, </a:t>
            </a:r>
            <a:r>
              <a:rPr lang="ko-KR" altLang="en-US" dirty="0"/>
              <a:t>실행 중</a:t>
            </a:r>
            <a:r>
              <a:rPr lang="en-US" altLang="ko-KR" dirty="0"/>
              <a:t> </a:t>
            </a:r>
            <a:r>
              <a:rPr lang="ko-KR" altLang="en-US" dirty="0"/>
              <a:t>발생한 에러</a:t>
            </a:r>
            <a:r>
              <a:rPr lang="en-US" altLang="ko-KR" dirty="0"/>
              <a:t>)</a:t>
            </a:r>
            <a:r>
              <a:rPr lang="ko-KR" altLang="en-US" dirty="0"/>
              <a:t>가 발생시</a:t>
            </a:r>
            <a:r>
              <a:rPr lang="en-US" altLang="ko-KR" dirty="0"/>
              <a:t>, </a:t>
            </a:r>
            <a:r>
              <a:rPr lang="ko-KR" altLang="en-US" dirty="0"/>
              <a:t>처리 구문</a:t>
            </a:r>
            <a:endParaRPr lang="en-US" altLang="ko-KR" dirty="0"/>
          </a:p>
          <a:p>
            <a:pPr lvl="1"/>
            <a:r>
              <a:rPr lang="en-US" altLang="ko-KR" dirty="0"/>
              <a:t>try</a:t>
            </a:r>
            <a:r>
              <a:rPr lang="ko-KR" altLang="en-US" dirty="0"/>
              <a:t>문 내부에서 정상 처리하다가</a:t>
            </a:r>
            <a:r>
              <a:rPr lang="en-US" altLang="ko-KR" dirty="0"/>
              <a:t>, </a:t>
            </a:r>
            <a:r>
              <a:rPr lang="ko-KR" altLang="en-US" dirty="0"/>
              <a:t>예외 발생시 </a:t>
            </a:r>
            <a:r>
              <a:rPr lang="en-US" altLang="ko-KR" dirty="0"/>
              <a:t>except</a:t>
            </a:r>
            <a:r>
              <a:rPr lang="ko-KR" altLang="en-US" dirty="0"/>
              <a:t>문으로 이동</a:t>
            </a:r>
            <a:endParaRPr lang="en-US" altLang="ko-KR" dirty="0"/>
          </a:p>
          <a:p>
            <a:pPr lvl="1"/>
            <a:r>
              <a:rPr lang="ko-KR" altLang="en-US" dirty="0"/>
              <a:t>파이선의 예외 계층도</a:t>
            </a:r>
            <a:endParaRPr lang="en-US" altLang="ko-KR" dirty="0"/>
          </a:p>
          <a:p>
            <a:pPr marL="0" indent="0">
              <a:buNone/>
            </a:pP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7</a:t>
            </a:fld>
            <a:endParaRPr lang="en-US" altLang="ko-KR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D8E950C8-D61A-8DCD-8922-2A25F8C2F7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9912" y="2564904"/>
            <a:ext cx="3430571" cy="383794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227D5AB-65CE-D137-2DAB-755257CDDD74}"/>
              </a:ext>
            </a:extLst>
          </p:cNvPr>
          <p:cNvSpPr/>
          <p:nvPr/>
        </p:nvSpPr>
        <p:spPr>
          <a:xfrm>
            <a:off x="4572000" y="3140968"/>
            <a:ext cx="1152128" cy="288032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80884335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try~except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 err="1"/>
              <a:t>KeyboardInterrupt</a:t>
            </a:r>
            <a:endParaRPr lang="en-US" altLang="ko-KR" dirty="0"/>
          </a:p>
          <a:p>
            <a:pPr lvl="1"/>
            <a:r>
              <a:rPr lang="en-US" altLang="ko-KR" dirty="0" err="1"/>
              <a:t>Ctrl+C</a:t>
            </a:r>
            <a:r>
              <a:rPr lang="en-US" altLang="ko-KR" dirty="0"/>
              <a:t> (^C)</a:t>
            </a:r>
            <a:r>
              <a:rPr lang="ko-KR" altLang="en-US" dirty="0"/>
              <a:t>를 클릭하였을 경우 발생하는 예외</a:t>
            </a:r>
            <a:endParaRPr lang="en-US" altLang="ko-KR" dirty="0"/>
          </a:p>
          <a:p>
            <a:pPr lvl="1"/>
            <a:r>
              <a:rPr lang="ko-KR" altLang="en-US" dirty="0"/>
              <a:t>현재 실행하고 있는 코드를 종료하고자 할 때</a:t>
            </a:r>
            <a:r>
              <a:rPr lang="en-US" altLang="ko-KR" dirty="0"/>
              <a:t>, </a:t>
            </a:r>
            <a:r>
              <a:rPr lang="ko-KR" altLang="en-US" dirty="0"/>
              <a:t>사용</a:t>
            </a:r>
            <a:endParaRPr lang="en-US" altLang="ko-KR" dirty="0"/>
          </a:p>
          <a:p>
            <a:r>
              <a:rPr lang="ko-KR" altLang="en-US" dirty="0"/>
              <a:t>예제</a:t>
            </a:r>
            <a:r>
              <a:rPr lang="en-US" altLang="ko-KR" dirty="0"/>
              <a:t>3. </a:t>
            </a:r>
            <a:r>
              <a:rPr lang="en-US" altLang="ko-KR" dirty="0" err="1"/>
              <a:t>KeyboardInterrupt</a:t>
            </a:r>
            <a:r>
              <a:rPr lang="en-US" altLang="ko-KR" dirty="0"/>
              <a:t> </a:t>
            </a:r>
            <a:r>
              <a:rPr lang="ko-KR" altLang="en-US" dirty="0"/>
              <a:t>예외처리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8</a:t>
            </a:fld>
            <a:endParaRPr lang="en-US" altLang="ko-KR"/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66164F1D-6978-EFA1-2F27-0D1163924B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628" y="4729071"/>
            <a:ext cx="4968551" cy="17254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074BB86-79E0-1811-83C5-460D6590F3A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02" y="2964753"/>
            <a:ext cx="5181010" cy="1646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469511709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time.sleep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time </a:t>
            </a:r>
            <a:r>
              <a:rPr lang="ko-KR" altLang="en-US" dirty="0"/>
              <a:t>라이브러리</a:t>
            </a:r>
            <a:endParaRPr lang="en-US" altLang="ko-KR" dirty="0"/>
          </a:p>
          <a:p>
            <a:pPr lvl="1"/>
            <a:r>
              <a:rPr lang="ko-KR" altLang="en-US" dirty="0"/>
              <a:t>날짜와 시간 처리를 위한 라이브러리</a:t>
            </a:r>
            <a:endParaRPr lang="en-US" altLang="ko-KR" dirty="0"/>
          </a:p>
          <a:p>
            <a:pPr lvl="1"/>
            <a:r>
              <a:rPr lang="en-US" altLang="ko-KR" dirty="0" err="1"/>
              <a:t>time.time</a:t>
            </a:r>
            <a:r>
              <a:rPr lang="en-US" altLang="ko-KR" dirty="0"/>
              <a:t>() </a:t>
            </a:r>
            <a:r>
              <a:rPr lang="en-US" altLang="ko-KR" dirty="0">
                <a:sym typeface="Wingdings" panose="05000000000000000000" pitchFamily="2" charset="2"/>
              </a:rPr>
              <a:t> 1970</a:t>
            </a:r>
            <a:r>
              <a:rPr lang="ko-KR" altLang="en-US" dirty="0">
                <a:sym typeface="Wingdings" panose="05000000000000000000" pitchFamily="2" charset="2"/>
              </a:rPr>
              <a:t>년</a:t>
            </a:r>
            <a:r>
              <a:rPr lang="en-US" altLang="ko-KR" dirty="0">
                <a:sym typeface="Wingdings" panose="05000000000000000000" pitchFamily="2" charset="2"/>
              </a:rPr>
              <a:t> 1</a:t>
            </a:r>
            <a:r>
              <a:rPr lang="ko-KR" altLang="en-US" dirty="0">
                <a:sym typeface="Wingdings" panose="05000000000000000000" pitchFamily="2" charset="2"/>
              </a:rPr>
              <a:t>월</a:t>
            </a:r>
            <a:r>
              <a:rPr lang="en-US" altLang="ko-KR" dirty="0">
                <a:sym typeface="Wingdings" panose="05000000000000000000" pitchFamily="2" charset="2"/>
              </a:rPr>
              <a:t> 1</a:t>
            </a:r>
            <a:r>
              <a:rPr lang="ko-KR" altLang="en-US" dirty="0">
                <a:sym typeface="Wingdings" panose="05000000000000000000" pitchFamily="2" charset="2"/>
              </a:rPr>
              <a:t>일</a:t>
            </a:r>
            <a:r>
              <a:rPr lang="en-US" altLang="ko-KR" dirty="0">
                <a:sym typeface="Wingdings" panose="05000000000000000000" pitchFamily="2" charset="2"/>
              </a:rPr>
              <a:t> 0</a:t>
            </a:r>
            <a:r>
              <a:rPr lang="ko-KR" altLang="en-US" dirty="0">
                <a:sym typeface="Wingdings" panose="05000000000000000000" pitchFamily="2" charset="2"/>
              </a:rPr>
              <a:t>시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분 </a:t>
            </a:r>
            <a:r>
              <a:rPr lang="en-US" altLang="ko-KR" dirty="0">
                <a:sym typeface="Wingdings" panose="05000000000000000000" pitchFamily="2" charset="2"/>
              </a:rPr>
              <a:t>0</a:t>
            </a:r>
            <a:r>
              <a:rPr lang="ko-KR" altLang="en-US" dirty="0">
                <a:sym typeface="Wingdings" panose="05000000000000000000" pitchFamily="2" charset="2"/>
              </a:rPr>
              <a:t>초 이후 경과된 시간을 초 단위로 변환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time.localtime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현재 지역의 지역시를 이용하여 날짜와 시간형태로 변환</a:t>
            </a:r>
            <a:endParaRPr lang="en-US" altLang="ko-KR" dirty="0">
              <a:sym typeface="Wingdings" panose="05000000000000000000" pitchFamily="2" charset="2"/>
            </a:endParaRPr>
          </a:p>
          <a:p>
            <a:pPr lvl="1"/>
            <a:r>
              <a:rPr lang="en-US" altLang="ko-KR" dirty="0" err="1">
                <a:sym typeface="Wingdings" panose="05000000000000000000" pitchFamily="2" charset="2"/>
              </a:rPr>
              <a:t>time.sleep</a:t>
            </a:r>
            <a:r>
              <a:rPr lang="en-US" altLang="ko-KR" dirty="0">
                <a:sym typeface="Wingdings" panose="05000000000000000000" pitchFamily="2" charset="2"/>
              </a:rPr>
              <a:t>()  </a:t>
            </a:r>
            <a:r>
              <a:rPr lang="ko-KR" altLang="en-US" dirty="0">
                <a:sym typeface="Wingdings" panose="05000000000000000000" pitchFamily="2" charset="2"/>
              </a:rPr>
              <a:t>프로그램의 실행을 지정된 시간만큼 일시정지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9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34457255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en-US" altLang="ko-KR" dirty="0" err="1">
                <a:sym typeface="Wingdings" panose="05000000000000000000" pitchFamily="2" charset="2"/>
              </a:rPr>
              <a:t>time.sleep</a:t>
            </a:r>
            <a:r>
              <a:rPr lang="en-US" altLang="ko-KR" dirty="0">
                <a:sym typeface="Wingdings" panose="05000000000000000000" pitchFamily="2" charset="2"/>
              </a:rPr>
              <a:t>()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4. </a:t>
            </a:r>
            <a:r>
              <a:rPr lang="en-US" altLang="ko-KR" dirty="0" err="1"/>
              <a:t>time.sleep</a:t>
            </a:r>
            <a:r>
              <a:rPr lang="en-US" altLang="ko-KR" dirty="0"/>
              <a:t>()</a:t>
            </a:r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708B729-EC4E-EFBB-F536-B4D379B8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154" y="1565271"/>
            <a:ext cx="6371874" cy="253925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6BC1D0D-9A0A-4E7C-5386-B4CAE33E97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154" y="4216425"/>
            <a:ext cx="3053742" cy="138173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1232771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A8E40C-D166-3AE1-4069-2E2A237AA5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Python </a:t>
            </a:r>
            <a:r>
              <a:rPr lang="ko-KR" altLang="en-US" dirty="0"/>
              <a:t>언어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숫자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출력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2FB95-EB07-E648-8531-E5B49D6FC6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</a:t>
            </a:r>
            <a:r>
              <a:rPr lang="en-US" altLang="ko-KR" dirty="0"/>
              <a:t>5. </a:t>
            </a:r>
            <a:r>
              <a:rPr lang="ko-KR" altLang="en-US" dirty="0"/>
              <a:t>숫자 출력</a:t>
            </a:r>
            <a:endParaRPr lang="en-US" altLang="ko-KR" dirty="0"/>
          </a:p>
          <a:p>
            <a:endParaRPr lang="en-US" altLang="ko-KR" dirty="0">
              <a:sym typeface="Wingdings" panose="05000000000000000000" pitchFamily="2" charset="2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40C3393-3E5D-4CFD-13A2-28A152DB26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5F0C06C-7222-37C6-B846-681A11CEA4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1484784"/>
            <a:ext cx="5952757" cy="501602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0943625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전자회로</a:t>
            </a:r>
            <a:r>
              <a:rPr lang="en-US" altLang="ko-KR" dirty="0"/>
              <a:t>(</a:t>
            </a:r>
            <a:r>
              <a:rPr lang="ko-KR" altLang="en-US" dirty="0"/>
              <a:t>電子回路</a:t>
            </a:r>
            <a:r>
              <a:rPr lang="en-US" altLang="ko-KR" dirty="0"/>
              <a:t>)</a:t>
            </a:r>
          </a:p>
          <a:p>
            <a:pPr lvl="1"/>
            <a:r>
              <a:rPr lang="ko-KR" altLang="en-US" dirty="0"/>
              <a:t>다이오드</a:t>
            </a:r>
            <a:r>
              <a:rPr lang="en-US" altLang="ko-KR" i="0" dirty="0">
                <a:effectLst/>
              </a:rPr>
              <a:t>, </a:t>
            </a:r>
            <a:r>
              <a:rPr lang="ko-KR" altLang="en-US" dirty="0"/>
              <a:t>저항</a:t>
            </a:r>
            <a:r>
              <a:rPr lang="en-US" altLang="ko-KR" dirty="0"/>
              <a:t>, </a:t>
            </a:r>
            <a:r>
              <a:rPr lang="ko-KR" altLang="en-US" dirty="0"/>
              <a:t>유도자</a:t>
            </a:r>
            <a:r>
              <a:rPr lang="en-US" altLang="ko-KR" i="0" dirty="0">
                <a:effectLst/>
              </a:rPr>
              <a:t>, </a:t>
            </a:r>
            <a:r>
              <a:rPr lang="ko-KR" altLang="en-US" dirty="0"/>
              <a:t>콘덴서</a:t>
            </a:r>
            <a:r>
              <a:rPr lang="en-US" altLang="ko-KR" i="0" dirty="0">
                <a:effectLst/>
              </a:rPr>
              <a:t>, </a:t>
            </a:r>
            <a:r>
              <a:rPr lang="ko-KR" altLang="en-US" dirty="0"/>
              <a:t>트랜지스터</a:t>
            </a:r>
            <a:r>
              <a:rPr lang="ko-KR" altLang="en-US" i="0" dirty="0">
                <a:effectLst/>
              </a:rPr>
              <a:t>와 같은 개별적인 전자 부품들</a:t>
            </a:r>
            <a:r>
              <a:rPr lang="en-US" altLang="ko-KR" i="0" dirty="0">
                <a:effectLst/>
              </a:rPr>
              <a:t>(electronic components)</a:t>
            </a:r>
            <a:r>
              <a:rPr lang="ko-KR" altLang="en-US" i="0" dirty="0">
                <a:effectLst/>
              </a:rPr>
              <a:t>로 구성된 전기회로</a:t>
            </a:r>
            <a:endParaRPr lang="en-US" altLang="ko-KR" i="0" dirty="0">
              <a:effectLst/>
            </a:endParaRPr>
          </a:p>
          <a:p>
            <a:r>
              <a:rPr lang="ko-KR" altLang="en-US" dirty="0"/>
              <a:t>전기회로</a:t>
            </a:r>
            <a:r>
              <a:rPr lang="en-US" altLang="ko-KR" dirty="0"/>
              <a:t>(</a:t>
            </a:r>
            <a:r>
              <a:rPr lang="ko-KR" altLang="en-US" dirty="0"/>
              <a:t>電氣回路</a:t>
            </a:r>
            <a:r>
              <a:rPr lang="en-US" altLang="ko-KR" dirty="0"/>
              <a:t>, Electric Circuit)</a:t>
            </a:r>
          </a:p>
          <a:p>
            <a:pPr lvl="1"/>
            <a:r>
              <a:rPr lang="ko-KR" altLang="en-US" dirty="0"/>
              <a:t>전기가</a:t>
            </a:r>
            <a:r>
              <a:rPr lang="en-US" altLang="ko-KR" dirty="0"/>
              <a:t> </a:t>
            </a:r>
            <a:r>
              <a:rPr lang="ko-KR" altLang="en-US" dirty="0"/>
              <a:t>흐를 수 있도록 설치된 닫힌 회로</a:t>
            </a:r>
            <a:endParaRPr lang="en-US" altLang="ko-KR" dirty="0"/>
          </a:p>
          <a:p>
            <a:pPr lvl="1"/>
            <a:r>
              <a:rPr lang="ko-KR" altLang="en-US" dirty="0"/>
              <a:t>회로에는 저항</a:t>
            </a:r>
            <a:r>
              <a:rPr lang="en-US" altLang="ko-KR" dirty="0"/>
              <a:t>, </a:t>
            </a:r>
            <a:r>
              <a:rPr lang="ko-KR" altLang="en-US" dirty="0"/>
              <a:t>축전기</a:t>
            </a:r>
            <a:r>
              <a:rPr lang="en-US" altLang="ko-KR" dirty="0"/>
              <a:t>, </a:t>
            </a:r>
            <a:r>
              <a:rPr lang="ko-KR" altLang="en-US" dirty="0"/>
              <a:t>코일 등 다양한 전기 소자들이 전선으로 연결</a:t>
            </a:r>
            <a:endParaRPr lang="en-US" altLang="ko-KR" dirty="0"/>
          </a:p>
          <a:p>
            <a:pPr lvl="1"/>
            <a:r>
              <a:rPr lang="ko-KR" altLang="en-US" dirty="0"/>
              <a:t>회로에 공급되는 전기의 종류에 따라 직류회로와 교류회로로 구분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12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BED27-371B-47FA-83BC-68686ACDAF19}"/>
              </a:ext>
            </a:extLst>
          </p:cNvPr>
          <p:cNvSpPr txBox="1"/>
          <p:nvPr/>
        </p:nvSpPr>
        <p:spPr>
          <a:xfrm>
            <a:off x="3273437" y="6318478"/>
            <a:ext cx="259558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열린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개방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회로와 닫힌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폐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회로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36" name="그림 35">
            <a:extLst>
              <a:ext uri="{FF2B5EF4-FFF2-40B4-BE49-F238E27FC236}">
                <a16:creationId xmlns:a16="http://schemas.microsoft.com/office/drawing/2014/main" id="{643BFF09-36C6-4D82-A333-94986B39E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3768" y="4571528"/>
            <a:ext cx="648072" cy="1114425"/>
          </a:xfrm>
          <a:prstGeom prst="rect">
            <a:avLst/>
          </a:prstGeom>
        </p:spPr>
      </p:pic>
      <p:pic>
        <p:nvPicPr>
          <p:cNvPr id="55" name="그림 54">
            <a:extLst>
              <a:ext uri="{FF2B5EF4-FFF2-40B4-BE49-F238E27FC236}">
                <a16:creationId xmlns:a16="http://schemas.microsoft.com/office/drawing/2014/main" id="{170C8005-24EC-49BE-9A09-C7428D096A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2758" y="4571528"/>
            <a:ext cx="648072" cy="1114425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266430A-31E6-4B5D-ADAE-EE7F53EE73C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4111941">
            <a:off x="3911274" y="4655661"/>
            <a:ext cx="811593" cy="870263"/>
          </a:xfrm>
          <a:prstGeom prst="rect">
            <a:avLst/>
          </a:prstGeom>
        </p:spPr>
      </p:pic>
      <p:pic>
        <p:nvPicPr>
          <p:cNvPr id="15" name="그림 14">
            <a:extLst>
              <a:ext uri="{FF2B5EF4-FFF2-40B4-BE49-F238E27FC236}">
                <a16:creationId xmlns:a16="http://schemas.microsoft.com/office/drawing/2014/main" id="{34B9FC8C-6BAD-4156-BFD2-DA56C1A2F02C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4304355">
            <a:off x="6639392" y="4738776"/>
            <a:ext cx="513357" cy="704033"/>
          </a:xfrm>
          <a:prstGeom prst="rect">
            <a:avLst/>
          </a:prstGeom>
        </p:spPr>
      </p:pic>
      <p:sp>
        <p:nvSpPr>
          <p:cNvPr id="5" name="자유형: 도형 4">
            <a:extLst>
              <a:ext uri="{FF2B5EF4-FFF2-40B4-BE49-F238E27FC236}">
                <a16:creationId xmlns:a16="http://schemas.microsoft.com/office/drawing/2014/main" id="{7489F034-9C37-44E3-BDF6-C0D5A1F93FA1}"/>
              </a:ext>
            </a:extLst>
          </p:cNvPr>
          <p:cNvSpPr/>
          <p:nvPr/>
        </p:nvSpPr>
        <p:spPr>
          <a:xfrm>
            <a:off x="2808210" y="5090794"/>
            <a:ext cx="1095375" cy="752475"/>
          </a:xfrm>
          <a:custGeom>
            <a:avLst/>
            <a:gdLst>
              <a:gd name="connsiteX0" fmla="*/ 0 w 1095375"/>
              <a:gd name="connsiteY0" fmla="*/ 542925 h 752475"/>
              <a:gd name="connsiteX1" fmla="*/ 0 w 1095375"/>
              <a:gd name="connsiteY1" fmla="*/ 752475 h 752475"/>
              <a:gd name="connsiteX2" fmla="*/ 971550 w 1095375"/>
              <a:gd name="connsiteY2" fmla="*/ 752475 h 752475"/>
              <a:gd name="connsiteX3" fmla="*/ 971550 w 1095375"/>
              <a:gd name="connsiteY3" fmla="*/ 0 h 752475"/>
              <a:gd name="connsiteX4" fmla="*/ 1095375 w 1095375"/>
              <a:gd name="connsiteY4" fmla="*/ 0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5375" h="752475">
                <a:moveTo>
                  <a:pt x="0" y="542925"/>
                </a:moveTo>
                <a:lnTo>
                  <a:pt x="0" y="752475"/>
                </a:lnTo>
                <a:lnTo>
                  <a:pt x="971550" y="752475"/>
                </a:lnTo>
                <a:lnTo>
                  <a:pt x="971550" y="0"/>
                </a:lnTo>
                <a:lnTo>
                  <a:pt x="10953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32A9F804-AF35-4475-AEDC-EC820402BF07}"/>
              </a:ext>
            </a:extLst>
          </p:cNvPr>
          <p:cNvSpPr/>
          <p:nvPr/>
        </p:nvSpPr>
        <p:spPr>
          <a:xfrm>
            <a:off x="2808210" y="4176394"/>
            <a:ext cx="1187726" cy="857250"/>
          </a:xfrm>
          <a:custGeom>
            <a:avLst/>
            <a:gdLst>
              <a:gd name="connsiteX0" fmla="*/ 0 w 1114425"/>
              <a:gd name="connsiteY0" fmla="*/ 476250 h 857250"/>
              <a:gd name="connsiteX1" fmla="*/ 0 w 1114425"/>
              <a:gd name="connsiteY1" fmla="*/ 0 h 857250"/>
              <a:gd name="connsiteX2" fmla="*/ 1114425 w 1114425"/>
              <a:gd name="connsiteY2" fmla="*/ 0 h 857250"/>
              <a:gd name="connsiteX3" fmla="*/ 1114425 w 1114425"/>
              <a:gd name="connsiteY3" fmla="*/ 85725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857250">
                <a:moveTo>
                  <a:pt x="0" y="476250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85725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6" name="자유형: 도형 55">
            <a:extLst>
              <a:ext uri="{FF2B5EF4-FFF2-40B4-BE49-F238E27FC236}">
                <a16:creationId xmlns:a16="http://schemas.microsoft.com/office/drawing/2014/main" id="{A32760EE-58CF-4210-AB6B-9FC1A3D119D3}"/>
              </a:ext>
            </a:extLst>
          </p:cNvPr>
          <p:cNvSpPr/>
          <p:nvPr/>
        </p:nvSpPr>
        <p:spPr>
          <a:xfrm>
            <a:off x="5467200" y="5090794"/>
            <a:ext cx="1095375" cy="752475"/>
          </a:xfrm>
          <a:custGeom>
            <a:avLst/>
            <a:gdLst>
              <a:gd name="connsiteX0" fmla="*/ 0 w 1095375"/>
              <a:gd name="connsiteY0" fmla="*/ 542925 h 752475"/>
              <a:gd name="connsiteX1" fmla="*/ 0 w 1095375"/>
              <a:gd name="connsiteY1" fmla="*/ 752475 h 752475"/>
              <a:gd name="connsiteX2" fmla="*/ 971550 w 1095375"/>
              <a:gd name="connsiteY2" fmla="*/ 752475 h 752475"/>
              <a:gd name="connsiteX3" fmla="*/ 971550 w 1095375"/>
              <a:gd name="connsiteY3" fmla="*/ 0 h 752475"/>
              <a:gd name="connsiteX4" fmla="*/ 1095375 w 1095375"/>
              <a:gd name="connsiteY4" fmla="*/ 0 h 752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95375" h="752475">
                <a:moveTo>
                  <a:pt x="0" y="542925"/>
                </a:moveTo>
                <a:lnTo>
                  <a:pt x="0" y="752475"/>
                </a:lnTo>
                <a:lnTo>
                  <a:pt x="971550" y="752475"/>
                </a:lnTo>
                <a:lnTo>
                  <a:pt x="971550" y="0"/>
                </a:lnTo>
                <a:lnTo>
                  <a:pt x="1095375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8" name="자유형: 도형 57">
            <a:extLst>
              <a:ext uri="{FF2B5EF4-FFF2-40B4-BE49-F238E27FC236}">
                <a16:creationId xmlns:a16="http://schemas.microsoft.com/office/drawing/2014/main" id="{5B3B9791-0BAB-4912-A57B-55FCFF91B6D1}"/>
              </a:ext>
            </a:extLst>
          </p:cNvPr>
          <p:cNvSpPr/>
          <p:nvPr/>
        </p:nvSpPr>
        <p:spPr>
          <a:xfrm>
            <a:off x="5457741" y="4176326"/>
            <a:ext cx="1187726" cy="857250"/>
          </a:xfrm>
          <a:custGeom>
            <a:avLst/>
            <a:gdLst>
              <a:gd name="connsiteX0" fmla="*/ 0 w 1114425"/>
              <a:gd name="connsiteY0" fmla="*/ 476250 h 857250"/>
              <a:gd name="connsiteX1" fmla="*/ 0 w 1114425"/>
              <a:gd name="connsiteY1" fmla="*/ 0 h 857250"/>
              <a:gd name="connsiteX2" fmla="*/ 1114425 w 1114425"/>
              <a:gd name="connsiteY2" fmla="*/ 0 h 857250"/>
              <a:gd name="connsiteX3" fmla="*/ 1114425 w 1114425"/>
              <a:gd name="connsiteY3" fmla="*/ 857250 h 8572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14425" h="857250">
                <a:moveTo>
                  <a:pt x="0" y="476250"/>
                </a:moveTo>
                <a:lnTo>
                  <a:pt x="0" y="0"/>
                </a:lnTo>
                <a:lnTo>
                  <a:pt x="1114425" y="0"/>
                </a:lnTo>
                <a:lnTo>
                  <a:pt x="1114425" y="85725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타원 18">
            <a:extLst>
              <a:ext uri="{FF2B5EF4-FFF2-40B4-BE49-F238E27FC236}">
                <a16:creationId xmlns:a16="http://schemas.microsoft.com/office/drawing/2014/main" id="{05E5050D-245B-4027-AE3F-2C5DE8C05CE3}"/>
              </a:ext>
            </a:extLst>
          </p:cNvPr>
          <p:cNvSpPr/>
          <p:nvPr/>
        </p:nvSpPr>
        <p:spPr>
          <a:xfrm>
            <a:off x="3273437" y="4138698"/>
            <a:ext cx="72000" cy="7200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9" name="타원 58">
            <a:extLst>
              <a:ext uri="{FF2B5EF4-FFF2-40B4-BE49-F238E27FC236}">
                <a16:creationId xmlns:a16="http://schemas.microsoft.com/office/drawing/2014/main" id="{75E3D88D-9775-4318-B3B6-3EDDFDE587B0}"/>
              </a:ext>
            </a:extLst>
          </p:cNvPr>
          <p:cNvSpPr/>
          <p:nvPr/>
        </p:nvSpPr>
        <p:spPr>
          <a:xfrm>
            <a:off x="3491888" y="4138698"/>
            <a:ext cx="72000" cy="72008"/>
          </a:xfrm>
          <a:prstGeom prst="ellipse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4" name="자유형: 도형 63">
            <a:extLst>
              <a:ext uri="{FF2B5EF4-FFF2-40B4-BE49-F238E27FC236}">
                <a16:creationId xmlns:a16="http://schemas.microsoft.com/office/drawing/2014/main" id="{E73D7160-1663-45E0-91CF-B112E97216C7}"/>
              </a:ext>
            </a:extLst>
          </p:cNvPr>
          <p:cNvSpPr/>
          <p:nvPr/>
        </p:nvSpPr>
        <p:spPr>
          <a:xfrm>
            <a:off x="3320438" y="4181003"/>
            <a:ext cx="190500" cy="0"/>
          </a:xfrm>
          <a:custGeom>
            <a:avLst/>
            <a:gdLst>
              <a:gd name="connsiteX0" fmla="*/ 0 w 190500"/>
              <a:gd name="connsiteY0" fmla="*/ 0 h 0"/>
              <a:gd name="connsiteX1" fmla="*/ 190500 w 1905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>
                <a:moveTo>
                  <a:pt x="0" y="0"/>
                </a:moveTo>
                <a:lnTo>
                  <a:pt x="190500" y="0"/>
                </a:lnTo>
              </a:path>
            </a:pathLst>
          </a:cu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951C7BC3-0050-4061-81CA-6D1008F3B294}"/>
              </a:ext>
            </a:extLst>
          </p:cNvPr>
          <p:cNvGrpSpPr/>
          <p:nvPr/>
        </p:nvGrpSpPr>
        <p:grpSpPr>
          <a:xfrm>
            <a:off x="5947405" y="4141673"/>
            <a:ext cx="290451" cy="80899"/>
            <a:chOff x="5947405" y="4141673"/>
            <a:chExt cx="290451" cy="80899"/>
          </a:xfrm>
        </p:grpSpPr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10FC8A67-1E73-43F3-813E-5A9ABE2896F9}"/>
                </a:ext>
              </a:extLst>
            </p:cNvPr>
            <p:cNvSpPr/>
            <p:nvPr/>
          </p:nvSpPr>
          <p:spPr>
            <a:xfrm>
              <a:off x="6019405" y="4150564"/>
              <a:ext cx="218451" cy="7200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0" name="타원 59">
              <a:extLst>
                <a:ext uri="{FF2B5EF4-FFF2-40B4-BE49-F238E27FC236}">
                  <a16:creationId xmlns:a16="http://schemas.microsoft.com/office/drawing/2014/main" id="{EECF8270-7801-4D81-A90C-9CFA213E4F05}"/>
                </a:ext>
              </a:extLst>
            </p:cNvPr>
            <p:cNvSpPr/>
            <p:nvPr/>
          </p:nvSpPr>
          <p:spPr>
            <a:xfrm>
              <a:off x="5947405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1" name="타원 60">
              <a:extLst>
                <a:ext uri="{FF2B5EF4-FFF2-40B4-BE49-F238E27FC236}">
                  <a16:creationId xmlns:a16="http://schemas.microsoft.com/office/drawing/2014/main" id="{127B3426-9CE9-48BE-BF21-3C6725F4D0B8}"/>
                </a:ext>
              </a:extLst>
            </p:cNvPr>
            <p:cNvSpPr/>
            <p:nvPr/>
          </p:nvSpPr>
          <p:spPr>
            <a:xfrm>
              <a:off x="6165856" y="4150564"/>
              <a:ext cx="72000" cy="72008"/>
            </a:xfrm>
            <a:prstGeom prst="ellipse">
              <a:avLst/>
            </a:prstGeom>
            <a:solidFill>
              <a:srgbClr val="C00000"/>
            </a:solidFill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자유형: 도형 64">
              <a:extLst>
                <a:ext uri="{FF2B5EF4-FFF2-40B4-BE49-F238E27FC236}">
                  <a16:creationId xmlns:a16="http://schemas.microsoft.com/office/drawing/2014/main" id="{C854DC32-BA06-453A-8C6A-2520CF17EABD}"/>
                </a:ext>
              </a:extLst>
            </p:cNvPr>
            <p:cNvSpPr/>
            <p:nvPr/>
          </p:nvSpPr>
          <p:spPr>
            <a:xfrm rot="19846940">
              <a:off x="5981305" y="4141673"/>
              <a:ext cx="190500" cy="0"/>
            </a:xfrm>
            <a:custGeom>
              <a:avLst/>
              <a:gdLst>
                <a:gd name="connsiteX0" fmla="*/ 0 w 190500"/>
                <a:gd name="connsiteY0" fmla="*/ 0 h 0"/>
                <a:gd name="connsiteX1" fmla="*/ 190500 w 19050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90500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66" name="TextBox 65">
            <a:extLst>
              <a:ext uri="{FF2B5EF4-FFF2-40B4-BE49-F238E27FC236}">
                <a16:creationId xmlns:a16="http://schemas.microsoft.com/office/drawing/2014/main" id="{E4EF229E-DB6A-4424-999D-B0313D69F11E}"/>
              </a:ext>
            </a:extLst>
          </p:cNvPr>
          <p:cNvSpPr txBox="1"/>
          <p:nvPr/>
        </p:nvSpPr>
        <p:spPr>
          <a:xfrm>
            <a:off x="2944080" y="4219751"/>
            <a:ext cx="89364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Switch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On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C9DDFDE2-0DD7-42DC-94C7-E997A67735D9}"/>
              </a:ext>
            </a:extLst>
          </p:cNvPr>
          <p:cNvSpPr txBox="1"/>
          <p:nvPr/>
        </p:nvSpPr>
        <p:spPr>
          <a:xfrm>
            <a:off x="5642930" y="4226815"/>
            <a:ext cx="9000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Switch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03257BAB-EF79-40CC-9FC3-B2989FFDD06A}"/>
              </a:ext>
            </a:extLst>
          </p:cNvPr>
          <p:cNvSpPr txBox="1"/>
          <p:nvPr/>
        </p:nvSpPr>
        <p:spPr>
          <a:xfrm>
            <a:off x="3060878" y="5952429"/>
            <a:ext cx="13671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&lt;Closed Circuit&gt;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ECF4595-E583-40F6-8670-7572706DFD1E}"/>
              </a:ext>
            </a:extLst>
          </p:cNvPr>
          <p:cNvSpPr txBox="1"/>
          <p:nvPr/>
        </p:nvSpPr>
        <p:spPr>
          <a:xfrm>
            <a:off x="5673842" y="5952428"/>
            <a:ext cx="12789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&lt;Open Circuit&gt;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28" name="그룹 27">
            <a:extLst>
              <a:ext uri="{FF2B5EF4-FFF2-40B4-BE49-F238E27FC236}">
                <a16:creationId xmlns:a16="http://schemas.microsoft.com/office/drawing/2014/main" id="{729CD0A3-0BCB-4756-A7D1-6B5F5047C143}"/>
              </a:ext>
            </a:extLst>
          </p:cNvPr>
          <p:cNvGrpSpPr/>
          <p:nvPr/>
        </p:nvGrpSpPr>
        <p:grpSpPr>
          <a:xfrm>
            <a:off x="2708600" y="5727440"/>
            <a:ext cx="216024" cy="385218"/>
            <a:chOff x="704714" y="5491707"/>
            <a:chExt cx="216024" cy="385218"/>
          </a:xfrm>
        </p:grpSpPr>
        <p:grpSp>
          <p:nvGrpSpPr>
            <p:cNvPr id="30" name="그룹 29">
              <a:extLst>
                <a:ext uri="{FF2B5EF4-FFF2-40B4-BE49-F238E27FC236}">
                  <a16:creationId xmlns:a16="http://schemas.microsoft.com/office/drawing/2014/main" id="{8D0A9E0D-3DD7-4511-AEF4-3E12487C0479}"/>
                </a:ext>
              </a:extLst>
            </p:cNvPr>
            <p:cNvGrpSpPr/>
            <p:nvPr/>
          </p:nvGrpSpPr>
          <p:grpSpPr>
            <a:xfrm>
              <a:off x="704714" y="5776473"/>
              <a:ext cx="216024" cy="100452"/>
              <a:chOff x="331908" y="6024374"/>
              <a:chExt cx="216024" cy="100452"/>
            </a:xfrm>
          </p:grpSpPr>
          <p:cxnSp>
            <p:nvCxnSpPr>
              <p:cNvPr id="32" name="직선 연결선 31">
                <a:extLst>
                  <a:ext uri="{FF2B5EF4-FFF2-40B4-BE49-F238E27FC236}">
                    <a16:creationId xmlns:a16="http://schemas.microsoft.com/office/drawing/2014/main" id="{B05AE77A-7AC7-4A25-A9E6-0F153BB2EEF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08" y="6024374"/>
                <a:ext cx="2160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직선 연결선 32">
                <a:extLst>
                  <a:ext uri="{FF2B5EF4-FFF2-40B4-BE49-F238E27FC236}">
                    <a16:creationId xmlns:a16="http://schemas.microsoft.com/office/drawing/2014/main" id="{E9AE3269-542A-45A2-80C3-6C9A5CF83F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920" y="6072276"/>
                <a:ext cx="144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직선 연결선 33">
                <a:extLst>
                  <a:ext uri="{FF2B5EF4-FFF2-40B4-BE49-F238E27FC236}">
                    <a16:creationId xmlns:a16="http://schemas.microsoft.com/office/drawing/2014/main" id="{6255E277-E993-494B-8521-54CC8CDB390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20" y="6124826"/>
                <a:ext cx="72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B7823AA5-2FD8-4191-AFB1-0C81D062A8E4}"/>
                </a:ext>
              </a:extLst>
            </p:cNvPr>
            <p:cNvSpPr/>
            <p:nvPr/>
          </p:nvSpPr>
          <p:spPr>
            <a:xfrm flipH="1">
              <a:off x="765304" y="5491707"/>
              <a:ext cx="45719" cy="289967"/>
            </a:xfrm>
            <a:custGeom>
              <a:avLst/>
              <a:gdLst>
                <a:gd name="connsiteX0" fmla="*/ 0 w 0"/>
                <a:gd name="connsiteY0" fmla="*/ 0 h 933450"/>
                <a:gd name="connsiteX1" fmla="*/ 0 w 0"/>
                <a:gd name="connsiteY1" fmla="*/ 93345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340F4B0-E194-4626-BFCA-E0A8E733B3A8}"/>
              </a:ext>
            </a:extLst>
          </p:cNvPr>
          <p:cNvGrpSpPr/>
          <p:nvPr/>
        </p:nvGrpSpPr>
        <p:grpSpPr>
          <a:xfrm>
            <a:off x="5360112" y="5727440"/>
            <a:ext cx="216024" cy="385218"/>
            <a:chOff x="704714" y="5491707"/>
            <a:chExt cx="216024" cy="385218"/>
          </a:xfrm>
        </p:grpSpPr>
        <p:grpSp>
          <p:nvGrpSpPr>
            <p:cNvPr id="37" name="그룹 36">
              <a:extLst>
                <a:ext uri="{FF2B5EF4-FFF2-40B4-BE49-F238E27FC236}">
                  <a16:creationId xmlns:a16="http://schemas.microsoft.com/office/drawing/2014/main" id="{D45FE10E-E049-4665-A2ED-E3A597E38C3E}"/>
                </a:ext>
              </a:extLst>
            </p:cNvPr>
            <p:cNvGrpSpPr/>
            <p:nvPr/>
          </p:nvGrpSpPr>
          <p:grpSpPr>
            <a:xfrm>
              <a:off x="704714" y="5776473"/>
              <a:ext cx="216024" cy="100452"/>
              <a:chOff x="331908" y="6024374"/>
              <a:chExt cx="216024" cy="100452"/>
            </a:xfrm>
          </p:grpSpPr>
          <p:cxnSp>
            <p:nvCxnSpPr>
              <p:cNvPr id="39" name="직선 연결선 38">
                <a:extLst>
                  <a:ext uri="{FF2B5EF4-FFF2-40B4-BE49-F238E27FC236}">
                    <a16:creationId xmlns:a16="http://schemas.microsoft.com/office/drawing/2014/main" id="{0470F79E-1E32-46FF-A744-15817BC7F45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31908" y="6024374"/>
                <a:ext cx="216024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직선 연결선 39">
                <a:extLst>
                  <a:ext uri="{FF2B5EF4-FFF2-40B4-BE49-F238E27FC236}">
                    <a16:creationId xmlns:a16="http://schemas.microsoft.com/office/drawing/2014/main" id="{BB768A3A-6806-47F9-8F1D-2275446C784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67920" y="6072276"/>
                <a:ext cx="144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1" name="직선 연결선 40">
                <a:extLst>
                  <a:ext uri="{FF2B5EF4-FFF2-40B4-BE49-F238E27FC236}">
                    <a16:creationId xmlns:a16="http://schemas.microsoft.com/office/drawing/2014/main" id="{C3FE5610-4120-4480-8FF7-1DD773CA49F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03920" y="6124826"/>
                <a:ext cx="720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8" name="자유형: 도형 37">
              <a:extLst>
                <a:ext uri="{FF2B5EF4-FFF2-40B4-BE49-F238E27FC236}">
                  <a16:creationId xmlns:a16="http://schemas.microsoft.com/office/drawing/2014/main" id="{76ED8F47-F056-4DD9-960A-DACF596F9B72}"/>
                </a:ext>
              </a:extLst>
            </p:cNvPr>
            <p:cNvSpPr/>
            <p:nvPr/>
          </p:nvSpPr>
          <p:spPr>
            <a:xfrm flipH="1">
              <a:off x="765304" y="5491707"/>
              <a:ext cx="45719" cy="289967"/>
            </a:xfrm>
            <a:custGeom>
              <a:avLst/>
              <a:gdLst>
                <a:gd name="connsiteX0" fmla="*/ 0 w 0"/>
                <a:gd name="connsiteY0" fmla="*/ 0 h 933450"/>
                <a:gd name="connsiteX1" fmla="*/ 0 w 0"/>
                <a:gd name="connsiteY1" fmla="*/ 933450 h 9334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933450">
                  <a:moveTo>
                    <a:pt x="0" y="0"/>
                  </a:moveTo>
                  <a:lnTo>
                    <a:pt x="0" y="93345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43670592"/>
      </p:ext>
    </p:extLst>
  </p:cSld>
  <p:clrMapOvr>
    <a:masterClrMapping/>
  </p:clrMapOvr>
  <p:transition advTm="87943"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브레드</a:t>
            </a:r>
            <a:r>
              <a:rPr lang="ko-KR" altLang="en-US" dirty="0"/>
              <a:t> 보드</a:t>
            </a:r>
            <a:r>
              <a:rPr lang="en-US" altLang="ko-KR" dirty="0"/>
              <a:t>(Bread Board)</a:t>
            </a:r>
          </a:p>
          <a:p>
            <a:pPr lvl="1"/>
            <a:r>
              <a:rPr lang="ko-KR" altLang="en-US" dirty="0"/>
              <a:t>납땜을 하지 않고 전자회로 시제품을 꾸밀 수 있는 재사용 가능한 장치</a:t>
            </a:r>
            <a:endParaRPr lang="en-US" altLang="ko-KR" dirty="0"/>
          </a:p>
          <a:p>
            <a:pPr lvl="1"/>
            <a:r>
              <a:rPr lang="ko-KR" altLang="en-US" dirty="0"/>
              <a:t>초기 </a:t>
            </a:r>
            <a:r>
              <a:rPr lang="en-US" altLang="ko-KR" dirty="0"/>
              <a:t>“</a:t>
            </a:r>
            <a:r>
              <a:rPr lang="ko-KR" altLang="en-US" dirty="0"/>
              <a:t>빵을 자르던 나무 </a:t>
            </a:r>
            <a:r>
              <a:rPr lang="ko-KR" altLang="en-US" dirty="0" err="1"/>
              <a:t>식판</a:t>
            </a:r>
            <a:r>
              <a:rPr lang="en-US" altLang="ko-KR" dirty="0"/>
              <a:t>”</a:t>
            </a:r>
            <a:r>
              <a:rPr lang="ko-KR" altLang="en-US" dirty="0"/>
              <a:t>에 못을 박아 고정하던 것에서 빵판이라는 이름이 유래</a:t>
            </a:r>
            <a:endParaRPr lang="en-US" altLang="ko-KR" dirty="0"/>
          </a:p>
          <a:p>
            <a:pPr lvl="1"/>
            <a:r>
              <a:rPr lang="ko-KR" altLang="en-US" dirty="0"/>
              <a:t>위</a:t>
            </a:r>
            <a:r>
              <a:rPr lang="en-US" altLang="ko-KR" dirty="0"/>
              <a:t>/</a:t>
            </a:r>
            <a:r>
              <a:rPr lang="ko-KR" altLang="en-US" dirty="0"/>
              <a:t>아래에 가로로 연결된 </a:t>
            </a:r>
            <a:r>
              <a:rPr lang="en-US" altLang="ko-KR" dirty="0"/>
              <a:t>power rail</a:t>
            </a:r>
            <a:r>
              <a:rPr lang="ko-KR" altLang="en-US" dirty="0"/>
              <a:t>과 </a:t>
            </a:r>
            <a:r>
              <a:rPr lang="en-US" altLang="ko-KR" dirty="0"/>
              <a:t>ground rail</a:t>
            </a:r>
            <a:r>
              <a:rPr lang="ko-KR" altLang="en-US" dirty="0"/>
              <a:t>이 일렬로 연결</a:t>
            </a:r>
            <a:endParaRPr lang="en-US" altLang="ko-KR" dirty="0"/>
          </a:p>
          <a:p>
            <a:pPr lvl="1"/>
            <a:r>
              <a:rPr lang="ko-KR" altLang="en-US" dirty="0"/>
              <a:t>내부의 홀은 </a:t>
            </a:r>
            <a:r>
              <a:rPr lang="en-US" altLang="ko-KR" dirty="0"/>
              <a:t>5</a:t>
            </a:r>
            <a:r>
              <a:rPr lang="ko-KR" altLang="en-US" dirty="0"/>
              <a:t>개씩 세로로 연결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13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BED27-371B-47FA-83BC-68686ACDAF19}"/>
              </a:ext>
            </a:extLst>
          </p:cNvPr>
          <p:cNvSpPr txBox="1"/>
          <p:nvPr/>
        </p:nvSpPr>
        <p:spPr>
          <a:xfrm>
            <a:off x="3739778" y="6165304"/>
            <a:ext cx="16866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&lt;830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홀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브레드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보드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7F4A9CE7-37D0-4578-9404-C6D4C9F2731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539"/>
          <a:stretch/>
        </p:blipFill>
        <p:spPr>
          <a:xfrm>
            <a:off x="1295636" y="3783636"/>
            <a:ext cx="6552728" cy="2093289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F7CD7A84-9F8D-7A35-44D4-326053B08C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4167" y="4053288"/>
            <a:ext cx="2542793" cy="21342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34E55DFE-CD27-93E4-4B25-F6CE85834C4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7354"/>
          <a:stretch>
            <a:fillRect/>
          </a:stretch>
        </p:blipFill>
        <p:spPr>
          <a:xfrm>
            <a:off x="231564" y="4095580"/>
            <a:ext cx="3476638" cy="209328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85065652"/>
      </p:ext>
    </p:extLst>
  </p:cSld>
  <p:clrMapOvr>
    <a:masterClrMapping/>
  </p:clrMapOvr>
  <p:transition advTm="134499"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주요</a:t>
            </a:r>
            <a:r>
              <a:rPr lang="en-US" altLang="ko-KR" dirty="0"/>
              <a:t> </a:t>
            </a:r>
            <a:r>
              <a:rPr lang="ko-KR" altLang="en-US" dirty="0"/>
              <a:t>부품과 회로기호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14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BED27-371B-47FA-83BC-68686ACDAF19}"/>
              </a:ext>
            </a:extLst>
          </p:cNvPr>
          <p:cNvSpPr txBox="1"/>
          <p:nvPr/>
        </p:nvSpPr>
        <p:spPr>
          <a:xfrm>
            <a:off x="3636384" y="6373707"/>
            <a:ext cx="189346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주요 부품과 회로기호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7">
            <a:extLst>
              <a:ext uri="{FF2B5EF4-FFF2-40B4-BE49-F238E27FC236}">
                <a16:creationId xmlns:a16="http://schemas.microsoft.com/office/drawing/2014/main" id="{8A26F1E3-1364-421E-85CB-9B8155AFDB5E}"/>
              </a:ext>
            </a:extLst>
          </p:cNvPr>
          <p:cNvGraphicFramePr>
            <a:graphicFrameLocks noGrp="1"/>
          </p:cNvGraphicFramePr>
          <p:nvPr/>
        </p:nvGraphicFramePr>
        <p:xfrm>
          <a:off x="467544" y="1412776"/>
          <a:ext cx="8208912" cy="4897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24136">
                  <a:extLst>
                    <a:ext uri="{9D8B030D-6E8A-4147-A177-3AD203B41FA5}">
                      <a16:colId xmlns:a16="http://schemas.microsoft.com/office/drawing/2014/main" val="2956688928"/>
                    </a:ext>
                  </a:extLst>
                </a:gridCol>
                <a:gridCol w="1728192">
                  <a:extLst>
                    <a:ext uri="{9D8B030D-6E8A-4147-A177-3AD203B41FA5}">
                      <a16:colId xmlns:a16="http://schemas.microsoft.com/office/drawing/2014/main" val="2546575720"/>
                    </a:ext>
                  </a:extLst>
                </a:gridCol>
                <a:gridCol w="1872208">
                  <a:extLst>
                    <a:ext uri="{9D8B030D-6E8A-4147-A177-3AD203B41FA5}">
                      <a16:colId xmlns:a16="http://schemas.microsoft.com/office/drawing/2014/main" val="1416827917"/>
                    </a:ext>
                  </a:extLst>
                </a:gridCol>
                <a:gridCol w="3384376">
                  <a:extLst>
                    <a:ext uri="{9D8B030D-6E8A-4147-A177-3AD203B41FA5}">
                      <a16:colId xmlns:a16="http://schemas.microsoft.com/office/drawing/2014/main" val="2120745309"/>
                    </a:ext>
                  </a:extLst>
                </a:gridCol>
              </a:tblGrid>
              <a:tr h="39143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명칭</a:t>
                      </a:r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회로기호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역할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9577698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전류의 흐름을 방해하는 소자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단위는 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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(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옴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  <a:sym typeface="Symbol" panose="05050102010706020507" pitchFamily="18" charset="2"/>
                        </a:rPr>
                        <a:t>)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4858547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가변저항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저항값을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임의로 바꿀 수 있는 저항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1742078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커패시터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전기를 일시적으로 저장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콘덴서 혹은 축전기라 불림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. F(</a:t>
                      </a:r>
                      <a:r>
                        <a:rPr lang="ko-KR" altLang="en-US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패럿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20416010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LED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 err="1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순압향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전압을 인가할 때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빛을 발광하는 표시장치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8231013"/>
                  </a:ext>
                </a:extLst>
              </a:tr>
              <a:tr h="675198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전원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전기회로에 에너지를 공급하는 장치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7936471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접지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</a:t>
                      </a:r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 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전위를 제공하는 단자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50570190"/>
                  </a:ext>
                </a:extLst>
              </a:tr>
              <a:tr h="630571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스위치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b="1" dirty="0">
                        <a:solidFill>
                          <a:srgbClr val="0070C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회로를 </a:t>
                      </a:r>
                      <a:r>
                        <a:rPr lang="en-US" altLang="ko-KR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On/Off </a:t>
                      </a:r>
                      <a:r>
                        <a:rPr lang="ko-KR" altLang="en-US" b="1" dirty="0">
                          <a:solidFill>
                            <a:srgbClr val="0070C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시키는 전기소자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6820821"/>
                  </a:ext>
                </a:extLst>
              </a:tr>
            </a:tbl>
          </a:graphicData>
        </a:graphic>
      </p:graphicFrame>
      <p:pic>
        <p:nvPicPr>
          <p:cNvPr id="9" name="그림 8">
            <a:extLst>
              <a:ext uri="{FF2B5EF4-FFF2-40B4-BE49-F238E27FC236}">
                <a16:creationId xmlns:a16="http://schemas.microsoft.com/office/drawing/2014/main" id="{5279F8FF-AAF2-482E-9E5B-7C34653648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1905344"/>
            <a:ext cx="1296144" cy="432048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C72E6D84-47E5-48B0-97AB-A63D43855F7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1920" y="3160495"/>
            <a:ext cx="882111" cy="381300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A6DF3CE1-0B7D-4AA9-9EC8-C69D217389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9765" y="3737707"/>
            <a:ext cx="808716" cy="563973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5D57DDD9-38E7-4BD1-8CC1-6509CFF086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51567" y="4377680"/>
            <a:ext cx="1464802" cy="568242"/>
          </a:xfrm>
          <a:prstGeom prst="rect">
            <a:avLst/>
          </a:prstGeom>
        </p:spPr>
      </p:pic>
      <p:pic>
        <p:nvPicPr>
          <p:cNvPr id="23" name="그림 22">
            <a:extLst>
              <a:ext uri="{FF2B5EF4-FFF2-40B4-BE49-F238E27FC236}">
                <a16:creationId xmlns:a16="http://schemas.microsoft.com/office/drawing/2014/main" id="{3916B651-E022-4446-B860-3BEC8494135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98987" y="5062024"/>
            <a:ext cx="415771" cy="519714"/>
          </a:xfrm>
          <a:prstGeom prst="rect">
            <a:avLst/>
          </a:prstGeom>
        </p:spPr>
      </p:pic>
      <p:pic>
        <p:nvPicPr>
          <p:cNvPr id="25" name="그림 24">
            <a:extLst>
              <a:ext uri="{FF2B5EF4-FFF2-40B4-BE49-F238E27FC236}">
                <a16:creationId xmlns:a16="http://schemas.microsoft.com/office/drawing/2014/main" id="{CD94954C-7175-4952-830D-EE72A62F42C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08127" y="5843352"/>
            <a:ext cx="696821" cy="224958"/>
          </a:xfrm>
          <a:prstGeom prst="rect">
            <a:avLst/>
          </a:prstGeom>
        </p:spPr>
      </p:pic>
      <p:pic>
        <p:nvPicPr>
          <p:cNvPr id="27" name="그림 26">
            <a:extLst>
              <a:ext uri="{FF2B5EF4-FFF2-40B4-BE49-F238E27FC236}">
                <a16:creationId xmlns:a16="http://schemas.microsoft.com/office/drawing/2014/main" id="{7BEC5132-BCE0-47B4-B91F-13A5C9E2300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0643" y="5731631"/>
            <a:ext cx="696822" cy="492730"/>
          </a:xfrm>
          <a:prstGeom prst="rect">
            <a:avLst/>
          </a:prstGeom>
        </p:spPr>
      </p:pic>
      <p:pic>
        <p:nvPicPr>
          <p:cNvPr id="30" name="그림 29">
            <a:extLst>
              <a:ext uri="{FF2B5EF4-FFF2-40B4-BE49-F238E27FC236}">
                <a16:creationId xmlns:a16="http://schemas.microsoft.com/office/drawing/2014/main" id="{13A0577C-A796-4F1E-A200-6E3AA8D81FC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947393" y="1862211"/>
            <a:ext cx="1132284" cy="51781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FAE9CBD9-8847-4BAF-9D2E-1990970A565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832170" y="2494934"/>
            <a:ext cx="857143" cy="49523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6F0ED2B-2C6B-482B-A481-8C21C1FF0E4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35696" y="2494934"/>
            <a:ext cx="471931" cy="517813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18FB9C58-A12B-476A-8A3D-15CAD2A8297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351293" y="2506221"/>
            <a:ext cx="315928" cy="495238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44E412EF-55AC-4E57-882D-A5D4CBB9292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942990" y="2506855"/>
            <a:ext cx="385687" cy="47139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0CE0508-9D89-4AE0-8BA1-712A76F817EE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796957" y="3151352"/>
            <a:ext cx="1406892" cy="538595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EEBAF9A4-F21A-46AC-A575-9561972D70CC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48424" y="3783893"/>
            <a:ext cx="1580253" cy="552809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BFAACD2A-4A37-4DB0-A3B6-0F51C5B8C9E9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21129" y="4390002"/>
            <a:ext cx="1282720" cy="618899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DABC450D-7351-4898-8EC8-21044A5E5F6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796957" y="5699717"/>
            <a:ext cx="580756" cy="556558"/>
          </a:xfrm>
          <a:prstGeom prst="rect">
            <a:avLst/>
          </a:prstGeom>
        </p:spPr>
      </p:pic>
      <p:pic>
        <p:nvPicPr>
          <p:cNvPr id="52" name="그림 51">
            <a:extLst>
              <a:ext uri="{FF2B5EF4-FFF2-40B4-BE49-F238E27FC236}">
                <a16:creationId xmlns:a16="http://schemas.microsoft.com/office/drawing/2014/main" id="{63013DDE-B2E8-48C2-B49C-6CA4BE4C10E4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622156" y="5695319"/>
            <a:ext cx="543484" cy="584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657596"/>
      </p:ext>
    </p:extLst>
  </p:cSld>
  <p:clrMapOvr>
    <a:masterClrMapping/>
  </p:clrMapOvr>
  <p:transition advTm="222108"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저항</a:t>
            </a:r>
            <a:r>
              <a:rPr lang="en-US" altLang="ko-KR" dirty="0"/>
              <a:t>(Resistor)</a:t>
            </a:r>
          </a:p>
          <a:p>
            <a:pPr lvl="1"/>
            <a:r>
              <a:rPr lang="ko-KR" altLang="en-US" dirty="0"/>
              <a:t>저항은 전류가 흐르는 것을 방해하여 흐르는 </a:t>
            </a:r>
            <a:r>
              <a:rPr lang="ko-KR" altLang="en-US" dirty="0" err="1"/>
              <a:t>전류량을</a:t>
            </a:r>
            <a:r>
              <a:rPr lang="ko-KR" altLang="en-US" dirty="0"/>
              <a:t> 제한하게 하는 장치 </a:t>
            </a:r>
            <a:r>
              <a:rPr lang="en-US" altLang="ko-KR" dirty="0">
                <a:sym typeface="Wingdings" panose="05000000000000000000" pitchFamily="2" charset="2"/>
              </a:rPr>
              <a:t></a:t>
            </a:r>
            <a:r>
              <a:rPr lang="en-US" altLang="ko-KR" dirty="0"/>
              <a:t> </a:t>
            </a:r>
            <a:r>
              <a:rPr lang="ko-KR" altLang="en-US" dirty="0"/>
              <a:t>안전을 위해 꼭 필요</a:t>
            </a:r>
            <a:endParaRPr lang="en-US" altLang="ko-KR" dirty="0"/>
          </a:p>
          <a:p>
            <a:pPr lvl="1"/>
            <a:r>
              <a:rPr lang="ko-KR" altLang="en-US" dirty="0" err="1"/>
              <a:t>저항값은</a:t>
            </a:r>
            <a:r>
              <a:rPr lang="ko-KR" altLang="en-US" dirty="0"/>
              <a:t> 띠 모양으로 표기하고 있음                   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15</a:t>
            </a:fld>
            <a:endParaRPr lang="en-US" altLang="ko-KR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E0BED27-371B-47FA-83BC-68686ACDAF19}"/>
              </a:ext>
            </a:extLst>
          </p:cNvPr>
          <p:cNvSpPr txBox="1"/>
          <p:nvPr/>
        </p:nvSpPr>
        <p:spPr>
          <a:xfrm>
            <a:off x="2546633" y="6248345"/>
            <a:ext cx="407297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&lt;4-band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저항의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color code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와 실습에 사용할 저항기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43FD165D-25BC-41ED-9816-53B9A8FCF38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588224" y="2921525"/>
            <a:ext cx="1152128" cy="1011051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B8F2947A-2516-435A-92BE-7C8E00CDD2BD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7092280" y="4629793"/>
            <a:ext cx="917094" cy="83507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EE08602-6A9B-409C-B831-293825C30243}"/>
              </a:ext>
            </a:extLst>
          </p:cNvPr>
          <p:cNvSpPr txBox="1"/>
          <p:nvPr/>
        </p:nvSpPr>
        <p:spPr>
          <a:xfrm>
            <a:off x="5873710" y="3933056"/>
            <a:ext cx="2481770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적적갈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2 2 1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220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C140310-2B2E-4255-9A54-396778C08895}"/>
              </a:ext>
            </a:extLst>
          </p:cNvPr>
          <p:cNvSpPr txBox="1"/>
          <p:nvPr/>
        </p:nvSpPr>
        <p:spPr>
          <a:xfrm>
            <a:off x="5883835" y="5406315"/>
            <a:ext cx="284565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갈흑등</a:t>
            </a:r>
            <a:endParaRPr lang="en-US" altLang="ko-KR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1 0 3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(0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 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</a:t>
            </a:r>
            <a:r>
              <a:rPr lang="ko-KR" altLang="en-US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b="1" dirty="0">
                <a:solidFill>
                  <a:schemeClr val="bg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) 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 10,000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 </a:t>
            </a:r>
          </a:p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Wingdings" panose="05000000000000000000" pitchFamily="2" charset="2"/>
              </a:rPr>
              <a:t>                       10K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 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798C3E5-FBC5-4A66-947C-7AB9441EBE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47664" y="2921525"/>
            <a:ext cx="2304256" cy="805804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6DD5FB0C-EE0D-48C6-947C-4E83CB452BE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08663" y="3853513"/>
            <a:ext cx="3259245" cy="2276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447819"/>
      </p:ext>
    </p:extLst>
  </p:cSld>
  <p:clrMapOvr>
    <a:masterClrMapping/>
  </p:clrMapOvr>
  <p:transition advTm="203276"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LED</a:t>
            </a:r>
            <a:r>
              <a:rPr lang="ko-KR" altLang="en-US" dirty="0"/>
              <a:t> </a:t>
            </a:r>
            <a:r>
              <a:rPr lang="en-US" altLang="ko-KR" dirty="0"/>
              <a:t>(Light Emitting Diode) </a:t>
            </a:r>
          </a:p>
          <a:p>
            <a:pPr lvl="1"/>
            <a:r>
              <a:rPr lang="ko-KR" altLang="en-US" dirty="0"/>
              <a:t>전압이 인가되었을 때 빛을 발생하도록 만든 다이오드 </a:t>
            </a:r>
            <a:endParaRPr lang="en-US" altLang="ko-KR" dirty="0"/>
          </a:p>
          <a:p>
            <a:pPr lvl="1"/>
            <a:r>
              <a:rPr lang="ko-KR" altLang="en-US" dirty="0"/>
              <a:t>전자제어에서의</a:t>
            </a:r>
            <a:r>
              <a:rPr lang="en-US" altLang="ko-KR" dirty="0"/>
              <a:t> </a:t>
            </a:r>
            <a:r>
              <a:rPr lang="ko-KR" altLang="en-US" dirty="0"/>
              <a:t>대표적 표시장치 중 하나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개</a:t>
            </a:r>
            <a:r>
              <a:rPr lang="en-US" altLang="ko-KR" dirty="0"/>
              <a:t> </a:t>
            </a:r>
            <a:r>
              <a:rPr lang="ko-KR" altLang="en-US" dirty="0"/>
              <a:t>다리</a:t>
            </a:r>
            <a:r>
              <a:rPr lang="en-US" altLang="ko-KR" dirty="0"/>
              <a:t> </a:t>
            </a:r>
            <a:r>
              <a:rPr lang="ko-KR" altLang="en-US" dirty="0"/>
              <a:t>중 길이가 긴 것이 양극</a:t>
            </a:r>
            <a:r>
              <a:rPr lang="en-US" altLang="ko-KR" dirty="0"/>
              <a:t>(Anode), </a:t>
            </a:r>
            <a:r>
              <a:rPr lang="ko-KR" altLang="en-US" dirty="0"/>
              <a:t>짧은 것이 음극</a:t>
            </a:r>
            <a:r>
              <a:rPr lang="en-US" altLang="ko-KR" dirty="0"/>
              <a:t>(Cathode)</a:t>
            </a:r>
          </a:p>
          <a:p>
            <a:pPr lvl="1"/>
            <a:r>
              <a:rPr lang="ko-KR" altLang="en-US" dirty="0"/>
              <a:t>동작 전압은 </a:t>
            </a:r>
            <a:r>
              <a:rPr lang="en-US" altLang="ko-KR" dirty="0"/>
              <a:t>1.6V(Red LED) ~ 3.4V(Blue</a:t>
            </a:r>
            <a:r>
              <a:rPr lang="ko-KR" altLang="en-US" dirty="0"/>
              <a:t> </a:t>
            </a:r>
            <a:r>
              <a:rPr lang="en-US" altLang="ko-KR" dirty="0"/>
              <a:t>LED) </a:t>
            </a:r>
            <a:r>
              <a:rPr lang="ko-KR" altLang="en-US" dirty="0"/>
              <a:t>정도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16</a:t>
            </a:fld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E4937D-548A-41AA-94F3-B8721604F01F}"/>
              </a:ext>
            </a:extLst>
          </p:cNvPr>
          <p:cNvSpPr txBox="1"/>
          <p:nvPr/>
        </p:nvSpPr>
        <p:spPr>
          <a:xfrm>
            <a:off x="4251134" y="6093296"/>
            <a:ext cx="66396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&lt;LED&gt;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4924525-CA9D-4835-A215-BA2C28EE53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5896" y="3614058"/>
            <a:ext cx="1728194" cy="20929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591071"/>
      </p:ext>
    </p:extLst>
  </p:cSld>
  <p:clrMapOvr>
    <a:masterClrMapping/>
  </p:clrMapOvr>
  <p:transition advTm="70900"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[</a:t>
            </a:r>
            <a:r>
              <a:rPr lang="ko-KR" altLang="en-US" dirty="0"/>
              <a:t>참고</a:t>
            </a:r>
            <a:r>
              <a:rPr lang="en-US" altLang="ko-KR" dirty="0"/>
              <a:t>] </a:t>
            </a:r>
            <a:r>
              <a:rPr lang="ko-KR" altLang="en-US" dirty="0"/>
              <a:t>전자회로</a:t>
            </a:r>
            <a:r>
              <a:rPr lang="en-US" altLang="ko-KR" dirty="0"/>
              <a:t>(Electronic Circuit)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ko-KR" altLang="en-US" dirty="0"/>
              <a:t> </a:t>
            </a:r>
            <a:r>
              <a:rPr lang="en-US" altLang="ko-KR" dirty="0"/>
              <a:t>(Buzzer) </a:t>
            </a:r>
          </a:p>
          <a:p>
            <a:pPr lvl="1"/>
            <a:r>
              <a:rPr lang="ko-KR" altLang="ko-KR" dirty="0" err="1"/>
              <a:t>피에조</a:t>
            </a:r>
            <a:r>
              <a:rPr lang="en-US" altLang="ko-KR" dirty="0"/>
              <a:t>(Piezo) </a:t>
            </a:r>
            <a:r>
              <a:rPr lang="ko-KR" altLang="en-US" dirty="0"/>
              <a:t>현상은</a:t>
            </a:r>
            <a:r>
              <a:rPr lang="ko-KR" altLang="ko-KR" dirty="0"/>
              <a:t> </a:t>
            </a:r>
            <a:r>
              <a:rPr lang="ko-KR" altLang="en-US" dirty="0" err="1"/>
              <a:t>압전효과</a:t>
            </a:r>
            <a:r>
              <a:rPr lang="ko-KR" altLang="en-US" dirty="0"/>
              <a:t> 및 </a:t>
            </a:r>
            <a:r>
              <a:rPr lang="ko-KR" altLang="en-US" dirty="0" err="1"/>
              <a:t>역압전효과를</a:t>
            </a:r>
            <a:r>
              <a:rPr lang="ko-KR" altLang="en-US" dirty="0"/>
              <a:t> 일으킴</a:t>
            </a:r>
            <a:endParaRPr lang="en-US" altLang="ko-KR" dirty="0"/>
          </a:p>
          <a:p>
            <a:pPr lvl="2"/>
            <a:r>
              <a:rPr lang="ko-KR" altLang="en-US" dirty="0" err="1"/>
              <a:t>압전효과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ko-KR" dirty="0"/>
              <a:t>외부 압력 변화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ko-KR" dirty="0"/>
              <a:t>전압 발생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압전센서</a:t>
            </a:r>
            <a:r>
              <a:rPr lang="en-US" altLang="ko-KR" dirty="0">
                <a:sym typeface="Wingdings" panose="05000000000000000000" pitchFamily="2" charset="2"/>
              </a:rPr>
              <a:t>, </a:t>
            </a:r>
            <a:r>
              <a:rPr lang="ko-KR" altLang="en-US" dirty="0">
                <a:sym typeface="Wingdings" panose="05000000000000000000" pitchFamily="2" charset="2"/>
              </a:rPr>
              <a:t>라이터</a:t>
            </a:r>
            <a:r>
              <a:rPr lang="en-US" altLang="ko-KR" dirty="0">
                <a:sym typeface="Wingdings" panose="05000000000000000000" pitchFamily="2" charset="2"/>
              </a:rPr>
              <a:t> </a:t>
            </a:r>
            <a:r>
              <a:rPr lang="ko-KR" altLang="en-US" dirty="0">
                <a:sym typeface="Wingdings" panose="05000000000000000000" pitchFamily="2" charset="2"/>
              </a:rPr>
              <a:t>점화</a:t>
            </a:r>
            <a:endParaRPr lang="en-US" altLang="ko-KR" dirty="0"/>
          </a:p>
          <a:p>
            <a:pPr lvl="2"/>
            <a:r>
              <a:rPr lang="ko-KR" altLang="en-US" dirty="0" err="1"/>
              <a:t>역압전효과</a:t>
            </a:r>
            <a:r>
              <a:rPr lang="ko-KR" altLang="en-US" dirty="0"/>
              <a:t> </a:t>
            </a:r>
            <a:r>
              <a:rPr lang="en-US" altLang="ko-KR" dirty="0"/>
              <a:t>: </a:t>
            </a:r>
            <a:r>
              <a:rPr lang="ko-KR" altLang="ko-KR" dirty="0"/>
              <a:t>전압</a:t>
            </a:r>
            <a:r>
              <a:rPr lang="en-US" altLang="ko-KR" dirty="0"/>
              <a:t> </a:t>
            </a:r>
            <a:r>
              <a:rPr lang="ko-KR" altLang="en-US" dirty="0"/>
              <a:t>변화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ko-KR" dirty="0"/>
              <a:t>물리변형</a:t>
            </a:r>
            <a:r>
              <a:rPr lang="en-US" altLang="ko-KR" dirty="0"/>
              <a:t>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피에조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ko-KR" altLang="en-US" dirty="0" err="1">
                <a:sym typeface="Wingdings" panose="05000000000000000000" pitchFamily="2" charset="2"/>
              </a:rPr>
              <a:t>부저</a:t>
            </a:r>
            <a:endParaRPr lang="en-US" altLang="ko-KR" dirty="0"/>
          </a:p>
          <a:p>
            <a:pPr lvl="1"/>
            <a:r>
              <a:rPr lang="ko-KR" altLang="ko-KR" dirty="0" err="1"/>
              <a:t>피에조</a:t>
            </a:r>
            <a:r>
              <a:rPr lang="ko-KR" altLang="ko-KR" dirty="0"/>
              <a:t> </a:t>
            </a:r>
            <a:r>
              <a:rPr lang="ko-KR" altLang="ko-KR" dirty="0" err="1"/>
              <a:t>부저</a:t>
            </a:r>
            <a:r>
              <a:rPr lang="en-US" altLang="ko-KR" dirty="0"/>
              <a:t>(Buzzer)</a:t>
            </a:r>
          </a:p>
          <a:p>
            <a:pPr lvl="2"/>
            <a:r>
              <a:rPr lang="ko-KR" altLang="ko-KR" dirty="0"/>
              <a:t>전기신호를 받아 음파</a:t>
            </a:r>
            <a:r>
              <a:rPr lang="en-US" altLang="ko-KR" dirty="0"/>
              <a:t>(</a:t>
            </a:r>
            <a:r>
              <a:rPr lang="ko-KR" altLang="ko-KR" dirty="0"/>
              <a:t>진동</a:t>
            </a:r>
            <a:r>
              <a:rPr lang="en-US" altLang="ko-KR" dirty="0"/>
              <a:t>)</a:t>
            </a:r>
            <a:r>
              <a:rPr lang="ko-KR" altLang="ko-KR" dirty="0"/>
              <a:t>을 발생시켜 소리를 내도록 하는 장치</a:t>
            </a:r>
            <a:endParaRPr lang="en-US" altLang="ko-KR" dirty="0"/>
          </a:p>
          <a:p>
            <a:pPr lvl="2"/>
            <a:r>
              <a:rPr lang="ko-KR" altLang="en-US" dirty="0"/>
              <a:t>전달되는 </a:t>
            </a:r>
            <a:r>
              <a:rPr lang="ko-KR" altLang="ko-KR" dirty="0"/>
              <a:t>주파수에 따</a:t>
            </a:r>
            <a:r>
              <a:rPr lang="ko-KR" altLang="en-US" dirty="0"/>
              <a:t>라</a:t>
            </a:r>
            <a:r>
              <a:rPr lang="ko-KR" altLang="ko-KR" dirty="0"/>
              <a:t> 소리의 높낮이</a:t>
            </a:r>
            <a:r>
              <a:rPr lang="ko-KR" altLang="en-US" dirty="0"/>
              <a:t>가 결정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17</a:t>
            </a:fld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B610A9E-EB4D-8C1B-AF3B-D49CFF9A0A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640" y="4374187"/>
            <a:ext cx="1674042" cy="143843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3A2A53-1802-D779-3334-FCD5C1CB9A3D}"/>
              </a:ext>
            </a:extLst>
          </p:cNvPr>
          <p:cNvSpPr txBox="1"/>
          <p:nvPr/>
        </p:nvSpPr>
        <p:spPr>
          <a:xfrm>
            <a:off x="420586" y="5896768"/>
            <a:ext cx="81165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               (a)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부저의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모양             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(b)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압전효과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(piezoelectric effect)  (c)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역압전효과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(inverse piezoelectric effect)</a:t>
            </a:r>
          </a:p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피에조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200" dirty="0" err="1">
                <a:latin typeface="맑은 고딕" panose="020B0503020000020004" pitchFamily="50" charset="-127"/>
                <a:ea typeface="맑은 고딕" panose="020B0503020000020004" pitchFamily="50" charset="-127"/>
              </a:rPr>
              <a:t>부저의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 원리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A69CB119-E6C4-7407-CB39-633DFBF274BE}"/>
              </a:ext>
            </a:extLst>
          </p:cNvPr>
          <p:cNvSpPr/>
          <p:nvPr/>
        </p:nvSpPr>
        <p:spPr>
          <a:xfrm>
            <a:off x="7124909" y="5004817"/>
            <a:ext cx="701040" cy="224457"/>
          </a:xfrm>
          <a:prstGeom prst="rect">
            <a:avLst/>
          </a:prstGeom>
          <a:pattFill prst="ltUpDiag">
            <a:fgClr>
              <a:schemeClr val="bg1">
                <a:lumMod val="50000"/>
              </a:schemeClr>
            </a:fgClr>
            <a:bgClr>
              <a:schemeClr val="bg1"/>
            </a:bgClr>
          </a:patt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자유형: 도형 9">
            <a:extLst>
              <a:ext uri="{FF2B5EF4-FFF2-40B4-BE49-F238E27FC236}">
                <a16:creationId xmlns:a16="http://schemas.microsoft.com/office/drawing/2014/main" id="{EE121DE2-A3B4-6065-5902-1F5BF03222B6}"/>
              </a:ext>
            </a:extLst>
          </p:cNvPr>
          <p:cNvSpPr/>
          <p:nvPr/>
        </p:nvSpPr>
        <p:spPr>
          <a:xfrm>
            <a:off x="7124909" y="5009842"/>
            <a:ext cx="701040" cy="0"/>
          </a:xfrm>
          <a:custGeom>
            <a:avLst/>
            <a:gdLst>
              <a:gd name="connsiteX0" fmla="*/ 0 w 701040"/>
              <a:gd name="connsiteY0" fmla="*/ 0 h 0"/>
              <a:gd name="connsiteX1" fmla="*/ 701040 w 7010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1040">
                <a:moveTo>
                  <a:pt x="0" y="0"/>
                </a:moveTo>
                <a:lnTo>
                  <a:pt x="70104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자유형: 도형 10">
            <a:extLst>
              <a:ext uri="{FF2B5EF4-FFF2-40B4-BE49-F238E27FC236}">
                <a16:creationId xmlns:a16="http://schemas.microsoft.com/office/drawing/2014/main" id="{7B54124F-E732-4DF3-D72F-2B62D7B13C4C}"/>
              </a:ext>
            </a:extLst>
          </p:cNvPr>
          <p:cNvSpPr/>
          <p:nvPr/>
        </p:nvSpPr>
        <p:spPr>
          <a:xfrm>
            <a:off x="7124909" y="5229274"/>
            <a:ext cx="701040" cy="0"/>
          </a:xfrm>
          <a:custGeom>
            <a:avLst/>
            <a:gdLst>
              <a:gd name="connsiteX0" fmla="*/ 0 w 701040"/>
              <a:gd name="connsiteY0" fmla="*/ 0 h 0"/>
              <a:gd name="connsiteX1" fmla="*/ 701040 w 70104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1040">
                <a:moveTo>
                  <a:pt x="0" y="0"/>
                </a:moveTo>
                <a:lnTo>
                  <a:pt x="701040" y="0"/>
                </a:lnTo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1E48D846-F923-5822-C6A2-A9552E6520A1}"/>
              </a:ext>
            </a:extLst>
          </p:cNvPr>
          <p:cNvCxnSpPr>
            <a:cxnSpLocks/>
          </p:cNvCxnSpPr>
          <p:nvPr/>
        </p:nvCxnSpPr>
        <p:spPr>
          <a:xfrm>
            <a:off x="7730007" y="4756049"/>
            <a:ext cx="0" cy="252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FEFC4947-255C-F7BD-5C15-6F171EB73291}"/>
              </a:ext>
            </a:extLst>
          </p:cNvPr>
          <p:cNvCxnSpPr>
            <a:cxnSpLocks/>
          </p:cNvCxnSpPr>
          <p:nvPr/>
        </p:nvCxnSpPr>
        <p:spPr>
          <a:xfrm>
            <a:off x="7730007" y="5229274"/>
            <a:ext cx="0" cy="252000"/>
          </a:xfrm>
          <a:prstGeom prst="straightConnector1">
            <a:avLst/>
          </a:prstGeom>
          <a:ln w="28575">
            <a:solidFill>
              <a:srgbClr val="FF00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5712599-DB22-81A7-43F8-9C61B383F60C}"/>
              </a:ext>
            </a:extLst>
          </p:cNvPr>
          <p:cNvGrpSpPr/>
          <p:nvPr/>
        </p:nvGrpSpPr>
        <p:grpSpPr>
          <a:xfrm>
            <a:off x="6109446" y="4721223"/>
            <a:ext cx="612000" cy="836810"/>
            <a:chOff x="6099510" y="4626558"/>
            <a:chExt cx="612000" cy="836810"/>
          </a:xfrm>
        </p:grpSpPr>
        <p:pic>
          <p:nvPicPr>
            <p:cNvPr id="15" name="그림 14">
              <a:extLst>
                <a:ext uri="{FF2B5EF4-FFF2-40B4-BE49-F238E27FC236}">
                  <a16:creationId xmlns:a16="http://schemas.microsoft.com/office/drawing/2014/main" id="{A6D607EC-1AB9-5681-68C9-6471567BC14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216446" y="4626558"/>
              <a:ext cx="396524" cy="836810"/>
            </a:xfrm>
            <a:prstGeom prst="rect">
              <a:avLst/>
            </a:prstGeom>
          </p:spPr>
        </p:pic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8008B5FF-70B6-9CDC-BC94-DF5902E82A56}"/>
                </a:ext>
              </a:extLst>
            </p:cNvPr>
            <p:cNvSpPr/>
            <p:nvPr/>
          </p:nvSpPr>
          <p:spPr>
            <a:xfrm>
              <a:off x="6099510" y="4736846"/>
              <a:ext cx="612000" cy="612000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7" name="자유형: 도형 16">
            <a:extLst>
              <a:ext uri="{FF2B5EF4-FFF2-40B4-BE49-F238E27FC236}">
                <a16:creationId xmlns:a16="http://schemas.microsoft.com/office/drawing/2014/main" id="{D63FA513-1FC3-E8D6-5403-3E84833CD057}"/>
              </a:ext>
            </a:extLst>
          </p:cNvPr>
          <p:cNvSpPr/>
          <p:nvPr/>
        </p:nvSpPr>
        <p:spPr>
          <a:xfrm>
            <a:off x="6410131" y="4562669"/>
            <a:ext cx="1073020" cy="466531"/>
          </a:xfrm>
          <a:custGeom>
            <a:avLst/>
            <a:gdLst>
              <a:gd name="connsiteX0" fmla="*/ 0 w 1073020"/>
              <a:gd name="connsiteY0" fmla="*/ 261258 h 466531"/>
              <a:gd name="connsiteX1" fmla="*/ 0 w 1073020"/>
              <a:gd name="connsiteY1" fmla="*/ 0 h 466531"/>
              <a:gd name="connsiteX2" fmla="*/ 1073020 w 1073020"/>
              <a:gd name="connsiteY2" fmla="*/ 0 h 466531"/>
              <a:gd name="connsiteX3" fmla="*/ 1073020 w 1073020"/>
              <a:gd name="connsiteY3" fmla="*/ 466531 h 46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3020" h="466531">
                <a:moveTo>
                  <a:pt x="0" y="261258"/>
                </a:moveTo>
                <a:lnTo>
                  <a:pt x="0" y="0"/>
                </a:lnTo>
                <a:lnTo>
                  <a:pt x="1073020" y="0"/>
                </a:lnTo>
                <a:lnTo>
                  <a:pt x="1073020" y="466531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자유형: 도형 17">
            <a:extLst>
              <a:ext uri="{FF2B5EF4-FFF2-40B4-BE49-F238E27FC236}">
                <a16:creationId xmlns:a16="http://schemas.microsoft.com/office/drawing/2014/main" id="{5ABD4A9F-5453-1A3B-CDAE-C75D4FE0667E}"/>
              </a:ext>
            </a:extLst>
          </p:cNvPr>
          <p:cNvSpPr/>
          <p:nvPr/>
        </p:nvSpPr>
        <p:spPr>
          <a:xfrm flipV="1">
            <a:off x="6410131" y="5247130"/>
            <a:ext cx="1073020" cy="476809"/>
          </a:xfrm>
          <a:custGeom>
            <a:avLst/>
            <a:gdLst>
              <a:gd name="connsiteX0" fmla="*/ 0 w 1073020"/>
              <a:gd name="connsiteY0" fmla="*/ 261258 h 466531"/>
              <a:gd name="connsiteX1" fmla="*/ 0 w 1073020"/>
              <a:gd name="connsiteY1" fmla="*/ 0 h 466531"/>
              <a:gd name="connsiteX2" fmla="*/ 1073020 w 1073020"/>
              <a:gd name="connsiteY2" fmla="*/ 0 h 466531"/>
              <a:gd name="connsiteX3" fmla="*/ 1073020 w 1073020"/>
              <a:gd name="connsiteY3" fmla="*/ 466531 h 4665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73020" h="466531">
                <a:moveTo>
                  <a:pt x="0" y="261258"/>
                </a:moveTo>
                <a:lnTo>
                  <a:pt x="0" y="0"/>
                </a:lnTo>
                <a:lnTo>
                  <a:pt x="1073020" y="0"/>
                </a:lnTo>
                <a:lnTo>
                  <a:pt x="1073020" y="466531"/>
                </a:lnTo>
              </a:path>
            </a:pathLst>
          </a:cu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9" name="그룹 18">
            <a:extLst>
              <a:ext uri="{FF2B5EF4-FFF2-40B4-BE49-F238E27FC236}">
                <a16:creationId xmlns:a16="http://schemas.microsoft.com/office/drawing/2014/main" id="{8EC481EF-60B8-58FD-63A7-D3A73CCC1EF4}"/>
              </a:ext>
            </a:extLst>
          </p:cNvPr>
          <p:cNvGrpSpPr/>
          <p:nvPr/>
        </p:nvGrpSpPr>
        <p:grpSpPr>
          <a:xfrm>
            <a:off x="3635896" y="4673211"/>
            <a:ext cx="1851548" cy="934487"/>
            <a:chOff x="3635896" y="4673211"/>
            <a:chExt cx="1851548" cy="934487"/>
          </a:xfrm>
        </p:grpSpPr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74D67945-BA1E-B34F-94F6-69C5BD968006}"/>
                </a:ext>
              </a:extLst>
            </p:cNvPr>
            <p:cNvSpPr/>
            <p:nvPr/>
          </p:nvSpPr>
          <p:spPr>
            <a:xfrm>
              <a:off x="3635896" y="4932735"/>
              <a:ext cx="701040" cy="224457"/>
            </a:xfrm>
            <a:prstGeom prst="rect">
              <a:avLst/>
            </a:prstGeom>
            <a:pattFill prst="ltUpDiag">
              <a:fgClr>
                <a:schemeClr val="bg1">
                  <a:lumMod val="50000"/>
                </a:schemeClr>
              </a:fgClr>
              <a:bgClr>
                <a:schemeClr val="bg1"/>
              </a:bgClr>
            </a:patt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74AB7327-54B1-BC82-DA77-46DF444AD25C}"/>
                </a:ext>
              </a:extLst>
            </p:cNvPr>
            <p:cNvSpPr/>
            <p:nvPr/>
          </p:nvSpPr>
          <p:spPr>
            <a:xfrm>
              <a:off x="3635896" y="4937760"/>
              <a:ext cx="701040" cy="0"/>
            </a:xfrm>
            <a:custGeom>
              <a:avLst/>
              <a:gdLst>
                <a:gd name="connsiteX0" fmla="*/ 0 w 701040"/>
                <a:gd name="connsiteY0" fmla="*/ 0 h 0"/>
                <a:gd name="connsiteX1" fmla="*/ 701040 w 70104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1040">
                  <a:moveTo>
                    <a:pt x="0" y="0"/>
                  </a:moveTo>
                  <a:lnTo>
                    <a:pt x="70104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2" name="자유형: 도형 21">
              <a:extLst>
                <a:ext uri="{FF2B5EF4-FFF2-40B4-BE49-F238E27FC236}">
                  <a16:creationId xmlns:a16="http://schemas.microsoft.com/office/drawing/2014/main" id="{739F19A0-FD2F-EF00-D496-59B9BF5DCBF0}"/>
                </a:ext>
              </a:extLst>
            </p:cNvPr>
            <p:cNvSpPr/>
            <p:nvPr/>
          </p:nvSpPr>
          <p:spPr>
            <a:xfrm>
              <a:off x="3635896" y="5157192"/>
              <a:ext cx="701040" cy="0"/>
            </a:xfrm>
            <a:custGeom>
              <a:avLst/>
              <a:gdLst>
                <a:gd name="connsiteX0" fmla="*/ 0 w 701040"/>
                <a:gd name="connsiteY0" fmla="*/ 0 h 0"/>
                <a:gd name="connsiteX1" fmla="*/ 701040 w 701040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701040">
                  <a:moveTo>
                    <a:pt x="0" y="0"/>
                  </a:moveTo>
                  <a:lnTo>
                    <a:pt x="701040" y="0"/>
                  </a:lnTo>
                </a:path>
              </a:pathLst>
            </a:cu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23" name="그림 22">
              <a:extLst>
                <a:ext uri="{FF2B5EF4-FFF2-40B4-BE49-F238E27FC236}">
                  <a16:creationId xmlns:a16="http://schemas.microsoft.com/office/drawing/2014/main" id="{881F43BC-C2C9-C602-1FD0-36F399449CF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716016" y="4673211"/>
              <a:ext cx="771428" cy="519047"/>
            </a:xfrm>
            <a:prstGeom prst="rect">
              <a:avLst/>
            </a:prstGeom>
          </p:spPr>
        </p:pic>
        <p:sp>
          <p:nvSpPr>
            <p:cNvPr id="24" name="자유형: 도형 23">
              <a:extLst>
                <a:ext uri="{FF2B5EF4-FFF2-40B4-BE49-F238E27FC236}">
                  <a16:creationId xmlns:a16="http://schemas.microsoft.com/office/drawing/2014/main" id="{FD15B97D-A0EA-B8F4-DEDE-E48020E1A139}"/>
                </a:ext>
              </a:extLst>
            </p:cNvPr>
            <p:cNvSpPr/>
            <p:nvPr/>
          </p:nvSpPr>
          <p:spPr>
            <a:xfrm>
              <a:off x="3974841" y="5178490"/>
              <a:ext cx="1212979" cy="429208"/>
            </a:xfrm>
            <a:custGeom>
              <a:avLst/>
              <a:gdLst>
                <a:gd name="connsiteX0" fmla="*/ 0 w 1212979"/>
                <a:gd name="connsiteY0" fmla="*/ 0 h 429208"/>
                <a:gd name="connsiteX1" fmla="*/ 0 w 1212979"/>
                <a:gd name="connsiteY1" fmla="*/ 429208 h 429208"/>
                <a:gd name="connsiteX2" fmla="*/ 1212979 w 1212979"/>
                <a:gd name="connsiteY2" fmla="*/ 429208 h 429208"/>
                <a:gd name="connsiteX3" fmla="*/ 1212979 w 1212979"/>
                <a:gd name="connsiteY3" fmla="*/ 9330 h 429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212979" h="429208">
                  <a:moveTo>
                    <a:pt x="0" y="0"/>
                  </a:moveTo>
                  <a:lnTo>
                    <a:pt x="0" y="429208"/>
                  </a:lnTo>
                  <a:lnTo>
                    <a:pt x="1212979" y="429208"/>
                  </a:lnTo>
                  <a:lnTo>
                    <a:pt x="1212979" y="9330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5" name="자유형: 도형 24">
              <a:extLst>
                <a:ext uri="{FF2B5EF4-FFF2-40B4-BE49-F238E27FC236}">
                  <a16:creationId xmlns:a16="http://schemas.microsoft.com/office/drawing/2014/main" id="{7C90C770-636D-395B-4FAA-BAD6FD36AAA6}"/>
                </a:ext>
              </a:extLst>
            </p:cNvPr>
            <p:cNvSpPr/>
            <p:nvPr/>
          </p:nvSpPr>
          <p:spPr>
            <a:xfrm>
              <a:off x="3974840" y="4683967"/>
              <a:ext cx="1008000" cy="653143"/>
            </a:xfrm>
            <a:custGeom>
              <a:avLst/>
              <a:gdLst>
                <a:gd name="connsiteX0" fmla="*/ 0 w 961053"/>
                <a:gd name="connsiteY0" fmla="*/ 233266 h 653143"/>
                <a:gd name="connsiteX1" fmla="*/ 0 w 961053"/>
                <a:gd name="connsiteY1" fmla="*/ 0 h 653143"/>
                <a:gd name="connsiteX2" fmla="*/ 494522 w 961053"/>
                <a:gd name="connsiteY2" fmla="*/ 0 h 653143"/>
                <a:gd name="connsiteX3" fmla="*/ 494522 w 961053"/>
                <a:gd name="connsiteY3" fmla="*/ 653143 h 653143"/>
                <a:gd name="connsiteX4" fmla="*/ 961053 w 961053"/>
                <a:gd name="connsiteY4" fmla="*/ 653143 h 653143"/>
                <a:gd name="connsiteX5" fmla="*/ 961053 w 961053"/>
                <a:gd name="connsiteY5" fmla="*/ 485192 h 6531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61053" h="653143">
                  <a:moveTo>
                    <a:pt x="0" y="233266"/>
                  </a:moveTo>
                  <a:lnTo>
                    <a:pt x="0" y="0"/>
                  </a:lnTo>
                  <a:lnTo>
                    <a:pt x="494522" y="0"/>
                  </a:lnTo>
                  <a:lnTo>
                    <a:pt x="494522" y="653143"/>
                  </a:lnTo>
                  <a:lnTo>
                    <a:pt x="961053" y="653143"/>
                  </a:lnTo>
                  <a:lnTo>
                    <a:pt x="961053" y="485192"/>
                  </a:lnTo>
                </a:path>
              </a:pathLst>
            </a:cu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26" name="직선 화살표 연결선 25">
              <a:extLst>
                <a:ext uri="{FF2B5EF4-FFF2-40B4-BE49-F238E27FC236}">
                  <a16:creationId xmlns:a16="http://schemas.microsoft.com/office/drawing/2014/main" id="{A5CDA2E5-395C-DB6F-50C2-3C5A9D068E28}"/>
                </a:ext>
              </a:extLst>
            </p:cNvPr>
            <p:cNvCxnSpPr>
              <a:cxnSpLocks/>
            </p:cNvCxnSpPr>
            <p:nvPr/>
          </p:nvCxnSpPr>
          <p:spPr>
            <a:xfrm>
              <a:off x="3779912" y="4683967"/>
              <a:ext cx="0" cy="252000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직선 화살표 연결선 26">
              <a:extLst>
                <a:ext uri="{FF2B5EF4-FFF2-40B4-BE49-F238E27FC236}">
                  <a16:creationId xmlns:a16="http://schemas.microsoft.com/office/drawing/2014/main" id="{8BC19AA8-C98E-AE9D-019D-43256439C32A}"/>
                </a:ext>
              </a:extLst>
            </p:cNvPr>
            <p:cNvCxnSpPr>
              <a:cxnSpLocks/>
            </p:cNvCxnSpPr>
            <p:nvPr/>
          </p:nvCxnSpPr>
          <p:spPr>
            <a:xfrm>
              <a:off x="3779912" y="5157192"/>
              <a:ext cx="0" cy="252000"/>
            </a:xfrm>
            <a:prstGeom prst="straightConnector1">
              <a:avLst/>
            </a:prstGeom>
            <a:ln w="19050">
              <a:solidFill>
                <a:schemeClr val="bg1">
                  <a:lumMod val="65000"/>
                </a:schemeClr>
              </a:solidFill>
              <a:headEnd type="triangl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자유형: 도형 27">
              <a:extLst>
                <a:ext uri="{FF2B5EF4-FFF2-40B4-BE49-F238E27FC236}">
                  <a16:creationId xmlns:a16="http://schemas.microsoft.com/office/drawing/2014/main" id="{5332647D-D3E5-90F5-7C13-B58E635F8F2B}"/>
                </a:ext>
              </a:extLst>
            </p:cNvPr>
            <p:cNvSpPr/>
            <p:nvPr/>
          </p:nvSpPr>
          <p:spPr>
            <a:xfrm>
              <a:off x="4805265" y="4907902"/>
              <a:ext cx="270610" cy="195944"/>
            </a:xfrm>
            <a:custGeom>
              <a:avLst/>
              <a:gdLst>
                <a:gd name="connsiteX0" fmla="*/ 0 w 195943"/>
                <a:gd name="connsiteY0" fmla="*/ 121298 h 121298"/>
                <a:gd name="connsiteX1" fmla="*/ 74645 w 195943"/>
                <a:gd name="connsiteY1" fmla="*/ 46653 h 121298"/>
                <a:gd name="connsiteX2" fmla="*/ 195943 w 195943"/>
                <a:gd name="connsiteY2" fmla="*/ 0 h 1212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95943" h="121298">
                  <a:moveTo>
                    <a:pt x="0" y="121298"/>
                  </a:moveTo>
                  <a:cubicBezTo>
                    <a:pt x="20994" y="94083"/>
                    <a:pt x="41988" y="66869"/>
                    <a:pt x="74645" y="46653"/>
                  </a:cubicBezTo>
                  <a:cubicBezTo>
                    <a:pt x="107302" y="26437"/>
                    <a:pt x="151622" y="13218"/>
                    <a:pt x="195943" y="0"/>
                  </a:cubicBezTo>
                </a:path>
              </a:pathLst>
            </a:custGeom>
            <a:noFill/>
            <a:ln>
              <a:solidFill>
                <a:srgbClr val="C00000"/>
              </a:solidFill>
              <a:headEnd type="triangle" w="med" len="med"/>
              <a:tailEnd type="triangl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347141604"/>
      </p:ext>
    </p:extLst>
  </p:cSld>
  <p:clrMapOvr>
    <a:masterClrMapping/>
  </p:clrMapOvr>
  <p:transition advTm="70900">
    <p:zoom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</a:t>
            </a:r>
            <a:r>
              <a:rPr lang="en-US" altLang="ko-KR" dirty="0"/>
              <a:t> </a:t>
            </a:r>
            <a:r>
              <a:rPr lang="ko-KR" altLang="en-US" dirty="0"/>
              <a:t>핀 맵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18</a:t>
            </a:fld>
            <a:endParaRPr lang="en-US" altLang="ko-KR"/>
          </a:p>
        </p:txBody>
      </p:sp>
      <p:pic>
        <p:nvPicPr>
          <p:cNvPr id="30" name="그림 29">
            <a:extLst>
              <a:ext uri="{FF2B5EF4-FFF2-40B4-BE49-F238E27FC236}">
                <a16:creationId xmlns:a16="http://schemas.microsoft.com/office/drawing/2014/main" id="{6314568E-4ED5-DCC9-E50C-B3137BD14D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857" y="1233762"/>
            <a:ext cx="7314286" cy="4390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4631404"/>
      </p:ext>
    </p:extLst>
  </p:cSld>
  <p:clrMapOvr>
    <a:masterClrMapping/>
  </p:clrMapOvr>
  <p:transition advTm="70900">
    <p:zoom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실습에 사용할 레퍼런스</a:t>
            </a:r>
            <a:r>
              <a:rPr lang="en-US" altLang="ko-KR" dirty="0"/>
              <a:t> </a:t>
            </a:r>
            <a:r>
              <a:rPr lang="ko-KR" altLang="en-US" dirty="0"/>
              <a:t>보드</a:t>
            </a:r>
          </a:p>
        </p:txBody>
      </p:sp>
      <p:sp>
        <p:nvSpPr>
          <p:cNvPr id="9" name="내용 개체 틀 8">
            <a:extLst>
              <a:ext uri="{FF2B5EF4-FFF2-40B4-BE49-F238E27FC236}">
                <a16:creationId xmlns:a16="http://schemas.microsoft.com/office/drawing/2014/main" id="{6AC53436-FC90-378F-FE00-C6E0847032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레퍼런스 보드</a:t>
            </a:r>
            <a:endParaRPr lang="en-US" altLang="ko-KR" dirty="0"/>
          </a:p>
          <a:p>
            <a:pPr lvl="1"/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GPIO</a:t>
            </a:r>
            <a:r>
              <a:rPr lang="ko-KR" altLang="en-US" dirty="0"/>
              <a:t>핀 번호를 쉽게 식별하여</a:t>
            </a:r>
            <a:r>
              <a:rPr lang="en-US" altLang="ko-KR" dirty="0"/>
              <a:t>, </a:t>
            </a:r>
            <a:r>
              <a:rPr lang="ko-KR" altLang="en-US" dirty="0"/>
              <a:t>잘못된 연결로 인한 불필요한 장비 손상을 방지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19</a:t>
            </a:fld>
            <a:endParaRPr lang="en-US" altLang="ko-KR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42753BD-4F3C-7A24-9B24-2062BD392E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995035"/>
            <a:ext cx="5112568" cy="3448520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BBF6C37F-1888-C48B-5CA5-946A1B14E932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 rot="20527489">
            <a:off x="2760743" y="1711543"/>
            <a:ext cx="2419187" cy="2654386"/>
          </a:xfrm>
          <a:prstGeom prst="rect">
            <a:avLst/>
          </a:prstGeom>
          <a:scene3d>
            <a:camera prst="orthographicFront">
              <a:rot lat="19203996" lon="354767" rev="21498841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3476343084"/>
      </p:ext>
    </p:extLst>
  </p:cSld>
  <p:clrMapOvr>
    <a:masterClrMapping/>
  </p:clrMapOvr>
  <p:transition advTm="70900">
    <p:zoom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8294E-EA61-D5B8-5EEE-63F087CE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 실습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818E1-8357-E821-A72B-D48592821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20</a:t>
            </a:fld>
            <a:endParaRPr lang="en-US" altLang="ko-KR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649867-59A9-1505-312B-7148283B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회로구성</a:t>
            </a:r>
            <a:endParaRPr lang="en-US" altLang="ko-KR" dirty="0"/>
          </a:p>
          <a:p>
            <a:pPr lvl="1"/>
            <a:r>
              <a:rPr lang="en-US" altLang="ko-KR" dirty="0"/>
              <a:t>GPIO17 </a:t>
            </a:r>
            <a:r>
              <a:rPr lang="en-US" altLang="ko-KR" dirty="0">
                <a:sym typeface="Wingdings" panose="05000000000000000000" pitchFamily="2" charset="2"/>
              </a:rPr>
              <a:t> LED</a:t>
            </a:r>
            <a:r>
              <a:rPr lang="ko-KR" altLang="en-US" dirty="0">
                <a:sym typeface="Wingdings" panose="05000000000000000000" pitchFamily="2" charset="2"/>
              </a:rPr>
              <a:t> 양극</a:t>
            </a:r>
            <a:r>
              <a:rPr lang="en-US" altLang="ko-KR" dirty="0">
                <a:sym typeface="Wingdings" panose="05000000000000000000" pitchFamily="2" charset="2"/>
              </a:rPr>
              <a:t>(Anode)  LED </a:t>
            </a:r>
            <a:r>
              <a:rPr lang="ko-KR" altLang="en-US" dirty="0">
                <a:sym typeface="Wingdings" panose="05000000000000000000" pitchFamily="2" charset="2"/>
              </a:rPr>
              <a:t>음극</a:t>
            </a:r>
            <a:r>
              <a:rPr lang="en-US" altLang="ko-KR" dirty="0">
                <a:sym typeface="Wingdings" panose="05000000000000000000" pitchFamily="2" charset="2"/>
              </a:rPr>
              <a:t>(Cathode)  </a:t>
            </a:r>
            <a:r>
              <a:rPr lang="ko-KR" altLang="en-US" dirty="0">
                <a:sym typeface="Wingdings" panose="05000000000000000000" pitchFamily="2" charset="2"/>
              </a:rPr>
              <a:t>저항</a:t>
            </a:r>
            <a:r>
              <a:rPr lang="en-US" altLang="ko-KR" dirty="0">
                <a:sym typeface="Wingdings" panose="05000000000000000000" pitchFamily="2" charset="2"/>
              </a:rPr>
              <a:t> 220</a:t>
            </a:r>
            <a:r>
              <a:rPr lang="en-US" altLang="ko-KR" dirty="0">
                <a:sym typeface="Symbol" panose="05050102010706020507" pitchFamily="18" charset="2"/>
              </a:rPr>
              <a:t> </a:t>
            </a:r>
            <a:r>
              <a:rPr lang="en-US" altLang="ko-KR" dirty="0">
                <a:sym typeface="Wingdings" panose="05000000000000000000" pitchFamily="2" charset="2"/>
              </a:rPr>
              <a:t> GND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GPIO17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>
                <a:sym typeface="Wingdings" panose="05000000000000000000" pitchFamily="2" charset="2"/>
              </a:rPr>
              <a:t>HIGH  LED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On</a:t>
            </a:r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GPIO17</a:t>
            </a:r>
            <a:r>
              <a:rPr lang="ko-KR" altLang="en-US" dirty="0">
                <a:sym typeface="Wingdings" panose="05000000000000000000" pitchFamily="2" charset="2"/>
              </a:rPr>
              <a:t>에 </a:t>
            </a:r>
            <a:r>
              <a:rPr lang="en-US" altLang="ko-KR" dirty="0">
                <a:sym typeface="Wingdings" panose="05000000000000000000" pitchFamily="2" charset="2"/>
              </a:rPr>
              <a:t>LOW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 LED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Off</a:t>
            </a:r>
            <a:endParaRPr lang="ko-KR" altLang="en-US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805B9848-2838-6220-F6A6-3B686F195B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3535" y="3297146"/>
            <a:ext cx="5919271" cy="296385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82C4822-472D-4BAA-FB7B-47DC7BE8E5B8}"/>
              </a:ext>
            </a:extLst>
          </p:cNvPr>
          <p:cNvSpPr txBox="1"/>
          <p:nvPr/>
        </p:nvSpPr>
        <p:spPr>
          <a:xfrm>
            <a:off x="7089938" y="4712828"/>
            <a:ext cx="553357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LED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11E2CC-FA94-EA97-6C31-F329EBEF4D75}"/>
              </a:ext>
            </a:extLst>
          </p:cNvPr>
          <p:cNvSpPr txBox="1"/>
          <p:nvPr/>
        </p:nvSpPr>
        <p:spPr>
          <a:xfrm>
            <a:off x="6738880" y="5317639"/>
            <a:ext cx="1255472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저항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(220</a:t>
            </a:r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  <a:sym typeface="Symbol" panose="05050102010706020507" pitchFamily="18" charset="2"/>
              </a:rPr>
              <a:t>)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FE6312-255F-435A-7EF6-9E8E5CA25AC8}"/>
              </a:ext>
            </a:extLst>
          </p:cNvPr>
          <p:cNvSpPr txBox="1"/>
          <p:nvPr/>
        </p:nvSpPr>
        <p:spPr>
          <a:xfrm>
            <a:off x="4441785" y="3933056"/>
            <a:ext cx="647934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GND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CBFBAE-66AD-3CC0-5B92-7B281CAC4C4D}"/>
              </a:ext>
            </a:extLst>
          </p:cNvPr>
          <p:cNvSpPr txBox="1"/>
          <p:nvPr/>
        </p:nvSpPr>
        <p:spPr>
          <a:xfrm>
            <a:off x="2195736" y="3933056"/>
            <a:ext cx="918841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GPIO17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248709468"/>
      </p:ext>
    </p:extLst>
  </p:cSld>
  <p:clrMapOvr>
    <a:masterClrMapping/>
  </p:clrMapOvr>
  <p:transition>
    <p:zoom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B33E7-4FA8-CDC4-5405-673D5A37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0A913-407B-C9C7-2C0E-0AAD89F4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6. LED </a:t>
            </a:r>
            <a:r>
              <a:rPr lang="ko-KR" altLang="en-US" dirty="0"/>
              <a:t>점멸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실행하면</a:t>
            </a:r>
            <a:r>
              <a:rPr lang="en-US" altLang="ko-KR" dirty="0">
                <a:sym typeface="Wingdings" panose="05000000000000000000" pitchFamily="2" charset="2"/>
              </a:rPr>
              <a:t> LED </a:t>
            </a:r>
            <a:r>
              <a:rPr lang="ko-KR" altLang="en-US" dirty="0">
                <a:sym typeface="Wingdings" panose="05000000000000000000" pitchFamily="2" charset="2"/>
              </a:rPr>
              <a:t>켜지고</a:t>
            </a:r>
            <a:r>
              <a:rPr lang="en-US" altLang="ko-KR" dirty="0">
                <a:sym typeface="Wingdings" panose="05000000000000000000" pitchFamily="2" charset="2"/>
              </a:rPr>
              <a:t>, ^C </a:t>
            </a:r>
            <a:r>
              <a:rPr lang="ko-KR" altLang="en-US" dirty="0">
                <a:sym typeface="Wingdings" panose="05000000000000000000" pitchFamily="2" charset="2"/>
              </a:rPr>
              <a:t>누르면 꺼짐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193F4-5B9A-1451-7C06-29E2AD064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21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980C247-312B-FE66-7762-BDBF196980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7171"/>
            <a:ext cx="6090953" cy="501364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14265119"/>
      </p:ext>
    </p:extLst>
  </p:cSld>
  <p:clrMapOvr>
    <a:masterClrMapping/>
  </p:clrMapOvr>
  <p:transition>
    <p:zoom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B33E7-4FA8-CDC4-5405-673D5A37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0A913-407B-C9C7-2C0E-0AAD89F4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7. LED </a:t>
            </a:r>
            <a:r>
              <a:rPr lang="ko-KR" altLang="en-US" dirty="0"/>
              <a:t>반복 점멸 </a:t>
            </a:r>
            <a:r>
              <a:rPr lang="en-US" altLang="ko-KR" dirty="0">
                <a:sym typeface="Wingdings" panose="05000000000000000000" pitchFamily="2" charset="2"/>
              </a:rPr>
              <a:t> 1</a:t>
            </a:r>
            <a:r>
              <a:rPr lang="ko-KR" altLang="en-US" dirty="0">
                <a:sym typeface="Wingdings" panose="05000000000000000000" pitchFamily="2" charset="2"/>
              </a:rPr>
              <a:t>초간격으로 점멸하다가</a:t>
            </a:r>
            <a:r>
              <a:rPr lang="en-US" altLang="ko-KR" dirty="0">
                <a:sym typeface="Wingdings" panose="05000000000000000000" pitchFamily="2" charset="2"/>
              </a:rPr>
              <a:t>, ^C </a:t>
            </a:r>
            <a:r>
              <a:rPr lang="ko-KR" altLang="en-US" dirty="0">
                <a:sym typeface="Wingdings" panose="05000000000000000000" pitchFamily="2" charset="2"/>
              </a:rPr>
              <a:t>종료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193F4-5B9A-1451-7C06-29E2AD064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22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A4A5FB6-F347-4BB5-7A81-64458D23C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1484784"/>
            <a:ext cx="5760640" cy="493289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34761436"/>
      </p:ext>
    </p:extLst>
  </p:cSld>
  <p:clrMapOvr>
    <a:masterClrMapping/>
  </p:clrMapOvr>
  <p:transition>
    <p:zoom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B33E7-4FA8-CDC4-5405-673D5A37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0A913-407B-C9C7-2C0E-0AAD89F4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8. LED</a:t>
            </a:r>
            <a:r>
              <a:rPr lang="ko-KR" altLang="en-US" dirty="0"/>
              <a:t>의 점멸주기 변경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밝기 제어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주석변경 실행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193F4-5B9A-1451-7C06-29E2AD064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23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2914CC5-4597-65F0-2F19-5735180B7E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0095" y="1387285"/>
            <a:ext cx="5323809" cy="522857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C43B8D3A-3D30-4619-D50E-47A3FE73F6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19" y="5666570"/>
            <a:ext cx="8640960" cy="81855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423353409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B33E7-4FA8-CDC4-5405-673D5A37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0A913-407B-C9C7-2C0E-0AAD89F4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8. LED</a:t>
            </a:r>
            <a:r>
              <a:rPr lang="ko-KR" altLang="en-US" dirty="0"/>
              <a:t>의 점멸주기 변경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밝기 제어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주석변경 실행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193F4-5B9A-1451-7C06-29E2AD064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24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BFA5BA31-42D9-864D-4852-46E9315ED2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7704" y="1399826"/>
            <a:ext cx="4431795" cy="520995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006A9F2-7415-AE23-32CB-7ED83E5656CC}"/>
              </a:ext>
            </a:extLst>
          </p:cNvPr>
          <p:cNvSpPr/>
          <p:nvPr/>
        </p:nvSpPr>
        <p:spPr>
          <a:xfrm>
            <a:off x="2267744" y="2708920"/>
            <a:ext cx="2304256" cy="360040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6356983"/>
      </p:ext>
    </p:extLst>
  </p:cSld>
  <p:clrMapOvr>
    <a:masterClrMapping/>
  </p:clrMapOvr>
  <p:transition>
    <p:zoom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9F58867-8E0B-0619-BDD0-8733255F70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25</a:t>
            </a:fld>
            <a:endParaRPr lang="en-US" altLang="ko-KR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E7C11419-B695-2F54-F88C-8AE4B4156DF3}"/>
              </a:ext>
            </a:extLst>
          </p:cNvPr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2BEC260-8246-8B35-6D90-3027E0EE998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5809" y="1412776"/>
            <a:ext cx="2952381" cy="289523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EEC00EA-A0A0-DCDA-60E6-E136C43D7242}"/>
              </a:ext>
            </a:extLst>
          </p:cNvPr>
          <p:cNvSpPr txBox="1"/>
          <p:nvPr/>
        </p:nvSpPr>
        <p:spPr>
          <a:xfrm>
            <a:off x="3028948" y="4291083"/>
            <a:ext cx="30861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5400" dirty="0">
                <a:latin typeface="STXingkai" panose="020B0503020204020204" pitchFamily="2" charset="-122"/>
                <a:ea typeface="STXingkai" panose="020B0503020204020204" pitchFamily="2" charset="-122"/>
              </a:rPr>
              <a:t>Coffee</a:t>
            </a:r>
            <a:r>
              <a:rPr lang="ko-KR" altLang="en-US" sz="5400" dirty="0">
                <a:latin typeface="STXingkai" panose="020B0503020204020204" pitchFamily="2" charset="-122"/>
              </a:rPr>
              <a:t> </a:t>
            </a:r>
            <a:r>
              <a:rPr lang="en-US" altLang="ko-KR" sz="5400" dirty="0">
                <a:latin typeface="STXingkai" panose="020B0503020204020204" pitchFamily="2" charset="-122"/>
                <a:ea typeface="STXingkai" panose="020B0503020204020204" pitchFamily="2" charset="-122"/>
              </a:rPr>
              <a:t>Break</a:t>
            </a:r>
            <a:endParaRPr lang="ko-KR" altLang="en-US" sz="5400" dirty="0">
              <a:latin typeface="STXingkai" panose="020B0503020204020204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69440650"/>
      </p:ext>
    </p:extLst>
  </p:cSld>
  <p:clrMapOvr>
    <a:masterClrMapping/>
  </p:clrMapOvr>
  <p:transition>
    <p:zoom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B33E7-4FA8-CDC4-5405-673D5A372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LED </a:t>
            </a:r>
            <a:r>
              <a:rPr lang="ko-KR" altLang="en-US" dirty="0"/>
              <a:t>점멸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980A913-407B-C9C7-2C0E-0AAD89F458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9. for</a:t>
            </a:r>
            <a:r>
              <a:rPr lang="ko-KR" altLang="en-US" dirty="0"/>
              <a:t>문을 이용하여 </a:t>
            </a:r>
            <a:r>
              <a:rPr lang="en-US" altLang="ko-KR" dirty="0"/>
              <a:t>LED </a:t>
            </a:r>
            <a:r>
              <a:rPr lang="ko-KR" altLang="en-US" dirty="0"/>
              <a:t>밝기를 연속적으로</a:t>
            </a:r>
            <a:r>
              <a:rPr lang="en-US" altLang="ko-KR" dirty="0"/>
              <a:t> </a:t>
            </a:r>
            <a:r>
              <a:rPr lang="ko-KR" altLang="en-US" dirty="0"/>
              <a:t>조절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90193F4-5B9A-1451-7C06-29E2AD064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26</a:t>
            </a:fld>
            <a:endParaRPr lang="en-US" altLang="ko-KR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F7A5C718-CFC6-B7A1-6133-5E5BF10EC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9933" y="1431049"/>
            <a:ext cx="5086358" cy="50697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553439743"/>
      </p:ext>
    </p:extLst>
  </p:cSld>
  <p:clrMapOvr>
    <a:masterClrMapping/>
  </p:clrMapOvr>
  <p:transition>
    <p:zoom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PWM</a:t>
            </a:r>
            <a:r>
              <a:rPr lang="ko-KR" altLang="en-US" dirty="0"/>
              <a:t> 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951" y="981075"/>
            <a:ext cx="5184130" cy="5519738"/>
          </a:xfrm>
        </p:spPr>
        <p:txBody>
          <a:bodyPr/>
          <a:lstStyle/>
          <a:p>
            <a:r>
              <a:rPr lang="en-US" altLang="ko-KR" dirty="0"/>
              <a:t>PWM(Pulse Width Modulation)</a:t>
            </a:r>
          </a:p>
          <a:p>
            <a:pPr lvl="1"/>
            <a:r>
              <a:rPr lang="en-US" altLang="ko-KR" dirty="0"/>
              <a:t>MCU</a:t>
            </a:r>
            <a:r>
              <a:rPr lang="ko-KR" altLang="en-US" dirty="0"/>
              <a:t>나 단일보드 컴퓨터는 복잡한 회로 때문에 진정한 아날로그 신호를 생성하지 못함</a:t>
            </a:r>
            <a:endParaRPr lang="en-US" altLang="ko-KR" dirty="0"/>
          </a:p>
          <a:p>
            <a:pPr lvl="1"/>
            <a:r>
              <a:rPr lang="ko-KR" altLang="en-US" dirty="0"/>
              <a:t>디지털 출력으로 아날로그 회로를 제어하는 강력한 기법</a:t>
            </a:r>
            <a:endParaRPr lang="en-US" altLang="ko-KR" dirty="0"/>
          </a:p>
          <a:p>
            <a:pPr lvl="2"/>
            <a:r>
              <a:rPr lang="en-US" altLang="ko-KR" dirty="0">
                <a:sym typeface="Wingdings" panose="05000000000000000000" pitchFamily="2" charset="2"/>
              </a:rPr>
              <a:t>duty cycle</a:t>
            </a:r>
            <a:r>
              <a:rPr lang="ko-KR" altLang="en-US" dirty="0">
                <a:sym typeface="Wingdings" panose="05000000000000000000" pitchFamily="2" charset="2"/>
              </a:rPr>
              <a:t>로 출력 크기 조절</a:t>
            </a:r>
            <a:endParaRPr lang="en-US" altLang="ko-KR" dirty="0"/>
          </a:p>
          <a:p>
            <a:pPr lvl="2"/>
            <a:r>
              <a:rPr lang="ko-KR" altLang="en-US" dirty="0"/>
              <a:t>가격과 전력소모 감소</a:t>
            </a:r>
            <a:r>
              <a:rPr lang="en-US" altLang="ko-KR" dirty="0"/>
              <a:t> </a:t>
            </a:r>
          </a:p>
          <a:p>
            <a:pPr lvl="1"/>
            <a:r>
              <a:rPr lang="en-US" altLang="ko-KR" dirty="0"/>
              <a:t>Raspberry Pi</a:t>
            </a:r>
            <a:r>
              <a:rPr lang="ko-KR" altLang="en-US" dirty="0"/>
              <a:t>도 </a:t>
            </a:r>
            <a:r>
              <a:rPr lang="en-US" altLang="ko-KR" dirty="0"/>
              <a:t>PWM </a:t>
            </a:r>
            <a:r>
              <a:rPr lang="ko-KR" altLang="en-US" dirty="0"/>
              <a:t>기능을 제공하며</a:t>
            </a:r>
            <a:r>
              <a:rPr lang="en-US" altLang="ko-KR" dirty="0"/>
              <a:t>, </a:t>
            </a:r>
            <a:r>
              <a:rPr lang="ko-KR" altLang="en-US" dirty="0"/>
              <a:t>이는 아날로그 신호의 근사치</a:t>
            </a:r>
            <a:endParaRPr lang="en-US" altLang="ko-KR" dirty="0"/>
          </a:p>
          <a:p>
            <a:pPr lvl="2"/>
            <a:r>
              <a:rPr lang="en-US" altLang="ko-KR" dirty="0"/>
              <a:t>Duty Cycle : 0%~100%</a:t>
            </a:r>
          </a:p>
          <a:p>
            <a:pPr lvl="2"/>
            <a:r>
              <a:rPr lang="en-US" altLang="ko-KR" dirty="0"/>
              <a:t>Arduino</a:t>
            </a:r>
            <a:r>
              <a:rPr lang="ko-KR" altLang="en-US" dirty="0"/>
              <a:t>에서는</a:t>
            </a:r>
            <a:r>
              <a:rPr lang="en-US" altLang="ko-KR" dirty="0"/>
              <a:t>?</a:t>
            </a:r>
          </a:p>
          <a:p>
            <a:pPr lvl="1"/>
            <a:r>
              <a:rPr lang="ko-KR" altLang="en-US" dirty="0"/>
              <a:t>최대 </a:t>
            </a:r>
            <a:r>
              <a:rPr lang="en-US" altLang="ko-KR" dirty="0"/>
              <a:t>19.2MHz</a:t>
            </a:r>
            <a:r>
              <a:rPr lang="ko-KR" altLang="en-US" dirty="0"/>
              <a:t>의 </a:t>
            </a:r>
            <a:r>
              <a:rPr lang="en-US" altLang="ko-KR" dirty="0"/>
              <a:t>PWM</a:t>
            </a:r>
            <a:r>
              <a:rPr lang="ko-KR" altLang="en-US" dirty="0"/>
              <a:t> 신호 생성 가능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27</a:t>
            </a:fld>
            <a:endParaRPr lang="en-US" altLang="ko-KR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F99000C-AE86-4DC2-9BDC-ED19321939B3}"/>
              </a:ext>
            </a:extLst>
          </p:cNvPr>
          <p:cNvSpPr txBox="1"/>
          <p:nvPr/>
        </p:nvSpPr>
        <p:spPr>
          <a:xfrm>
            <a:off x="6434579" y="5339607"/>
            <a:ext cx="1657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&lt;PWM </a:t>
            </a:r>
            <a:r>
              <a:rPr lang="ko-KR" altLang="en-US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동작의 원리</a:t>
            </a:r>
            <a:r>
              <a:rPr lang="en-US" altLang="ko-KR" sz="12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&gt;</a:t>
            </a:r>
            <a:endParaRPr lang="ko-KR" altLang="en-US" sz="12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A80261F3-BCAD-3267-5588-3191D2797C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037" y="1124745"/>
            <a:ext cx="3694011" cy="36724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794703"/>
      </p:ext>
    </p:extLst>
  </p:cSld>
  <p:clrMapOvr>
    <a:masterClrMapping/>
  </p:clrMapOvr>
  <p:transition>
    <p:zoom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629570F-EC94-20F2-C6C3-E7263587F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 </a:t>
            </a:r>
            <a:r>
              <a:rPr lang="en-US" altLang="ko-KR" dirty="0"/>
              <a:t>PWM </a:t>
            </a:r>
            <a:r>
              <a:rPr lang="ko-KR" altLang="en-US" dirty="0"/>
              <a:t>관련 함수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EC264-57CC-2158-CC42-E6CD295FB1A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28</a:t>
            </a:fld>
            <a:endParaRPr lang="en-US" altLang="ko-KR"/>
          </a:p>
        </p:txBody>
      </p:sp>
      <p:graphicFrame>
        <p:nvGraphicFramePr>
          <p:cNvPr id="5" name="표 5">
            <a:extLst>
              <a:ext uri="{FF2B5EF4-FFF2-40B4-BE49-F238E27FC236}">
                <a16:creationId xmlns:a16="http://schemas.microsoft.com/office/drawing/2014/main" id="{EF267E2D-1D6B-5017-3508-3A7F3AC14A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8226028"/>
              </p:ext>
            </p:extLst>
          </p:nvPr>
        </p:nvGraphicFramePr>
        <p:xfrm>
          <a:off x="323528" y="1397000"/>
          <a:ext cx="8496944" cy="440826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84376">
                  <a:extLst>
                    <a:ext uri="{9D8B030D-6E8A-4147-A177-3AD203B41FA5}">
                      <a16:colId xmlns:a16="http://schemas.microsoft.com/office/drawing/2014/main" val="2873032181"/>
                    </a:ext>
                  </a:extLst>
                </a:gridCol>
                <a:gridCol w="5112568">
                  <a:extLst>
                    <a:ext uri="{9D8B030D-6E8A-4147-A177-3AD203B41FA5}">
                      <a16:colId xmlns:a16="http://schemas.microsoft.com/office/drawing/2014/main" val="3610841429"/>
                    </a:ext>
                  </a:extLst>
                </a:gridCol>
              </a:tblGrid>
              <a:tr h="73471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메서드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기능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7503539"/>
                  </a:ext>
                </a:extLst>
              </a:tr>
              <a:tr h="7347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GPIO.PWM(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freq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인스턴스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748141"/>
                  </a:ext>
                </a:extLst>
              </a:tr>
              <a:tr h="734711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인스턴스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).start(duty)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듀티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사이클에 해당하는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신호를 시작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8948121"/>
                  </a:ext>
                </a:extLst>
              </a:tr>
              <a:tr h="73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인스턴스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).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ChangeFrequency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freq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출력의 주파수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05949"/>
                  </a:ext>
                </a:extLst>
              </a:tr>
              <a:tr h="73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인스턴스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).</a:t>
                      </a:r>
                      <a:r>
                        <a:rPr lang="en-US" altLang="ko-KR" sz="1600" b="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ChangeDutyCycle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(duty)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출력의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Duty Cycle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변경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0578789"/>
                  </a:ext>
                </a:extLst>
              </a:tr>
              <a:tr h="734711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인스턴스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).stop()</a:t>
                      </a:r>
                      <a:endParaRPr lang="ko-KR" altLang="en-US" sz="1600" b="0" dirty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해당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채널의 </a:t>
                      </a:r>
                      <a:r>
                        <a:rPr lang="en-US" altLang="ko-KR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PWM</a:t>
                      </a:r>
                      <a:r>
                        <a:rPr lang="ko-KR" altLang="en-US" sz="16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출력 중지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80369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60411672"/>
      </p:ext>
    </p:extLst>
  </p:cSld>
  <p:clrMapOvr>
    <a:masterClrMapping/>
  </p:clrMapOvr>
  <p:transition>
    <p:zoom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5C0FB-4D09-A99A-5208-1D6A81D4B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ko-KR" altLang="en-US" dirty="0"/>
              <a:t> </a:t>
            </a:r>
            <a:r>
              <a:rPr lang="en-US" altLang="ko-KR" dirty="0"/>
              <a:t>PWM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6B9E159-E008-2EEA-5A97-1239EA840C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라즈베리파이의</a:t>
            </a:r>
            <a:r>
              <a:rPr lang="en-US" altLang="ko-KR" dirty="0"/>
              <a:t> PWM </a:t>
            </a:r>
            <a:r>
              <a:rPr lang="ko-KR" altLang="en-US" dirty="0"/>
              <a:t>핀</a:t>
            </a:r>
            <a:endParaRPr lang="en-US" altLang="ko-KR" dirty="0"/>
          </a:p>
          <a:p>
            <a:pPr lvl="1"/>
            <a:r>
              <a:rPr lang="ko-KR" altLang="en-US" dirty="0"/>
              <a:t>하드웨어 </a:t>
            </a:r>
            <a:r>
              <a:rPr lang="en-US" altLang="ko-KR" dirty="0"/>
              <a:t>PWM </a:t>
            </a:r>
            <a:r>
              <a:rPr lang="ko-KR" altLang="en-US" dirty="0"/>
              <a:t>핀 </a:t>
            </a:r>
            <a:r>
              <a:rPr lang="en-US" altLang="ko-KR" dirty="0">
                <a:sym typeface="Wingdings" panose="05000000000000000000" pitchFamily="2" charset="2"/>
              </a:rPr>
              <a:t> GPIO12, GPIO13, GPIO18, GPIO19</a:t>
            </a:r>
          </a:p>
          <a:p>
            <a:pPr lvl="1"/>
            <a:r>
              <a:rPr lang="ko-KR" altLang="en-US" dirty="0">
                <a:sym typeface="Wingdings" panose="05000000000000000000" pitchFamily="2" charset="2"/>
              </a:rPr>
              <a:t>소프트웨어 </a:t>
            </a:r>
            <a:r>
              <a:rPr lang="en-US" altLang="ko-KR" dirty="0">
                <a:sym typeface="Wingdings" panose="05000000000000000000" pitchFamily="2" charset="2"/>
              </a:rPr>
              <a:t>PWM </a:t>
            </a:r>
            <a:r>
              <a:rPr lang="ko-KR" altLang="en-US" dirty="0">
                <a:sym typeface="Wingdings" panose="05000000000000000000" pitchFamily="2" charset="2"/>
              </a:rPr>
              <a:t>핀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모든 </a:t>
            </a:r>
            <a:r>
              <a:rPr lang="en-US" altLang="ko-KR" dirty="0">
                <a:sym typeface="Wingdings" panose="05000000000000000000" pitchFamily="2" charset="2"/>
              </a:rPr>
              <a:t>GPIO  </a:t>
            </a:r>
            <a:r>
              <a:rPr lang="ko-KR" altLang="en-US" dirty="0">
                <a:sym typeface="Wingdings" panose="05000000000000000000" pitchFamily="2" charset="2"/>
              </a:rPr>
              <a:t>실습은 </a:t>
            </a:r>
            <a:r>
              <a:rPr lang="en-US" altLang="ko-KR" dirty="0">
                <a:sym typeface="Wingdings" panose="05000000000000000000" pitchFamily="2" charset="2"/>
              </a:rPr>
              <a:t>GPIO17</a:t>
            </a:r>
            <a:r>
              <a:rPr lang="ko-KR" altLang="en-US" dirty="0">
                <a:sym typeface="Wingdings" panose="05000000000000000000" pitchFamily="2" charset="2"/>
              </a:rPr>
              <a:t> 이용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3E6900E-B067-FFF7-869A-9A5FCF230A6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29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8E40408-1C41-613A-958D-88426552C0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8775" y="2492896"/>
            <a:ext cx="6048674" cy="38884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0289103"/>
      </p:ext>
    </p:extLst>
  </p:cSld>
  <p:clrMapOvr>
    <a:masterClrMapping/>
  </p:clrMapOvr>
  <p:transition>
    <p:zoom/>
  </p:transition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24B4B-477F-BA03-35A8-6849D4E4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을 이용한 </a:t>
            </a:r>
            <a:r>
              <a:rPr lang="en-US" altLang="ko-KR" dirty="0"/>
              <a:t>LED </a:t>
            </a:r>
            <a:r>
              <a:rPr lang="ko-KR" altLang="en-US" dirty="0"/>
              <a:t>점멸 및 밝기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8F094-2C20-9D27-E782-D4014BBA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10. PWM </a:t>
            </a:r>
            <a:r>
              <a:rPr lang="ko-KR" altLang="en-US" dirty="0"/>
              <a:t>활용</a:t>
            </a:r>
            <a:endParaRPr lang="en-US" altLang="ko-KR" dirty="0"/>
          </a:p>
          <a:p>
            <a:pPr lvl="1"/>
            <a:r>
              <a:rPr lang="ko-KR" altLang="en-US" dirty="0"/>
              <a:t>펄스 주파수가 낮으면 점멸</a:t>
            </a:r>
            <a:r>
              <a:rPr lang="en-US" altLang="ko-KR" dirty="0"/>
              <a:t>, </a:t>
            </a:r>
            <a:r>
              <a:rPr lang="ko-KR" altLang="en-US" dirty="0"/>
              <a:t>높으면 밝기 동작 수행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B14E3-891A-D024-76DD-3CA31D77A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30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869F167B-2656-C477-3A98-478F5AE01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1916831"/>
            <a:ext cx="5912051" cy="458398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483879890"/>
      </p:ext>
    </p:extLst>
  </p:cSld>
  <p:clrMapOvr>
    <a:masterClrMapping/>
  </p:clrMapOvr>
  <p:transition>
    <p:zoom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24B4B-477F-BA03-35A8-6849D4E44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PWM</a:t>
            </a:r>
            <a:r>
              <a:rPr lang="ko-KR" altLang="en-US" dirty="0"/>
              <a:t>을 이용한 </a:t>
            </a:r>
            <a:r>
              <a:rPr lang="en-US" altLang="ko-KR" dirty="0"/>
              <a:t>LED</a:t>
            </a:r>
            <a:r>
              <a:rPr lang="ko-KR" altLang="en-US" dirty="0"/>
              <a:t> 밝기 조절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E8F094-2C20-9D27-E782-D4014BBABA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11. 100</a:t>
            </a:r>
            <a:r>
              <a:rPr lang="ko-KR" altLang="en-US" dirty="0"/>
              <a:t>단계 밝기 조절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/>
              <a:t>펄스 주파수가 높아야 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9CB14E3-891A-D024-76DD-3CA31D77A0F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31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DAD931E-A4E4-E37C-F5EA-BBBE49DFB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3688" y="1434146"/>
            <a:ext cx="5009524" cy="506666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87200735"/>
      </p:ext>
    </p:extLst>
  </p:cSld>
  <p:clrMapOvr>
    <a:masterClrMapping/>
  </p:clrMapOvr>
  <p:transition>
    <p:zoom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D8294E-EA61-D5B8-5EEE-63F087CE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Buzzer</a:t>
            </a:r>
            <a:r>
              <a:rPr lang="ko-KR" altLang="en-US" dirty="0"/>
              <a:t> 실습 회로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B818E1-8357-E821-A72B-D485928213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32</a:t>
            </a:fld>
            <a:endParaRPr lang="en-US" altLang="ko-KR"/>
          </a:p>
        </p:txBody>
      </p:sp>
      <p:sp>
        <p:nvSpPr>
          <p:cNvPr id="7" name="내용 개체 틀 6">
            <a:extLst>
              <a:ext uri="{FF2B5EF4-FFF2-40B4-BE49-F238E27FC236}">
                <a16:creationId xmlns:a16="http://schemas.microsoft.com/office/drawing/2014/main" id="{45649867-59A9-1505-312B-7148283B27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회로구성</a:t>
            </a:r>
            <a:endParaRPr lang="en-US" altLang="ko-KR" dirty="0"/>
          </a:p>
          <a:p>
            <a:pPr lvl="1"/>
            <a:r>
              <a:rPr lang="en-US" altLang="ko-KR" dirty="0"/>
              <a:t>GPIO17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부저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(+) </a:t>
            </a:r>
            <a:r>
              <a:rPr lang="ko-KR" altLang="en-US" dirty="0">
                <a:sym typeface="Wingdings" panose="05000000000000000000" pitchFamily="2" charset="2"/>
              </a:rPr>
              <a:t>단자</a:t>
            </a:r>
            <a:r>
              <a:rPr lang="en-US" altLang="ko-KR" dirty="0">
                <a:sym typeface="Wingdings" panose="05000000000000000000" pitchFamily="2" charset="2"/>
              </a:rPr>
              <a:t>  </a:t>
            </a:r>
            <a:r>
              <a:rPr lang="ko-KR" altLang="en-US" dirty="0" err="1">
                <a:sym typeface="Wingdings" panose="05000000000000000000" pitchFamily="2" charset="2"/>
              </a:rPr>
              <a:t>부저</a:t>
            </a:r>
            <a:r>
              <a:rPr lang="ko-KR" altLang="en-US" dirty="0">
                <a:sym typeface="Wingdings" panose="05000000000000000000" pitchFamily="2" charset="2"/>
              </a:rPr>
              <a:t> </a:t>
            </a:r>
            <a:r>
              <a:rPr lang="en-US" altLang="ko-KR" dirty="0">
                <a:sym typeface="Wingdings" panose="05000000000000000000" pitchFamily="2" charset="2"/>
              </a:rPr>
              <a:t>(-) </a:t>
            </a:r>
            <a:r>
              <a:rPr lang="ko-KR" altLang="en-US" dirty="0">
                <a:sym typeface="Wingdings" panose="05000000000000000000" pitchFamily="2" charset="2"/>
              </a:rPr>
              <a:t>단자 </a:t>
            </a:r>
            <a:r>
              <a:rPr lang="en-US" altLang="ko-KR" dirty="0">
                <a:sym typeface="Wingdings" panose="05000000000000000000" pitchFamily="2" charset="2"/>
              </a:rPr>
              <a:t> GND</a:t>
            </a:r>
          </a:p>
          <a:p>
            <a:pPr lvl="2"/>
            <a:r>
              <a:rPr lang="ko-KR" altLang="en-US" dirty="0">
                <a:sym typeface="Wingdings" panose="05000000000000000000" pitchFamily="2" charset="2"/>
              </a:rPr>
              <a:t>클럭 주파수에 따라 다른 음을 냄</a:t>
            </a:r>
            <a:endParaRPr lang="ko-KR" altLang="en-US" dirty="0"/>
          </a:p>
        </p:txBody>
      </p:sp>
      <p:pic>
        <p:nvPicPr>
          <p:cNvPr id="15" name="그림 14">
            <a:extLst>
              <a:ext uri="{FF2B5EF4-FFF2-40B4-BE49-F238E27FC236}">
                <a16:creationId xmlns:a16="http://schemas.microsoft.com/office/drawing/2014/main" id="{2D2644BA-50C4-AFFA-8621-D74059B58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765" y="2774213"/>
            <a:ext cx="6695238" cy="3323809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082C4822-472D-4BAA-FB7B-47DC7BE8E5B8}"/>
              </a:ext>
            </a:extLst>
          </p:cNvPr>
          <p:cNvSpPr txBox="1"/>
          <p:nvPr/>
        </p:nvSpPr>
        <p:spPr>
          <a:xfrm>
            <a:off x="4716016" y="4407600"/>
            <a:ext cx="832279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Buzzer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CFE6312-255F-435A-7EF6-9E8E5CA25AC8}"/>
              </a:ext>
            </a:extLst>
          </p:cNvPr>
          <p:cNvSpPr txBox="1"/>
          <p:nvPr/>
        </p:nvSpPr>
        <p:spPr>
          <a:xfrm>
            <a:off x="3635896" y="3740944"/>
            <a:ext cx="647934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GND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6CBFBAE-66AD-3CC0-5B92-7B281CAC4C4D}"/>
              </a:ext>
            </a:extLst>
          </p:cNvPr>
          <p:cNvSpPr txBox="1"/>
          <p:nvPr/>
        </p:nvSpPr>
        <p:spPr>
          <a:xfrm>
            <a:off x="1988410" y="3402390"/>
            <a:ext cx="918841" cy="338554"/>
          </a:xfrm>
          <a:prstGeom prst="rect">
            <a:avLst/>
          </a:prstGeom>
          <a:solidFill>
            <a:schemeClr val="bg1">
              <a:alpha val="70000"/>
            </a:schemeClr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none" rtlCol="0">
            <a:spAutoFit/>
          </a:bodyPr>
          <a:lstStyle/>
          <a:p>
            <a:r>
              <a:rPr lang="en-US" altLang="ko-KR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GPIO17</a:t>
            </a:r>
            <a:endParaRPr lang="ko-KR" altLang="en-US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60548716"/>
      </p:ext>
    </p:extLst>
  </p:cSld>
  <p:clrMapOvr>
    <a:masterClrMapping/>
  </p:clrMapOvr>
  <p:transition>
    <p:zoom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907DA-DC8F-580D-4A42-558D5101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46292-7FB0-376C-6024-0DE8DE91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예제 </a:t>
            </a:r>
            <a:r>
              <a:rPr lang="en-US" altLang="ko-KR" dirty="0"/>
              <a:t>12. </a:t>
            </a:r>
            <a:r>
              <a:rPr lang="ko-KR" altLang="en-US" dirty="0" err="1"/>
              <a:t>부저</a:t>
            </a:r>
            <a:r>
              <a:rPr lang="ko-KR" altLang="en-US" dirty="0"/>
              <a:t> 기본 동작</a:t>
            </a:r>
            <a:endParaRPr lang="en-US" altLang="ko-KR" dirty="0"/>
          </a:p>
          <a:p>
            <a:pPr lvl="1"/>
            <a:r>
              <a:rPr lang="ko-KR" altLang="en-US" dirty="0"/>
              <a:t>프로그램을 실행하면 </a:t>
            </a:r>
            <a:r>
              <a:rPr lang="en-US" altLang="ko-KR" dirty="0"/>
              <a:t>2</a:t>
            </a:r>
            <a:r>
              <a:rPr lang="ko-KR" altLang="en-US" dirty="0"/>
              <a:t>초간 </a:t>
            </a:r>
            <a:r>
              <a:rPr lang="en-US" altLang="ko-KR" dirty="0"/>
              <a:t>1kHz</a:t>
            </a:r>
            <a:r>
              <a:rPr lang="ko-KR" altLang="en-US" dirty="0"/>
              <a:t>의 </a:t>
            </a:r>
            <a:r>
              <a:rPr lang="en-US" altLang="ko-KR" dirty="0"/>
              <a:t>“</a:t>
            </a:r>
            <a:r>
              <a:rPr lang="ko-KR" altLang="en-US" dirty="0"/>
              <a:t>삐</a:t>
            </a:r>
            <a:r>
              <a:rPr lang="en-US" altLang="ko-KR" dirty="0"/>
              <a:t>~~” </a:t>
            </a:r>
            <a:r>
              <a:rPr lang="ko-KR" altLang="en-US" dirty="0"/>
              <a:t>소리를 발생함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EE4B5F-DCAB-F578-8438-CC6A6E619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33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990747C8-8CE7-35E5-EF2D-0C79DE7101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0571" y="2085907"/>
            <a:ext cx="5142857" cy="38190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756626032"/>
      </p:ext>
    </p:extLst>
  </p:cSld>
  <p:clrMapOvr>
    <a:masterClrMapping/>
  </p:clrMapOvr>
  <p:transition>
    <p:zoom/>
  </p:transition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907DA-DC8F-580D-4A42-558D5101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46292-7FB0-376C-6024-0DE8DE91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음계의 주파수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EE4B5F-DCAB-F578-8438-CC6A6E619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34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4635CD0-9958-8494-4C66-B7CA698DC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5327" y="1568486"/>
            <a:ext cx="6193346" cy="474083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CB924FD-EF8C-B5F5-DAB6-9F385BDDDB87}"/>
              </a:ext>
            </a:extLst>
          </p:cNvPr>
          <p:cNvSpPr/>
          <p:nvPr/>
        </p:nvSpPr>
        <p:spPr>
          <a:xfrm>
            <a:off x="4572000" y="1844824"/>
            <a:ext cx="648072" cy="4392488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3502912"/>
      </p:ext>
    </p:extLst>
  </p:cSld>
  <p:clrMapOvr>
    <a:masterClrMapping/>
  </p:clrMapOvr>
  <p:transition>
    <p:zo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907DA-DC8F-580D-4A42-558D5101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46292-7FB0-376C-6024-0DE8DE91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주파수 변경으로 다른 소리 내기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 err="1">
                <a:sym typeface="Wingdings" panose="05000000000000000000" pitchFamily="2" charset="2"/>
              </a:rPr>
              <a:t>도레도레도레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EE4B5F-DCAB-F578-8438-CC6A6E619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35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330B38D-901A-A2F2-641E-5C7EFB727B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9778" y="1556792"/>
            <a:ext cx="5066667" cy="46952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42184089"/>
      </p:ext>
    </p:extLst>
  </p:cSld>
  <p:clrMapOvr>
    <a:masterClrMapping/>
  </p:clrMapOvr>
  <p:transition>
    <p:zoom/>
  </p:transition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4A907DA-DC8F-580D-4A42-558D51015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C346292-7FB0-376C-6024-0DE8DE9102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멜로디 재생 </a:t>
            </a:r>
            <a:r>
              <a:rPr lang="en-US" altLang="ko-KR" dirty="0">
                <a:sym typeface="Wingdings" panose="05000000000000000000" pitchFamily="2" charset="2"/>
              </a:rPr>
              <a:t> </a:t>
            </a:r>
            <a:r>
              <a:rPr lang="ko-KR" altLang="en-US" dirty="0">
                <a:sym typeface="Wingdings" panose="05000000000000000000" pitchFamily="2" charset="2"/>
              </a:rPr>
              <a:t>음계</a:t>
            </a:r>
            <a:r>
              <a:rPr lang="en-US" altLang="ko-KR" dirty="0">
                <a:sym typeface="Wingdings" panose="05000000000000000000" pitchFamily="2" charset="2"/>
              </a:rPr>
              <a:t>(</a:t>
            </a:r>
            <a:r>
              <a:rPr lang="ko-KR" altLang="en-US" dirty="0" err="1">
                <a:sym typeface="Wingdings" panose="05000000000000000000" pitchFamily="2" charset="2"/>
              </a:rPr>
              <a:t>도레미파솔라시도</a:t>
            </a:r>
            <a:r>
              <a:rPr lang="en-US" altLang="ko-KR" dirty="0">
                <a:sym typeface="Wingdings" panose="05000000000000000000" pitchFamily="2" charset="2"/>
              </a:rPr>
              <a:t>)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EE4B5F-DCAB-F578-8438-CC6A6E619F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36</a:t>
            </a:fld>
            <a:endParaRPr lang="en-US" altLang="ko-KR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C9DDDD3-703C-4284-7DF5-6F27B4679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99430" y="1474988"/>
            <a:ext cx="4545140" cy="500324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18674848"/>
      </p:ext>
    </p:extLst>
  </p:cSld>
  <p:clrMapOvr>
    <a:masterClrMapping/>
  </p:clrMapOvr>
  <p:transition>
    <p:zoom/>
  </p:transition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8457EA-04AA-0958-7F3C-97BEA967D1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6FE9FB-A1D2-36FE-AD1F-D5456F370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부저</a:t>
            </a:r>
            <a:r>
              <a:rPr lang="en-US" altLang="ko-KR" dirty="0"/>
              <a:t> </a:t>
            </a:r>
            <a:r>
              <a:rPr lang="ko-KR" altLang="en-US" dirty="0"/>
              <a:t>제어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12CD369-A16D-2796-3426-BF1D1E678F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 err="1"/>
              <a:t>학교종</a:t>
            </a:r>
            <a:r>
              <a:rPr lang="ko-KR" altLang="en-US" dirty="0"/>
              <a:t> 연주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8730A6-C6DC-CFE0-1307-BAE929A6B7E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37</a:t>
            </a:fld>
            <a:endParaRPr lang="en-US" altLang="ko-KR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BFC38AE-DC16-63F7-862C-500D7BD8AE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1760" y="981075"/>
            <a:ext cx="5190476" cy="55142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69080957"/>
      </p:ext>
    </p:extLst>
  </p:cSld>
  <p:clrMapOvr>
    <a:masterClrMapping/>
  </p:clrMapOvr>
  <p:transition>
    <p:zoom/>
  </p:transition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Summary</a:t>
            </a:r>
            <a:endParaRPr lang="ko-KR" altLang="en-US" dirty="0"/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110000"/>
              </a:lnSpc>
              <a:defRPr/>
            </a:pPr>
            <a:r>
              <a:rPr lang="ko-KR" altLang="en-US" dirty="0" err="1"/>
              <a:t>파이선</a:t>
            </a:r>
            <a:r>
              <a:rPr lang="ko-KR" altLang="en-US" dirty="0"/>
              <a:t> 기본 명령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print(), while, for, try ~ except ~, </a:t>
            </a:r>
            <a:r>
              <a:rPr lang="en-US" altLang="ko-KR" dirty="0" err="1"/>
              <a:t>KeyboardInterrupt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en-US" altLang="ko-KR" dirty="0"/>
              <a:t>Library : </a:t>
            </a:r>
            <a:r>
              <a:rPr lang="en-US" altLang="ko-KR" dirty="0" err="1"/>
              <a:t>RPi.GPIO</a:t>
            </a:r>
            <a:r>
              <a:rPr lang="en-US" altLang="ko-KR" dirty="0"/>
              <a:t>, time</a:t>
            </a:r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LED </a:t>
            </a:r>
            <a:r>
              <a:rPr lang="ko-KR" altLang="en-US" dirty="0"/>
              <a:t>제어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점멸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밝기</a:t>
            </a:r>
            <a:endParaRPr lang="en-US" altLang="ko-KR" dirty="0"/>
          </a:p>
          <a:p>
            <a:pPr eaLnBrk="1" hangingPunct="1">
              <a:lnSpc>
                <a:spcPct val="110000"/>
              </a:lnSpc>
              <a:defRPr/>
            </a:pPr>
            <a:r>
              <a:rPr lang="en-US" altLang="ko-KR" dirty="0"/>
              <a:t>Buzzer </a:t>
            </a:r>
            <a:r>
              <a:rPr lang="ko-KR" altLang="en-US" dirty="0"/>
              <a:t>제어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소리내기</a:t>
            </a:r>
            <a:endParaRPr lang="en-US" altLang="ko-KR" dirty="0"/>
          </a:p>
          <a:p>
            <a:pPr lvl="1" eaLnBrk="1" hangingPunct="1">
              <a:lnSpc>
                <a:spcPct val="110000"/>
              </a:lnSpc>
              <a:defRPr/>
            </a:pPr>
            <a:r>
              <a:rPr lang="ko-KR" altLang="en-US" dirty="0"/>
              <a:t>멜로디 재생 </a:t>
            </a:r>
            <a:endParaRPr lang="en-US" altLang="ko-KR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38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92728788"/>
      </p:ext>
    </p:extLst>
  </p:cSld>
  <p:clrMapOvr>
    <a:masterClrMapping/>
  </p:clrMapOvr>
  <p:transition advTm="65490">
    <p:zoom/>
  </p:transition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0A3DFF-7BCC-37C0-A525-134633E984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109B75D-F736-B698-BB31-BC3FBAB4A1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39</a:t>
            </a:fld>
            <a:endParaRPr lang="en-US" altLang="ko-KR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E3F005CE-B85F-2D58-3090-67FDF9BA75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76672191"/>
              </p:ext>
            </p:extLst>
          </p:nvPr>
        </p:nvGraphicFramePr>
        <p:xfrm>
          <a:off x="395536" y="1093411"/>
          <a:ext cx="8352929" cy="523875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080120">
                  <a:extLst>
                    <a:ext uri="{9D8B030D-6E8A-4147-A177-3AD203B41FA5}">
                      <a16:colId xmlns:a16="http://schemas.microsoft.com/office/drawing/2014/main" val="193080448"/>
                    </a:ext>
                  </a:extLst>
                </a:gridCol>
                <a:gridCol w="1738126">
                  <a:extLst>
                    <a:ext uri="{9D8B030D-6E8A-4147-A177-3AD203B41FA5}">
                      <a16:colId xmlns:a16="http://schemas.microsoft.com/office/drawing/2014/main" val="1841315210"/>
                    </a:ext>
                  </a:extLst>
                </a:gridCol>
                <a:gridCol w="1358218">
                  <a:extLst>
                    <a:ext uri="{9D8B030D-6E8A-4147-A177-3AD203B41FA5}">
                      <a16:colId xmlns:a16="http://schemas.microsoft.com/office/drawing/2014/main" val="783141819"/>
                    </a:ext>
                  </a:extLst>
                </a:gridCol>
                <a:gridCol w="1152128">
                  <a:extLst>
                    <a:ext uri="{9D8B030D-6E8A-4147-A177-3AD203B41FA5}">
                      <a16:colId xmlns:a16="http://schemas.microsoft.com/office/drawing/2014/main" val="1541578039"/>
                    </a:ext>
                  </a:extLst>
                </a:gridCol>
                <a:gridCol w="2024762">
                  <a:extLst>
                    <a:ext uri="{9D8B030D-6E8A-4147-A177-3AD203B41FA5}">
                      <a16:colId xmlns:a16="http://schemas.microsoft.com/office/drawing/2014/main" val="38327368"/>
                    </a:ext>
                  </a:extLst>
                </a:gridCol>
                <a:gridCol w="999575">
                  <a:extLst>
                    <a:ext uri="{9D8B030D-6E8A-4147-A177-3AD203B41FA5}">
                      <a16:colId xmlns:a16="http://schemas.microsoft.com/office/drawing/2014/main" val="2692527331"/>
                    </a:ext>
                  </a:extLst>
                </a:gridCol>
              </a:tblGrid>
              <a:tr h="20955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단어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발음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뜻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851648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already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module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881276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anode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note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75998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cathode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open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51316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output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334649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channel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pass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46211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chart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power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46947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circuit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principal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574792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clean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print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8834693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close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rail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3188657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comment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range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942117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continue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recent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24035022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cycle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resist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0898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disable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runtime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157466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duty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setup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1161979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electronic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sleep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74948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exception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stop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2961418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format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study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734717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frequency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switch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31220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ground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traceback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77723705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import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try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93290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 use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true</a:t>
                      </a: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99782144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interrupt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warning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3935131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local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while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144530"/>
                  </a:ext>
                </a:extLst>
              </a:tr>
              <a:tr h="2095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melody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8473584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32366096"/>
      </p:ext>
    </p:extLst>
  </p:cSld>
  <p:clrMapOvr>
    <a:masterClrMapping/>
  </p:clrMapOvr>
  <p:transition>
    <p:zoom/>
  </p:transition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2FBD3A-4704-82E4-91E0-B98CE8B5A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5760CD-5F01-54DD-B48E-A44E3181C4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단어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358ABC4-4825-911B-BCE0-BE2AA18FED4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40</a:t>
            </a:fld>
            <a:endParaRPr lang="en-US" altLang="ko-KR"/>
          </a:p>
        </p:txBody>
      </p:sp>
      <p:graphicFrame>
        <p:nvGraphicFramePr>
          <p:cNvPr id="3" name="표 2">
            <a:extLst>
              <a:ext uri="{FF2B5EF4-FFF2-40B4-BE49-F238E27FC236}">
                <a16:creationId xmlns:a16="http://schemas.microsoft.com/office/drawing/2014/main" id="{63DCFFEF-3C92-2E44-A35F-4CD5C77ECA1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1219438"/>
              </p:ext>
            </p:extLst>
          </p:nvPr>
        </p:nvGraphicFramePr>
        <p:xfrm>
          <a:off x="323528" y="1196752"/>
          <a:ext cx="8496944" cy="48245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6224">
                  <a:extLst>
                    <a:ext uri="{9D8B030D-6E8A-4147-A177-3AD203B41FA5}">
                      <a16:colId xmlns:a16="http://schemas.microsoft.com/office/drawing/2014/main" val="2299738884"/>
                    </a:ext>
                  </a:extLst>
                </a:gridCol>
                <a:gridCol w="6480720">
                  <a:extLst>
                    <a:ext uri="{9D8B030D-6E8A-4147-A177-3AD203B41FA5}">
                      <a16:colId xmlns:a16="http://schemas.microsoft.com/office/drawing/2014/main" val="3849385021"/>
                    </a:ext>
                  </a:extLst>
                </a:gridCol>
              </a:tblGrid>
              <a:tr h="26803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용어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ko-KR" altLang="en-US" sz="1200" u="none" strike="noStrike" dirty="0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의미</a:t>
                      </a: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4113961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Breadboard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6103414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Buzzer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2383475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buzzer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3202568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duty cycle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4340974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23148015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GPIO.BCM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5984991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GPIO.BOARD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1500796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GPIO.OUT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4947889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ground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6307304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LED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2806638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piezo effect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9544918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PWM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805019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Python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34244650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resistor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7494131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RPi.GPIO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8158439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while true :</a:t>
                      </a:r>
                      <a:endParaRPr 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0739284"/>
                  </a:ext>
                </a:extLst>
              </a:tr>
              <a:tr h="26803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ko-KR" altLang="en-US" sz="1200" u="none" strike="noStrike">
                          <a:effectLst/>
                          <a:latin typeface="Malgun Gothic Semilight" panose="020B0502040204020203" pitchFamily="50" charset="-127"/>
                          <a:ea typeface="Malgun Gothic Semilight" panose="020B0502040204020203" pitchFamily="50" charset="-127"/>
                          <a:cs typeface="Malgun Gothic Semilight" panose="020B0502040204020203" pitchFamily="50" charset="-127"/>
                        </a:rPr>
                        <a:t>레퍼런스 보드 </a:t>
                      </a:r>
                      <a:endParaRPr lang="ko-KR" altLang="en-US" sz="1200" b="0" i="0" u="none" strike="noStrike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ko-KR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Malgun Gothic Semilight" panose="020B0502040204020203" pitchFamily="50" charset="-127"/>
                        <a:ea typeface="Malgun Gothic Semilight" panose="020B0502040204020203" pitchFamily="50" charset="-127"/>
                        <a:cs typeface="Malgun Gothic Semilight" panose="020B0502040204020203" pitchFamily="50" charset="-127"/>
                      </a:endParaRPr>
                    </a:p>
                  </a:txBody>
                  <a:tcPr marL="72000" marR="7200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02256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6927571"/>
      </p:ext>
    </p:extLst>
  </p:cSld>
  <p:clrMapOvr>
    <a:masterClrMapping/>
  </p:clrMapOvr>
  <p:transition>
    <p:zoom/>
  </p:transition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알아야 할 용어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</a:t>
            </a: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언어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print()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while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try ~ except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Exception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Python Library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RPi.GPIO</a:t>
            </a:r>
            <a:endParaRPr lang="en-US" altLang="ko-KR" sz="12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Time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ko-KR" altLang="en-US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소자</a:t>
            </a:r>
            <a:endParaRPr lang="en-US" altLang="ko-KR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Breadboard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Resistor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LED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Buzzer</a:t>
            </a:r>
          </a:p>
          <a:p>
            <a:pPr lvl="1"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2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GND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Pin Map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GPIO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PWM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Duty Cycle</a:t>
            </a:r>
          </a:p>
          <a:p>
            <a:pPr eaLnBrk="1" hangingPunct="1">
              <a:lnSpc>
                <a:spcPct val="85000"/>
              </a:lnSpc>
              <a:spcBef>
                <a:spcPct val="50000"/>
              </a:spcBef>
              <a:defRPr/>
            </a:pPr>
            <a:r>
              <a:rPr lang="en-US" altLang="ko-KR" sz="16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Note Frequency</a:t>
            </a:r>
            <a:endParaRPr lang="ko-KR" altLang="en-US" sz="16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41</a:t>
            </a:fld>
            <a:endParaRPr lang="en-US" altLang="ko-KR"/>
          </a:p>
        </p:txBody>
      </p:sp>
      <p:pic>
        <p:nvPicPr>
          <p:cNvPr id="5" name="Picture 4" descr="PE01460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8185" y="2830822"/>
            <a:ext cx="2611016" cy="3246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69482417"/>
      </p:ext>
    </p:extLst>
  </p:cSld>
  <p:clrMapOvr>
    <a:masterClrMapping/>
  </p:clrMapOvr>
  <p:transition advTm="65490">
    <p:zoom/>
  </p:transition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05DB94-80DB-4181-EC88-E586933D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과제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ACD2C9-9181-3FCC-E0EE-3D1E9BF778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단계별 실행 과정을 촬영 혹은 캡처하여 제출</a:t>
            </a:r>
            <a:endParaRPr lang="en-US" altLang="ko-KR" dirty="0"/>
          </a:p>
          <a:p>
            <a:pPr lvl="1"/>
            <a:r>
              <a:rPr lang="ko-KR" altLang="en-US" dirty="0"/>
              <a:t>예제의</a:t>
            </a:r>
            <a:r>
              <a:rPr lang="en-US" altLang="ko-KR" dirty="0"/>
              <a:t> </a:t>
            </a:r>
            <a:r>
              <a:rPr lang="ko-KR" altLang="en-US" dirty="0"/>
              <a:t>실행결과</a:t>
            </a:r>
            <a:endParaRPr lang="en-US" altLang="ko-KR" dirty="0"/>
          </a:p>
          <a:p>
            <a:pPr lvl="1"/>
            <a:endParaRPr lang="en-US" altLang="ko-KR" dirty="0"/>
          </a:p>
          <a:p>
            <a:r>
              <a:rPr lang="ko-KR" altLang="en-US" dirty="0"/>
              <a:t>도전과제</a:t>
            </a:r>
            <a:endParaRPr lang="en-US" altLang="ko-KR" dirty="0"/>
          </a:p>
          <a:p>
            <a:pPr lvl="1"/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LED</a:t>
            </a:r>
            <a:r>
              <a:rPr lang="ko-KR" altLang="en-US" dirty="0"/>
              <a:t>를 연결하고</a:t>
            </a:r>
            <a:r>
              <a:rPr lang="en-US" altLang="ko-KR" dirty="0"/>
              <a:t>, </a:t>
            </a:r>
            <a:r>
              <a:rPr lang="ko-KR" altLang="en-US" dirty="0"/>
              <a:t>점멸 및 밝기 동작을 수행</a:t>
            </a:r>
            <a:r>
              <a:rPr lang="en-US" altLang="ko-KR" dirty="0"/>
              <a:t>, </a:t>
            </a:r>
            <a:r>
              <a:rPr lang="ko-KR" altLang="en-US" dirty="0"/>
              <a:t>두 </a:t>
            </a:r>
            <a:r>
              <a:rPr lang="en-US" altLang="ko-KR" dirty="0"/>
              <a:t>LED</a:t>
            </a:r>
            <a:r>
              <a:rPr lang="ko-KR" altLang="en-US" dirty="0"/>
              <a:t>는 동일한 동작을 수행</a:t>
            </a:r>
            <a:endParaRPr lang="en-US" altLang="ko-KR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7B75E5-CF9B-C501-369F-7BE5D8E8C76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377C9E6-AAC5-4CE3-AEB9-B27125AB2F75}" type="slidenum">
              <a:rPr lang="en-US" altLang="ko-KR" smtClean="0"/>
              <a:pPr>
                <a:defRPr/>
              </a:pPr>
              <a:t>42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4426209"/>
      </p:ext>
    </p:extLst>
  </p:cSld>
  <p:clrMapOvr>
    <a:masterClrMapping/>
  </p:clrMapOvr>
  <p:transition>
    <p:zoom/>
  </p:transition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질의 응답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altLang="ko-KR" dirty="0"/>
              <a:t>No question, no learning !!!</a:t>
            </a:r>
          </a:p>
          <a:p>
            <a:pPr eaLnBrk="1" hangingPunct="1">
              <a:defRPr/>
            </a:pPr>
            <a:r>
              <a:rPr lang="en-US" altLang="ko-KR" dirty="0"/>
              <a:t>No dumb question !!!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here to be interrupted.</a:t>
            </a:r>
          </a:p>
          <a:p>
            <a:pPr eaLnBrk="1" hangingPunct="1">
              <a:defRPr/>
            </a:pPr>
            <a:r>
              <a:rPr lang="en-US" altLang="ko-KR" dirty="0"/>
              <a:t>I</a:t>
            </a:r>
            <a:r>
              <a:rPr lang="en-US" altLang="ko-KR" dirty="0">
                <a:latin typeface="Times New Roman" pitchFamily="18" charset="0"/>
              </a:rPr>
              <a:t>’</a:t>
            </a:r>
            <a:r>
              <a:rPr lang="en-US" altLang="ko-KR" dirty="0"/>
              <a:t>m an interrupt-driven professor.</a:t>
            </a:r>
          </a:p>
          <a:p>
            <a:pPr eaLnBrk="1" hangingPunct="1">
              <a:defRPr/>
            </a:pPr>
            <a:r>
              <a:rPr lang="en-US" altLang="ko-KR" dirty="0"/>
              <a:t>I teach less, </a:t>
            </a:r>
            <a:r>
              <a:rPr lang="en-US" altLang="ko-KR"/>
              <a:t>students learn more.</a:t>
            </a:r>
            <a:endParaRPr lang="ko-KR" altLang="en-US" dirty="0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59A63119-A075-4A06-B8B9-191AF54DF5F5}" type="slidenum">
              <a:rPr lang="en-US" altLang="ko-KR" smtClean="0"/>
              <a:pPr>
                <a:defRPr/>
              </a:pPr>
              <a:t>43</a:t>
            </a:fld>
            <a:endParaRPr lang="en-US" altLang="ko-KR"/>
          </a:p>
        </p:txBody>
      </p: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8938" y="3714750"/>
            <a:ext cx="275272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16055139"/>
      </p:ext>
    </p:extLst>
  </p:cSld>
  <p:clrMapOvr>
    <a:masterClrMapping/>
  </p:clrMapOvr>
  <p:transition>
    <p:zoom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45|51.6"/>
</p:tagLst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HY견고딕"/>
        <a:ea typeface="HY견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28951</TotalTime>
  <Words>1433</Words>
  <Application>Microsoft Office PowerPoint</Application>
  <PresentationFormat>화면 슬라이드 쇼(4:3)</PresentationFormat>
  <Paragraphs>358</Paragraphs>
  <Slides>43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43</vt:i4>
      </vt:variant>
    </vt:vector>
  </HeadingPairs>
  <TitlesOfParts>
    <vt:vector size="56" baseType="lpstr">
      <vt:lpstr>HY견고딕</vt:lpstr>
      <vt:lpstr>Malgun Gothic Semilight</vt:lpstr>
      <vt:lpstr>STXingkai</vt:lpstr>
      <vt:lpstr>Whitney</vt:lpstr>
      <vt:lpstr>굴림</vt:lpstr>
      <vt:lpstr>맑은 고딕</vt:lpstr>
      <vt:lpstr>휴먼편지체</vt:lpstr>
      <vt:lpstr>Arial</vt:lpstr>
      <vt:lpstr>Oswald Light</vt:lpstr>
      <vt:lpstr>Symbol</vt:lpstr>
      <vt:lpstr>Times New Roman</vt:lpstr>
      <vt:lpstr>Wingdings</vt:lpstr>
      <vt:lpstr>기본 디자인</vt:lpstr>
      <vt:lpstr>4강. LED 및 Buzzer 제어</vt:lpstr>
      <vt:lpstr>PowerPoint 프레젠테이션</vt:lpstr>
      <vt:lpstr>생각 더하기</vt:lpstr>
      <vt:lpstr>학습목표</vt:lpstr>
      <vt:lpstr>Python 언어  print()</vt:lpstr>
      <vt:lpstr>Python 언어  while</vt:lpstr>
      <vt:lpstr>Python 언어  try~except</vt:lpstr>
      <vt:lpstr>Python 언어  try~except</vt:lpstr>
      <vt:lpstr>Python 언어  time.sleep()</vt:lpstr>
      <vt:lpstr>Python 언어  time.sleep()</vt:lpstr>
      <vt:lpstr>Python 언어  숫자 출력</vt:lpstr>
      <vt:lpstr>[참고]전자회로(Electronic Circuit)</vt:lpstr>
      <vt:lpstr>[참고] 전자회로(Electronic Circuit)</vt:lpstr>
      <vt:lpstr>[참고] 전자회로(Electronic Circuit)</vt:lpstr>
      <vt:lpstr>[참고] 전자회로(Electronic Circuit)</vt:lpstr>
      <vt:lpstr>[참고] 전자회로(Electronic Circuit)</vt:lpstr>
      <vt:lpstr>[참고] 전자회로(Electronic Circuit)</vt:lpstr>
      <vt:lpstr>라즈베리파이 핀 맵 </vt:lpstr>
      <vt:lpstr>실습에 사용할 레퍼런스 보드</vt:lpstr>
      <vt:lpstr>LED 점멸 실습 회로</vt:lpstr>
      <vt:lpstr>LED 점멸</vt:lpstr>
      <vt:lpstr>LED 점멸</vt:lpstr>
      <vt:lpstr>LED 점멸</vt:lpstr>
      <vt:lpstr>LED 점멸</vt:lpstr>
      <vt:lpstr>PowerPoint 프레젠테이션</vt:lpstr>
      <vt:lpstr>LED 점멸</vt:lpstr>
      <vt:lpstr>라즈베리파이의 PWM </vt:lpstr>
      <vt:lpstr>라즈베리파이의  PWM 관련 함수</vt:lpstr>
      <vt:lpstr>라즈베리파이의 PWM</vt:lpstr>
      <vt:lpstr>PWM을 이용한 LED 점멸 및 밝기 조절</vt:lpstr>
      <vt:lpstr>PWM을 이용한 LED 밝기 조절</vt:lpstr>
      <vt:lpstr>Buzzer 실습 회로</vt:lpstr>
      <vt:lpstr>부저 제어</vt:lpstr>
      <vt:lpstr>부저 제어</vt:lpstr>
      <vt:lpstr>부저 제어</vt:lpstr>
      <vt:lpstr>부저 제어</vt:lpstr>
      <vt:lpstr>부저 제어</vt:lpstr>
      <vt:lpstr>Summary</vt:lpstr>
      <vt:lpstr>단어</vt:lpstr>
      <vt:lpstr>단어</vt:lpstr>
      <vt:lpstr>알아야 할 용어</vt:lpstr>
      <vt:lpstr>과제</vt:lpstr>
      <vt:lpstr>질의 응답</vt:lpstr>
    </vt:vector>
  </TitlesOfParts>
  <Company>두원공과대학 인터넷프로그래밍과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김형래</dc:creator>
  <cp:lastModifiedBy>김형래</cp:lastModifiedBy>
  <cp:revision>402</cp:revision>
  <cp:lastPrinted>2022-07-06T04:11:04Z</cp:lastPrinted>
  <dcterms:created xsi:type="dcterms:W3CDTF">2003-05-07T20:17:23Z</dcterms:created>
  <dcterms:modified xsi:type="dcterms:W3CDTF">2025-09-10T07:19:51Z</dcterms:modified>
</cp:coreProperties>
</file>