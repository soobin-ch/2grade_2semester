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632" r:id="rId2"/>
    <p:sldId id="648" r:id="rId3"/>
    <p:sldId id="1147" r:id="rId4"/>
    <p:sldId id="705" r:id="rId5"/>
    <p:sldId id="1194" r:id="rId6"/>
    <p:sldId id="1195" r:id="rId7"/>
    <p:sldId id="1241" r:id="rId8"/>
    <p:sldId id="1197" r:id="rId9"/>
    <p:sldId id="1240" r:id="rId10"/>
    <p:sldId id="744" r:id="rId11"/>
    <p:sldId id="748" r:id="rId12"/>
    <p:sldId id="774" r:id="rId13"/>
    <p:sldId id="1242" r:id="rId14"/>
    <p:sldId id="749" r:id="rId15"/>
    <p:sldId id="1196" r:id="rId16"/>
    <p:sldId id="1274" r:id="rId17"/>
    <p:sldId id="1275" r:id="rId18"/>
    <p:sldId id="1276" r:id="rId19"/>
    <p:sldId id="1220" r:id="rId20"/>
    <p:sldId id="1232" r:id="rId21"/>
    <p:sldId id="1198" r:id="rId22"/>
    <p:sldId id="1221" r:id="rId23"/>
    <p:sldId id="1222" r:id="rId24"/>
    <p:sldId id="1224" r:id="rId25"/>
    <p:sldId id="1223" r:id="rId26"/>
    <p:sldId id="1234" r:id="rId27"/>
    <p:sldId id="1277" r:id="rId28"/>
    <p:sldId id="669" r:id="rId29"/>
    <p:sldId id="693" r:id="rId30"/>
    <p:sldId id="694" r:id="rId31"/>
    <p:sldId id="668" r:id="rId32"/>
    <p:sldId id="700" r:id="rId33"/>
    <p:sldId id="1225" r:id="rId34"/>
    <p:sldId id="1226" r:id="rId35"/>
    <p:sldId id="1235" r:id="rId36"/>
    <p:sldId id="1227" r:id="rId37"/>
    <p:sldId id="1228" r:id="rId38"/>
    <p:sldId id="1247" r:id="rId39"/>
    <p:sldId id="1245" r:id="rId40"/>
    <p:sldId id="1229" r:id="rId41"/>
    <p:sldId id="1236" r:id="rId42"/>
    <p:sldId id="1243" r:id="rId43"/>
    <p:sldId id="1248" r:id="rId44"/>
    <p:sldId id="1254" r:id="rId45"/>
    <p:sldId id="1256" r:id="rId46"/>
    <p:sldId id="1255" r:id="rId47"/>
    <p:sldId id="1257" r:id="rId48"/>
    <p:sldId id="1258" r:id="rId49"/>
    <p:sldId id="1259" r:id="rId50"/>
    <p:sldId id="1261" r:id="rId51"/>
    <p:sldId id="1262" r:id="rId52"/>
    <p:sldId id="1267" r:id="rId53"/>
    <p:sldId id="1268" r:id="rId54"/>
    <p:sldId id="1269" r:id="rId55"/>
    <p:sldId id="1263" r:id="rId56"/>
    <p:sldId id="1270" r:id="rId57"/>
    <p:sldId id="1264" r:id="rId58"/>
    <p:sldId id="1273" r:id="rId59"/>
    <p:sldId id="1271" r:id="rId60"/>
    <p:sldId id="1266" r:id="rId61"/>
    <p:sldId id="1272" r:id="rId62"/>
    <p:sldId id="702" r:id="rId63"/>
    <p:sldId id="1193" r:id="rId64"/>
    <p:sldId id="1246" r:id="rId65"/>
    <p:sldId id="1239" r:id="rId66"/>
    <p:sldId id="1237" r:id="rId67"/>
    <p:sldId id="1192" r:id="rId68"/>
    <p:sldId id="1238" r:id="rId69"/>
    <p:sldId id="703" r:id="rId70"/>
  </p:sldIdLst>
  <p:sldSz cx="9144000" cy="6858000" type="screen4x3"/>
  <p:notesSz cx="6797675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형래" initials="김" lastIdx="1" clrIdx="0">
    <p:extLst>
      <p:ext uri="{19B8F6BF-5375-455C-9EA6-DF929625EA0E}">
        <p15:presenceInfo xmlns:p15="http://schemas.microsoft.com/office/powerpoint/2012/main" userId="S::broadway4u@office.doowon.ac.kr::d8a570ee-eeba-4a26-8af4-093085b74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AC7F00"/>
    <a:srgbClr val="CC9900"/>
    <a:srgbClr val="CC6600"/>
    <a:srgbClr val="FF6600"/>
    <a:srgbClr val="FFFFFF"/>
    <a:srgbClr val="FFCB97"/>
    <a:srgbClr val="00518E"/>
    <a:srgbClr val="0066CC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5" autoAdjust="0"/>
    <p:restoredTop sz="94148" autoAdjust="0"/>
  </p:normalViewPr>
  <p:slideViewPr>
    <p:cSldViewPr>
      <p:cViewPr varScale="1">
        <p:scale>
          <a:sx n="87" d="100"/>
          <a:sy n="87" d="100"/>
        </p:scale>
        <p:origin x="96" y="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1" y="4715629"/>
            <a:ext cx="4985393" cy="44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636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540000" indent="-216000">
              <a:buClr>
                <a:schemeClr val="accent6">
                  <a:lumMod val="50000"/>
                </a:schemeClr>
              </a:buClr>
              <a:defRPr sz="20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0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1260000" indent="-180000">
              <a:buFont typeface="Wingdings" panose="05000000000000000000" pitchFamily="2" charset="2"/>
              <a:buChar char="Ø"/>
              <a:defRPr sz="16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66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!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CD6F71-2C61-EF2C-4175-145E8E98AD3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335465" y="6619820"/>
            <a:ext cx="1278922" cy="183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90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754117-1D08-E346-EB87-E60BDADED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7"/>
            <a:ext cx="9144000" cy="6838965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445224"/>
            <a:ext cx="7514232" cy="503460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55576" y="548680"/>
            <a:ext cx="7514232" cy="1616075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5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>
                <a:solidFill>
                  <a:srgbClr val="FFFF00"/>
                </a:solidFill>
              </a:rPr>
              <a:t>입력처리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dirty="0">
                <a:solidFill>
                  <a:srgbClr val="FFFF00"/>
                </a:solidFill>
              </a:rPr>
              <a:t>(</a:t>
            </a:r>
            <a:r>
              <a:rPr lang="ko-KR" altLang="en-US" dirty="0">
                <a:solidFill>
                  <a:srgbClr val="FFFF00"/>
                </a:solidFill>
              </a:rPr>
              <a:t>디지털 입력</a:t>
            </a:r>
            <a:r>
              <a:rPr lang="en-US" altLang="ko-KR" dirty="0">
                <a:solidFill>
                  <a:srgbClr val="FFFF00"/>
                </a:solidFill>
              </a:rPr>
              <a:t>, </a:t>
            </a:r>
            <a:r>
              <a:rPr lang="ko-KR" altLang="en-US" dirty="0">
                <a:solidFill>
                  <a:srgbClr val="FFFF00"/>
                </a:solidFill>
              </a:rPr>
              <a:t>아날로그 입력</a:t>
            </a:r>
            <a:r>
              <a:rPr lang="en-US" altLang="ko-KR" dirty="0">
                <a:solidFill>
                  <a:srgbClr val="FFFF00"/>
                </a:solidFill>
              </a:rPr>
              <a:t>)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5C8F90-B080-F206-EED3-3A425172A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23" y="0"/>
            <a:ext cx="518595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D3439F-9B23-5531-F1E0-97C8829660DB}"/>
              </a:ext>
            </a:extLst>
          </p:cNvPr>
          <p:cNvSpPr txBox="1"/>
          <p:nvPr/>
        </p:nvSpPr>
        <p:spPr>
          <a:xfrm>
            <a:off x="1952532" y="3068960"/>
            <a:ext cx="5238934" cy="147784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세상에서 가장 행복한 때는</a:t>
            </a:r>
            <a:endParaRPr lang="en-US" altLang="ko-KR" sz="3200" b="1" dirty="0">
              <a:solidFill>
                <a:srgbClr val="660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사랑할 때</a:t>
            </a:r>
            <a:r>
              <a:rPr lang="en-US" altLang="ko-KR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endParaRPr lang="ko-KR" altLang="en-US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 err="1">
                <a:solidFill>
                  <a:srgbClr val="339966"/>
                </a:solidFill>
                <a:latin typeface="+mn-ea"/>
                <a:ea typeface="+mn-ea"/>
              </a:rPr>
              <a:t>강철왕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 카네기의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sz="18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​﻿</a:t>
            </a: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보통 사람은 자신의 일에 </a:t>
            </a:r>
            <a:endParaRPr lang="en-US" altLang="ko-KR" sz="1800" b="1" i="0" dirty="0">
              <a:solidFill>
                <a:srgbClr val="CC6600"/>
              </a:solidFill>
              <a:effectLst/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에너지와 능력의 </a:t>
            </a:r>
            <a:r>
              <a:rPr lang="en-US" altLang="ko-KR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25%</a:t>
            </a: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만 투자합니다</a:t>
            </a:r>
            <a:r>
              <a:rPr lang="en-US" altLang="ko-KR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세상은 자신의 능력의 </a:t>
            </a:r>
            <a:r>
              <a:rPr lang="en-US" altLang="ko-KR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50% </a:t>
            </a: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이상을 </a:t>
            </a:r>
            <a:endParaRPr lang="en-US" altLang="ko-KR" sz="1800" b="1" i="0" dirty="0">
              <a:solidFill>
                <a:srgbClr val="CC6600"/>
              </a:solidFill>
              <a:effectLst/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쏟아붓는 사람에게 아는 체를 하고</a:t>
            </a:r>
            <a:r>
              <a:rPr lang="en-US" altLang="ko-KR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100%</a:t>
            </a: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를 헌신하는 소수의 사람들에게 </a:t>
            </a:r>
            <a:endParaRPr lang="en-US" altLang="ko-KR" sz="1800" b="1" i="0" dirty="0">
              <a:solidFill>
                <a:srgbClr val="CC6600"/>
              </a:solidFill>
              <a:effectLst/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기대하지 않은 혁신을 제공합니다</a:t>
            </a:r>
            <a:r>
              <a:rPr lang="en-US" altLang="ko-KR" sz="1800" b="1" i="0" dirty="0">
                <a:solidFill>
                  <a:srgbClr val="CC66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kumimoji="0"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0"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1" i="1" dirty="0">
                <a:solidFill>
                  <a:schemeClr val="accent5">
                    <a:lumMod val="50000"/>
                  </a:schemeClr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average person puts only 25% of his energy and ability into his work. </a:t>
            </a:r>
          </a:p>
          <a:p>
            <a:pPr>
              <a:lnSpc>
                <a:spcPct val="150000"/>
              </a:lnSpc>
            </a:pPr>
            <a:r>
              <a:rPr lang="en-US" altLang="ko-KR" sz="1800" b="1" i="1" dirty="0">
                <a:solidFill>
                  <a:schemeClr val="accent5">
                    <a:lumMod val="50000"/>
                  </a:schemeClr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world takes off its hat to those who put in more than 50% of their capacity </a:t>
            </a:r>
          </a:p>
          <a:p>
            <a:pPr>
              <a:lnSpc>
                <a:spcPct val="150000"/>
              </a:lnSpc>
            </a:pPr>
            <a:r>
              <a:rPr lang="en-US" altLang="ko-KR" sz="1800" b="1" i="1" dirty="0">
                <a:solidFill>
                  <a:schemeClr val="accent5">
                    <a:lumMod val="50000"/>
                  </a:schemeClr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and stands on its head for those few and far between souls who devote 100%. </a:t>
            </a:r>
            <a:endParaRPr lang="en-US" altLang="ko-KR" sz="1800" b="1" i="1" dirty="0">
              <a:solidFill>
                <a:schemeClr val="accent5">
                  <a:lumMod val="50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800" b="1" i="1" dirty="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- </a:t>
            </a:r>
            <a:r>
              <a:rPr lang="en-US" altLang="ko-KR" sz="1800" b="1" i="1" dirty="0">
                <a:solidFill>
                  <a:schemeClr val="accent5">
                    <a:lumMod val="50000"/>
                  </a:schemeClr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Andrew Carnegie</a:t>
            </a:r>
            <a:endParaRPr kumimoji="0" lang="ko-KR" altLang="ko-KR" sz="1800" b="1" i="1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Source Sans Pro" panose="020B050303040302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6096052" y="3861048"/>
            <a:ext cx="2477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&lt;Andrew Carnegie, 1835~1919&gt;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959276-9D2F-6F1E-ED47-5E790DF64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462" y="1131675"/>
            <a:ext cx="2122846" cy="27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사용자 입력을 받을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input()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디지털 입력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Pushbutton</a:t>
            </a:r>
            <a:r>
              <a:rPr lang="ko-KR" altLang="en-US" dirty="0"/>
              <a:t> 제어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Toggle Switch </a:t>
            </a:r>
            <a:r>
              <a:rPr lang="ko-KR" altLang="en-US" dirty="0"/>
              <a:t>구현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외부 인터럽트 이용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쓰레드 이용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여러 작업 동시 수행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예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입력을 대기하면서 다른 작업 처리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아날로그 입력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MCP3208 ADC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SPI </a:t>
            </a:r>
            <a:r>
              <a:rPr lang="ko-KR" altLang="en-US" dirty="0"/>
              <a:t>버스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MCP3208 </a:t>
            </a:r>
            <a:r>
              <a:rPr lang="ko-KR" altLang="en-US" dirty="0"/>
              <a:t>통신 프로토콜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가변저항</a:t>
            </a:r>
            <a:r>
              <a:rPr lang="en-US" altLang="ko-KR" dirty="0"/>
              <a:t>(potentiometer) </a:t>
            </a:r>
            <a:r>
              <a:rPr lang="ko-KR" altLang="en-US" dirty="0"/>
              <a:t>이용 아날로그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input()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input()</a:t>
            </a:r>
          </a:p>
          <a:p>
            <a:pPr lvl="1"/>
            <a:r>
              <a:rPr lang="ko-KR" altLang="en-US" dirty="0"/>
              <a:t>사용자로부터</a:t>
            </a:r>
            <a:r>
              <a:rPr lang="en-US" altLang="ko-KR" dirty="0"/>
              <a:t> </a:t>
            </a:r>
            <a:r>
              <a:rPr lang="ko-KR" altLang="en-US" dirty="0"/>
              <a:t>입력을 받는 함수</a:t>
            </a:r>
            <a:endParaRPr lang="en-US" altLang="ko-KR" dirty="0"/>
          </a:p>
          <a:p>
            <a:pPr lvl="1"/>
            <a:r>
              <a:rPr lang="ko-KR" altLang="en-US" dirty="0"/>
              <a:t>사용자의 요구에 다른 처리를 가능하게 함</a:t>
            </a:r>
            <a:endParaRPr lang="en-US" altLang="ko-KR" dirty="0"/>
          </a:p>
          <a:p>
            <a:r>
              <a:rPr lang="ko-KR" altLang="en-US" dirty="0"/>
              <a:t>예제</a:t>
            </a:r>
            <a:r>
              <a:rPr lang="en-US" altLang="ko-KR" dirty="0"/>
              <a:t>1. </a:t>
            </a:r>
            <a:r>
              <a:rPr lang="ko-KR" altLang="en-US" dirty="0"/>
              <a:t>사용자 입력 받기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A7891B-8EF9-0BC5-A984-B1CE4A35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860528"/>
            <a:ext cx="5040560" cy="37368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0E07B07-E10C-BA86-6B5C-6A84519BF94C}"/>
              </a:ext>
            </a:extLst>
          </p:cNvPr>
          <p:cNvSpPr/>
          <p:nvPr/>
        </p:nvSpPr>
        <p:spPr>
          <a:xfrm>
            <a:off x="6300192" y="5484964"/>
            <a:ext cx="2016224" cy="43204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입력 </a:t>
            </a:r>
            <a:r>
              <a:rPr lang="en-US" altLang="ko-KR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Wingdings" panose="05000000000000000000" pitchFamily="2" charset="2"/>
              </a:rPr>
              <a:t>청색 글씨</a:t>
            </a:r>
            <a:endParaRPr lang="ko-KR" altLang="en-US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B4863A8-9022-5BCC-5BAD-A8ED5795261C}"/>
              </a:ext>
            </a:extLst>
          </p:cNvPr>
          <p:cNvCxnSpPr>
            <a:endCxn id="5" idx="1"/>
          </p:cNvCxnSpPr>
          <p:nvPr/>
        </p:nvCxnSpPr>
        <p:spPr>
          <a:xfrm flipV="1">
            <a:off x="2483768" y="5700988"/>
            <a:ext cx="3816424" cy="1042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B68D3D-E84E-F40C-2064-70929689EC31}"/>
              </a:ext>
            </a:extLst>
          </p:cNvPr>
          <p:cNvSpPr/>
          <p:nvPr/>
        </p:nvSpPr>
        <p:spPr>
          <a:xfrm>
            <a:off x="6300192" y="6005154"/>
            <a:ext cx="2016224" cy="43204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출력 </a:t>
            </a:r>
            <a:r>
              <a:rPr lang="en-US" altLang="ko-KR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Wingdings" panose="05000000000000000000" pitchFamily="2" charset="2"/>
              </a:rPr>
              <a:t>흑색 글씨</a:t>
            </a:r>
            <a:endParaRPr lang="ko-KR" altLang="en-US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C5326B-1966-D5CD-963F-D94B07FBD28F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483768" y="5937014"/>
            <a:ext cx="3816424" cy="28416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82100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input()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2. </a:t>
            </a:r>
            <a:r>
              <a:rPr lang="ko-KR" altLang="en-US" dirty="0"/>
              <a:t>프롬프트 흉내내기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1D0417-7F3F-A46F-426B-F065254C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44" y="1447689"/>
            <a:ext cx="5018336" cy="50531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6733788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EF955-3A68-2370-281C-C81CBA17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RPi.GPIO.input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1BDC5-EE4C-D0A4-DE25-7F42E29DA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디지털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1 </a:t>
            </a:r>
            <a:r>
              <a:rPr lang="en-US" altLang="ko-KR" dirty="0">
                <a:sym typeface="Wingdings" panose="05000000000000000000" pitchFamily="2" charset="2"/>
              </a:rPr>
              <a:t> 3.3V </a:t>
            </a:r>
            <a:r>
              <a:rPr lang="ko-KR" altLang="en-US" dirty="0">
                <a:sym typeface="Wingdings" panose="05000000000000000000" pitchFamily="2" charset="2"/>
              </a:rPr>
              <a:t>연결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0  GND </a:t>
            </a:r>
            <a:r>
              <a:rPr lang="ko-KR" altLang="en-US" dirty="0">
                <a:sym typeface="Wingdings" panose="05000000000000000000" pitchFamily="2" charset="2"/>
              </a:rPr>
              <a:t>연결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BB1F97-9FD0-E372-A9EA-2172F5798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6" name="그림 5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6D1893-4000-3613-7075-12FC47B464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36912"/>
            <a:ext cx="4875420" cy="25334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675341-4A29-FEBE-BBBF-31AC787C6C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903637"/>
            <a:ext cx="4875420" cy="25334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9C21601-0B4B-5CD1-96B2-2A9ACCB20BF3}"/>
              </a:ext>
            </a:extLst>
          </p:cNvPr>
          <p:cNvSpPr/>
          <p:nvPr/>
        </p:nvSpPr>
        <p:spPr>
          <a:xfrm>
            <a:off x="3323984" y="3294253"/>
            <a:ext cx="698956" cy="26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3.3V</a:t>
            </a:r>
            <a:endParaRPr lang="ko-KR" altLang="en-US" sz="1400" b="1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1A7E92-246A-40CC-58B0-A132779A499A}"/>
              </a:ext>
            </a:extLst>
          </p:cNvPr>
          <p:cNvSpPr/>
          <p:nvPr/>
        </p:nvSpPr>
        <p:spPr>
          <a:xfrm>
            <a:off x="7005300" y="4497088"/>
            <a:ext cx="698956" cy="26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GND</a:t>
            </a:r>
            <a:endParaRPr lang="ko-KR" altLang="en-US" sz="1400" b="1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120534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RPi.GPIO.input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3. </a:t>
            </a:r>
            <a:r>
              <a:rPr lang="en-US" altLang="ko-KR" dirty="0" err="1"/>
              <a:t>RPi.GPIO.input</a:t>
            </a:r>
            <a:r>
              <a:rPr lang="en-US" altLang="ko-KR" dirty="0"/>
              <a:t>() </a:t>
            </a:r>
          </a:p>
          <a:p>
            <a:pPr lvl="1"/>
            <a:r>
              <a:rPr lang="ko-KR" altLang="en-US" dirty="0"/>
              <a:t>라즈베리 파이의</a:t>
            </a:r>
            <a:r>
              <a:rPr lang="en-US" altLang="ko-KR" dirty="0"/>
              <a:t> 40</a:t>
            </a:r>
            <a:r>
              <a:rPr lang="ko-KR" altLang="en-US" dirty="0"/>
              <a:t>개 핀</a:t>
            </a:r>
            <a:r>
              <a:rPr lang="en-US" altLang="ko-KR" dirty="0"/>
              <a:t>(GPIO)</a:t>
            </a:r>
            <a:r>
              <a:rPr lang="ko-KR" altLang="en-US" dirty="0"/>
              <a:t>에서 논리적으로 </a:t>
            </a:r>
            <a:r>
              <a:rPr lang="en-US" altLang="ko-KR" dirty="0"/>
              <a:t>0 </a:t>
            </a:r>
            <a:r>
              <a:rPr lang="ko-KR" altLang="en-US" dirty="0"/>
              <a:t>또는 </a:t>
            </a:r>
            <a:r>
              <a:rPr lang="en-US" altLang="ko-KR" dirty="0"/>
              <a:t>1</a:t>
            </a:r>
            <a:r>
              <a:rPr lang="ko-KR" altLang="en-US" dirty="0"/>
              <a:t>을 읽는 함수</a:t>
            </a:r>
            <a:endParaRPr lang="en-US" altLang="ko-KR" dirty="0"/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0V  0   /   3.3V 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17D59A-D0A8-DFC1-6473-0DA723E4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93" y="2298906"/>
            <a:ext cx="7724214" cy="41519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80884335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EDF1-C064-34D2-4722-9BF3EEF26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0FB05-CFC2-F5F2-E892-E544F3D5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RPi.GPIO.input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823F9-3285-A0D6-CD8A-F2D926611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566A76-8E06-3952-839E-9F70B3EEB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D08B847-415B-3AED-9069-9EAFA28D1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439616"/>
            <a:ext cx="3600400" cy="49319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6392907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푸시</a:t>
            </a:r>
            <a:r>
              <a:rPr lang="en-US" altLang="ko-KR" dirty="0"/>
              <a:t> </a:t>
            </a:r>
            <a:r>
              <a:rPr lang="ko-KR" altLang="en-US" dirty="0"/>
              <a:t>버튼</a:t>
            </a:r>
            <a:r>
              <a:rPr lang="en-US" altLang="ko-KR" dirty="0"/>
              <a:t>(Pushbutton)</a:t>
            </a:r>
            <a:endParaRPr lang="ko-KR" altLang="en-US" dirty="0"/>
          </a:p>
        </p:txBody>
      </p:sp>
      <p:sp>
        <p:nvSpPr>
          <p:cNvPr id="27" name="내용 개체 틀 26">
            <a:extLst>
              <a:ext uri="{FF2B5EF4-FFF2-40B4-BE49-F238E27FC236}">
                <a16:creationId xmlns:a16="http://schemas.microsoft.com/office/drawing/2014/main" id="{99F1987C-8E1B-4CF9-AC18-A96121302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/>
          <a:lstStyle/>
          <a:p>
            <a:r>
              <a:rPr lang="ko-KR" altLang="en-US" dirty="0"/>
              <a:t>푸시</a:t>
            </a:r>
            <a:r>
              <a:rPr lang="en-US" altLang="ko-KR" dirty="0"/>
              <a:t> </a:t>
            </a:r>
            <a:r>
              <a:rPr lang="ko-KR" altLang="en-US" dirty="0"/>
              <a:t>버튼</a:t>
            </a:r>
            <a:r>
              <a:rPr lang="en-US" altLang="ko-KR" dirty="0"/>
              <a:t>(Pushbutton)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누름 단추 혹은 푸시 버튼이라 부르며</a:t>
            </a:r>
            <a:r>
              <a:rPr lang="en-US" altLang="ko-KR" dirty="0"/>
              <a:t>, </a:t>
            </a:r>
            <a:r>
              <a:rPr lang="ko-KR" altLang="en-US" dirty="0"/>
              <a:t>디지털 입력의 대표적 형태</a:t>
            </a:r>
            <a:endParaRPr lang="en-US" altLang="ko-KR" dirty="0"/>
          </a:p>
          <a:p>
            <a:pPr lvl="1"/>
            <a:r>
              <a:rPr lang="ko-KR" altLang="en-US" dirty="0"/>
              <a:t>지렛대 형태에 가까우며</a:t>
            </a:r>
            <a:r>
              <a:rPr lang="en-US" altLang="ko-KR" dirty="0"/>
              <a:t>, </a:t>
            </a:r>
            <a:r>
              <a:rPr lang="ko-KR" altLang="en-US" dirty="0"/>
              <a:t>최소 하나의 극은 연결되어 있음</a:t>
            </a:r>
            <a:endParaRPr lang="en-US" altLang="ko-KR" dirty="0"/>
          </a:p>
          <a:p>
            <a:pPr lvl="1"/>
            <a:r>
              <a:rPr lang="ko-KR" altLang="en-US" dirty="0"/>
              <a:t>일반적인 푸시 버튼은 누를 경우 접점이 닫힘</a:t>
            </a:r>
            <a:endParaRPr lang="en-US" altLang="ko-KR" dirty="0"/>
          </a:p>
          <a:p>
            <a:pPr lvl="1"/>
            <a:r>
              <a:rPr lang="ko-KR" altLang="en-US" dirty="0"/>
              <a:t>푸시 버튼은 극성이 없으며</a:t>
            </a:r>
            <a:r>
              <a:rPr lang="en-US" altLang="ko-KR" dirty="0"/>
              <a:t>, </a:t>
            </a:r>
            <a:r>
              <a:rPr lang="ko-KR" altLang="en-US" dirty="0"/>
              <a:t>두 단자 씩 내부적으로 연결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5B0FD6-D944-4BBA-BB9D-803448B0DE5D}"/>
              </a:ext>
            </a:extLst>
          </p:cNvPr>
          <p:cNvSpPr txBox="1"/>
          <p:nvPr/>
        </p:nvSpPr>
        <p:spPr>
          <a:xfrm>
            <a:off x="1644097" y="5648034"/>
            <a:ext cx="2156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다양한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형태의 푸시 버튼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4817D1B-5FA5-49D8-B031-7CE230447FB4}"/>
              </a:ext>
            </a:extLst>
          </p:cNvPr>
          <p:cNvGrpSpPr/>
          <p:nvPr/>
        </p:nvGrpSpPr>
        <p:grpSpPr>
          <a:xfrm>
            <a:off x="721731" y="4061419"/>
            <a:ext cx="4067308" cy="1296178"/>
            <a:chOff x="1346299" y="2463807"/>
            <a:chExt cx="4421344" cy="153333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4D1CBB4-A5F2-42BE-BC7D-86E8DB6BC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46299" y="2558180"/>
              <a:ext cx="1054378" cy="115842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29928D1-FE99-4B3C-9CB9-F4CA6285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428765" y="2463807"/>
              <a:ext cx="1352381" cy="1533333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CD60CA6-5A9A-4EDD-911A-3187E14ED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731367" y="2581592"/>
              <a:ext cx="940413" cy="123558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C4FCF5C-0894-43DC-BB6C-D1FF04860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827229" y="2558180"/>
              <a:ext cx="940414" cy="1406734"/>
            </a:xfrm>
            <a:prstGeom prst="rect">
              <a:avLst/>
            </a:prstGeom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01C5916-5E39-4A84-BE25-B911A2B46CCA}"/>
              </a:ext>
            </a:extLst>
          </p:cNvPr>
          <p:cNvSpPr txBox="1"/>
          <p:nvPr/>
        </p:nvSpPr>
        <p:spPr>
          <a:xfrm>
            <a:off x="5937160" y="5610832"/>
            <a:ext cx="2438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푸시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버튼의 결선 구조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(A-B, C-D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서로 연결되어 있음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3EA657B7-8EE4-453B-8547-4AD486B5F084}"/>
              </a:ext>
            </a:extLst>
          </p:cNvPr>
          <p:cNvGrpSpPr/>
          <p:nvPr/>
        </p:nvGrpSpPr>
        <p:grpSpPr>
          <a:xfrm>
            <a:off x="5603414" y="3789040"/>
            <a:ext cx="2818855" cy="1693396"/>
            <a:chOff x="5508104" y="3702189"/>
            <a:chExt cx="2818855" cy="1693396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3407641-EC98-4120-B1EA-7479637B1510}"/>
                </a:ext>
              </a:extLst>
            </p:cNvPr>
            <p:cNvSpPr/>
            <p:nvPr/>
          </p:nvSpPr>
          <p:spPr>
            <a:xfrm>
              <a:off x="7122876" y="4015362"/>
              <a:ext cx="1204083" cy="12263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ko-KR" altLang="en-US" sz="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A842342-C996-4181-BC59-B3C0B628E31C}"/>
                </a:ext>
              </a:extLst>
            </p:cNvPr>
            <p:cNvCxnSpPr>
              <a:cxnSpLocks/>
            </p:cNvCxnSpPr>
            <p:nvPr/>
          </p:nvCxnSpPr>
          <p:spPr>
            <a:xfrm>
              <a:off x="7442891" y="4280554"/>
              <a:ext cx="0" cy="6897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6200C095-D7EC-4A03-99BF-266E902583FD}"/>
                </a:ext>
              </a:extLst>
            </p:cNvPr>
            <p:cNvCxnSpPr>
              <a:cxnSpLocks/>
            </p:cNvCxnSpPr>
            <p:nvPr/>
          </p:nvCxnSpPr>
          <p:spPr>
            <a:xfrm>
              <a:off x="8005479" y="4280554"/>
              <a:ext cx="0" cy="6897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3EB6592-B30D-47E9-AB4A-E8AF933E3B96}"/>
                </a:ext>
              </a:extLst>
            </p:cNvPr>
            <p:cNvCxnSpPr/>
            <p:nvPr/>
          </p:nvCxnSpPr>
          <p:spPr>
            <a:xfrm>
              <a:off x="7442891" y="4643588"/>
              <a:ext cx="5625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DE43C915-B1C0-4DED-A73C-BAA76697D5B4}"/>
                </a:ext>
              </a:extLst>
            </p:cNvPr>
            <p:cNvGrpSpPr/>
            <p:nvPr/>
          </p:nvGrpSpPr>
          <p:grpSpPr>
            <a:xfrm>
              <a:off x="7562827" y="4586889"/>
              <a:ext cx="324180" cy="86109"/>
              <a:chOff x="5947405" y="4141673"/>
              <a:chExt cx="290451" cy="80899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CF696020-C735-4EAD-AD9A-9724F9E9A824}"/>
                  </a:ext>
                </a:extLst>
              </p:cNvPr>
              <p:cNvSpPr/>
              <p:nvPr/>
            </p:nvSpPr>
            <p:spPr>
              <a:xfrm>
                <a:off x="6019405" y="4150564"/>
                <a:ext cx="218451" cy="720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17F6B216-B377-4F0A-B98C-EF5E6EB63A1B}"/>
                  </a:ext>
                </a:extLst>
              </p:cNvPr>
              <p:cNvSpPr/>
              <p:nvPr/>
            </p:nvSpPr>
            <p:spPr>
              <a:xfrm>
                <a:off x="5947405" y="4150564"/>
                <a:ext cx="72000" cy="72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07CC0535-F0D0-4B89-9365-514CBE9D9C3E}"/>
                  </a:ext>
                </a:extLst>
              </p:cNvPr>
              <p:cNvSpPr/>
              <p:nvPr/>
            </p:nvSpPr>
            <p:spPr>
              <a:xfrm>
                <a:off x="6165856" y="4150564"/>
                <a:ext cx="72000" cy="72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자유형: 도형 67">
                <a:extLst>
                  <a:ext uri="{FF2B5EF4-FFF2-40B4-BE49-F238E27FC236}">
                    <a16:creationId xmlns:a16="http://schemas.microsoft.com/office/drawing/2014/main" id="{8B58B765-1C17-43E9-9530-B8F41846FC16}"/>
                  </a:ext>
                </a:extLst>
              </p:cNvPr>
              <p:cNvSpPr/>
              <p:nvPr/>
            </p:nvSpPr>
            <p:spPr>
              <a:xfrm rot="19846940">
                <a:off x="5981305" y="4141673"/>
                <a:ext cx="190500" cy="0"/>
              </a:xfrm>
              <a:custGeom>
                <a:avLst/>
                <a:gdLst>
                  <a:gd name="connsiteX0" fmla="*/ 0 w 190500"/>
                  <a:gd name="connsiteY0" fmla="*/ 0 h 0"/>
                  <a:gd name="connsiteX1" fmla="*/ 190500 w 1905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0500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76A17CE1-B338-4DE7-A577-21BE30B7E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1804" y="3981532"/>
              <a:ext cx="1244090" cy="1314378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C71D67E-86B2-4EF5-BC17-D7CA7FCCA483}"/>
                </a:ext>
              </a:extLst>
            </p:cNvPr>
            <p:cNvSpPr txBox="1"/>
            <p:nvPr/>
          </p:nvSpPr>
          <p:spPr>
            <a:xfrm>
              <a:off x="5508104" y="4778231"/>
              <a:ext cx="3113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84BD84E-ED1F-4D72-959D-232E3B6ED8B0}"/>
                </a:ext>
              </a:extLst>
            </p:cNvPr>
            <p:cNvSpPr txBox="1"/>
            <p:nvPr/>
          </p:nvSpPr>
          <p:spPr>
            <a:xfrm>
              <a:off x="5975369" y="5087808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52B832E-00DC-482A-A2B4-4BB87F2E6215}"/>
                </a:ext>
              </a:extLst>
            </p:cNvPr>
            <p:cNvSpPr txBox="1"/>
            <p:nvPr/>
          </p:nvSpPr>
          <p:spPr>
            <a:xfrm>
              <a:off x="6425261" y="4973354"/>
              <a:ext cx="3000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0D6A98D-158D-42E4-B034-E74399819AB1}"/>
                </a:ext>
              </a:extLst>
            </p:cNvPr>
            <p:cNvSpPr txBox="1"/>
            <p:nvPr/>
          </p:nvSpPr>
          <p:spPr>
            <a:xfrm>
              <a:off x="6420906" y="3702189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D43361FE-7B26-4190-B833-93EFA7BD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0906" y="3887348"/>
              <a:ext cx="121790" cy="2118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3F63DBB-7F63-4782-8EA3-561DEE66DDDE}"/>
                </a:ext>
              </a:extLst>
            </p:cNvPr>
            <p:cNvSpPr txBox="1"/>
            <p:nvPr/>
          </p:nvSpPr>
          <p:spPr>
            <a:xfrm>
              <a:off x="7291703" y="3996771"/>
              <a:ext cx="3113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CDD9B67-FD63-4D80-A762-482CA9E670F4}"/>
                </a:ext>
              </a:extLst>
            </p:cNvPr>
            <p:cNvSpPr txBox="1"/>
            <p:nvPr/>
          </p:nvSpPr>
          <p:spPr>
            <a:xfrm>
              <a:off x="7291703" y="4941168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5A9CDA3-12D1-4A90-BDED-C7442944F720}"/>
                </a:ext>
              </a:extLst>
            </p:cNvPr>
            <p:cNvSpPr txBox="1"/>
            <p:nvPr/>
          </p:nvSpPr>
          <p:spPr>
            <a:xfrm>
              <a:off x="7852637" y="4941168"/>
              <a:ext cx="3000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972BC2A-8349-498C-A8E3-C22D48C51DFD}"/>
                </a:ext>
              </a:extLst>
            </p:cNvPr>
            <p:cNvSpPr txBox="1"/>
            <p:nvPr/>
          </p:nvSpPr>
          <p:spPr>
            <a:xfrm>
              <a:off x="7846826" y="3996771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9366113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푸시</a:t>
            </a:r>
            <a:r>
              <a:rPr lang="en-US" altLang="ko-KR" dirty="0"/>
              <a:t> </a:t>
            </a:r>
            <a:r>
              <a:rPr lang="ko-KR" altLang="en-US" dirty="0"/>
              <a:t>버튼</a:t>
            </a:r>
            <a:r>
              <a:rPr lang="en-US" altLang="ko-KR" dirty="0"/>
              <a:t>(Push Button) – </a:t>
            </a:r>
            <a:r>
              <a:rPr lang="ko-KR" altLang="en-US" dirty="0" err="1"/>
              <a:t>플로팅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디지털 입력의 </a:t>
            </a:r>
            <a:r>
              <a:rPr lang="ko-KR" altLang="en-US" dirty="0" err="1"/>
              <a:t>플로팅</a:t>
            </a:r>
            <a:r>
              <a:rPr lang="en-US" altLang="ko-KR" dirty="0"/>
              <a:t>(Floating) </a:t>
            </a:r>
            <a:r>
              <a:rPr lang="ko-KR" altLang="en-US" dirty="0"/>
              <a:t>상태</a:t>
            </a:r>
            <a:endParaRPr lang="en-US" altLang="ko-KR" dirty="0"/>
          </a:p>
          <a:p>
            <a:pPr lvl="1"/>
            <a:r>
              <a:rPr lang="ko-KR" altLang="en-US" dirty="0"/>
              <a:t>디지털</a:t>
            </a:r>
            <a:r>
              <a:rPr lang="en-US" altLang="ko-KR" dirty="0"/>
              <a:t> </a:t>
            </a:r>
            <a:r>
              <a:rPr lang="ko-KR" altLang="en-US" dirty="0"/>
              <a:t>입력은 </a:t>
            </a:r>
            <a:r>
              <a:rPr lang="en-US" altLang="ko-KR" dirty="0"/>
              <a:t>Low (0V) </a:t>
            </a:r>
            <a:r>
              <a:rPr lang="ko-KR" altLang="en-US" dirty="0"/>
              <a:t>혹은 </a:t>
            </a:r>
            <a:r>
              <a:rPr lang="en-US" altLang="ko-KR" dirty="0"/>
              <a:t>HIGH (5V) </a:t>
            </a:r>
            <a:r>
              <a:rPr lang="ko-KR" altLang="en-US" dirty="0"/>
              <a:t>값을 입력하는 것</a:t>
            </a:r>
            <a:endParaRPr lang="en-US" altLang="ko-KR" dirty="0"/>
          </a:p>
          <a:p>
            <a:pPr lvl="1"/>
            <a:r>
              <a:rPr lang="ko-KR" altLang="en-US" dirty="0" err="1"/>
              <a:t>플로팅</a:t>
            </a:r>
            <a:r>
              <a:rPr lang="ko-KR" altLang="en-US" dirty="0"/>
              <a:t> 상태는 입력과 관련하여 아무런 조치를 취하지 않은 상태</a:t>
            </a:r>
            <a:endParaRPr lang="en-US" altLang="ko-KR" dirty="0"/>
          </a:p>
          <a:p>
            <a:pPr lvl="2"/>
            <a:r>
              <a:rPr lang="ko-KR" altLang="en-US" dirty="0"/>
              <a:t>스위치 온</a:t>
            </a:r>
            <a:r>
              <a:rPr lang="en-US" altLang="ko-KR" dirty="0"/>
              <a:t>(</a:t>
            </a:r>
            <a:r>
              <a:rPr lang="ko-KR" altLang="en-US" dirty="0"/>
              <a:t>그림 </a:t>
            </a:r>
            <a:r>
              <a:rPr lang="en-US" altLang="ko-KR" dirty="0"/>
              <a:t>(a))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/>
              <a:t>LOW</a:t>
            </a:r>
            <a:r>
              <a:rPr lang="ko-KR" altLang="en-US" dirty="0"/>
              <a:t>의 입력상태 보장</a:t>
            </a:r>
            <a:endParaRPr lang="en-US" altLang="ko-KR" dirty="0"/>
          </a:p>
          <a:p>
            <a:pPr lvl="2"/>
            <a:r>
              <a:rPr lang="ko-KR" altLang="en-US" dirty="0"/>
              <a:t>스위치 오프</a:t>
            </a:r>
            <a:r>
              <a:rPr lang="en-US" altLang="ko-KR" dirty="0"/>
              <a:t>(</a:t>
            </a:r>
            <a:r>
              <a:rPr lang="ko-KR" altLang="en-US" dirty="0"/>
              <a:t>그림 </a:t>
            </a:r>
            <a:r>
              <a:rPr lang="en-US" altLang="ko-KR" dirty="0"/>
              <a:t>(b))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상태 값을 확정하기 어려움 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684000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ko-KR" altLang="en-US" dirty="0">
                <a:sym typeface="Wingdings" panose="05000000000000000000" pitchFamily="2" charset="2"/>
              </a:rPr>
              <a:t>작은 잡음</a:t>
            </a:r>
            <a:r>
              <a:rPr lang="en-US" altLang="ko-KR" dirty="0">
                <a:sym typeface="Wingdings" panose="05000000000000000000" pitchFamily="2" charset="2"/>
              </a:rPr>
              <a:t>(Noise)</a:t>
            </a:r>
            <a:r>
              <a:rPr lang="ko-KR" altLang="en-US" dirty="0">
                <a:sym typeface="Wingdings" panose="05000000000000000000" pitchFamily="2" charset="2"/>
              </a:rPr>
              <a:t>에도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취약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8562B-0AE0-4B79-AFAA-84024438543F}"/>
              </a:ext>
            </a:extLst>
          </p:cNvPr>
          <p:cNvSpPr txBox="1"/>
          <p:nvPr/>
        </p:nvSpPr>
        <p:spPr>
          <a:xfrm>
            <a:off x="3131840" y="5571617"/>
            <a:ext cx="2560316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                                     (b)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CE69C3D-C652-4898-8F8C-BD4C930508E1}"/>
              </a:ext>
            </a:extLst>
          </p:cNvPr>
          <p:cNvGrpSpPr/>
          <p:nvPr/>
        </p:nvGrpSpPr>
        <p:grpSpPr>
          <a:xfrm>
            <a:off x="2822371" y="3693127"/>
            <a:ext cx="3837880" cy="1934277"/>
            <a:chOff x="2822371" y="3693127"/>
            <a:chExt cx="3837880" cy="193427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7B9E4C3-5981-4347-9FE6-6673664D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22371" y="5277564"/>
              <a:ext cx="252000" cy="28729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614EB3-447A-4733-8CDB-59BF420BF5F8}"/>
                </a:ext>
              </a:extLst>
            </p:cNvPr>
            <p:cNvSpPr txBox="1"/>
            <p:nvPr/>
          </p:nvSpPr>
          <p:spPr>
            <a:xfrm>
              <a:off x="3019941" y="4628220"/>
              <a:ext cx="17604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Switch</a:t>
              </a:r>
              <a:r>
                <a:rPr lang="ko-KR" altLang="en-US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On </a:t>
              </a:r>
              <a:r>
                <a:rPr lang="en-US" altLang="ko-KR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 LOW</a:t>
              </a:r>
              <a:endPara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01A489-C33D-43C9-B851-B1579E6E4266}"/>
                </a:ext>
              </a:extLst>
            </p:cNvPr>
            <p:cNvSpPr txBox="1"/>
            <p:nvPr/>
          </p:nvSpPr>
          <p:spPr>
            <a:xfrm>
              <a:off x="5199402" y="4647647"/>
              <a:ext cx="14608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Switch</a:t>
              </a:r>
              <a:r>
                <a:rPr lang="ko-KR" altLang="en-US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 </a:t>
              </a:r>
              <a:r>
                <a:rPr lang="en-US" altLang="ko-KR" sz="1400" b="1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 ?</a:t>
              </a:r>
              <a:endPara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850F87B5-8961-47AC-889F-99B5A7BF7C7A}"/>
                </a:ext>
              </a:extLst>
            </p:cNvPr>
            <p:cNvSpPr/>
            <p:nvPr/>
          </p:nvSpPr>
          <p:spPr>
            <a:xfrm>
              <a:off x="2948371" y="4884021"/>
              <a:ext cx="0" cy="541538"/>
            </a:xfrm>
            <a:custGeom>
              <a:avLst/>
              <a:gdLst>
                <a:gd name="connsiteX0" fmla="*/ 0 w 0"/>
                <a:gd name="connsiteY0" fmla="*/ 0 h 541538"/>
                <a:gd name="connsiteX1" fmla="*/ 0 w 0"/>
                <a:gd name="connsiteY1" fmla="*/ 541538 h 541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41538">
                  <a:moveTo>
                    <a:pt x="0" y="0"/>
                  </a:moveTo>
                  <a:lnTo>
                    <a:pt x="0" y="54153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순서도: 연결자 21">
              <a:extLst>
                <a:ext uri="{FF2B5EF4-FFF2-40B4-BE49-F238E27FC236}">
                  <a16:creationId xmlns:a16="http://schemas.microsoft.com/office/drawing/2014/main" id="{02CA64F1-7948-4DFB-8413-873020927D1E}"/>
                </a:ext>
              </a:extLst>
            </p:cNvPr>
            <p:cNvSpPr/>
            <p:nvPr/>
          </p:nvSpPr>
          <p:spPr>
            <a:xfrm>
              <a:off x="3858101" y="4000904"/>
              <a:ext cx="108000" cy="108000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FF2CA8A-640C-4344-8783-7BC3F9D78AFF}"/>
                </a:ext>
              </a:extLst>
            </p:cNvPr>
            <p:cNvSpPr/>
            <p:nvPr/>
          </p:nvSpPr>
          <p:spPr>
            <a:xfrm>
              <a:off x="2942717" y="4052444"/>
              <a:ext cx="914400" cy="577049"/>
            </a:xfrm>
            <a:custGeom>
              <a:avLst/>
              <a:gdLst>
                <a:gd name="connsiteX0" fmla="*/ 0 w 914400"/>
                <a:gd name="connsiteY0" fmla="*/ 577049 h 577049"/>
                <a:gd name="connsiteX1" fmla="*/ 0 w 914400"/>
                <a:gd name="connsiteY1" fmla="*/ 0 h 577049"/>
                <a:gd name="connsiteX2" fmla="*/ 914400 w 914400"/>
                <a:gd name="connsiteY2" fmla="*/ 0 h 57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14400" h="577049">
                  <a:moveTo>
                    <a:pt x="0" y="577049"/>
                  </a:moveTo>
                  <a:lnTo>
                    <a:pt x="0" y="0"/>
                  </a:lnTo>
                  <a:lnTo>
                    <a:pt x="91440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C7C5386-9439-48C3-A855-6C93B35E5CCD}"/>
                </a:ext>
              </a:extLst>
            </p:cNvPr>
            <p:cNvGrpSpPr/>
            <p:nvPr/>
          </p:nvGrpSpPr>
          <p:grpSpPr>
            <a:xfrm rot="16200000">
              <a:off x="2784761" y="4684824"/>
              <a:ext cx="290451" cy="108781"/>
              <a:chOff x="3273437" y="4101925"/>
              <a:chExt cx="290451" cy="108781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C64D59B0-A2B8-46E0-9227-9D73D57819FC}"/>
                  </a:ext>
                </a:extLst>
              </p:cNvPr>
              <p:cNvSpPr/>
              <p:nvPr/>
            </p:nvSpPr>
            <p:spPr>
              <a:xfrm>
                <a:off x="3273437" y="4138698"/>
                <a:ext cx="72000" cy="72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B66B32A4-E587-4A40-B37E-39836EBE3DAA}"/>
                  </a:ext>
                </a:extLst>
              </p:cNvPr>
              <p:cNvSpPr/>
              <p:nvPr/>
            </p:nvSpPr>
            <p:spPr>
              <a:xfrm>
                <a:off x="3491888" y="4138698"/>
                <a:ext cx="72000" cy="72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9B43AB5C-6A05-4A4D-A934-C53C7905B893}"/>
                  </a:ext>
                </a:extLst>
              </p:cNvPr>
              <p:cNvSpPr/>
              <p:nvPr/>
            </p:nvSpPr>
            <p:spPr>
              <a:xfrm flipV="1">
                <a:off x="3333889" y="4101925"/>
                <a:ext cx="184695" cy="71309"/>
              </a:xfrm>
              <a:custGeom>
                <a:avLst/>
                <a:gdLst>
                  <a:gd name="connsiteX0" fmla="*/ 0 w 190500"/>
                  <a:gd name="connsiteY0" fmla="*/ 0 h 0"/>
                  <a:gd name="connsiteX1" fmla="*/ 190500 w 1905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0500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3767D50E-2C87-4C30-9E7B-E664CCCE7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71397" y="5340106"/>
              <a:ext cx="252000" cy="287298"/>
            </a:xfrm>
            <a:prstGeom prst="rect">
              <a:avLst/>
            </a:prstGeom>
          </p:spPr>
        </p:pic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73BBD164-010B-43E9-B9E1-C0864EAC2FE6}"/>
                </a:ext>
              </a:extLst>
            </p:cNvPr>
            <p:cNvSpPr/>
            <p:nvPr/>
          </p:nvSpPr>
          <p:spPr>
            <a:xfrm>
              <a:off x="5097397" y="4946563"/>
              <a:ext cx="0" cy="541538"/>
            </a:xfrm>
            <a:custGeom>
              <a:avLst/>
              <a:gdLst>
                <a:gd name="connsiteX0" fmla="*/ 0 w 0"/>
                <a:gd name="connsiteY0" fmla="*/ 0 h 541538"/>
                <a:gd name="connsiteX1" fmla="*/ 0 w 0"/>
                <a:gd name="connsiteY1" fmla="*/ 541538 h 541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41538">
                  <a:moveTo>
                    <a:pt x="0" y="0"/>
                  </a:moveTo>
                  <a:lnTo>
                    <a:pt x="0" y="54153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순서도: 연결자 26">
              <a:extLst>
                <a:ext uri="{FF2B5EF4-FFF2-40B4-BE49-F238E27FC236}">
                  <a16:creationId xmlns:a16="http://schemas.microsoft.com/office/drawing/2014/main" id="{036CE771-AB08-4838-ADE8-02E086D42874}"/>
                </a:ext>
              </a:extLst>
            </p:cNvPr>
            <p:cNvSpPr/>
            <p:nvPr/>
          </p:nvSpPr>
          <p:spPr>
            <a:xfrm>
              <a:off x="6007127" y="4063446"/>
              <a:ext cx="108000" cy="108000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7C76231D-780D-4E92-AA6B-DE4EA6C15EB8}"/>
                </a:ext>
              </a:extLst>
            </p:cNvPr>
            <p:cNvSpPr/>
            <p:nvPr/>
          </p:nvSpPr>
          <p:spPr>
            <a:xfrm>
              <a:off x="5091743" y="4114986"/>
              <a:ext cx="914400" cy="577049"/>
            </a:xfrm>
            <a:custGeom>
              <a:avLst/>
              <a:gdLst>
                <a:gd name="connsiteX0" fmla="*/ 0 w 914400"/>
                <a:gd name="connsiteY0" fmla="*/ 577049 h 577049"/>
                <a:gd name="connsiteX1" fmla="*/ 0 w 914400"/>
                <a:gd name="connsiteY1" fmla="*/ 0 h 577049"/>
                <a:gd name="connsiteX2" fmla="*/ 914400 w 914400"/>
                <a:gd name="connsiteY2" fmla="*/ 0 h 57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14400" h="577049">
                  <a:moveTo>
                    <a:pt x="0" y="577049"/>
                  </a:moveTo>
                  <a:lnTo>
                    <a:pt x="0" y="0"/>
                  </a:lnTo>
                  <a:lnTo>
                    <a:pt x="91440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45497A9-2CCB-4ADA-9D24-F59FE69C694C}"/>
                </a:ext>
              </a:extLst>
            </p:cNvPr>
            <p:cNvGrpSpPr/>
            <p:nvPr/>
          </p:nvGrpSpPr>
          <p:grpSpPr>
            <a:xfrm rot="16200000">
              <a:off x="4912250" y="4719330"/>
              <a:ext cx="290451" cy="135743"/>
              <a:chOff x="5947405" y="4086829"/>
              <a:chExt cx="290451" cy="135743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4515013-D99A-42D4-8C86-2E8A896BEAEE}"/>
                  </a:ext>
                </a:extLst>
              </p:cNvPr>
              <p:cNvSpPr/>
              <p:nvPr/>
            </p:nvSpPr>
            <p:spPr>
              <a:xfrm>
                <a:off x="6019405" y="4150564"/>
                <a:ext cx="218451" cy="720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9A64FAFF-1236-4E62-A382-CD54A258F082}"/>
                  </a:ext>
                </a:extLst>
              </p:cNvPr>
              <p:cNvSpPr/>
              <p:nvPr/>
            </p:nvSpPr>
            <p:spPr>
              <a:xfrm>
                <a:off x="5947405" y="4150564"/>
                <a:ext cx="72000" cy="72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D86EAABB-76ED-49B0-8C50-7D3687435D23}"/>
                  </a:ext>
                </a:extLst>
              </p:cNvPr>
              <p:cNvSpPr/>
              <p:nvPr/>
            </p:nvSpPr>
            <p:spPr>
              <a:xfrm>
                <a:off x="6165856" y="4150564"/>
                <a:ext cx="72000" cy="72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AF2A050E-465D-493D-96AE-DF4915A65951}"/>
                  </a:ext>
                </a:extLst>
              </p:cNvPr>
              <p:cNvSpPr/>
              <p:nvPr/>
            </p:nvSpPr>
            <p:spPr>
              <a:xfrm rot="19325431" flipV="1">
                <a:off x="6001976" y="4086829"/>
                <a:ext cx="155395" cy="45719"/>
              </a:xfrm>
              <a:custGeom>
                <a:avLst/>
                <a:gdLst>
                  <a:gd name="connsiteX0" fmla="*/ 0 w 190500"/>
                  <a:gd name="connsiteY0" fmla="*/ 0 h 0"/>
                  <a:gd name="connsiteX1" fmla="*/ 190500 w 1905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0500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AE14656-5260-4498-8E36-F668188879DE}"/>
                </a:ext>
              </a:extLst>
            </p:cNvPr>
            <p:cNvSpPr txBox="1"/>
            <p:nvPr/>
          </p:nvSpPr>
          <p:spPr>
            <a:xfrm>
              <a:off x="3460695" y="3693127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입력단자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D83C7C-7FE1-4B48-81EE-9EE024827A33}"/>
                </a:ext>
              </a:extLst>
            </p:cNvPr>
            <p:cNvSpPr txBox="1"/>
            <p:nvPr/>
          </p:nvSpPr>
          <p:spPr>
            <a:xfrm>
              <a:off x="5663721" y="369665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입력단자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6704114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푸시</a:t>
            </a:r>
            <a:r>
              <a:rPr lang="en-US" altLang="ko-KR" dirty="0"/>
              <a:t> </a:t>
            </a:r>
            <a:r>
              <a:rPr lang="ko-KR" altLang="en-US" dirty="0"/>
              <a:t>버튼</a:t>
            </a:r>
            <a:r>
              <a:rPr lang="en-US" altLang="ko-KR" dirty="0"/>
              <a:t> – Pullup / Pulldown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en-US" altLang="ko-KR" dirty="0"/>
              <a:t>(Pullup)/</a:t>
            </a:r>
            <a:r>
              <a:rPr lang="ko-KR" altLang="en-US" dirty="0" err="1"/>
              <a:t>풀다운</a:t>
            </a:r>
            <a:r>
              <a:rPr lang="en-US" altLang="ko-KR" dirty="0"/>
              <a:t>(Pulldown) </a:t>
            </a:r>
            <a:r>
              <a:rPr lang="ko-KR" altLang="en-US" dirty="0"/>
              <a:t>회로</a:t>
            </a:r>
            <a:endParaRPr lang="en-US" altLang="ko-KR" dirty="0"/>
          </a:p>
          <a:p>
            <a:pPr lvl="1"/>
            <a:r>
              <a:rPr lang="ko-KR" altLang="en-US" dirty="0"/>
              <a:t>기능</a:t>
            </a:r>
            <a:endParaRPr lang="en-US" altLang="ko-KR" dirty="0"/>
          </a:p>
          <a:p>
            <a:pPr lvl="2"/>
            <a:r>
              <a:rPr lang="ko-KR" altLang="en-US" dirty="0" err="1"/>
              <a:t>풀업</a:t>
            </a:r>
            <a:r>
              <a:rPr lang="en-US" altLang="ko-KR" dirty="0"/>
              <a:t>(Pullup) </a:t>
            </a:r>
            <a:r>
              <a:rPr lang="ko-KR" altLang="en-US" dirty="0"/>
              <a:t>회로 </a:t>
            </a:r>
            <a:r>
              <a:rPr lang="en-US" altLang="ko-KR" dirty="0"/>
              <a:t>: </a:t>
            </a:r>
            <a:r>
              <a:rPr lang="ko-KR" altLang="en-US" dirty="0"/>
              <a:t>버튼 클릭 안 했을 시</a:t>
            </a:r>
            <a:r>
              <a:rPr lang="en-US" altLang="ko-KR" dirty="0"/>
              <a:t>, </a:t>
            </a:r>
            <a:r>
              <a:rPr lang="ko-KR" altLang="en-US" dirty="0"/>
              <a:t>입력값</a:t>
            </a:r>
            <a:r>
              <a:rPr lang="en-US" altLang="ko-KR" dirty="0"/>
              <a:t> HIGH</a:t>
            </a:r>
            <a:r>
              <a:rPr lang="ko-KR" altLang="en-US" dirty="0"/>
              <a:t> 끌어올림</a:t>
            </a:r>
            <a:endParaRPr lang="en-US" altLang="ko-KR" dirty="0"/>
          </a:p>
          <a:p>
            <a:pPr lvl="2"/>
            <a:r>
              <a:rPr lang="ko-KR" altLang="en-US" dirty="0" err="1"/>
              <a:t>풀업</a:t>
            </a:r>
            <a:r>
              <a:rPr lang="en-US" altLang="ko-KR" dirty="0"/>
              <a:t>(Pulldown) </a:t>
            </a:r>
            <a:r>
              <a:rPr lang="ko-KR" altLang="en-US" dirty="0"/>
              <a:t>회로 </a:t>
            </a:r>
            <a:r>
              <a:rPr lang="en-US" altLang="ko-KR" dirty="0"/>
              <a:t>: </a:t>
            </a:r>
            <a:r>
              <a:rPr lang="ko-KR" altLang="en-US" dirty="0"/>
              <a:t>버튼 클릭 안 했을 시</a:t>
            </a:r>
            <a:r>
              <a:rPr lang="en-US" altLang="ko-KR" dirty="0"/>
              <a:t>, </a:t>
            </a:r>
            <a:r>
              <a:rPr lang="ko-KR" altLang="en-US" dirty="0"/>
              <a:t>입력값</a:t>
            </a:r>
            <a:r>
              <a:rPr lang="en-US" altLang="ko-KR" dirty="0"/>
              <a:t> LOW</a:t>
            </a:r>
            <a:r>
              <a:rPr lang="ko-KR" altLang="en-US" dirty="0"/>
              <a:t> 끌어내림</a:t>
            </a:r>
            <a:endParaRPr lang="en-US" altLang="ko-KR" dirty="0"/>
          </a:p>
          <a:p>
            <a:pPr lvl="1"/>
            <a:r>
              <a:rPr lang="ko-KR" altLang="en-US" dirty="0" err="1"/>
              <a:t>풀업</a:t>
            </a:r>
            <a:r>
              <a:rPr lang="en-US" altLang="ko-KR" dirty="0"/>
              <a:t>/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  <a:endParaRPr lang="en-US" altLang="ko-KR" dirty="0"/>
          </a:p>
          <a:p>
            <a:pPr lvl="2"/>
            <a:r>
              <a:rPr lang="ko-KR" altLang="en-US" dirty="0"/>
              <a:t>전류를 무시할 수 있을 정도로 큰 </a:t>
            </a:r>
            <a:r>
              <a:rPr lang="ko-KR" altLang="en-US" dirty="0" err="1"/>
              <a:t>저항값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10k</a:t>
            </a:r>
            <a:r>
              <a:rPr lang="en-US" altLang="ko-KR" dirty="0">
                <a:sym typeface="Symbol" panose="05050102010706020507" pitchFamily="18" charset="2"/>
              </a:rPr>
              <a:t>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09E9D71A-091C-44FA-4121-0F823724B8BF}"/>
              </a:ext>
            </a:extLst>
          </p:cNvPr>
          <p:cNvSpPr/>
          <p:nvPr/>
        </p:nvSpPr>
        <p:spPr>
          <a:xfrm>
            <a:off x="2372512" y="5609297"/>
            <a:ext cx="42930" cy="337228"/>
          </a:xfrm>
          <a:custGeom>
            <a:avLst/>
            <a:gdLst>
              <a:gd name="connsiteX0" fmla="*/ 0 w 0"/>
              <a:gd name="connsiteY0" fmla="*/ 0 h 541538"/>
              <a:gd name="connsiteX1" fmla="*/ 0 w 0"/>
              <a:gd name="connsiteY1" fmla="*/ 541538 h 54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541538">
                <a:moveTo>
                  <a:pt x="0" y="0"/>
                </a:moveTo>
                <a:lnTo>
                  <a:pt x="0" y="54153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C77C2970-BBC9-39B1-FA01-F27732860AC0}"/>
              </a:ext>
            </a:extLst>
          </p:cNvPr>
          <p:cNvSpPr/>
          <p:nvPr/>
        </p:nvSpPr>
        <p:spPr>
          <a:xfrm>
            <a:off x="3227985" y="4930527"/>
            <a:ext cx="101411" cy="89918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B25C0819-1947-2052-D4C8-3D24E48A5016}"/>
              </a:ext>
            </a:extLst>
          </p:cNvPr>
          <p:cNvSpPr/>
          <p:nvPr/>
        </p:nvSpPr>
        <p:spPr>
          <a:xfrm>
            <a:off x="2368451" y="4970734"/>
            <a:ext cx="858610" cy="422111"/>
          </a:xfrm>
          <a:custGeom>
            <a:avLst/>
            <a:gdLst>
              <a:gd name="connsiteX0" fmla="*/ 0 w 914400"/>
              <a:gd name="connsiteY0" fmla="*/ 577049 h 577049"/>
              <a:gd name="connsiteX1" fmla="*/ 0 w 914400"/>
              <a:gd name="connsiteY1" fmla="*/ 0 h 577049"/>
              <a:gd name="connsiteX2" fmla="*/ 914400 w 914400"/>
              <a:gd name="connsiteY2" fmla="*/ 0 h 577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577049">
                <a:moveTo>
                  <a:pt x="0" y="577049"/>
                </a:moveTo>
                <a:lnTo>
                  <a:pt x="0" y="0"/>
                </a:lnTo>
                <a:lnTo>
                  <a:pt x="91440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43C20-C5DE-9F3D-E083-D6B82044C0B7}"/>
              </a:ext>
            </a:extLst>
          </p:cNvPr>
          <p:cNvSpPr txBox="1"/>
          <p:nvPr/>
        </p:nvSpPr>
        <p:spPr>
          <a:xfrm>
            <a:off x="2854826" y="4674281"/>
            <a:ext cx="847728" cy="256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입력단자</a:t>
            </a: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1C965FE8-14EE-2BB1-05A1-6E54E37B34AE}"/>
              </a:ext>
            </a:extLst>
          </p:cNvPr>
          <p:cNvSpPr/>
          <p:nvPr/>
        </p:nvSpPr>
        <p:spPr>
          <a:xfrm>
            <a:off x="2311880" y="4038647"/>
            <a:ext cx="101411" cy="89918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E1D6F6-902D-D4ED-6FFF-9D54E51889BE}"/>
              </a:ext>
            </a:extLst>
          </p:cNvPr>
          <p:cNvSpPr txBox="1"/>
          <p:nvPr/>
        </p:nvSpPr>
        <p:spPr>
          <a:xfrm>
            <a:off x="1577837" y="3761068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+5V (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raspi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3.3V)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B5503-3221-856E-3D75-FC83C62930B3}"/>
              </a:ext>
            </a:extLst>
          </p:cNvPr>
          <p:cNvSpPr txBox="1"/>
          <p:nvPr/>
        </p:nvSpPr>
        <p:spPr>
          <a:xfrm>
            <a:off x="2336236" y="5368730"/>
            <a:ext cx="1840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Switch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HIGH</a:t>
            </a:r>
            <a:endParaRPr lang="ko-KR" altLang="en-US" sz="1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57F136A-83D2-4F5C-DE97-A83C437A328B}"/>
              </a:ext>
            </a:extLst>
          </p:cNvPr>
          <p:cNvGrpSpPr/>
          <p:nvPr/>
        </p:nvGrpSpPr>
        <p:grpSpPr>
          <a:xfrm rot="16200000">
            <a:off x="2247965" y="5461014"/>
            <a:ext cx="241821" cy="75963"/>
            <a:chOff x="5947405" y="4141673"/>
            <a:chExt cx="290451" cy="808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ABBAA71-8767-C1C2-7EC2-9FDCA89C5B9B}"/>
                </a:ext>
              </a:extLst>
            </p:cNvPr>
            <p:cNvSpPr/>
            <p:nvPr/>
          </p:nvSpPr>
          <p:spPr>
            <a:xfrm>
              <a:off x="6019405" y="4150564"/>
              <a:ext cx="218451" cy="720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628B2658-AD85-30A3-50A2-33553870E68A}"/>
                </a:ext>
              </a:extLst>
            </p:cNvPr>
            <p:cNvSpPr/>
            <p:nvPr/>
          </p:nvSpPr>
          <p:spPr>
            <a:xfrm>
              <a:off x="5947405" y="4150564"/>
              <a:ext cx="72000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CE78428-5E26-F112-0E56-6EAFB1CD1B90}"/>
                </a:ext>
              </a:extLst>
            </p:cNvPr>
            <p:cNvSpPr/>
            <p:nvPr/>
          </p:nvSpPr>
          <p:spPr>
            <a:xfrm>
              <a:off x="6165856" y="4150564"/>
              <a:ext cx="72000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F8F8FD34-BAA3-9618-03C1-7BE9C74A3856}"/>
                </a:ext>
              </a:extLst>
            </p:cNvPr>
            <p:cNvSpPr/>
            <p:nvPr/>
          </p:nvSpPr>
          <p:spPr>
            <a:xfrm rot="19846940">
              <a:off x="5981305" y="4141673"/>
              <a:ext cx="190500" cy="0"/>
            </a:xfrm>
            <a:custGeom>
              <a:avLst/>
              <a:gdLst>
                <a:gd name="connsiteX0" fmla="*/ 0 w 190500"/>
                <a:gd name="connsiteY0" fmla="*/ 0 h 0"/>
                <a:gd name="connsiteX1" fmla="*/ 190500 w 190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7D44FD2-1D32-FD5E-B8EA-BE9E488856F5}"/>
              </a:ext>
            </a:extLst>
          </p:cNvPr>
          <p:cNvCxnSpPr>
            <a:cxnSpLocks/>
          </p:cNvCxnSpPr>
          <p:nvPr/>
        </p:nvCxnSpPr>
        <p:spPr>
          <a:xfrm>
            <a:off x="2367540" y="4143565"/>
            <a:ext cx="1822" cy="8989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C945A637-C941-8BA6-E5A2-634C7585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210786" y="4435779"/>
            <a:ext cx="341684" cy="169018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E5B89B52-BF48-144B-F0B4-7B68260CA83F}"/>
              </a:ext>
            </a:extLst>
          </p:cNvPr>
          <p:cNvGrpSpPr/>
          <p:nvPr/>
        </p:nvGrpSpPr>
        <p:grpSpPr>
          <a:xfrm>
            <a:off x="2266620" y="5947879"/>
            <a:ext cx="202844" cy="83633"/>
            <a:chOff x="331908" y="6024374"/>
            <a:chExt cx="216024" cy="100452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343A4C3-120D-7060-043C-E8AB968DEF62}"/>
                </a:ext>
              </a:extLst>
            </p:cNvPr>
            <p:cNvCxnSpPr>
              <a:cxnSpLocks/>
            </p:cNvCxnSpPr>
            <p:nvPr/>
          </p:nvCxnSpPr>
          <p:spPr>
            <a:xfrm>
              <a:off x="331908" y="6024374"/>
              <a:ext cx="21602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7FE44A7-8062-8DA9-D361-9D221D3FCF92}"/>
                </a:ext>
              </a:extLst>
            </p:cNvPr>
            <p:cNvCxnSpPr>
              <a:cxnSpLocks/>
            </p:cNvCxnSpPr>
            <p:nvPr/>
          </p:nvCxnSpPr>
          <p:spPr>
            <a:xfrm>
              <a:off x="367920" y="6072276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1E51CDD-9A60-3016-4D90-30C1FF16A826}"/>
                </a:ext>
              </a:extLst>
            </p:cNvPr>
            <p:cNvCxnSpPr>
              <a:cxnSpLocks/>
            </p:cNvCxnSpPr>
            <p:nvPr/>
          </p:nvCxnSpPr>
          <p:spPr>
            <a:xfrm>
              <a:off x="403920" y="6124826"/>
              <a:ext cx="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F0D4E5C-B257-0379-239C-22CDB7E9E716}"/>
              </a:ext>
            </a:extLst>
          </p:cNvPr>
          <p:cNvSpPr txBox="1"/>
          <p:nvPr/>
        </p:nvSpPr>
        <p:spPr>
          <a:xfrm>
            <a:off x="1826928" y="4398025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10k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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0261E3-0877-4A4A-6AF2-04B27B7F4971}"/>
              </a:ext>
            </a:extLst>
          </p:cNvPr>
          <p:cNvSpPr txBox="1"/>
          <p:nvPr/>
        </p:nvSpPr>
        <p:spPr>
          <a:xfrm>
            <a:off x="2382463" y="6082620"/>
            <a:ext cx="1015021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풀업회로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C73335-F50E-9438-2CA7-4B3219414033}"/>
              </a:ext>
            </a:extLst>
          </p:cNvPr>
          <p:cNvSpPr txBox="1"/>
          <p:nvPr/>
        </p:nvSpPr>
        <p:spPr>
          <a:xfrm>
            <a:off x="5668008" y="6082590"/>
            <a:ext cx="1168910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풀다운회로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D22A53FF-085C-AB09-9C92-5D168789EE17}"/>
              </a:ext>
            </a:extLst>
          </p:cNvPr>
          <p:cNvSpPr/>
          <p:nvPr/>
        </p:nvSpPr>
        <p:spPr>
          <a:xfrm>
            <a:off x="6498353" y="4997252"/>
            <a:ext cx="108000" cy="108000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5A070B-E26A-EB94-4C0C-8FFF6937B711}"/>
              </a:ext>
            </a:extLst>
          </p:cNvPr>
          <p:cNvSpPr txBox="1"/>
          <p:nvPr/>
        </p:nvSpPr>
        <p:spPr>
          <a:xfrm>
            <a:off x="6154947" y="509686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입력단자</a:t>
            </a:r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24C01742-41E5-A5ED-6286-85D4F0F375F0}"/>
              </a:ext>
            </a:extLst>
          </p:cNvPr>
          <p:cNvSpPr/>
          <p:nvPr/>
        </p:nvSpPr>
        <p:spPr>
          <a:xfrm>
            <a:off x="5543742" y="3926017"/>
            <a:ext cx="108000" cy="108000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6DD23A-5BC5-BFD5-6C97-F3DBF1D0E8EE}"/>
              </a:ext>
            </a:extLst>
          </p:cNvPr>
          <p:cNvSpPr txBox="1"/>
          <p:nvPr/>
        </p:nvSpPr>
        <p:spPr>
          <a:xfrm>
            <a:off x="4813362" y="36791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+5V (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raspi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3.3V)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9D8A3B-884B-A1B4-9939-5EEB9C7B9FBA}"/>
              </a:ext>
            </a:extLst>
          </p:cNvPr>
          <p:cNvSpPr txBox="1"/>
          <p:nvPr/>
        </p:nvSpPr>
        <p:spPr>
          <a:xfrm>
            <a:off x="5631270" y="4343977"/>
            <a:ext cx="178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Switch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LOW</a:t>
            </a:r>
            <a:endParaRPr lang="ko-KR" altLang="en-US" sz="1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D79A3BE-0DEA-BA81-FAEB-D0678BE1DE13}"/>
              </a:ext>
            </a:extLst>
          </p:cNvPr>
          <p:cNvCxnSpPr>
            <a:cxnSpLocks/>
          </p:cNvCxnSpPr>
          <p:nvPr/>
        </p:nvCxnSpPr>
        <p:spPr>
          <a:xfrm>
            <a:off x="5602651" y="4034149"/>
            <a:ext cx="0" cy="1930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D6CC03E-7637-D435-36D3-9E9E306C26A2}"/>
              </a:ext>
            </a:extLst>
          </p:cNvPr>
          <p:cNvGrpSpPr/>
          <p:nvPr/>
        </p:nvGrpSpPr>
        <p:grpSpPr>
          <a:xfrm>
            <a:off x="5491936" y="5964479"/>
            <a:ext cx="216024" cy="100452"/>
            <a:chOff x="331908" y="6024374"/>
            <a:chExt cx="216024" cy="100452"/>
          </a:xfrm>
        </p:grpSpPr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A6B97BC0-797F-4EC8-3DE9-1755721BA74F}"/>
                </a:ext>
              </a:extLst>
            </p:cNvPr>
            <p:cNvCxnSpPr>
              <a:cxnSpLocks/>
            </p:cNvCxnSpPr>
            <p:nvPr/>
          </p:nvCxnSpPr>
          <p:spPr>
            <a:xfrm>
              <a:off x="331908" y="6024374"/>
              <a:ext cx="21602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D163B045-620F-B65B-186E-7C4BD4DDC777}"/>
                </a:ext>
              </a:extLst>
            </p:cNvPr>
            <p:cNvCxnSpPr>
              <a:cxnSpLocks/>
            </p:cNvCxnSpPr>
            <p:nvPr/>
          </p:nvCxnSpPr>
          <p:spPr>
            <a:xfrm>
              <a:off x="367920" y="6072276"/>
              <a:ext cx="1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01544A53-BC98-FF88-253D-BD502852C031}"/>
                </a:ext>
              </a:extLst>
            </p:cNvPr>
            <p:cNvCxnSpPr>
              <a:cxnSpLocks/>
            </p:cNvCxnSpPr>
            <p:nvPr/>
          </p:nvCxnSpPr>
          <p:spPr>
            <a:xfrm>
              <a:off x="403920" y="6124826"/>
              <a:ext cx="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8AAFB1C-1FBC-1529-C5DF-D69E27DEBC55}"/>
              </a:ext>
            </a:extLst>
          </p:cNvPr>
          <p:cNvCxnSpPr/>
          <p:nvPr/>
        </p:nvCxnSpPr>
        <p:spPr>
          <a:xfrm>
            <a:off x="5592018" y="5050060"/>
            <a:ext cx="9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4326E2E-89CA-903E-C460-ACC7FF4293EA}"/>
              </a:ext>
            </a:extLst>
          </p:cNvPr>
          <p:cNvGrpSpPr/>
          <p:nvPr/>
        </p:nvGrpSpPr>
        <p:grpSpPr>
          <a:xfrm rot="16200000">
            <a:off x="5454921" y="4459989"/>
            <a:ext cx="290451" cy="80899"/>
            <a:chOff x="5947405" y="4141673"/>
            <a:chExt cx="290451" cy="80899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B147331-52B4-3E4E-C854-3C72E0EAF0A7}"/>
                </a:ext>
              </a:extLst>
            </p:cNvPr>
            <p:cNvSpPr/>
            <p:nvPr/>
          </p:nvSpPr>
          <p:spPr>
            <a:xfrm>
              <a:off x="6019405" y="4150564"/>
              <a:ext cx="218451" cy="720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9842A78C-89D6-132F-D232-53B08FCC59F1}"/>
                </a:ext>
              </a:extLst>
            </p:cNvPr>
            <p:cNvSpPr/>
            <p:nvPr/>
          </p:nvSpPr>
          <p:spPr>
            <a:xfrm>
              <a:off x="5947405" y="4150564"/>
              <a:ext cx="72000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AED29A33-4D99-D144-EF61-7B35C4E3E2BC}"/>
                </a:ext>
              </a:extLst>
            </p:cNvPr>
            <p:cNvSpPr/>
            <p:nvPr/>
          </p:nvSpPr>
          <p:spPr>
            <a:xfrm>
              <a:off x="6165856" y="4150564"/>
              <a:ext cx="72000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364C2299-1E66-2251-0F69-6004A610FE22}"/>
                </a:ext>
              </a:extLst>
            </p:cNvPr>
            <p:cNvSpPr/>
            <p:nvPr/>
          </p:nvSpPr>
          <p:spPr>
            <a:xfrm rot="19846940">
              <a:off x="5981305" y="4141673"/>
              <a:ext cx="190500" cy="0"/>
            </a:xfrm>
            <a:custGeom>
              <a:avLst/>
              <a:gdLst>
                <a:gd name="connsiteX0" fmla="*/ 0 w 190500"/>
                <a:gd name="connsiteY0" fmla="*/ 0 h 0"/>
                <a:gd name="connsiteX1" fmla="*/ 190500 w 190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0" name="그림 69">
            <a:extLst>
              <a:ext uri="{FF2B5EF4-FFF2-40B4-BE49-F238E27FC236}">
                <a16:creationId xmlns:a16="http://schemas.microsoft.com/office/drawing/2014/main" id="{17B6D18E-24CF-1D22-9C52-D7F620D25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389126" y="5403435"/>
            <a:ext cx="410396" cy="1800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7C3C0B4-6E72-6248-C5E5-59534E32BE22}"/>
              </a:ext>
            </a:extLst>
          </p:cNvPr>
          <p:cNvSpPr txBox="1"/>
          <p:nvPr/>
        </p:nvSpPr>
        <p:spPr>
          <a:xfrm>
            <a:off x="4932040" y="5373216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10k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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192510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1BB58-B68E-C2F7-E485-DA666CFA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Pushbutton </a:t>
            </a:r>
            <a:r>
              <a:rPr lang="ko-KR" altLang="en-US" dirty="0"/>
              <a:t>실습회로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17D315-A305-D49E-B8B2-318187E93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그림 4" descr="도표, 텍스트, 전자 공학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7C8166-55A0-385F-B773-CB10A0FBBF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008585"/>
            <a:ext cx="6726503" cy="34953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0FCEDB-112A-374D-7EAE-6A7A93F0A680}"/>
              </a:ext>
            </a:extLst>
          </p:cNvPr>
          <p:cNvSpPr txBox="1"/>
          <p:nvPr/>
        </p:nvSpPr>
        <p:spPr>
          <a:xfrm>
            <a:off x="3533538" y="2506824"/>
            <a:ext cx="457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#17</a:t>
            </a:r>
            <a:endParaRPr lang="ko-KR" altLang="en-US" sz="1400" b="1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738831-9355-646B-11D3-B826B3025314}"/>
              </a:ext>
            </a:extLst>
          </p:cNvPr>
          <p:cNvSpPr txBox="1"/>
          <p:nvPr/>
        </p:nvSpPr>
        <p:spPr>
          <a:xfrm>
            <a:off x="3519912" y="2880304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660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#27</a:t>
            </a:r>
            <a:endParaRPr lang="ko-KR" altLang="en-US" sz="1400" b="1" dirty="0">
              <a:solidFill>
                <a:srgbClr val="FF660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D5A8A-2DDD-9279-53B1-AE46D5D5E0D6}"/>
              </a:ext>
            </a:extLst>
          </p:cNvPr>
          <p:cNvSpPr txBox="1"/>
          <p:nvPr/>
        </p:nvSpPr>
        <p:spPr>
          <a:xfrm>
            <a:off x="3517508" y="1700808"/>
            <a:ext cx="4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3V3</a:t>
            </a:r>
            <a:endParaRPr lang="ko-KR" altLang="en-US" sz="1400" b="1" dirty="0">
              <a:solidFill>
                <a:srgbClr val="C0000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DAEA5-C064-5B62-2949-086824F400C4}"/>
              </a:ext>
            </a:extLst>
          </p:cNvPr>
          <p:cNvSpPr txBox="1"/>
          <p:nvPr/>
        </p:nvSpPr>
        <p:spPr>
          <a:xfrm>
            <a:off x="3477433" y="2204864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GND</a:t>
            </a:r>
            <a:endParaRPr lang="ko-KR" altLang="en-US" sz="1400" b="1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9A44C-C3CF-679B-12B4-0122D0AD0C4E}"/>
              </a:ext>
            </a:extLst>
          </p:cNvPr>
          <p:cNvSpPr txBox="1"/>
          <p:nvPr/>
        </p:nvSpPr>
        <p:spPr>
          <a:xfrm>
            <a:off x="5054932" y="4503818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220</a:t>
            </a:r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Symbol" panose="05050102010706020507" pitchFamily="18" charset="2"/>
              </a:rPr>
              <a:t> (</a:t>
            </a:r>
            <a:r>
              <a:rPr lang="ko-KR" altLang="en-US" sz="1400" b="1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Symbol" panose="05050102010706020507" pitchFamily="18" charset="2"/>
              </a:rPr>
              <a:t>적적갈</a:t>
            </a:r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Symbol" panose="05050102010706020507" pitchFamily="18" charset="2"/>
              </a:rPr>
              <a:t>)</a:t>
            </a:r>
            <a:endParaRPr lang="ko-KR" altLang="en-US" sz="1400" b="1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0A9BE2-D473-2145-7315-541D4963D2CD}"/>
              </a:ext>
            </a:extLst>
          </p:cNvPr>
          <p:cNvSpPr txBox="1"/>
          <p:nvPr/>
        </p:nvSpPr>
        <p:spPr>
          <a:xfrm>
            <a:off x="7236296" y="3933056"/>
            <a:ext cx="16722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내부풀업저항</a:t>
            </a:r>
            <a:r>
              <a:rPr lang="ko-KR" altLang="en-US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이용</a:t>
            </a:r>
          </a:p>
        </p:txBody>
      </p:sp>
    </p:spTree>
    <p:extLst>
      <p:ext uri="{BB962C8B-B14F-4D97-AF65-F5344CB8AC3E}">
        <p14:creationId xmlns:p14="http://schemas.microsoft.com/office/powerpoint/2010/main" val="588263267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ko-KR" altLang="en-US" dirty="0" err="1"/>
              <a:t>풀업</a:t>
            </a:r>
            <a:r>
              <a:rPr lang="en-US" altLang="ko-KR" dirty="0"/>
              <a:t>/</a:t>
            </a:r>
            <a:r>
              <a:rPr lang="ko-KR" altLang="en-US" dirty="0" err="1"/>
              <a:t>풀다운</a:t>
            </a:r>
            <a:r>
              <a:rPr lang="ko-KR" altLang="en-US" dirty="0"/>
              <a:t> 지정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라즈베리파이는</a:t>
            </a:r>
            <a:r>
              <a:rPr lang="en-US" altLang="ko-KR" dirty="0"/>
              <a:t> </a:t>
            </a:r>
            <a:r>
              <a:rPr lang="ko-KR" altLang="en-US" dirty="0"/>
              <a:t>내부적으로 </a:t>
            </a:r>
            <a:r>
              <a:rPr lang="ko-KR" altLang="en-US" dirty="0" err="1"/>
              <a:t>풀업</a:t>
            </a:r>
            <a:r>
              <a:rPr lang="en-US" altLang="ko-KR" dirty="0"/>
              <a:t>/</a:t>
            </a:r>
            <a:r>
              <a:rPr lang="ko-KR" altLang="en-US" dirty="0" err="1"/>
              <a:t>풀다운</a:t>
            </a:r>
            <a:r>
              <a:rPr lang="ko-KR" altLang="en-US" dirty="0"/>
              <a:t> 지정 가능</a:t>
            </a:r>
            <a:endParaRPr lang="en-US" altLang="ko-KR" dirty="0"/>
          </a:p>
          <a:p>
            <a:pPr lvl="1"/>
            <a:r>
              <a:rPr lang="ko-KR" altLang="en-US" dirty="0"/>
              <a:t>회로에서</a:t>
            </a:r>
            <a:r>
              <a:rPr lang="en-US" altLang="ko-KR" dirty="0"/>
              <a:t> </a:t>
            </a:r>
            <a:r>
              <a:rPr lang="ko-KR" altLang="en-US" dirty="0"/>
              <a:t>저항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10k</a:t>
            </a:r>
            <a:r>
              <a:rPr lang="en-US" altLang="ko-KR" dirty="0">
                <a:sym typeface="Symbol" panose="05050102010706020507" pitchFamily="18" charset="2"/>
              </a:rPr>
              <a:t> </a:t>
            </a:r>
            <a:r>
              <a:rPr lang="ko-KR" altLang="en-US" dirty="0">
                <a:sym typeface="Symbol" panose="05050102010706020507" pitchFamily="18" charset="2"/>
              </a:rPr>
              <a:t>저항 이용</a:t>
            </a:r>
            <a:r>
              <a:rPr lang="en-US" altLang="ko-KR" dirty="0">
                <a:sym typeface="Symbol" panose="05050102010706020507" pitchFamily="18" charset="2"/>
              </a:rPr>
              <a:t>) </a:t>
            </a:r>
            <a:r>
              <a:rPr lang="ko-KR" altLang="en-US" dirty="0">
                <a:sym typeface="Symbol" panose="05050102010706020507" pitchFamily="18" charset="2"/>
              </a:rPr>
              <a:t>하나를</a:t>
            </a:r>
            <a:r>
              <a:rPr lang="en-US" altLang="ko-KR" dirty="0">
                <a:sym typeface="Symbol" panose="05050102010706020507" pitchFamily="18" charset="2"/>
              </a:rPr>
              <a:t> </a:t>
            </a:r>
            <a:r>
              <a:rPr lang="ko-KR" altLang="en-US" dirty="0">
                <a:sym typeface="Symbol" panose="05050102010706020507" pitchFamily="18" charset="2"/>
              </a:rPr>
              <a:t>줄일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실습회로</a:t>
            </a:r>
            <a:r>
              <a:rPr lang="en-US" altLang="ko-KR" dirty="0"/>
              <a:t> Pullup </a:t>
            </a:r>
            <a:r>
              <a:rPr lang="ko-KR" altLang="en-US" dirty="0"/>
              <a:t>동작 개념</a:t>
            </a:r>
            <a:endParaRPr lang="en-US" altLang="ko-KR" dirty="0"/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버튼 클릭 안 할 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</a:p>
          <a:p>
            <a:pPr marL="3240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 HIGH </a:t>
            </a:r>
            <a:r>
              <a:rPr lang="ko-KR" altLang="en-US" dirty="0">
                <a:sym typeface="Wingdings" panose="05000000000000000000" pitchFamily="2" charset="2"/>
              </a:rPr>
              <a:t>입력이 요구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PUD_UP </a:t>
            </a:r>
            <a:r>
              <a:rPr lang="ko-KR" altLang="en-US" dirty="0">
                <a:sym typeface="Wingdings" panose="05000000000000000000" pitchFamily="2" charset="2"/>
              </a:rPr>
              <a:t>지정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버튼 클릭 시</a:t>
            </a:r>
            <a:endParaRPr lang="en-US" altLang="ko-KR" dirty="0"/>
          </a:p>
          <a:p>
            <a:pPr marL="324000" lvl="1" indent="0">
              <a:buNone/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/>
              <a:t>GND</a:t>
            </a:r>
            <a:r>
              <a:rPr lang="ko-KR" altLang="en-US" dirty="0"/>
              <a:t>에 연결 </a:t>
            </a:r>
            <a:r>
              <a:rPr lang="en-US" altLang="ko-KR" dirty="0">
                <a:sym typeface="Wingdings" panose="05000000000000000000" pitchFamily="2" charset="2"/>
              </a:rPr>
              <a:t> LOW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B5781E-C277-4EC3-C9AE-7C3D909945A0}"/>
              </a:ext>
            </a:extLst>
          </p:cNvPr>
          <p:cNvSpPr/>
          <p:nvPr/>
        </p:nvSpPr>
        <p:spPr>
          <a:xfrm>
            <a:off x="646322" y="2085182"/>
            <a:ext cx="7848872" cy="77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800" b="1" dirty="0" err="1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GPIO.setup</a:t>
            </a:r>
            <a:r>
              <a:rPr lang="en-US" altLang="ko-KR" sz="1800" b="1" dirty="0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(channel, GPIO.IN, </a:t>
            </a:r>
            <a:r>
              <a:rPr lang="en-US" altLang="ko-KR" sz="1800" b="1" dirty="0" err="1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pull_up_down</a:t>
            </a:r>
            <a:r>
              <a:rPr lang="en-US" altLang="ko-KR" sz="1800" b="1" dirty="0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=GPIO.PUD_UP)</a:t>
            </a:r>
          </a:p>
          <a:p>
            <a:pPr>
              <a:lnSpc>
                <a:spcPct val="120000"/>
              </a:lnSpc>
            </a:pPr>
            <a:r>
              <a:rPr lang="en-US" altLang="ko-KR" sz="1800" b="1" dirty="0" err="1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GPIO.setup</a:t>
            </a:r>
            <a:r>
              <a:rPr lang="en-US" altLang="ko-KR" sz="1800" b="1" dirty="0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(channel, GPIO.IN, </a:t>
            </a:r>
            <a:r>
              <a:rPr lang="en-US" altLang="ko-KR" sz="1800" b="1" dirty="0" err="1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pull_up_down</a:t>
            </a:r>
            <a:r>
              <a:rPr lang="en-US" altLang="ko-KR" sz="1800" b="1" dirty="0">
                <a:solidFill>
                  <a:schemeClr val="tx1"/>
                </a:solidFill>
                <a:latin typeface="Lucida Console" panose="020B0609040504020204" pitchFamily="49" charset="0"/>
                <a:ea typeface="맑은 고딕" panose="020B0503020000020004" pitchFamily="50" charset="-127"/>
              </a:rPr>
              <a:t>=GPIO.PUD_DOWN)</a:t>
            </a:r>
            <a:endParaRPr lang="ko-KR" altLang="en-US" sz="1800" b="1" dirty="0">
              <a:solidFill>
                <a:schemeClr val="tx1"/>
              </a:solidFill>
              <a:latin typeface="Lucida Console" panose="020B0609040504020204" pitchFamily="49" charset="0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5D031A-3E91-B7FF-B18D-C05DDC22F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341" y="4248764"/>
            <a:ext cx="942857" cy="182857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182D7D-48B6-826B-E1FF-E8B7A080E50E}"/>
              </a:ext>
            </a:extLst>
          </p:cNvPr>
          <p:cNvSpPr txBox="1"/>
          <p:nvPr/>
        </p:nvSpPr>
        <p:spPr>
          <a:xfrm>
            <a:off x="6306052" y="3576993"/>
            <a:ext cx="1097599" cy="584775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Unpressed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내부풀업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FB50A-18DA-7483-03EC-B884E00611F1}"/>
              </a:ext>
            </a:extLst>
          </p:cNvPr>
          <p:cNvSpPr txBox="1"/>
          <p:nvPr/>
        </p:nvSpPr>
        <p:spPr>
          <a:xfrm>
            <a:off x="7754366" y="3898864"/>
            <a:ext cx="585664" cy="338554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7514FD6-D3A7-DC6F-C925-9E2E185C4E8D}"/>
              </a:ext>
            </a:extLst>
          </p:cNvPr>
          <p:cNvCxnSpPr>
            <a:cxnSpLocks/>
          </p:cNvCxnSpPr>
          <p:nvPr/>
        </p:nvCxnSpPr>
        <p:spPr>
          <a:xfrm flipH="1" flipV="1">
            <a:off x="7477343" y="3944771"/>
            <a:ext cx="6639" cy="6425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A390EF26-3508-5527-B089-F111ECBAD529}"/>
              </a:ext>
            </a:extLst>
          </p:cNvPr>
          <p:cNvSpPr/>
          <p:nvPr/>
        </p:nvSpPr>
        <p:spPr>
          <a:xfrm>
            <a:off x="7269018" y="4110182"/>
            <a:ext cx="415637" cy="2068945"/>
          </a:xfrm>
          <a:custGeom>
            <a:avLst/>
            <a:gdLst>
              <a:gd name="connsiteX0" fmla="*/ 415637 w 415637"/>
              <a:gd name="connsiteY0" fmla="*/ 0 h 2068945"/>
              <a:gd name="connsiteX1" fmla="*/ 415637 w 415637"/>
              <a:gd name="connsiteY1" fmla="*/ 942109 h 2068945"/>
              <a:gd name="connsiteX2" fmla="*/ 0 w 415637"/>
              <a:gd name="connsiteY2" fmla="*/ 942109 h 2068945"/>
              <a:gd name="connsiteX3" fmla="*/ 0 w 415637"/>
              <a:gd name="connsiteY3" fmla="*/ 2068945 h 2068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637" h="2068945">
                <a:moveTo>
                  <a:pt x="415637" y="0"/>
                </a:moveTo>
                <a:lnTo>
                  <a:pt x="415637" y="942109"/>
                </a:lnTo>
                <a:lnTo>
                  <a:pt x="0" y="942109"/>
                </a:lnTo>
                <a:lnTo>
                  <a:pt x="0" y="2068945"/>
                </a:ln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06A4F9-7F5C-7A18-719D-C53AE0363CB5}"/>
              </a:ext>
            </a:extLst>
          </p:cNvPr>
          <p:cNvSpPr txBox="1"/>
          <p:nvPr/>
        </p:nvSpPr>
        <p:spPr>
          <a:xfrm>
            <a:off x="7754366" y="4725144"/>
            <a:ext cx="820280" cy="338554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Pressed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88123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0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Pushbutton</a:t>
            </a:r>
            <a:r>
              <a:rPr lang="ko-KR" altLang="en-US" dirty="0"/>
              <a:t>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4. pullup Pushbutton</a:t>
            </a:r>
            <a:r>
              <a:rPr lang="ko-KR" altLang="en-US" dirty="0"/>
              <a:t>과 </a:t>
            </a:r>
            <a:r>
              <a:rPr lang="en-US" altLang="ko-KR" dirty="0"/>
              <a:t>LED</a:t>
            </a:r>
            <a:r>
              <a:rPr lang="ko-KR" altLang="en-US" dirty="0"/>
              <a:t>의 연동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1AF6BF-1751-C3A5-E319-6238C30BD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219"/>
          <a:stretch>
            <a:fillRect/>
          </a:stretch>
        </p:blipFill>
        <p:spPr>
          <a:xfrm>
            <a:off x="6516216" y="4305191"/>
            <a:ext cx="1837475" cy="19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95AE84-19EA-431B-A0F6-553D9B481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5" y="2889683"/>
            <a:ext cx="1837475" cy="133140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C2C8BB-8408-DF73-0637-F59DD7ABF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14" y="1440667"/>
            <a:ext cx="1837475" cy="13899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3E4A1C-0F05-B799-F3E2-DD35367F3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1700808"/>
            <a:ext cx="4866667" cy="45238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951170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29C9A-E31F-B403-C307-E586A51C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C8825-36DB-0DED-7036-A3D18AE6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gpiozero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E2710-9BB1-0628-39A0-43E0524E3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Rpi.GPIO</a:t>
            </a:r>
            <a:endParaRPr lang="en-US" altLang="ko-KR" dirty="0"/>
          </a:p>
          <a:p>
            <a:pPr lvl="1"/>
            <a:r>
              <a:rPr lang="ko-KR" altLang="en-US" dirty="0"/>
              <a:t>조금 </a:t>
            </a:r>
            <a:r>
              <a:rPr lang="ko-KR" altLang="en-US" dirty="0" err="1"/>
              <a:t>저수준</a:t>
            </a:r>
            <a:r>
              <a:rPr lang="en-US" altLang="ko-KR" dirty="0"/>
              <a:t>(Low-level)</a:t>
            </a:r>
            <a:r>
              <a:rPr lang="ko-KR" altLang="en-US" dirty="0"/>
              <a:t>이라 코드가 복잡</a:t>
            </a:r>
            <a:endParaRPr lang="en-US" altLang="ko-KR" dirty="0"/>
          </a:p>
          <a:p>
            <a:r>
              <a:rPr lang="en-US" altLang="ko-KR" dirty="0" err="1"/>
              <a:t>gpiozero</a:t>
            </a:r>
            <a:endParaRPr lang="en-US" altLang="ko-KR" dirty="0"/>
          </a:p>
          <a:p>
            <a:pPr lvl="1"/>
            <a:r>
              <a:rPr lang="en-US" altLang="ko-KR" dirty="0" err="1"/>
              <a:t>Rpi.GPIO</a:t>
            </a:r>
            <a:r>
              <a:rPr lang="ko-KR" altLang="en-US" dirty="0"/>
              <a:t>를 쉽게 다룰 수 있도록 만든 고수준</a:t>
            </a:r>
            <a:r>
              <a:rPr lang="en-US" altLang="ko-KR" dirty="0"/>
              <a:t>(High-level)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lvl="1"/>
            <a:r>
              <a:rPr lang="ko-KR" altLang="en-US" dirty="0" err="1"/>
              <a:t>라즈베리파이</a:t>
            </a:r>
            <a:r>
              <a:rPr lang="en-US" altLang="ko-KR" dirty="0"/>
              <a:t> </a:t>
            </a:r>
            <a:r>
              <a:rPr lang="ko-KR" altLang="en-US" dirty="0"/>
              <a:t>공식 파이썬 라이브러리의 하나</a:t>
            </a:r>
            <a:endParaRPr lang="en-US" altLang="ko-KR" dirty="0"/>
          </a:p>
          <a:p>
            <a:pPr lvl="1"/>
            <a:r>
              <a:rPr lang="en-US" altLang="ko-KR" dirty="0"/>
              <a:t>GPIO </a:t>
            </a:r>
            <a:r>
              <a:rPr lang="ko-KR" altLang="en-US" dirty="0"/>
              <a:t>핀에 연결된 장치</a:t>
            </a:r>
            <a:r>
              <a:rPr lang="en-US" altLang="ko-KR" dirty="0"/>
              <a:t>(LED, pushbutton, motor, sensor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클래스 이용 객체로 다룸</a:t>
            </a:r>
            <a:endParaRPr lang="en-US" altLang="ko-KR" dirty="0"/>
          </a:p>
          <a:p>
            <a:pPr lvl="1"/>
            <a:r>
              <a:rPr lang="ko-KR" altLang="en-US" dirty="0"/>
              <a:t>특징</a:t>
            </a:r>
            <a:endParaRPr lang="en-US" altLang="ko-KR" dirty="0"/>
          </a:p>
          <a:p>
            <a:pPr lvl="2"/>
            <a:r>
              <a:rPr lang="ko-KR" altLang="en-US" dirty="0"/>
              <a:t>간단한 문법</a:t>
            </a:r>
            <a:endParaRPr lang="en-US" altLang="ko-KR" dirty="0"/>
          </a:p>
          <a:p>
            <a:pPr lvl="2"/>
            <a:r>
              <a:rPr lang="ko-KR" altLang="en-US" dirty="0"/>
              <a:t>이벤트 기반 동작</a:t>
            </a:r>
            <a:endParaRPr lang="en-US" altLang="ko-KR" dirty="0"/>
          </a:p>
          <a:p>
            <a:pPr lvl="2"/>
            <a:r>
              <a:rPr lang="ko-KR" altLang="en-US" dirty="0"/>
              <a:t>다양한 디바이스 지원</a:t>
            </a:r>
            <a:endParaRPr lang="en-US" altLang="ko-KR" dirty="0"/>
          </a:p>
          <a:p>
            <a:pPr lvl="1"/>
            <a:r>
              <a:rPr lang="ko-KR" altLang="en-US" dirty="0"/>
              <a:t>설치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기본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설치되어 있음</a:t>
            </a:r>
            <a:endParaRPr lang="en-US" altLang="ko-KR" dirty="0"/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apt-get install python3-gpiozero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56D7AA-466E-F2ED-ED23-B869BDE685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1763484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EE8DF-4947-4935-C584-10C63252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AB288-BD31-FC94-DB36-19D7729F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Pushbutton</a:t>
            </a:r>
            <a:r>
              <a:rPr lang="ko-KR" altLang="en-US" dirty="0"/>
              <a:t>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BCEE0-5755-6235-68FB-F9BE22933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4-1. </a:t>
            </a:r>
            <a:r>
              <a:rPr lang="en-US" altLang="ko-KR" dirty="0" err="1"/>
              <a:t>gpiozero</a:t>
            </a:r>
            <a:r>
              <a:rPr lang="ko-KR" altLang="en-US" dirty="0"/>
              <a:t>를 이용한 입력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이벤트 등록 방식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CA551-AA40-17B6-B41B-2C21EA3EA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18C6E-457F-A249-6E39-05EA29ABBBEE}"/>
              </a:ext>
            </a:extLst>
          </p:cNvPr>
          <p:cNvSpPr txBox="1"/>
          <p:nvPr/>
        </p:nvSpPr>
        <p:spPr>
          <a:xfrm>
            <a:off x="6143000" y="5723036"/>
            <a:ext cx="2658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&lt;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실행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결과는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예제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4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와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동일함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&gt;</a:t>
            </a:r>
            <a:endParaRPr lang="ko-KR" altLang="en-US" sz="1400" b="1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18F3D8-75B1-CD68-082E-93F7ED68B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28800"/>
            <a:ext cx="5473894" cy="38884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5861756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F3D98-0093-CF1C-65B4-DBFA5E8B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EC812-3C4A-7380-B2EB-6881BF99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Pushbutton</a:t>
            </a:r>
            <a:r>
              <a:rPr lang="ko-KR" altLang="en-US" dirty="0"/>
              <a:t>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F2EF1-B386-F751-B2CD-BD452607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4-2. </a:t>
            </a:r>
            <a:r>
              <a:rPr lang="en-US" altLang="ko-KR" dirty="0" err="1"/>
              <a:t>gpiozero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</a:t>
            </a:r>
            <a:r>
              <a:rPr lang="en-US" altLang="ko-KR" dirty="0"/>
              <a:t> </a:t>
            </a:r>
            <a:r>
              <a:rPr lang="ko-KR" altLang="en-US" dirty="0"/>
              <a:t>입력처리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버튼 상태 확인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02868-E5CF-D5F3-D25D-53BD34168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FF194-4F45-3201-680F-DC833D948445}"/>
              </a:ext>
            </a:extLst>
          </p:cNvPr>
          <p:cNvSpPr txBox="1"/>
          <p:nvPr/>
        </p:nvSpPr>
        <p:spPr>
          <a:xfrm>
            <a:off x="6143000" y="5723036"/>
            <a:ext cx="2658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&lt;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실행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결과는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예제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4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와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동일함</a:t>
            </a:r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&gt;</a:t>
            </a:r>
            <a:endParaRPr lang="ko-KR" altLang="en-US" sz="1400" b="1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DBFC48-334C-7649-E5E4-4DFDEB1E2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56792"/>
            <a:ext cx="5359453" cy="42484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9321458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B2FEE-B498-9BF0-F1C6-6CE8401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 </a:t>
            </a:r>
            <a:r>
              <a:rPr lang="en-US" altLang="ko-KR" dirty="0"/>
              <a:t>(Toggle Switch)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76E1B-C712-E155-EE66-F66B7F082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</a:t>
            </a:r>
            <a:endParaRPr lang="en-US" altLang="ko-KR" dirty="0"/>
          </a:p>
          <a:p>
            <a:pPr lvl="1"/>
            <a:r>
              <a:rPr lang="ko-KR" altLang="en-US" dirty="0"/>
              <a:t>버튼을 클릭할 때마다 </a:t>
            </a:r>
            <a:r>
              <a:rPr lang="ko-KR" altLang="en-US" dirty="0" err="1"/>
              <a:t>상태값이</a:t>
            </a:r>
            <a:r>
              <a:rPr lang="ko-KR" altLang="en-US" dirty="0"/>
              <a:t> 전환되는 스위치</a:t>
            </a:r>
            <a:endParaRPr lang="en-US" altLang="ko-KR" dirty="0"/>
          </a:p>
          <a:p>
            <a:pPr lvl="1"/>
            <a:r>
              <a:rPr lang="ko-KR" altLang="en-US" dirty="0" err="1"/>
              <a:t>토글버튼은</a:t>
            </a:r>
            <a:r>
              <a:rPr lang="ko-KR" altLang="en-US" dirty="0"/>
              <a:t> 실제 다양한 응용에서 사용되고 있음</a:t>
            </a:r>
            <a:endParaRPr lang="en-US" altLang="ko-KR" dirty="0"/>
          </a:p>
          <a:p>
            <a:pPr lvl="1"/>
            <a:r>
              <a:rPr lang="ko-KR" altLang="en-US" dirty="0" err="1"/>
              <a:t>토글</a:t>
            </a:r>
            <a:r>
              <a:rPr lang="ko-KR" altLang="en-US" dirty="0"/>
              <a:t> 스위치는</a:t>
            </a:r>
            <a:r>
              <a:rPr lang="en-US" altLang="ko-KR" dirty="0"/>
              <a:t> </a:t>
            </a:r>
            <a:r>
              <a:rPr lang="ko-KR" altLang="en-US" dirty="0" err="1"/>
              <a:t>상태값이</a:t>
            </a:r>
            <a:r>
              <a:rPr lang="ko-KR" altLang="en-US" dirty="0"/>
              <a:t> 여러 개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상태 </a:t>
            </a:r>
            <a:r>
              <a:rPr lang="en-US" altLang="ko-KR" dirty="0"/>
              <a:t>: 0 </a:t>
            </a:r>
            <a:r>
              <a:rPr lang="en-US" altLang="ko-KR" dirty="0">
                <a:sym typeface="Wingdings" panose="05000000000000000000" pitchFamily="2" charset="2"/>
              </a:rPr>
              <a:t> 1  0  1  …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상태 </a:t>
            </a:r>
            <a:r>
              <a:rPr lang="en-US" altLang="ko-KR" dirty="0">
                <a:sym typeface="Wingdings" panose="05000000000000000000" pitchFamily="2" charset="2"/>
              </a:rPr>
              <a:t>: 0%  50%  100%  0%  50%  100%  …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4</a:t>
            </a:r>
            <a:r>
              <a:rPr lang="ko-KR" altLang="en-US" dirty="0">
                <a:sym typeface="Wingdings" panose="05000000000000000000" pitchFamily="2" charset="2"/>
              </a:rPr>
              <a:t>상태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정지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미풍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약풍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강풍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정지 </a:t>
            </a:r>
            <a:r>
              <a:rPr lang="en-US" altLang="ko-KR" dirty="0">
                <a:sym typeface="Wingdings" panose="05000000000000000000" pitchFamily="2" charset="2"/>
              </a:rPr>
              <a:t> …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현실에서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볼 수 있는 </a:t>
            </a:r>
            <a:r>
              <a:rPr lang="ko-KR" altLang="en-US" dirty="0" err="1">
                <a:sym typeface="Wingdings" panose="05000000000000000000" pitchFamily="2" charset="2"/>
              </a:rPr>
              <a:t>토글</a:t>
            </a:r>
            <a:r>
              <a:rPr lang="ko-KR" altLang="en-US" dirty="0">
                <a:sym typeface="Wingdings" panose="05000000000000000000" pitchFamily="2" charset="2"/>
              </a:rPr>
              <a:t> 스위치의 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키보드의 </a:t>
            </a:r>
            <a:r>
              <a:rPr lang="en-US" altLang="ko-KR" dirty="0">
                <a:sym typeface="Wingdings" panose="05000000000000000000" pitchFamily="2" charset="2"/>
              </a:rPr>
              <a:t>“Caps Lock”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“</a:t>
            </a:r>
            <a:r>
              <a:rPr lang="en-US" altLang="ko-KR" dirty="0" err="1">
                <a:sym typeface="Wingdings" panose="05000000000000000000" pitchFamily="2" charset="2"/>
              </a:rPr>
              <a:t>Radiobutton</a:t>
            </a:r>
            <a:r>
              <a:rPr lang="en-US" altLang="ko-KR" dirty="0">
                <a:sym typeface="Wingdings" panose="05000000000000000000" pitchFamily="2" charset="2"/>
              </a:rPr>
              <a:t>” </a:t>
            </a:r>
            <a:r>
              <a:rPr lang="ko-KR" altLang="en-US" dirty="0">
                <a:sym typeface="Wingdings" panose="05000000000000000000" pitchFamily="2" charset="2"/>
              </a:rPr>
              <a:t>컨트롤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선풍기의 </a:t>
            </a:r>
            <a:r>
              <a:rPr lang="ko-KR" altLang="en-US" dirty="0" err="1">
                <a:sym typeface="Wingdings" panose="05000000000000000000" pitchFamily="2" charset="2"/>
              </a:rPr>
              <a:t>풍량</a:t>
            </a:r>
            <a:r>
              <a:rPr lang="ko-KR" altLang="en-US" dirty="0">
                <a:sym typeface="Wingdings" panose="05000000000000000000" pitchFamily="2" charset="2"/>
              </a:rPr>
              <a:t> 조절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7E929-9609-9CA4-D44E-B9C3A55B6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0071742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B2FEE-B498-9BF0-F1C6-6CE8401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 </a:t>
            </a:r>
            <a:r>
              <a:rPr lang="en-US" altLang="ko-KR" dirty="0"/>
              <a:t>(Toggle Switch)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76E1B-C712-E155-EE66-F66B7F082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>
                <a:sym typeface="Wingdings" panose="05000000000000000000" pitchFamily="2" charset="2"/>
              </a:rPr>
              <a:t>토글</a:t>
            </a:r>
            <a:r>
              <a:rPr lang="ko-KR" altLang="en-US" dirty="0">
                <a:sym typeface="Wingdings" panose="05000000000000000000" pitchFamily="2" charset="2"/>
              </a:rPr>
              <a:t> 스위치 동작 원리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Pullup</a:t>
            </a:r>
            <a:r>
              <a:rPr lang="ko-KR" altLang="en-US" dirty="0">
                <a:sym typeface="Wingdings" panose="05000000000000000000" pitchFamily="2" charset="2"/>
              </a:rPr>
              <a:t> 회로에서는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버튼의 입력이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r>
              <a:rPr lang="ko-KR" altLang="en-US" dirty="0">
                <a:sym typeface="Wingdings" panose="05000000000000000000" pitchFamily="2" charset="2"/>
              </a:rPr>
              <a:t>으로 변경되는 순간 스위치 동작이 일어나면 됨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7E929-9609-9CA4-D44E-B9C3A55B6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A9C738-9C49-CB59-490D-4051E40BC026}"/>
              </a:ext>
            </a:extLst>
          </p:cNvPr>
          <p:cNvSpPr/>
          <p:nvPr/>
        </p:nvSpPr>
        <p:spPr>
          <a:xfrm>
            <a:off x="1331640" y="4206529"/>
            <a:ext cx="6192688" cy="5321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0000000011111111000000001111111100000111111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070212-F5AA-A472-B03F-06F77B370B46}"/>
              </a:ext>
            </a:extLst>
          </p:cNvPr>
          <p:cNvCxnSpPr/>
          <p:nvPr/>
        </p:nvCxnSpPr>
        <p:spPr>
          <a:xfrm>
            <a:off x="2555776" y="463114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5C9A9E2-0DD0-E30E-01CC-382327AB944A}"/>
              </a:ext>
            </a:extLst>
          </p:cNvPr>
          <p:cNvCxnSpPr/>
          <p:nvPr/>
        </p:nvCxnSpPr>
        <p:spPr>
          <a:xfrm>
            <a:off x="3657412" y="4633237"/>
            <a:ext cx="108012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43078E-52FD-18BF-576C-4C9A40F04E02}"/>
              </a:ext>
            </a:extLst>
          </p:cNvPr>
          <p:cNvSpPr txBox="1"/>
          <p:nvPr/>
        </p:nvSpPr>
        <p:spPr>
          <a:xfrm>
            <a:off x="2558669" y="4962654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언클릭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6C3E0-79B3-0954-9A00-09F878664000}"/>
              </a:ext>
            </a:extLst>
          </p:cNvPr>
          <p:cNvSpPr txBox="1"/>
          <p:nvPr/>
        </p:nvSpPr>
        <p:spPr>
          <a:xfrm>
            <a:off x="3889214" y="4962654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61FADC-D299-FFEF-B4CB-3C1824DC894B}"/>
              </a:ext>
            </a:extLst>
          </p:cNvPr>
          <p:cNvSpPr txBox="1"/>
          <p:nvPr/>
        </p:nvSpPr>
        <p:spPr>
          <a:xfrm>
            <a:off x="2477944" y="2714536"/>
            <a:ext cx="3756157" cy="5847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풀다운회로에서 </a:t>
            </a:r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토글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스위치 동작 시점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이전버튼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현재버튼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0)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6A49957-0906-3BC4-2C30-0E3B8CCBD3FA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33002" y="3299311"/>
            <a:ext cx="723021" cy="103383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2401948-6612-907A-ADCA-5C0D80266E5A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356023" y="3299311"/>
            <a:ext cx="1512121" cy="108737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8345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 </a:t>
            </a:r>
            <a:r>
              <a:rPr lang="en-US" altLang="ko-KR" dirty="0"/>
              <a:t>(Toggle Switch)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5. </a:t>
            </a:r>
            <a:r>
              <a:rPr lang="ko-KR" altLang="en-US" dirty="0"/>
              <a:t>전형적인 </a:t>
            </a:r>
            <a:r>
              <a:rPr lang="ko-KR" altLang="en-US" dirty="0" err="1"/>
              <a:t>토글</a:t>
            </a:r>
            <a:r>
              <a:rPr lang="ko-KR" altLang="en-US" dirty="0"/>
              <a:t> 스위치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4CCF83E-22DF-E52A-6789-46A480DC4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31" y="3684652"/>
            <a:ext cx="2774281" cy="20986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70E340-03D3-062E-D9DF-3B3F7DFC2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931" y="1484784"/>
            <a:ext cx="2774281" cy="19803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C3D82C-C4B1-87C8-1737-A238D8EAA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61" y="1474625"/>
            <a:ext cx="5678829" cy="50261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34457255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B2FEE-B498-9BF0-F1C6-6CE8401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상승 에지 </a:t>
            </a:r>
            <a:r>
              <a:rPr lang="en-US" altLang="ko-KR" dirty="0"/>
              <a:t>/ </a:t>
            </a:r>
            <a:r>
              <a:rPr lang="ko-KR" altLang="en-US" dirty="0"/>
              <a:t>하강 에지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7E929-9609-9CA4-D44E-B9C3A55B6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44EFE2-76B5-45C3-1B1D-A611AC15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에지 </a:t>
            </a:r>
            <a:r>
              <a:rPr lang="en-US" altLang="ko-KR" dirty="0"/>
              <a:t>: </a:t>
            </a:r>
            <a:r>
              <a:rPr lang="ko-KR" altLang="en-US" dirty="0"/>
              <a:t>입력 값이 변하는 순간</a:t>
            </a:r>
            <a:endParaRPr lang="en-US" altLang="ko-KR" dirty="0"/>
          </a:p>
          <a:p>
            <a:pPr lvl="1"/>
            <a:r>
              <a:rPr lang="ko-KR" altLang="en-US" dirty="0"/>
              <a:t>상승 에지</a:t>
            </a:r>
            <a:r>
              <a:rPr lang="en-US" altLang="ko-KR" dirty="0"/>
              <a:t>(rising edge)</a:t>
            </a:r>
            <a:r>
              <a:rPr lang="ko-KR" altLang="en-US" dirty="0"/>
              <a:t> </a:t>
            </a:r>
            <a:r>
              <a:rPr lang="en-US" altLang="ko-KR" dirty="0"/>
              <a:t>: 0 </a:t>
            </a:r>
            <a:r>
              <a:rPr lang="en-US" altLang="ko-KR" dirty="0">
                <a:sym typeface="Wingdings" panose="05000000000000000000" pitchFamily="2" charset="2"/>
              </a:rPr>
              <a:t> 1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이전버튼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0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현재버튼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1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하강 에지</a:t>
            </a:r>
            <a:r>
              <a:rPr lang="en-US" altLang="ko-KR" dirty="0">
                <a:sym typeface="Wingdings" panose="05000000000000000000" pitchFamily="2" charset="2"/>
              </a:rPr>
              <a:t>(falling edge)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 1  0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이전버튼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1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현재버튼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0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8D53A0-1AEC-C97F-3A02-5DABC427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809" y="2564904"/>
            <a:ext cx="4952381" cy="3523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0289A6-EBF5-363E-A891-6FDB63F76CDD}"/>
              </a:ext>
            </a:extLst>
          </p:cNvPr>
          <p:cNvSpPr txBox="1"/>
          <p:nvPr/>
        </p:nvSpPr>
        <p:spPr>
          <a:xfrm>
            <a:off x="3434400" y="6207474"/>
            <a:ext cx="2297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&lt;Pullup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회로의 동작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2410328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 </a:t>
            </a:r>
            <a:r>
              <a:rPr lang="en-US" altLang="ko-KR" dirty="0"/>
              <a:t>(Toggle Switch)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6. </a:t>
            </a:r>
            <a:r>
              <a:rPr lang="ko-KR" altLang="en-US" dirty="0"/>
              <a:t>하강 </a:t>
            </a:r>
            <a:r>
              <a:rPr lang="ko-KR" altLang="en-US" dirty="0" err="1"/>
              <a:t>에지를</a:t>
            </a:r>
            <a:r>
              <a:rPr lang="ko-KR" altLang="en-US" dirty="0"/>
              <a:t> 이용한 </a:t>
            </a:r>
            <a:r>
              <a:rPr lang="ko-KR" altLang="en-US" dirty="0" err="1"/>
              <a:t>토글</a:t>
            </a:r>
            <a:r>
              <a:rPr lang="ko-KR" altLang="en-US" dirty="0"/>
              <a:t> 스위치</a:t>
            </a:r>
            <a:r>
              <a:rPr lang="en-US" altLang="ko-KR" dirty="0">
                <a:sym typeface="Wingdings" panose="05000000000000000000" pitchFamily="2" charset="2"/>
              </a:rPr>
              <a:t> PUD_UP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D2322-873D-920E-0924-3CD8123B8125}"/>
              </a:ext>
            </a:extLst>
          </p:cNvPr>
          <p:cNvSpPr txBox="1"/>
          <p:nvPr/>
        </p:nvSpPr>
        <p:spPr>
          <a:xfrm>
            <a:off x="6122816" y="6122587"/>
            <a:ext cx="2502608" cy="3385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실행결과는 실습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동일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E84645-7306-98B3-7036-E9B14A7A7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438895"/>
            <a:ext cx="4322839" cy="50222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967113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인터럽트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인터럽트</a:t>
            </a:r>
            <a:r>
              <a:rPr lang="en-US" altLang="ko-KR" dirty="0"/>
              <a:t>(interrupt)</a:t>
            </a:r>
          </a:p>
          <a:p>
            <a:pPr lvl="1"/>
            <a:r>
              <a:rPr lang="ko-KR" altLang="ko-KR" dirty="0"/>
              <a:t>프로그램 실행</a:t>
            </a:r>
            <a:r>
              <a:rPr lang="en-US" altLang="ko-KR" dirty="0"/>
              <a:t> </a:t>
            </a:r>
            <a:r>
              <a:rPr lang="ko-KR" altLang="en-US" dirty="0"/>
              <a:t>중</a:t>
            </a:r>
            <a:r>
              <a:rPr lang="en-US" altLang="ko-KR" dirty="0"/>
              <a:t> </a:t>
            </a:r>
            <a:r>
              <a:rPr lang="ko-KR" altLang="ko-KR" dirty="0"/>
              <a:t>하드웨어나 예외상황</a:t>
            </a:r>
            <a:r>
              <a:rPr lang="ko-KR" altLang="en-US" dirty="0"/>
              <a:t>이</a:t>
            </a:r>
            <a:r>
              <a:rPr lang="ko-KR" altLang="ko-KR" dirty="0"/>
              <a:t> 발생</a:t>
            </a:r>
            <a:r>
              <a:rPr lang="ko-KR" altLang="en-US" dirty="0"/>
              <a:t>하였을 때</a:t>
            </a:r>
            <a:r>
              <a:rPr lang="en-US" altLang="ko-KR" dirty="0"/>
              <a:t>, MCU </a:t>
            </a:r>
            <a:r>
              <a:rPr lang="ko-KR" altLang="en-US" dirty="0"/>
              <a:t>또는 단일보드 컴퓨터</a:t>
            </a:r>
            <a:r>
              <a:rPr lang="ko-KR" altLang="ko-KR" dirty="0"/>
              <a:t>에게 알려 프로그램의 실행을 정지하고 변화에 대응하는 다른 프로그램을 처리할 수 있도록 하는 것</a:t>
            </a:r>
            <a:endParaRPr lang="en-US" altLang="ko-KR" dirty="0"/>
          </a:p>
          <a:p>
            <a:pPr lvl="1"/>
            <a:r>
              <a:rPr lang="ko-KR" altLang="en-US" dirty="0"/>
              <a:t>인터럽트로 지정된 핀의 입력이 조건에 충족될 때</a:t>
            </a:r>
            <a:r>
              <a:rPr lang="en-US" altLang="ko-KR" dirty="0"/>
              <a:t>, </a:t>
            </a:r>
            <a:r>
              <a:rPr lang="en-US" altLang="ko-KR" dirty="0" err="1"/>
              <a:t>CallBack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r>
              <a:rPr lang="en-US" altLang="ko-KR" dirty="0"/>
              <a:t>(ISR; Interrupt Service Routines)</a:t>
            </a:r>
            <a:r>
              <a:rPr lang="ko-KR" altLang="en-US" dirty="0"/>
              <a:t>을 수행</a:t>
            </a:r>
            <a:endParaRPr lang="en-US" altLang="ko-KR" dirty="0"/>
          </a:p>
          <a:p>
            <a:pPr lvl="1"/>
            <a:r>
              <a:rPr lang="ko-KR" altLang="ko-KR" dirty="0"/>
              <a:t>일의 경중에 따라 중요도</a:t>
            </a:r>
            <a:r>
              <a:rPr lang="en-US" altLang="ko-KR" dirty="0"/>
              <a:t>(Priority)</a:t>
            </a:r>
            <a:r>
              <a:rPr lang="ko-KR" altLang="en-US" dirty="0"/>
              <a:t>에 의거</a:t>
            </a:r>
            <a:r>
              <a:rPr lang="en-US" altLang="ko-KR" dirty="0"/>
              <a:t>, </a:t>
            </a:r>
            <a:r>
              <a:rPr lang="ko-KR" altLang="ko-KR" dirty="0"/>
              <a:t>지금 하는 일보다 중요도가 낮은 일은 처리가 안될 수도 있</a:t>
            </a:r>
            <a:r>
              <a:rPr lang="ko-KR" altLang="en-US" dirty="0"/>
              <a:t>음</a:t>
            </a:r>
            <a:endParaRPr lang="en-US" altLang="ko-KR" dirty="0"/>
          </a:p>
          <a:p>
            <a:pPr lvl="1"/>
            <a:r>
              <a:rPr lang="ko-KR" altLang="en-US" dirty="0"/>
              <a:t>외부 인터럽트를 이용하여 논리를 간단하게 처리할 수 있음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91DEC18-5247-48C5-8D11-5BB9559E4B4E}"/>
              </a:ext>
            </a:extLst>
          </p:cNvPr>
          <p:cNvGrpSpPr/>
          <p:nvPr/>
        </p:nvGrpSpPr>
        <p:grpSpPr>
          <a:xfrm>
            <a:off x="972492" y="4812096"/>
            <a:ext cx="7199016" cy="1353208"/>
            <a:chOff x="1090793" y="4499236"/>
            <a:chExt cx="7199016" cy="135320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58F456E-B35E-47EA-BC04-AAEDAB06FC6F}"/>
                </a:ext>
              </a:extLst>
            </p:cNvPr>
            <p:cNvSpPr/>
            <p:nvPr/>
          </p:nvSpPr>
          <p:spPr>
            <a:xfrm>
              <a:off x="1090793" y="4499236"/>
              <a:ext cx="1152128" cy="5760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</a:t>
              </a:r>
              <a:endPara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실행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EC1E5B2-5182-49C9-B024-F5DE75B3F442}"/>
                </a:ext>
              </a:extLst>
            </p:cNvPr>
            <p:cNvSpPr/>
            <p:nvPr/>
          </p:nvSpPr>
          <p:spPr>
            <a:xfrm>
              <a:off x="2602515" y="4499236"/>
              <a:ext cx="1152128" cy="5760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</a:t>
              </a:r>
              <a:endPara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실행 중단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54B3CCC-1AD5-4036-B224-024328C1C32A}"/>
                </a:ext>
              </a:extLst>
            </p:cNvPr>
            <p:cNvSpPr/>
            <p:nvPr/>
          </p:nvSpPr>
          <p:spPr>
            <a:xfrm>
              <a:off x="4114237" y="4499236"/>
              <a:ext cx="1152128" cy="5760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인터럽트</a:t>
              </a:r>
              <a:endPara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처리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DC1636D-4F6D-4CC0-84E0-55CF949019FE}"/>
                </a:ext>
              </a:extLst>
            </p:cNvPr>
            <p:cNvSpPr/>
            <p:nvPr/>
          </p:nvSpPr>
          <p:spPr>
            <a:xfrm>
              <a:off x="5625959" y="4499236"/>
              <a:ext cx="1152128" cy="5760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인터럽트</a:t>
              </a:r>
              <a:endPara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서비스실행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345589D-7CE1-4F81-B50D-838AC1296974}"/>
                </a:ext>
              </a:extLst>
            </p:cNvPr>
            <p:cNvSpPr/>
            <p:nvPr/>
          </p:nvSpPr>
          <p:spPr>
            <a:xfrm>
              <a:off x="7137681" y="4499236"/>
              <a:ext cx="1152128" cy="5760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</a:t>
              </a:r>
              <a:endPara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재개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C9BB934-015D-4615-8094-3855765B1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00583" y="4663006"/>
              <a:ext cx="301932" cy="248524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B70AB1B-FFC7-4590-A138-90BB079AA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12305" y="4663006"/>
              <a:ext cx="301932" cy="248524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178F028-369B-4436-A1F4-7A5D4DD4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312304" y="4663006"/>
              <a:ext cx="301932" cy="248524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4107857A-DE9E-44AA-843A-D402DAF83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24026" y="4663006"/>
              <a:ext cx="301932" cy="248524"/>
            </a:xfrm>
            <a:prstGeom prst="rect">
              <a:avLst/>
            </a:prstGeom>
          </p:spPr>
        </p:pic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8AE70C1F-02C0-45C8-A8FA-FF704119E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9826" y="5062289"/>
              <a:ext cx="0" cy="288032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stealth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0DC8E0C6-DB9F-4B16-AC95-1BCD30749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7640" y="5062289"/>
              <a:ext cx="0" cy="288032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stealth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B145A38-154D-45CB-8B9C-5C9EA693F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454" y="5062289"/>
              <a:ext cx="0" cy="288032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stealth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74059271-12AB-4CCE-BB8F-C063831CC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3269" y="5062289"/>
              <a:ext cx="0" cy="288032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stealth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1E14EDA-F4C8-4D3F-98A9-22B3C66D232D}"/>
                </a:ext>
              </a:extLst>
            </p:cNvPr>
            <p:cNvSpPr txBox="1"/>
            <p:nvPr/>
          </p:nvSpPr>
          <p:spPr>
            <a:xfrm>
              <a:off x="2000143" y="532922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인터럽트</a:t>
              </a:r>
              <a:endPara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발생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F44A93-BC28-4682-9CE9-6F6A2EE03055}"/>
                </a:ext>
              </a:extLst>
            </p:cNvPr>
            <p:cNvSpPr txBox="1"/>
            <p:nvPr/>
          </p:nvSpPr>
          <p:spPr>
            <a:xfrm>
              <a:off x="3390838" y="5329224"/>
              <a:ext cx="11448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 프로그램</a:t>
              </a:r>
              <a:endPara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상태보관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84CEE2-3B9E-4F5B-8A3F-96C36DA1D391}"/>
                </a:ext>
              </a:extLst>
            </p:cNvPr>
            <p:cNvSpPr txBox="1"/>
            <p:nvPr/>
          </p:nvSpPr>
          <p:spPr>
            <a:xfrm>
              <a:off x="5004048" y="532922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서비스할</a:t>
              </a:r>
              <a:endPara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루틴결정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D4F217B-F6A7-4A9D-B6CE-BDF48A195C79}"/>
                </a:ext>
              </a:extLst>
            </p:cNvPr>
            <p:cNvSpPr txBox="1"/>
            <p:nvPr/>
          </p:nvSpPr>
          <p:spPr>
            <a:xfrm>
              <a:off x="6496231" y="5329224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상태복구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3723AD6-D392-4F33-963C-631BE6AA2658}"/>
              </a:ext>
            </a:extLst>
          </p:cNvPr>
          <p:cNvSpPr txBox="1"/>
          <p:nvPr/>
        </p:nvSpPr>
        <p:spPr>
          <a:xfrm>
            <a:off x="3817517" y="6176337"/>
            <a:ext cx="1531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인터럽트의 개념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5681228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06BB2-DB89-DC74-7B36-CB8B7C49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 </a:t>
            </a:r>
            <a:r>
              <a:rPr lang="en-US" altLang="ko-KR" dirty="0"/>
              <a:t>(Toggle Switch)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1C1ED-6D31-68F1-2921-E02E75877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7. </a:t>
            </a:r>
            <a:r>
              <a:rPr lang="ko-KR" altLang="en-US" dirty="0"/>
              <a:t>인터럽트를 이용한 </a:t>
            </a:r>
            <a:r>
              <a:rPr lang="ko-KR" altLang="en-US" dirty="0" err="1"/>
              <a:t>토글</a:t>
            </a:r>
            <a:r>
              <a:rPr lang="ko-KR" altLang="en-US" dirty="0"/>
              <a:t> 스위치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0E2D6-604D-8842-A08E-F3423D225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1C665A-61B9-EC6D-0749-F6649C8C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32" y="1628800"/>
            <a:ext cx="7208960" cy="44644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65560898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06BB2-DB89-DC74-7B36-CB8B7C49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 </a:t>
            </a:r>
            <a:r>
              <a:rPr lang="en-US" altLang="ko-KR" dirty="0"/>
              <a:t>(Toggle Switch)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0E2D6-604D-8842-A08E-F3423D225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0723BF-3462-0674-6E22-81B0780B1D0C}"/>
              </a:ext>
            </a:extLst>
          </p:cNvPr>
          <p:cNvSpPr txBox="1"/>
          <p:nvPr/>
        </p:nvSpPr>
        <p:spPr>
          <a:xfrm>
            <a:off x="6444208" y="623537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bounce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time&gt;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50BD91-057C-8CD0-64FA-E6F76EF9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24" y="1138484"/>
            <a:ext cx="6949152" cy="34563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1E4CD9-F347-3386-73DF-AA2439060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62" y="4143969"/>
            <a:ext cx="2916253" cy="21479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616C56-3824-E547-7155-4A157367C9C5}"/>
              </a:ext>
            </a:extLst>
          </p:cNvPr>
          <p:cNvSpPr txBox="1"/>
          <p:nvPr/>
        </p:nvSpPr>
        <p:spPr>
          <a:xfrm>
            <a:off x="1944035" y="5550239"/>
            <a:ext cx="2502608" cy="3385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실행결과는 실습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동일</a:t>
            </a:r>
          </a:p>
        </p:txBody>
      </p:sp>
    </p:spTree>
    <p:extLst>
      <p:ext uri="{BB962C8B-B14F-4D97-AF65-F5344CB8AC3E}">
        <p14:creationId xmlns:p14="http://schemas.microsoft.com/office/powerpoint/2010/main" val="34439808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57CE1-7E9A-6D24-B9C6-0D9432601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토글</a:t>
            </a:r>
            <a:r>
              <a:rPr lang="ko-KR" altLang="en-US" dirty="0"/>
              <a:t> 스위치 </a:t>
            </a:r>
            <a:r>
              <a:rPr lang="en-US" altLang="ko-KR" dirty="0"/>
              <a:t>(Toggle Switch)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E26C17-84C4-CF8F-585B-9912072AA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7.1 </a:t>
            </a:r>
            <a:r>
              <a:rPr lang="en-US" altLang="ko-KR" dirty="0" err="1"/>
              <a:t>gpiozero</a:t>
            </a:r>
            <a:r>
              <a:rPr lang="ko-KR" altLang="en-US" dirty="0"/>
              <a:t>를 이용한 </a:t>
            </a:r>
            <a:r>
              <a:rPr lang="ko-KR" altLang="en-US" dirty="0" err="1"/>
              <a:t>토글스위치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25074F-6416-1DEC-3DB3-67AAE0470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A225EC-7605-7BD5-8491-1CC1D365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553116"/>
            <a:ext cx="4104456" cy="4852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F8F039-6A45-0322-BD54-95196E0A7591}"/>
              </a:ext>
            </a:extLst>
          </p:cNvPr>
          <p:cNvSpPr txBox="1"/>
          <p:nvPr/>
        </p:nvSpPr>
        <p:spPr>
          <a:xfrm>
            <a:off x="6122816" y="6122587"/>
            <a:ext cx="2502608" cy="3385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실행결과는 실습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동일</a:t>
            </a:r>
          </a:p>
        </p:txBody>
      </p:sp>
    </p:spTree>
    <p:extLst>
      <p:ext uri="{BB962C8B-B14F-4D97-AF65-F5344CB8AC3E}">
        <p14:creationId xmlns:p14="http://schemas.microsoft.com/office/powerpoint/2010/main" val="3956684529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멀티 </a:t>
            </a:r>
            <a:r>
              <a:rPr lang="ko-KR" altLang="en-US" dirty="0" err="1"/>
              <a:t>태스킹</a:t>
            </a:r>
            <a:r>
              <a:rPr lang="en-US" altLang="ko-KR" dirty="0"/>
              <a:t>/ </a:t>
            </a:r>
            <a:r>
              <a:rPr lang="ko-KR" altLang="en-US" dirty="0"/>
              <a:t>멀티 </a:t>
            </a:r>
            <a:r>
              <a:rPr lang="ko-KR" altLang="en-US" dirty="0" err="1"/>
              <a:t>스레딩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950" y="981075"/>
            <a:ext cx="5616575" cy="5581650"/>
          </a:xfrm>
        </p:spPr>
        <p:txBody>
          <a:bodyPr/>
          <a:lstStyle/>
          <a:p>
            <a:pPr>
              <a:defRPr/>
            </a:pPr>
            <a:r>
              <a:rPr lang="ko-KR" altLang="ko-KR" dirty="0" err="1"/>
              <a:t>멀티태스킹</a:t>
            </a:r>
            <a:r>
              <a:rPr lang="ko-KR" altLang="ko-KR" dirty="0"/>
              <a:t>(Multi-Tasking)</a:t>
            </a:r>
          </a:p>
          <a:p>
            <a:pPr marL="576000" lvl="1" indent="-180000">
              <a:defRPr/>
            </a:pPr>
            <a:r>
              <a:rPr lang="ko-KR" altLang="ko-KR" dirty="0"/>
              <a:t>한 사용자가 한대의 컴퓨터로 2가지 이상의 작업 혹은 프로그램들을 동시에 구동</a:t>
            </a:r>
          </a:p>
          <a:p>
            <a:pPr marL="576000" lvl="1" indent="-180000">
              <a:defRPr/>
            </a:pPr>
            <a:r>
              <a:rPr lang="en-US" altLang="ko-KR" dirty="0"/>
              <a:t>Windows </a:t>
            </a:r>
            <a:r>
              <a:rPr lang="en-US" altLang="ko-KR" dirty="0" err="1"/>
              <a:t>환경에서</a:t>
            </a:r>
            <a:r>
              <a:rPr lang="en-US" altLang="ko-KR" dirty="0"/>
              <a:t>  </a:t>
            </a:r>
            <a:r>
              <a:rPr lang="en-US" altLang="ko-KR" dirty="0" err="1"/>
              <a:t>여러</a:t>
            </a:r>
            <a:r>
              <a:rPr lang="en-US" altLang="ko-KR" dirty="0"/>
              <a:t> </a:t>
            </a:r>
            <a:r>
              <a:rPr lang="en-US" altLang="ko-KR" dirty="0" err="1"/>
              <a:t>개의</a:t>
            </a:r>
            <a:r>
              <a:rPr lang="en-US" altLang="ko-KR" dirty="0"/>
              <a:t> </a:t>
            </a:r>
            <a:r>
              <a:rPr lang="en-US" altLang="ko-KR" dirty="0" err="1"/>
              <a:t>Windows로</a:t>
            </a:r>
            <a:r>
              <a:rPr lang="en-US" altLang="ko-KR" dirty="0"/>
              <a:t> </a:t>
            </a:r>
            <a:r>
              <a:rPr lang="en-US" altLang="ko-KR" dirty="0" err="1"/>
              <a:t>작업</a:t>
            </a:r>
            <a:r>
              <a:rPr lang="ko-KR" altLang="ko-KR" dirty="0"/>
              <a:t>하는 것</a:t>
            </a:r>
            <a:endParaRPr lang="en-US" altLang="ko-KR" dirty="0"/>
          </a:p>
          <a:p>
            <a:pPr marL="576000" lvl="1" indent="-180000">
              <a:defRPr/>
            </a:pPr>
            <a:endParaRPr lang="ko-KR" altLang="ko-KR" dirty="0"/>
          </a:p>
          <a:p>
            <a:pPr>
              <a:defRPr/>
            </a:pPr>
            <a:r>
              <a:rPr lang="ko-KR" altLang="ko-KR" dirty="0" err="1"/>
              <a:t>멀티스레딩</a:t>
            </a:r>
            <a:r>
              <a:rPr lang="ko-KR" altLang="ko-KR" dirty="0"/>
              <a:t>(Multi-Threading)</a:t>
            </a:r>
          </a:p>
          <a:p>
            <a:pPr marL="576000" lvl="1" indent="-180000">
              <a:defRPr/>
            </a:pPr>
            <a:r>
              <a:rPr lang="ko-KR" altLang="ko-KR" dirty="0"/>
              <a:t>각각의 프로세서는 여러 가지의 처리를 동시에 수행</a:t>
            </a:r>
          </a:p>
          <a:p>
            <a:pPr marL="576000" lvl="1" indent="-180000">
              <a:defRPr/>
            </a:pPr>
            <a:r>
              <a:rPr lang="ko-KR" altLang="ko-KR" dirty="0"/>
              <a:t>가장 작은 일의 단위인 </a:t>
            </a:r>
            <a:r>
              <a:rPr lang="ko-KR" altLang="ko-KR" dirty="0" err="1"/>
              <a:t>스레드</a:t>
            </a:r>
            <a:r>
              <a:rPr lang="ko-KR" altLang="ko-KR" dirty="0"/>
              <a:t>(thread)</a:t>
            </a:r>
            <a:r>
              <a:rPr lang="ko-KR" altLang="ko-KR" dirty="0" err="1"/>
              <a:t>를</a:t>
            </a:r>
            <a:r>
              <a:rPr lang="ko-KR" altLang="ko-KR" dirty="0"/>
              <a:t> 동시에 처리</a:t>
            </a:r>
          </a:p>
        </p:txBody>
      </p:sp>
      <p:sp>
        <p:nvSpPr>
          <p:cNvPr id="922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Clr>
                <a:srgbClr val="003366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kumimoji="1" sz="2000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Char char="•"/>
              <a:defRPr kumimoji="1" sz="20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6FF40B9B-BF34-492B-8E47-CEEA2F86D5A6}" type="slidenum">
              <a:rPr lang="en-US" altLang="ko-KR" sz="1000" b="0" smtClean="0">
                <a:solidFill>
                  <a:srgbClr val="00206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000" b="0">
              <a:solidFill>
                <a:srgbClr val="00206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77" y="1101883"/>
            <a:ext cx="3424419" cy="53400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6013450" y="5073650"/>
            <a:ext cx="2686050" cy="411163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스레드는 프로세스를 구성</a:t>
            </a: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Process </a:t>
            </a:r>
            <a:r>
              <a:rPr lang="ko-KR" altLang="en-US"/>
              <a:t>와 </a:t>
            </a:r>
            <a:r>
              <a:rPr lang="en-US" altLang="ko-KR"/>
              <a:t>Thread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altLang="ko-KR" dirty="0"/>
              <a:t>Process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  <a:p>
            <a:pPr marL="576000" lvl="1" indent="-180000">
              <a:lnSpc>
                <a:spcPct val="130000"/>
              </a:lnSpc>
              <a:defRPr/>
            </a:pPr>
            <a:r>
              <a:rPr lang="ko-KR" altLang="en-US" dirty="0"/>
              <a:t>프로그램의</a:t>
            </a:r>
            <a:r>
              <a:rPr lang="en-US" altLang="ko-KR" dirty="0"/>
              <a:t> Instance</a:t>
            </a:r>
          </a:p>
          <a:p>
            <a:pPr marL="576000" lvl="1" indent="-180000">
              <a:lnSpc>
                <a:spcPct val="130000"/>
              </a:lnSpc>
              <a:defRPr/>
            </a:pPr>
            <a:r>
              <a:rPr lang="ko-KR" altLang="en-US" dirty="0"/>
              <a:t>실행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(*.exe)</a:t>
            </a:r>
            <a:r>
              <a:rPr lang="ko-KR" altLang="en-US" dirty="0"/>
              <a:t>이 컴퓨터의 메모리에 적재되어 실행되고 있는 것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dirty="0"/>
              <a:t>Thread </a:t>
            </a:r>
            <a:r>
              <a:rPr lang="ko-KR" altLang="en-US" dirty="0"/>
              <a:t>란 </a:t>
            </a:r>
            <a:r>
              <a:rPr lang="en-US" altLang="ko-KR" dirty="0"/>
              <a:t>?</a:t>
            </a:r>
          </a:p>
          <a:p>
            <a:pPr marL="576000" lvl="1" indent="-180000">
              <a:lnSpc>
                <a:spcPct val="130000"/>
              </a:lnSpc>
              <a:defRPr/>
            </a:pPr>
            <a:r>
              <a:rPr lang="ko-KR" altLang="en-US" dirty="0"/>
              <a:t>실제 </a:t>
            </a:r>
            <a:r>
              <a:rPr lang="en-US" altLang="ko-KR" dirty="0"/>
              <a:t>Code</a:t>
            </a:r>
            <a:r>
              <a:rPr lang="ko-KR" altLang="en-US" dirty="0"/>
              <a:t>를 </a:t>
            </a:r>
            <a:r>
              <a:rPr lang="en-US" altLang="ko-KR" dirty="0"/>
              <a:t>CPU</a:t>
            </a:r>
            <a:r>
              <a:rPr lang="ko-KR" altLang="en-US" dirty="0"/>
              <a:t>에서 실행하는 것</a:t>
            </a:r>
            <a:endParaRPr lang="en-US" altLang="ko-KR" dirty="0"/>
          </a:p>
          <a:p>
            <a:pPr marL="576000" lvl="1" indent="-180000">
              <a:lnSpc>
                <a:spcPct val="130000"/>
              </a:lnSpc>
              <a:defRPr/>
            </a:pPr>
            <a:r>
              <a:rPr lang="ko-KR" altLang="en-US" dirty="0"/>
              <a:t>가장</a:t>
            </a:r>
            <a:r>
              <a:rPr lang="en-US" altLang="ko-KR" dirty="0"/>
              <a:t> </a:t>
            </a:r>
            <a:r>
              <a:rPr lang="ko-KR" altLang="en-US" dirty="0"/>
              <a:t>작은 실행 단위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일반적으로 </a:t>
            </a:r>
            <a:r>
              <a:rPr lang="ko-KR" altLang="en-US" dirty="0">
                <a:solidFill>
                  <a:srgbClr val="920000"/>
                </a:solidFill>
                <a:sym typeface="Wingdings" panose="05000000000000000000" pitchFamily="2" charset="2"/>
              </a:rPr>
              <a:t>메서드</a:t>
            </a:r>
            <a:r>
              <a:rPr lang="ko-KR" altLang="en-US" dirty="0">
                <a:sym typeface="Wingdings" panose="05000000000000000000" pitchFamily="2" charset="2"/>
              </a:rPr>
              <a:t>를 의미</a:t>
            </a:r>
            <a:endParaRPr lang="ko-KR" altLang="en-US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Clr>
                <a:srgbClr val="003366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kumimoji="1" sz="2000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Char char="•"/>
              <a:defRPr kumimoji="1" sz="20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3891D615-057E-40CB-807B-9B2B10B13355}" type="slidenum">
              <a:rPr lang="en-US" altLang="ko-KR" sz="1000" b="0" smtClean="0">
                <a:solidFill>
                  <a:srgbClr val="00206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000" b="0" dirty="0">
              <a:solidFill>
                <a:srgbClr val="00206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1643063" y="4500563"/>
            <a:ext cx="6143625" cy="1714500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228600" indent="-228600" defTabSz="539750" latinLnBrk="1">
              <a:spcBef>
                <a:spcPct val="20000"/>
              </a:spcBef>
              <a:buClr>
                <a:srgbClr val="0070C0"/>
              </a:buClr>
              <a:buFont typeface="Wingdings" pitchFamily="2" charset="2"/>
              <a:buNone/>
              <a:defRPr/>
            </a:pPr>
            <a:r>
              <a:rPr lang="en-US" altLang="ko-KR" sz="2400" b="1" dirty="0">
                <a:solidFill>
                  <a:srgbClr val="006600"/>
                </a:solidFill>
                <a:latin typeface="HY헤드라인M" pitchFamily="18" charset="-127"/>
                <a:ea typeface="HY헤드라인M" pitchFamily="18" charset="-127"/>
                <a:cs typeface="Times New Roman" pitchFamily="18" charset="0"/>
              </a:rPr>
              <a:t>Process</a:t>
            </a:r>
            <a:endParaRPr lang="ko-KR" altLang="en-US" sz="2400" b="1" dirty="0">
              <a:solidFill>
                <a:srgbClr val="006600"/>
              </a:solidFill>
              <a:latin typeface="HY헤드라인M" pitchFamily="18" charset="-127"/>
              <a:ea typeface="HY헤드라인M" pitchFamily="18" charset="-127"/>
              <a:cs typeface="Times New Roman" pitchFamily="18" charset="0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1785938" y="5286375"/>
            <a:ext cx="1857375" cy="6429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228600" indent="-228600" algn="ctr" defTabSz="539750" latinLnBrk="1">
              <a:spcBef>
                <a:spcPct val="20000"/>
              </a:spcBef>
              <a:buClr>
                <a:srgbClr val="0070C0"/>
              </a:buClr>
              <a:buFont typeface="Wingdings" pitchFamily="2" charset="2"/>
              <a:buNone/>
              <a:defRPr/>
            </a:pP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Thread 1</a:t>
            </a:r>
            <a:endParaRPr lang="ko-KR" altLang="en-US" sz="2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3786188" y="5286375"/>
            <a:ext cx="1857375" cy="6429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228600" indent="-228600" algn="ctr" defTabSz="539750" latinLnBrk="1">
              <a:spcBef>
                <a:spcPct val="20000"/>
              </a:spcBef>
              <a:buClr>
                <a:srgbClr val="0070C0"/>
              </a:buClr>
              <a:buFont typeface="Wingdings" pitchFamily="2" charset="2"/>
              <a:buNone/>
              <a:defRPr/>
            </a:pP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Thread 2</a:t>
            </a:r>
            <a:endParaRPr lang="ko-KR" altLang="en-US" sz="2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5786438" y="5286375"/>
            <a:ext cx="1857375" cy="6429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228600" indent="-228600" algn="ctr" defTabSz="539750" latinLnBrk="1">
              <a:spcBef>
                <a:spcPct val="20000"/>
              </a:spcBef>
              <a:buClr>
                <a:srgbClr val="0070C0"/>
              </a:buClr>
              <a:buFont typeface="Wingdings" pitchFamily="2" charset="2"/>
              <a:buNone/>
              <a:defRPr/>
            </a:pP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Thread 3</a:t>
            </a:r>
            <a:endParaRPr lang="ko-KR" altLang="en-US" sz="2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쓰레드</a:t>
            </a:r>
            <a:r>
              <a:rPr lang="en-US" altLang="ko-KR"/>
              <a:t>(Thread)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쓰레드</a:t>
            </a:r>
            <a:r>
              <a:rPr lang="en-US" altLang="ko-KR" dirty="0"/>
              <a:t>(Thread)</a:t>
            </a:r>
          </a:p>
          <a:p>
            <a:pPr marL="576000" lvl="1" indent="-180000">
              <a:defRPr/>
            </a:pPr>
            <a:r>
              <a:rPr lang="ko-KR" altLang="en-US" dirty="0"/>
              <a:t>가장 작은 프로그램 내의 실행 단위</a:t>
            </a:r>
          </a:p>
          <a:p>
            <a:pPr marL="576000" lvl="1" indent="-180000">
              <a:defRPr/>
            </a:pPr>
            <a:r>
              <a:rPr lang="ko-KR" altLang="en-US" dirty="0"/>
              <a:t>프로세스 내의 </a:t>
            </a:r>
            <a:r>
              <a:rPr lang="ko-KR" altLang="en-US" dirty="0">
                <a:solidFill>
                  <a:srgbClr val="C00000"/>
                </a:solidFill>
              </a:rPr>
              <a:t>단일 순차 흐름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메서드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)</a:t>
            </a:r>
            <a:r>
              <a:rPr lang="ko-KR" altLang="en-US" dirty="0"/>
              <a:t>을 의미 </a:t>
            </a:r>
            <a:endParaRPr lang="en-US" altLang="ko-KR" dirty="0"/>
          </a:p>
          <a:p>
            <a:pPr marL="576000" lvl="1" indent="-180000">
              <a:defRPr/>
            </a:pPr>
            <a:r>
              <a:rPr lang="ko-KR" altLang="en-US" dirty="0"/>
              <a:t>하나의 </a:t>
            </a:r>
            <a:r>
              <a:rPr lang="ko-KR" altLang="en-US" dirty="0" err="1"/>
              <a:t>쓰레드는</a:t>
            </a:r>
            <a:r>
              <a:rPr lang="ko-KR" altLang="en-US" dirty="0"/>
              <a:t> 시작에서 종료까지 한번에 하나씩의 명령을 수행</a:t>
            </a:r>
          </a:p>
          <a:p>
            <a:pPr marL="576000" lvl="1" indent="-180000">
              <a:defRPr/>
            </a:pPr>
            <a:r>
              <a:rPr lang="ko-KR" altLang="en-US" dirty="0" err="1"/>
              <a:t>쓰레드는</a:t>
            </a:r>
            <a:r>
              <a:rPr lang="ko-KR" altLang="en-US" dirty="0"/>
              <a:t> 독립적으로 수행될 수 없으며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C00000"/>
                </a:solidFill>
              </a:rPr>
              <a:t>프로세스 안에서 수행</a:t>
            </a:r>
            <a:endParaRPr lang="en-US" altLang="ko-KR" dirty="0">
              <a:solidFill>
                <a:srgbClr val="C00000"/>
              </a:solidFill>
            </a:endParaRPr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Clr>
                <a:srgbClr val="003366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kumimoji="1" sz="2000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Char char="•"/>
              <a:defRPr kumimoji="1" sz="20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2A0E55EE-5FCF-4EC7-9B85-449854A38965}" type="slidenum">
              <a:rPr lang="en-US" altLang="ko-KR" sz="1000" b="0" smtClean="0">
                <a:solidFill>
                  <a:srgbClr val="00206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000" b="0">
              <a:solidFill>
                <a:srgbClr val="00206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pic>
        <p:nvPicPr>
          <p:cNvPr id="11269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623165"/>
            <a:ext cx="2443162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1994023-DD4C-D84D-8EDE-B27D5F8084D2}"/>
              </a:ext>
            </a:extLst>
          </p:cNvPr>
          <p:cNvGrpSpPr/>
          <p:nvPr/>
        </p:nvGrpSpPr>
        <p:grpSpPr>
          <a:xfrm>
            <a:off x="5898108" y="3415868"/>
            <a:ext cx="1081087" cy="2938462"/>
            <a:chOff x="7491413" y="3586882"/>
            <a:chExt cx="1081087" cy="2938462"/>
          </a:xfrm>
        </p:grpSpPr>
        <p:sp>
          <p:nvSpPr>
            <p:cNvPr id="11270" name="AutoShape 54"/>
            <p:cNvSpPr>
              <a:spLocks noChangeArrowheads="1"/>
            </p:cNvSpPr>
            <p:nvPr/>
          </p:nvSpPr>
          <p:spPr bwMode="auto">
            <a:xfrm>
              <a:off x="7491413" y="3586882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6699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marL="2857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>
                  <a:srgbClr val="4C85D2"/>
                </a:buClr>
                <a:buFont typeface="Wingdings" panose="05000000000000000000" pitchFamily="2" charset="2"/>
                <a:buNone/>
              </a:pPr>
              <a:r>
                <a:rPr lang="ko-KR" altLang="en-US" sz="1800"/>
                <a:t>시작</a:t>
              </a:r>
            </a:p>
          </p:txBody>
        </p:sp>
        <p:sp>
          <p:nvSpPr>
            <p:cNvPr id="11271" name="AutoShape 55"/>
            <p:cNvSpPr>
              <a:spLocks noChangeArrowheads="1"/>
            </p:cNvSpPr>
            <p:nvPr/>
          </p:nvSpPr>
          <p:spPr bwMode="auto">
            <a:xfrm>
              <a:off x="7491413" y="4220294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FF99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marL="2857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>
                  <a:srgbClr val="4C85D2"/>
                </a:buClr>
                <a:buFont typeface="Wingdings" panose="05000000000000000000" pitchFamily="2" charset="2"/>
                <a:buNone/>
              </a:pPr>
              <a:r>
                <a:rPr lang="ko-KR" altLang="en-US" sz="1800" dirty="0"/>
                <a:t>명령</a:t>
              </a:r>
              <a:r>
                <a:rPr lang="en-US" altLang="ko-KR" sz="1800" dirty="0"/>
                <a:t>1</a:t>
              </a:r>
            </a:p>
          </p:txBody>
        </p:sp>
        <p:sp>
          <p:nvSpPr>
            <p:cNvPr id="11272" name="AutoShape 56"/>
            <p:cNvSpPr>
              <a:spLocks noChangeArrowheads="1"/>
            </p:cNvSpPr>
            <p:nvPr/>
          </p:nvSpPr>
          <p:spPr bwMode="auto">
            <a:xfrm>
              <a:off x="7491413" y="4836244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marL="2857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>
                  <a:srgbClr val="4C85D2"/>
                </a:buClr>
                <a:buFont typeface="Wingdings" panose="05000000000000000000" pitchFamily="2" charset="2"/>
                <a:buNone/>
              </a:pPr>
              <a:r>
                <a:rPr lang="ko-KR" altLang="en-US" sz="1800" dirty="0"/>
                <a:t>명령</a:t>
              </a:r>
              <a:r>
                <a:rPr lang="en-US" altLang="ko-KR" sz="1800" dirty="0"/>
                <a:t>2</a:t>
              </a:r>
            </a:p>
          </p:txBody>
        </p:sp>
        <p:sp>
          <p:nvSpPr>
            <p:cNvPr id="11273" name="AutoShape 57"/>
            <p:cNvSpPr>
              <a:spLocks noChangeArrowheads="1"/>
            </p:cNvSpPr>
            <p:nvPr/>
          </p:nvSpPr>
          <p:spPr bwMode="auto">
            <a:xfrm>
              <a:off x="7491413" y="5476007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00B888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marL="2857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>
                  <a:srgbClr val="4C85D2"/>
                </a:buClr>
                <a:buFont typeface="Wingdings" panose="05000000000000000000" pitchFamily="2" charset="2"/>
                <a:buNone/>
              </a:pPr>
              <a:r>
                <a:rPr lang="ko-KR" altLang="en-US" sz="1800" dirty="0"/>
                <a:t>명령</a:t>
              </a:r>
              <a:r>
                <a:rPr lang="en-US" altLang="ko-KR" sz="1800" dirty="0"/>
                <a:t>3</a:t>
              </a:r>
            </a:p>
          </p:txBody>
        </p:sp>
        <p:sp>
          <p:nvSpPr>
            <p:cNvPr id="11274" name="AutoShape 58"/>
            <p:cNvSpPr>
              <a:spLocks noChangeArrowheads="1"/>
            </p:cNvSpPr>
            <p:nvPr/>
          </p:nvSpPr>
          <p:spPr bwMode="auto">
            <a:xfrm>
              <a:off x="7491413" y="6093544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6699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marL="2857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>
                  <a:srgbClr val="4C85D2"/>
                </a:buClr>
                <a:buFont typeface="Wingdings" panose="05000000000000000000" pitchFamily="2" charset="2"/>
                <a:buNone/>
              </a:pPr>
              <a:r>
                <a:rPr lang="ko-KR" altLang="en-US" sz="1800"/>
                <a:t>종료</a:t>
              </a:r>
            </a:p>
          </p:txBody>
        </p:sp>
        <p:cxnSp>
          <p:nvCxnSpPr>
            <p:cNvPr id="11275" name="AutoShape 59"/>
            <p:cNvCxnSpPr>
              <a:cxnSpLocks noChangeShapeType="1"/>
              <a:stCxn id="11270" idx="2"/>
              <a:endCxn id="11271" idx="0"/>
            </p:cNvCxnSpPr>
            <p:nvPr/>
          </p:nvCxnSpPr>
          <p:spPr bwMode="auto">
            <a:xfrm>
              <a:off x="8032750" y="4018682"/>
              <a:ext cx="0" cy="201612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6" name="AutoShape 60"/>
            <p:cNvCxnSpPr>
              <a:cxnSpLocks noChangeShapeType="1"/>
              <a:stCxn id="11271" idx="2"/>
              <a:endCxn id="11272" idx="0"/>
            </p:cNvCxnSpPr>
            <p:nvPr/>
          </p:nvCxnSpPr>
          <p:spPr bwMode="auto">
            <a:xfrm>
              <a:off x="8032750" y="4652094"/>
              <a:ext cx="0" cy="18415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7" name="AutoShape 61"/>
            <p:cNvCxnSpPr>
              <a:cxnSpLocks noChangeShapeType="1"/>
              <a:stCxn id="11272" idx="2"/>
              <a:endCxn id="11273" idx="0"/>
            </p:cNvCxnSpPr>
            <p:nvPr/>
          </p:nvCxnSpPr>
          <p:spPr bwMode="auto">
            <a:xfrm>
              <a:off x="8032750" y="5268044"/>
              <a:ext cx="0" cy="20796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8" name="AutoShape 62"/>
            <p:cNvCxnSpPr>
              <a:cxnSpLocks noChangeShapeType="1"/>
              <a:stCxn id="11273" idx="2"/>
              <a:endCxn id="11274" idx="0"/>
            </p:cNvCxnSpPr>
            <p:nvPr/>
          </p:nvCxnSpPr>
          <p:spPr bwMode="auto">
            <a:xfrm>
              <a:off x="8032750" y="5907807"/>
              <a:ext cx="0" cy="18573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단일</a:t>
            </a:r>
            <a:r>
              <a:rPr lang="en-US" altLang="ko-KR"/>
              <a:t>/</a:t>
            </a:r>
            <a:r>
              <a:rPr lang="ko-KR" altLang="en-US"/>
              <a:t>다중 스레드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ko-KR" dirty="0"/>
              <a:t>단일 </a:t>
            </a:r>
            <a:r>
              <a:rPr lang="ko-KR" altLang="ko-KR" dirty="0" err="1"/>
              <a:t>스레드</a:t>
            </a:r>
            <a:r>
              <a:rPr lang="ko-KR" altLang="ko-KR" dirty="0"/>
              <a:t>(Single Thread) 프로세스</a:t>
            </a:r>
          </a:p>
          <a:p>
            <a:pPr marL="576000" lvl="1" indent="-180000">
              <a:defRPr/>
            </a:pPr>
            <a:r>
              <a:rPr lang="ko-KR" altLang="ko-KR" dirty="0"/>
              <a:t>한번에 하나의 </a:t>
            </a:r>
            <a:r>
              <a:rPr lang="ko-KR" altLang="ko-KR" dirty="0" err="1"/>
              <a:t>스레드만</a:t>
            </a:r>
            <a:r>
              <a:rPr lang="ko-KR" altLang="ko-KR" dirty="0"/>
              <a:t> 실행</a:t>
            </a:r>
          </a:p>
          <a:p>
            <a:pPr>
              <a:defRPr/>
            </a:pPr>
            <a:r>
              <a:rPr lang="ko-KR" altLang="ko-KR" dirty="0"/>
              <a:t>다중 </a:t>
            </a:r>
            <a:r>
              <a:rPr lang="ko-KR" altLang="ko-KR" dirty="0" err="1"/>
              <a:t>스레드</a:t>
            </a:r>
            <a:r>
              <a:rPr lang="ko-KR" altLang="ko-KR" dirty="0"/>
              <a:t> (Multi Thread) 프로세스</a:t>
            </a:r>
          </a:p>
          <a:p>
            <a:pPr marL="576000" lvl="1" indent="-180000">
              <a:defRPr/>
            </a:pPr>
            <a:r>
              <a:rPr lang="ko-KR" altLang="ko-KR" dirty="0"/>
              <a:t>한번에 여러 개의 스레드 실행 가능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시분할</a:t>
            </a:r>
            <a:r>
              <a:rPr lang="en-US" altLang="ko-KR" dirty="0">
                <a:sym typeface="Wingdings" panose="05000000000000000000" pitchFamily="2" charset="2"/>
              </a:rPr>
              <a:t>(Time Sharing)</a:t>
            </a:r>
            <a:r>
              <a:rPr lang="ko-KR" altLang="en-US" dirty="0">
                <a:sym typeface="Wingdings" panose="05000000000000000000" pitchFamily="2" charset="2"/>
              </a:rPr>
              <a:t> 방식</a:t>
            </a:r>
            <a:endParaRPr lang="en-US" altLang="ko-KR" dirty="0"/>
          </a:p>
          <a:p>
            <a:pPr marL="576000" lvl="1" indent="-180000">
              <a:defRPr/>
            </a:pPr>
            <a:r>
              <a:rPr lang="ko-KR" altLang="en-US" dirty="0"/>
              <a:t>특히 </a:t>
            </a:r>
            <a:r>
              <a:rPr lang="ko-KR" altLang="en-US" dirty="0">
                <a:solidFill>
                  <a:srgbClr val="FF0000"/>
                </a:solidFill>
              </a:rPr>
              <a:t>오래 걸리는 작업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주로 </a:t>
            </a:r>
            <a:r>
              <a:rPr lang="ko-KR" altLang="en-US" dirty="0" err="1">
                <a:solidFill>
                  <a:srgbClr val="FF0000"/>
                </a:solidFill>
              </a:rPr>
              <a:t>입〮출력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에서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대기시간을 획기적으로 감축 </a:t>
            </a:r>
            <a:endParaRPr lang="en-US" altLang="ko-KR" dirty="0">
              <a:solidFill>
                <a:srgbClr val="FF0000"/>
              </a:solidFill>
            </a:endParaRPr>
          </a:p>
          <a:p>
            <a:pPr marL="396000" lvl="1" indent="0">
              <a:buNone/>
              <a:defRPr/>
            </a:pP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ko-KR" altLang="en-US" dirty="0">
                <a:sym typeface="Wingdings" panose="05000000000000000000" pitchFamily="2" charset="2"/>
              </a:rPr>
              <a:t>별도의 조그만 컴퓨터</a:t>
            </a:r>
            <a:endParaRPr lang="ko-KR" altLang="ko-KR" dirty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Clr>
                <a:srgbClr val="003366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kumimoji="1" sz="2000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Char char="•"/>
              <a:defRPr kumimoji="1" sz="20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41B67258-F130-48C3-98AD-6386A71A2F06}" type="slidenum">
              <a:rPr lang="en-US" altLang="ko-KR" sz="1000" b="0" smtClean="0">
                <a:solidFill>
                  <a:srgbClr val="00206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000" b="0" dirty="0">
              <a:solidFill>
                <a:srgbClr val="00206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2677BB-D93F-4F8D-860E-6002089A3DF4}"/>
              </a:ext>
            </a:extLst>
          </p:cNvPr>
          <p:cNvGrpSpPr/>
          <p:nvPr/>
        </p:nvGrpSpPr>
        <p:grpSpPr>
          <a:xfrm>
            <a:off x="1583172" y="3789040"/>
            <a:ext cx="5977656" cy="2592140"/>
            <a:chOff x="1690688" y="3357240"/>
            <a:chExt cx="6481762" cy="3095948"/>
          </a:xfrm>
        </p:grpSpPr>
        <p:sp>
          <p:nvSpPr>
            <p:cNvPr id="12293" name="AutoShape 16"/>
            <p:cNvSpPr>
              <a:spLocks noChangeArrowheads="1"/>
            </p:cNvSpPr>
            <p:nvPr/>
          </p:nvSpPr>
          <p:spPr bwMode="auto">
            <a:xfrm>
              <a:off x="1690688" y="3357488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6699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/>
                <a:t>시작</a:t>
              </a:r>
              <a:endParaRPr lang="ko-KR" altLang="ko-KR" sz="1600" b="0"/>
            </a:p>
          </p:txBody>
        </p:sp>
        <p:sp>
          <p:nvSpPr>
            <p:cNvPr id="12294" name="AutoShape 17"/>
            <p:cNvSpPr>
              <a:spLocks noChangeArrowheads="1"/>
            </p:cNvSpPr>
            <p:nvPr/>
          </p:nvSpPr>
          <p:spPr bwMode="auto">
            <a:xfrm>
              <a:off x="1690688" y="4005560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FF99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 dirty="0"/>
                <a:t>스레드</a:t>
              </a:r>
              <a:r>
                <a:rPr lang="en-US" altLang="ko-KR" sz="2000" dirty="0"/>
                <a:t>1</a:t>
              </a:r>
              <a:endParaRPr lang="ko-KR" altLang="ko-KR" sz="1600" b="0" dirty="0"/>
            </a:p>
          </p:txBody>
        </p:sp>
        <p:sp>
          <p:nvSpPr>
            <p:cNvPr id="12295" name="AutoShape 18"/>
            <p:cNvSpPr>
              <a:spLocks noChangeArrowheads="1"/>
            </p:cNvSpPr>
            <p:nvPr/>
          </p:nvSpPr>
          <p:spPr bwMode="auto">
            <a:xfrm>
              <a:off x="1690688" y="4653632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 dirty="0"/>
                <a:t>스레드</a:t>
              </a:r>
              <a:r>
                <a:rPr lang="en-US" altLang="ko-KR" sz="2000" dirty="0"/>
                <a:t>2</a:t>
              </a:r>
              <a:endParaRPr lang="ko-KR" altLang="ko-KR" sz="1600" b="0" dirty="0"/>
            </a:p>
          </p:txBody>
        </p:sp>
        <p:sp>
          <p:nvSpPr>
            <p:cNvPr id="12296" name="AutoShape 19"/>
            <p:cNvSpPr>
              <a:spLocks noChangeArrowheads="1"/>
            </p:cNvSpPr>
            <p:nvPr/>
          </p:nvSpPr>
          <p:spPr bwMode="auto">
            <a:xfrm>
              <a:off x="1690688" y="5303069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00B888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 dirty="0"/>
                <a:t>스레드</a:t>
              </a:r>
              <a:r>
                <a:rPr lang="en-US" altLang="ko-KR" sz="2000" dirty="0"/>
                <a:t>3</a:t>
              </a:r>
              <a:endParaRPr lang="ko-KR" altLang="ko-KR" sz="1600" b="0" dirty="0"/>
            </a:p>
          </p:txBody>
        </p:sp>
        <p:sp>
          <p:nvSpPr>
            <p:cNvPr id="12297" name="AutoShape 20"/>
            <p:cNvSpPr>
              <a:spLocks noChangeArrowheads="1"/>
            </p:cNvSpPr>
            <p:nvPr/>
          </p:nvSpPr>
          <p:spPr bwMode="auto">
            <a:xfrm>
              <a:off x="1690688" y="5949528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6699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/>
                <a:t>종료</a:t>
              </a:r>
              <a:endParaRPr lang="ko-KR" altLang="ko-KR" sz="1600" b="0"/>
            </a:p>
          </p:txBody>
        </p:sp>
        <p:cxnSp>
          <p:nvCxnSpPr>
            <p:cNvPr id="12298" name="AutoShape 21"/>
            <p:cNvCxnSpPr>
              <a:cxnSpLocks noChangeShapeType="1"/>
              <a:stCxn id="12293" idx="2"/>
              <a:endCxn id="12294" idx="0"/>
            </p:cNvCxnSpPr>
            <p:nvPr/>
          </p:nvCxnSpPr>
          <p:spPr bwMode="auto">
            <a:xfrm>
              <a:off x="2231232" y="3789288"/>
              <a:ext cx="0" cy="216272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99" name="AutoShape 22"/>
            <p:cNvCxnSpPr>
              <a:cxnSpLocks noChangeShapeType="1"/>
              <a:stCxn id="12294" idx="2"/>
              <a:endCxn id="12295" idx="0"/>
            </p:cNvCxnSpPr>
            <p:nvPr/>
          </p:nvCxnSpPr>
          <p:spPr bwMode="auto">
            <a:xfrm>
              <a:off x="2231232" y="4437360"/>
              <a:ext cx="0" cy="216272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0" name="AutoShape 23"/>
            <p:cNvCxnSpPr>
              <a:cxnSpLocks noChangeShapeType="1"/>
              <a:stCxn id="12295" idx="2"/>
              <a:endCxn id="12296" idx="0"/>
            </p:cNvCxnSpPr>
            <p:nvPr/>
          </p:nvCxnSpPr>
          <p:spPr bwMode="auto">
            <a:xfrm>
              <a:off x="2231232" y="5085432"/>
              <a:ext cx="0" cy="21763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1" name="AutoShape 24"/>
            <p:cNvCxnSpPr>
              <a:cxnSpLocks noChangeShapeType="1"/>
              <a:stCxn id="12296" idx="2"/>
              <a:endCxn id="12297" idx="0"/>
            </p:cNvCxnSpPr>
            <p:nvPr/>
          </p:nvCxnSpPr>
          <p:spPr bwMode="auto">
            <a:xfrm>
              <a:off x="2231232" y="5734869"/>
              <a:ext cx="0" cy="214659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2" name="AutoShape 25"/>
            <p:cNvSpPr>
              <a:spLocks noChangeArrowheads="1"/>
            </p:cNvSpPr>
            <p:nvPr/>
          </p:nvSpPr>
          <p:spPr bwMode="auto">
            <a:xfrm>
              <a:off x="5867400" y="3357240"/>
              <a:ext cx="1081088" cy="431800"/>
            </a:xfrm>
            <a:prstGeom prst="roundRect">
              <a:avLst>
                <a:gd name="adj" fmla="val 16667"/>
              </a:avLst>
            </a:prstGeom>
            <a:solidFill>
              <a:srgbClr val="6699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/>
                <a:t>시작</a:t>
              </a:r>
              <a:endParaRPr lang="ko-KR" altLang="ko-KR" sz="1600" b="0"/>
            </a:p>
          </p:txBody>
        </p:sp>
        <p:sp>
          <p:nvSpPr>
            <p:cNvPr id="12303" name="AutoShape 26"/>
            <p:cNvSpPr>
              <a:spLocks noChangeArrowheads="1"/>
            </p:cNvSpPr>
            <p:nvPr/>
          </p:nvSpPr>
          <p:spPr bwMode="auto">
            <a:xfrm>
              <a:off x="4643438" y="4653136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FF99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 dirty="0"/>
                <a:t>스레드</a:t>
              </a:r>
              <a:r>
                <a:rPr lang="en-US" altLang="ko-KR" sz="2000" dirty="0"/>
                <a:t>1</a:t>
              </a:r>
              <a:endParaRPr lang="ko-KR" altLang="ko-KR" sz="1600" b="0" dirty="0"/>
            </a:p>
          </p:txBody>
        </p:sp>
        <p:sp>
          <p:nvSpPr>
            <p:cNvPr id="12304" name="AutoShape 27"/>
            <p:cNvSpPr>
              <a:spLocks noChangeArrowheads="1"/>
            </p:cNvSpPr>
            <p:nvPr/>
          </p:nvSpPr>
          <p:spPr bwMode="auto">
            <a:xfrm>
              <a:off x="5867400" y="4654724"/>
              <a:ext cx="1081088" cy="431800"/>
            </a:xfrm>
            <a:prstGeom prst="roundRect">
              <a:avLst>
                <a:gd name="adj" fmla="val 16667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 dirty="0"/>
                <a:t>스레드</a:t>
              </a:r>
              <a:r>
                <a:rPr lang="en-US" altLang="ko-KR" sz="2000" dirty="0"/>
                <a:t>2</a:t>
              </a:r>
              <a:endParaRPr lang="ko-KR" altLang="ko-KR" sz="1600" b="0" dirty="0"/>
            </a:p>
          </p:txBody>
        </p:sp>
        <p:sp>
          <p:nvSpPr>
            <p:cNvPr id="12305" name="AutoShape 28"/>
            <p:cNvSpPr>
              <a:spLocks noChangeArrowheads="1"/>
            </p:cNvSpPr>
            <p:nvPr/>
          </p:nvSpPr>
          <p:spPr bwMode="auto">
            <a:xfrm>
              <a:off x="7091363" y="4653136"/>
              <a:ext cx="1081087" cy="431800"/>
            </a:xfrm>
            <a:prstGeom prst="roundRect">
              <a:avLst>
                <a:gd name="adj" fmla="val 16667"/>
              </a:avLst>
            </a:prstGeom>
            <a:solidFill>
              <a:srgbClr val="00B888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 dirty="0"/>
                <a:t>스레드</a:t>
              </a:r>
              <a:r>
                <a:rPr lang="en-US" altLang="ko-KR" sz="2000" dirty="0"/>
                <a:t>3</a:t>
              </a:r>
              <a:endParaRPr lang="ko-KR" altLang="ko-KR" sz="1600" b="0" dirty="0"/>
            </a:p>
          </p:txBody>
        </p:sp>
        <p:sp>
          <p:nvSpPr>
            <p:cNvPr id="12306" name="AutoShape 29"/>
            <p:cNvSpPr>
              <a:spLocks noChangeArrowheads="1"/>
            </p:cNvSpPr>
            <p:nvPr/>
          </p:nvSpPr>
          <p:spPr bwMode="auto">
            <a:xfrm>
              <a:off x="5867400" y="6021388"/>
              <a:ext cx="1081088" cy="431800"/>
            </a:xfrm>
            <a:prstGeom prst="roundRect">
              <a:avLst>
                <a:gd name="adj" fmla="val 16667"/>
              </a:avLst>
            </a:prstGeom>
            <a:solidFill>
              <a:srgbClr val="6699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Clr>
                  <a:srgbClr val="003366"/>
                </a:buClr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002060"/>
                </a:buClr>
                <a:buFont typeface="Wingdings" panose="05000000000000000000" pitchFamily="2" charset="2"/>
                <a:buChar char="§"/>
                <a:defRPr kumimoji="1" sz="2000" b="1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har char="•"/>
                <a:defRPr kumimoji="1" sz="2000" b="1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 b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ko-KR" altLang="ko-KR" sz="2000"/>
                <a:t>종료</a:t>
              </a:r>
              <a:endParaRPr lang="ko-KR" altLang="ko-KR" sz="1600" b="0"/>
            </a:p>
          </p:txBody>
        </p:sp>
        <p:cxnSp>
          <p:nvCxnSpPr>
            <p:cNvPr id="12307" name="AutoShape 30"/>
            <p:cNvCxnSpPr>
              <a:cxnSpLocks noChangeShapeType="1"/>
              <a:stCxn id="12302" idx="2"/>
              <a:endCxn id="12304" idx="0"/>
            </p:cNvCxnSpPr>
            <p:nvPr/>
          </p:nvCxnSpPr>
          <p:spPr bwMode="auto">
            <a:xfrm>
              <a:off x="6407944" y="3789040"/>
              <a:ext cx="0" cy="865684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8" name="AutoShape 31"/>
            <p:cNvCxnSpPr>
              <a:cxnSpLocks noChangeShapeType="1"/>
              <a:stCxn id="12304" idx="2"/>
              <a:endCxn id="12306" idx="0"/>
            </p:cNvCxnSpPr>
            <p:nvPr/>
          </p:nvCxnSpPr>
          <p:spPr bwMode="auto">
            <a:xfrm>
              <a:off x="6407944" y="5086524"/>
              <a:ext cx="0" cy="934864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9" name="AutoShape 32"/>
            <p:cNvCxnSpPr>
              <a:cxnSpLocks noChangeShapeType="1"/>
              <a:stCxn id="12302" idx="2"/>
              <a:endCxn id="12303" idx="0"/>
            </p:cNvCxnSpPr>
            <p:nvPr/>
          </p:nvCxnSpPr>
          <p:spPr bwMode="auto">
            <a:xfrm rot="5400000">
              <a:off x="5363915" y="3609107"/>
              <a:ext cx="864096" cy="1223962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0" name="AutoShape 33"/>
            <p:cNvCxnSpPr>
              <a:cxnSpLocks noChangeShapeType="1"/>
              <a:stCxn id="12302" idx="2"/>
              <a:endCxn id="12305" idx="0"/>
            </p:cNvCxnSpPr>
            <p:nvPr/>
          </p:nvCxnSpPr>
          <p:spPr bwMode="auto">
            <a:xfrm rot="16200000" flipH="1">
              <a:off x="6587877" y="3609106"/>
              <a:ext cx="864096" cy="1223963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1" name="AutoShape 34"/>
            <p:cNvCxnSpPr>
              <a:cxnSpLocks noChangeShapeType="1"/>
              <a:stCxn id="12303" idx="2"/>
              <a:endCxn id="12306" idx="0"/>
            </p:cNvCxnSpPr>
            <p:nvPr/>
          </p:nvCxnSpPr>
          <p:spPr bwMode="auto">
            <a:xfrm rot="16200000" flipH="1">
              <a:off x="5327737" y="4941181"/>
              <a:ext cx="936452" cy="1223962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2" name="AutoShape 35"/>
            <p:cNvCxnSpPr>
              <a:cxnSpLocks noChangeShapeType="1"/>
              <a:stCxn id="12305" idx="2"/>
              <a:endCxn id="12306" idx="0"/>
            </p:cNvCxnSpPr>
            <p:nvPr/>
          </p:nvCxnSpPr>
          <p:spPr bwMode="auto">
            <a:xfrm rot="5400000">
              <a:off x="6551700" y="4941181"/>
              <a:ext cx="936452" cy="1223963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쓰레드의 동작 개념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271D4E-87A4-4206-AAE2-79B39830FB80}" type="slidenum">
              <a:rPr lang="en-US" altLang="ko-KR" smtClean="0"/>
              <a:pPr>
                <a:defRPr/>
              </a:pPr>
              <a:t>32</a:t>
            </a:fld>
            <a:endParaRPr lang="en-US" altLang="ko-KR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34E482A6-38F6-4681-820F-38547E6770D2}"/>
              </a:ext>
            </a:extLst>
          </p:cNvPr>
          <p:cNvSpPr/>
          <p:nvPr/>
        </p:nvSpPr>
        <p:spPr>
          <a:xfrm>
            <a:off x="1717010" y="1376772"/>
            <a:ext cx="1728192" cy="4968552"/>
          </a:xfrm>
          <a:prstGeom prst="downArrow">
            <a:avLst>
              <a:gd name="adj1" fmla="val 69461"/>
              <a:gd name="adj2" fmla="val 30539"/>
            </a:avLst>
          </a:prstGeom>
          <a:solidFill>
            <a:srgbClr val="FFCB97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Thread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</a:t>
            </a:r>
          </a:p>
          <a:p>
            <a:pPr algn="ctr"/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사용자의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없이도 생성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05506072-71FE-4572-8B49-69A1A751E458}"/>
              </a:ext>
            </a:extLst>
          </p:cNvPr>
          <p:cNvSpPr/>
          <p:nvPr/>
        </p:nvSpPr>
        <p:spPr>
          <a:xfrm>
            <a:off x="4381306" y="1736812"/>
            <a:ext cx="1728192" cy="2340260"/>
          </a:xfrm>
          <a:prstGeom prst="downArrow">
            <a:avLst>
              <a:gd name="adj1" fmla="val 69461"/>
              <a:gd name="adj2" fmla="val 30539"/>
            </a:avLst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myThread1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2855CA7B-4419-49B6-BCFA-40647A753A42}"/>
              </a:ext>
            </a:extLst>
          </p:cNvPr>
          <p:cNvSpPr/>
          <p:nvPr/>
        </p:nvSpPr>
        <p:spPr>
          <a:xfrm>
            <a:off x="6829578" y="2492896"/>
            <a:ext cx="1728192" cy="2736304"/>
          </a:xfrm>
          <a:prstGeom prst="downArrow">
            <a:avLst>
              <a:gd name="adj1" fmla="val 69461"/>
              <a:gd name="adj2" fmla="val 30539"/>
            </a:avLst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myThread2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1B47ED0-D61F-484B-9050-A43988C3A57B}"/>
              </a:ext>
            </a:extLst>
          </p:cNvPr>
          <p:cNvCxnSpPr>
            <a:cxnSpLocks/>
          </p:cNvCxnSpPr>
          <p:nvPr/>
        </p:nvCxnSpPr>
        <p:spPr>
          <a:xfrm flipH="1">
            <a:off x="3229178" y="1736812"/>
            <a:ext cx="144016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3F162EC-E8AF-4DAF-BF69-73810EA6AD91}"/>
              </a:ext>
            </a:extLst>
          </p:cNvPr>
          <p:cNvCxnSpPr>
            <a:cxnSpLocks/>
          </p:cNvCxnSpPr>
          <p:nvPr/>
        </p:nvCxnSpPr>
        <p:spPr>
          <a:xfrm flipH="1">
            <a:off x="3229178" y="2479041"/>
            <a:ext cx="388843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64556F7-3231-4E4D-9A67-1055C46979CB}"/>
              </a:ext>
            </a:extLst>
          </p:cNvPr>
          <p:cNvCxnSpPr>
            <a:cxnSpLocks/>
          </p:cNvCxnSpPr>
          <p:nvPr/>
        </p:nvCxnSpPr>
        <p:spPr>
          <a:xfrm flipH="1">
            <a:off x="3229178" y="5229200"/>
            <a:ext cx="446449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B3BE603-F8AB-4BF8-98F7-135CEA6DE336}"/>
              </a:ext>
            </a:extLst>
          </p:cNvPr>
          <p:cNvCxnSpPr>
            <a:cxnSpLocks/>
          </p:cNvCxnSpPr>
          <p:nvPr/>
        </p:nvCxnSpPr>
        <p:spPr>
          <a:xfrm flipH="1">
            <a:off x="3229178" y="4071036"/>
            <a:ext cx="201622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DE0B7A0-0247-4483-A9AB-9536F4027D16}"/>
              </a:ext>
            </a:extLst>
          </p:cNvPr>
          <p:cNvSpPr txBox="1"/>
          <p:nvPr/>
        </p:nvSpPr>
        <p:spPr>
          <a:xfrm>
            <a:off x="3206556" y="1402068"/>
            <a:ext cx="1701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myThread1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6DFB91-DC63-4E59-A2CC-1B950C5C76A1}"/>
              </a:ext>
            </a:extLst>
          </p:cNvPr>
          <p:cNvSpPr txBox="1"/>
          <p:nvPr/>
        </p:nvSpPr>
        <p:spPr>
          <a:xfrm>
            <a:off x="5893474" y="2126633"/>
            <a:ext cx="1701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myThread2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F3034-3DFB-4CA2-BF41-0FD3F39C6EDB}"/>
              </a:ext>
            </a:extLst>
          </p:cNvPr>
          <p:cNvSpPr txBox="1"/>
          <p:nvPr/>
        </p:nvSpPr>
        <p:spPr>
          <a:xfrm>
            <a:off x="3386576" y="4090926"/>
            <a:ext cx="1701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myThread1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63A6B-D6CA-486F-9C4B-FDEDD47B7D60}"/>
              </a:ext>
            </a:extLst>
          </p:cNvPr>
          <p:cNvSpPr txBox="1"/>
          <p:nvPr/>
        </p:nvSpPr>
        <p:spPr>
          <a:xfrm>
            <a:off x="5893474" y="5229200"/>
            <a:ext cx="1701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myThread2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99C29D8-8286-4D40-9D55-3AF6A62D68D0}"/>
              </a:ext>
            </a:extLst>
          </p:cNvPr>
          <p:cNvCxnSpPr>
            <a:cxnSpLocks/>
          </p:cNvCxnSpPr>
          <p:nvPr/>
        </p:nvCxnSpPr>
        <p:spPr>
          <a:xfrm flipH="1">
            <a:off x="563937" y="1368524"/>
            <a:ext cx="144016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6AFC731-1783-4BF2-A1DE-72BA0980CA72}"/>
              </a:ext>
            </a:extLst>
          </p:cNvPr>
          <p:cNvSpPr txBox="1"/>
          <p:nvPr/>
        </p:nvSpPr>
        <p:spPr>
          <a:xfrm>
            <a:off x="541315" y="1033780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실행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6D612A0-C546-4CCE-B327-4A4E3EB41673}"/>
              </a:ext>
            </a:extLst>
          </p:cNvPr>
          <p:cNvCxnSpPr>
            <a:cxnSpLocks/>
          </p:cNvCxnSpPr>
          <p:nvPr/>
        </p:nvCxnSpPr>
        <p:spPr>
          <a:xfrm flipH="1">
            <a:off x="563937" y="6340701"/>
            <a:ext cx="201446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CDC950B-D8B4-45AB-8C90-46A14779072C}"/>
              </a:ext>
            </a:extLst>
          </p:cNvPr>
          <p:cNvSpPr txBox="1"/>
          <p:nvPr/>
        </p:nvSpPr>
        <p:spPr>
          <a:xfrm>
            <a:off x="361839" y="6002147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종료</a:t>
            </a:r>
          </a:p>
        </p:txBody>
      </p:sp>
    </p:spTree>
    <p:extLst>
      <p:ext uri="{BB962C8B-B14F-4D97-AF65-F5344CB8AC3E}">
        <p14:creationId xmlns:p14="http://schemas.microsoft.com/office/powerpoint/2010/main" val="241708346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9" grpId="0"/>
      <p:bldP spid="20" grpId="0"/>
      <p:bldP spid="21" grpId="0"/>
      <p:bldP spid="22" grpId="0"/>
      <p:bldP spid="24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3BE1-2057-AD9F-7184-0F7E090B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4FE3C-8028-46A8-EDBB-7BDD5A10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8. </a:t>
            </a:r>
            <a:r>
              <a:rPr lang="ko-KR" altLang="en-US" dirty="0"/>
              <a:t>쓰레드 기본 동작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출력문으로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쓰레드 동작 확인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F7EEA-46BF-4F90-7310-719673BC1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E485BF-DB4B-22AA-25E6-48EBA0CA3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87" y="1423356"/>
            <a:ext cx="5086556" cy="50774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5157170-B92E-20B3-65B6-D0D34163F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2492896"/>
            <a:ext cx="2866667" cy="21428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00677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3BE1-2057-AD9F-7184-0F7E090B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4FE3C-8028-46A8-EDBB-7BDD5A10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9. </a:t>
            </a:r>
            <a:r>
              <a:rPr lang="ko-KR" altLang="en-US" dirty="0" err="1"/>
              <a:t>다중쓰레드</a:t>
            </a:r>
            <a:r>
              <a:rPr lang="en-US" altLang="ko-KR" dirty="0"/>
              <a:t>(Multi Thread)</a:t>
            </a:r>
            <a:r>
              <a:rPr lang="ko-KR" altLang="en-US" dirty="0"/>
              <a:t> 동작</a:t>
            </a:r>
            <a:endParaRPr lang="en-US" altLang="ko-KR" dirty="0"/>
          </a:p>
          <a:p>
            <a:pPr lvl="1"/>
            <a:r>
              <a:rPr lang="ko-KR" altLang="en-US" dirty="0"/>
              <a:t>메인 쓰레드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입력 처리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쓰레드 </a:t>
            </a:r>
            <a:r>
              <a:rPr lang="en-US" altLang="ko-KR" dirty="0">
                <a:sym typeface="Wingdings" panose="05000000000000000000" pitchFamily="2" charset="2"/>
              </a:rPr>
              <a:t>1,2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출력구문으로 동작 확인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F7EEA-46BF-4F90-7310-719673BC1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5F43B1-02FB-1B5A-E154-079700A0D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531"/>
          <a:stretch/>
        </p:blipFill>
        <p:spPr>
          <a:xfrm>
            <a:off x="1414760" y="1916832"/>
            <a:ext cx="6336704" cy="44446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11934017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3BE1-2057-AD9F-7184-0F7E090B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4FE3C-8028-46A8-EDBB-7BDD5A10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9. </a:t>
            </a:r>
            <a:r>
              <a:rPr lang="ko-KR" altLang="en-US" dirty="0" err="1"/>
              <a:t>다중쓰레드</a:t>
            </a:r>
            <a:r>
              <a:rPr lang="en-US" altLang="ko-KR" dirty="0"/>
              <a:t>(Multi Thread)</a:t>
            </a:r>
            <a:r>
              <a:rPr lang="ko-KR" altLang="en-US" dirty="0"/>
              <a:t> 동작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F7EEA-46BF-4F90-7310-719673BC1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14FB54-7A85-7F60-08B1-6ECD6D12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1592230"/>
            <a:ext cx="6486281" cy="38529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2ECAE47-CCF9-91C5-471E-3B7519A61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962" y="1592230"/>
            <a:ext cx="2123628" cy="29168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653A8C9-FCF6-8790-6002-A7215C1C0776}"/>
              </a:ext>
            </a:extLst>
          </p:cNvPr>
          <p:cNvSpPr/>
          <p:nvPr/>
        </p:nvSpPr>
        <p:spPr>
          <a:xfrm>
            <a:off x="1552202" y="5555016"/>
            <a:ext cx="2448272" cy="8395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쓰레드 동작</a:t>
            </a:r>
            <a:endParaRPr lang="en-US" altLang="ko-KR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키보드 입력을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echo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B82EDBC-2935-420F-ADA6-8DDD5BA5250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776338" y="3429000"/>
            <a:ext cx="4315942" cy="212601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413EE5-7523-F625-D277-D153035C173F}"/>
              </a:ext>
            </a:extLst>
          </p:cNvPr>
          <p:cNvSpPr/>
          <p:nvPr/>
        </p:nvSpPr>
        <p:spPr>
          <a:xfrm>
            <a:off x="4238301" y="5553296"/>
            <a:ext cx="2214984" cy="8395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t1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동작</a:t>
            </a:r>
            <a:endParaRPr lang="en-US" altLang="ko-KR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0.5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초 간격 출력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DA985FD-045B-8447-3575-5D7DC544032B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345793" y="4467887"/>
            <a:ext cx="2331628" cy="10854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C03A61-72AD-20E2-6327-0C5778EEC4B7}"/>
              </a:ext>
            </a:extLst>
          </p:cNvPr>
          <p:cNvSpPr/>
          <p:nvPr/>
        </p:nvSpPr>
        <p:spPr>
          <a:xfrm>
            <a:off x="6708996" y="5553296"/>
            <a:ext cx="2214984" cy="8395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t2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동작</a:t>
            </a:r>
            <a:endParaRPr lang="en-US" altLang="ko-KR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0.25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초 간격 출력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F873473-16C7-50D0-300A-3B459C60C69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7816488" y="4365104"/>
            <a:ext cx="766400" cy="11881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00871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3BE1-2057-AD9F-7184-0F7E090B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4FE3C-8028-46A8-EDBB-7BDD5A10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10. </a:t>
            </a:r>
            <a:r>
              <a:rPr lang="ko-KR" altLang="en-US" dirty="0"/>
              <a:t>쓰레드를 이용한 </a:t>
            </a:r>
            <a:r>
              <a:rPr lang="en-US" altLang="ko-KR" dirty="0"/>
              <a:t>LED </a:t>
            </a:r>
            <a:r>
              <a:rPr lang="ko-KR" altLang="en-US" dirty="0"/>
              <a:t>점멸</a:t>
            </a:r>
            <a:endParaRPr lang="en-US" altLang="ko-KR" dirty="0"/>
          </a:p>
          <a:p>
            <a:pPr lvl="1"/>
            <a:r>
              <a:rPr lang="ko-KR" altLang="en-US" dirty="0"/>
              <a:t>메인 쓰레드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1</a:t>
            </a:r>
            <a:r>
              <a:rPr lang="ko-KR" altLang="en-US" dirty="0"/>
              <a:t>초 간격 </a:t>
            </a:r>
            <a:r>
              <a:rPr lang="en-US" altLang="ko-KR" dirty="0"/>
              <a:t>main</a:t>
            </a:r>
            <a:r>
              <a:rPr lang="ko-KR" altLang="en-US" dirty="0"/>
              <a:t> 출력</a:t>
            </a:r>
            <a:r>
              <a:rPr lang="en-US" altLang="ko-KR" dirty="0"/>
              <a:t>, </a:t>
            </a:r>
            <a:r>
              <a:rPr lang="en-US" altLang="ko-KR" dirty="0" err="1"/>
              <a:t>thBlk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1</a:t>
            </a:r>
            <a:r>
              <a:rPr lang="ko-KR" altLang="en-US" dirty="0">
                <a:sym typeface="Wingdings" panose="05000000000000000000" pitchFamily="2" charset="2"/>
              </a:rPr>
              <a:t>초 간격 </a:t>
            </a:r>
            <a:r>
              <a:rPr lang="en-US" altLang="ko-KR" dirty="0">
                <a:sym typeface="Wingdings" panose="05000000000000000000" pitchFamily="2" charset="2"/>
              </a:rPr>
              <a:t>LED </a:t>
            </a:r>
            <a:r>
              <a:rPr lang="ko-KR" altLang="en-US" dirty="0">
                <a:sym typeface="Wingdings" panose="05000000000000000000" pitchFamily="2" charset="2"/>
              </a:rPr>
              <a:t>점멸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F7EEA-46BF-4F90-7310-719673BC1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D9F35-A6B6-50EE-B5B2-45C75B648871}"/>
              </a:ext>
            </a:extLst>
          </p:cNvPr>
          <p:cNvSpPr txBox="1"/>
          <p:nvPr/>
        </p:nvSpPr>
        <p:spPr>
          <a:xfrm>
            <a:off x="859284" y="5939173"/>
            <a:ext cx="7425431" cy="33855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Shell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마다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“main”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출력되고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동시에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간격으로 점멸함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65772ED-BD7D-264C-FF22-07A7BCECD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408" y="2016109"/>
            <a:ext cx="4561983" cy="33666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DC22036-199F-A189-D1F4-E9E5FCDDD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016109"/>
            <a:ext cx="4047619" cy="36857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9511071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3BE1-2057-AD9F-7184-0F7E090B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4FE3C-8028-46A8-EDBB-7BDD5A10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11. </a:t>
            </a:r>
            <a:r>
              <a:rPr lang="ko-KR" altLang="en-US" dirty="0"/>
              <a:t>쓰레드를 이용한 </a:t>
            </a:r>
            <a:r>
              <a:rPr lang="en-US" altLang="ko-KR" dirty="0"/>
              <a:t>LED </a:t>
            </a:r>
            <a:r>
              <a:rPr lang="ko-KR" altLang="en-US" dirty="0"/>
              <a:t>밝기 조절</a:t>
            </a:r>
            <a:endParaRPr lang="en-US" altLang="ko-KR" dirty="0"/>
          </a:p>
          <a:p>
            <a:pPr lvl="1"/>
            <a:r>
              <a:rPr lang="ko-KR" altLang="en-US" dirty="0"/>
              <a:t>메인 쓰레드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1</a:t>
            </a:r>
            <a:r>
              <a:rPr lang="ko-KR" altLang="en-US" dirty="0"/>
              <a:t>초 간격 </a:t>
            </a:r>
            <a:r>
              <a:rPr lang="en-US" altLang="ko-KR" dirty="0"/>
              <a:t>main</a:t>
            </a:r>
            <a:r>
              <a:rPr lang="ko-KR" altLang="en-US" dirty="0"/>
              <a:t> 출력</a:t>
            </a:r>
            <a:r>
              <a:rPr lang="en-US" altLang="ko-KR" dirty="0"/>
              <a:t>, </a:t>
            </a:r>
            <a:r>
              <a:rPr lang="en-US" altLang="ko-KR" dirty="0" err="1"/>
              <a:t>thFad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2</a:t>
            </a:r>
            <a:r>
              <a:rPr lang="ko-KR" altLang="en-US" dirty="0">
                <a:sym typeface="Wingdings" panose="05000000000000000000" pitchFamily="2" charset="2"/>
              </a:rPr>
              <a:t>초 간격 밝기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변화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F7EEA-46BF-4F90-7310-719673BC1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D9F35-A6B6-50EE-B5B2-45C75B648871}"/>
              </a:ext>
            </a:extLst>
          </p:cNvPr>
          <p:cNvSpPr txBox="1"/>
          <p:nvPr/>
        </p:nvSpPr>
        <p:spPr>
          <a:xfrm>
            <a:off x="4766048" y="5292150"/>
            <a:ext cx="4292227" cy="5847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Shell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마다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“main”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출력되고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동시에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주기로 밝아졌다 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어두워짐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CBC7976-AE59-BC6A-F773-3D04B16FC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82" y="1988840"/>
            <a:ext cx="4365006" cy="27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D7214B-DB3C-DB63-E5E9-2055CF2EC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73" y="1988840"/>
            <a:ext cx="4372139" cy="45119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429463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07090-06A4-57D0-CAF0-87F8D8B8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360FB-32F5-AE43-AB35-B77AA3A2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41F5D7-BEBE-4D19-2486-4E2CB6C24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11. </a:t>
            </a:r>
            <a:r>
              <a:rPr lang="ko-KR" altLang="en-US" dirty="0"/>
              <a:t>실행결과</a:t>
            </a:r>
            <a:endParaRPr lang="en-US" altLang="ko-KR" dirty="0"/>
          </a:p>
          <a:p>
            <a:pPr lvl="1"/>
            <a:r>
              <a:rPr lang="ko-KR" altLang="en-US" dirty="0"/>
              <a:t>메인 쓰레드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1</a:t>
            </a:r>
            <a:r>
              <a:rPr lang="ko-KR" altLang="en-US" dirty="0"/>
              <a:t>초 간격 </a:t>
            </a:r>
            <a:r>
              <a:rPr lang="en-US" altLang="ko-KR" dirty="0"/>
              <a:t>main</a:t>
            </a:r>
            <a:r>
              <a:rPr lang="ko-KR" altLang="en-US" dirty="0"/>
              <a:t> 출력</a:t>
            </a:r>
            <a:r>
              <a:rPr lang="en-US" altLang="ko-KR" dirty="0"/>
              <a:t>, </a:t>
            </a:r>
            <a:r>
              <a:rPr lang="en-US" altLang="ko-KR" dirty="0" err="1"/>
              <a:t>thFad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2</a:t>
            </a:r>
            <a:r>
              <a:rPr lang="ko-KR" altLang="en-US" dirty="0">
                <a:sym typeface="Wingdings" panose="05000000000000000000" pitchFamily="2" charset="2"/>
              </a:rPr>
              <a:t>초 간격 밝기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변화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C5D63D-7FA2-D010-E0A1-3D339F627B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017120D-8E1E-BBDA-BC0B-CADD04F54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636911"/>
            <a:ext cx="1943125" cy="18722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KakaoTalk_20250925_135602904">
            <a:hlinkClick r:id="" action="ppaction://media"/>
            <a:extLst>
              <a:ext uri="{FF2B5EF4-FFF2-40B4-BE49-F238E27FC236}">
                <a16:creationId xmlns:a16="http://schemas.microsoft.com/office/drawing/2014/main" id="{26D79203-DBF4-A877-C973-6ED1A11E24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6200000">
            <a:off x="4454942" y="1745858"/>
            <a:ext cx="2304255" cy="408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209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1F464-12D1-9D1F-961C-DFAF105D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38FA0-0ADE-0A75-CA1F-17F42623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 </a:t>
            </a:r>
            <a:r>
              <a:rPr lang="ko-KR" altLang="en-US" dirty="0"/>
              <a:t>실습회로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E6D808-3878-01AC-22F2-054E1E66A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pic>
        <p:nvPicPr>
          <p:cNvPr id="5" name="그림 4" descr="도표, 라인, 전자 공학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1C37A0-6D55-856D-753C-E76FFF854B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9" y="1558098"/>
            <a:ext cx="7200802" cy="3741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C0DCA7-D67B-BABD-6E20-80DC7624D8A3}"/>
              </a:ext>
            </a:extLst>
          </p:cNvPr>
          <p:cNvSpPr txBox="1"/>
          <p:nvPr/>
        </p:nvSpPr>
        <p:spPr>
          <a:xfrm>
            <a:off x="5436096" y="2080593"/>
            <a:ext cx="457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#17</a:t>
            </a:r>
            <a:endParaRPr lang="ko-KR" altLang="en-US" sz="1400" b="1" dirty="0">
              <a:solidFill>
                <a:srgbClr val="0070C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1B46A1-CF47-ABFF-A6EB-07B43725872D}"/>
              </a:ext>
            </a:extLst>
          </p:cNvPr>
          <p:cNvSpPr txBox="1"/>
          <p:nvPr/>
        </p:nvSpPr>
        <p:spPr>
          <a:xfrm>
            <a:off x="7620572" y="2399676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660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#27</a:t>
            </a:r>
            <a:endParaRPr lang="ko-KR" altLang="en-US" sz="1400" b="1" dirty="0">
              <a:solidFill>
                <a:srgbClr val="FF660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22EB06-59BF-2BF2-5FF8-6A5D8753556A}"/>
              </a:ext>
            </a:extLst>
          </p:cNvPr>
          <p:cNvSpPr txBox="1"/>
          <p:nvPr/>
        </p:nvSpPr>
        <p:spPr>
          <a:xfrm>
            <a:off x="3754656" y="1355842"/>
            <a:ext cx="4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3V3</a:t>
            </a:r>
            <a:endParaRPr lang="ko-KR" altLang="en-US" sz="1400" b="1" dirty="0">
              <a:solidFill>
                <a:srgbClr val="C0000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5F7AA-9472-882E-D745-FD8A9E01A886}"/>
              </a:ext>
            </a:extLst>
          </p:cNvPr>
          <p:cNvSpPr txBox="1"/>
          <p:nvPr/>
        </p:nvSpPr>
        <p:spPr>
          <a:xfrm>
            <a:off x="3714580" y="1810296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GND</a:t>
            </a:r>
            <a:endParaRPr lang="ko-KR" altLang="en-US" sz="1400" b="1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4D3EF-4912-85FE-8ECF-8F28D1BB9812}"/>
              </a:ext>
            </a:extLst>
          </p:cNvPr>
          <p:cNvSpPr txBox="1"/>
          <p:nvPr/>
        </p:nvSpPr>
        <p:spPr>
          <a:xfrm>
            <a:off x="5239888" y="4992125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220</a:t>
            </a:r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Symbol" panose="05050102010706020507" pitchFamily="18" charset="2"/>
              </a:rPr>
              <a:t> (</a:t>
            </a:r>
            <a:r>
              <a:rPr lang="ko-KR" altLang="en-US" sz="1400" b="1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Symbol" panose="05050102010706020507" pitchFamily="18" charset="2"/>
              </a:rPr>
              <a:t>적적갈</a:t>
            </a:r>
            <a:r>
              <a:rPr lang="en-US" altLang="ko-KR" sz="14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Symbol" panose="05050102010706020507" pitchFamily="18" charset="2"/>
              </a:rPr>
              <a:t>)</a:t>
            </a:r>
            <a:endParaRPr lang="ko-KR" altLang="en-US" sz="1400" b="1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09AC7-0DD3-8C3C-B80E-F4A05A6AC2BC}"/>
              </a:ext>
            </a:extLst>
          </p:cNvPr>
          <p:cNvSpPr txBox="1"/>
          <p:nvPr/>
        </p:nvSpPr>
        <p:spPr>
          <a:xfrm>
            <a:off x="5900767" y="2118073"/>
            <a:ext cx="46038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AC7F0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#18</a:t>
            </a:r>
            <a:endParaRPr lang="ko-KR" altLang="en-US" sz="1400" b="1" dirty="0">
              <a:solidFill>
                <a:srgbClr val="AC7F0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157045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3BE1-2057-AD9F-7184-0F7E090B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4FE3C-8028-46A8-EDBB-7BDD5A10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12. </a:t>
            </a:r>
            <a:r>
              <a:rPr lang="ko-KR" altLang="en-US" dirty="0" err="1"/>
              <a:t>다중쓰레드를</a:t>
            </a:r>
            <a:r>
              <a:rPr lang="ko-KR" altLang="en-US" dirty="0"/>
              <a:t> 이용한 </a:t>
            </a:r>
            <a:r>
              <a:rPr lang="en-US" altLang="ko-KR" dirty="0"/>
              <a:t>LED </a:t>
            </a:r>
            <a:r>
              <a:rPr lang="ko-KR" altLang="en-US" dirty="0"/>
              <a:t>점멸 및</a:t>
            </a:r>
            <a:r>
              <a:rPr lang="en-US" altLang="ko-KR" dirty="0"/>
              <a:t> </a:t>
            </a:r>
            <a:r>
              <a:rPr lang="ko-KR" altLang="en-US" dirty="0"/>
              <a:t>밝기 조절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F7EEA-46BF-4F90-7310-719673BC1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3C13D3-8AA8-44F6-AD55-BE430A021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95" y="1426658"/>
            <a:ext cx="5293409" cy="50741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0070350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3BE1-2057-AD9F-7184-0F7E090B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dirty="0"/>
              <a:t>(</a:t>
            </a:r>
            <a:r>
              <a:rPr lang="en-US" altLang="ko-KR" dirty="0" err="1"/>
              <a:t>Threead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F7EEA-46BF-4F90-7310-719673BC1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80901E-2839-3029-D8B6-CA5012DD7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979510"/>
            <a:ext cx="4371429" cy="5438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KakaoTalk_20250916_160338406">
            <a:hlinkClick r:id="" action="ppaction://media"/>
            <a:extLst>
              <a:ext uri="{FF2B5EF4-FFF2-40B4-BE49-F238E27FC236}">
                <a16:creationId xmlns:a16="http://schemas.microsoft.com/office/drawing/2014/main" id="{65317A73-8EBD-88A0-ACDD-9111118749C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3155" y="1916832"/>
            <a:ext cx="4098621" cy="230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412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08B98-5E73-3E4D-6B60-D3DF1239E7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98D09B-2246-030D-A0E2-36191247790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9F7FC7-2CE8-764A-CC40-EA7B6E2A8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03" y="1052736"/>
            <a:ext cx="504699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69774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143F2-5109-BFF0-7572-9CD5CC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MCP3208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7010-B8FF-9493-61CE-86F9D2C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MCP 3208</a:t>
            </a:r>
          </a:p>
          <a:p>
            <a:pPr lvl="1"/>
            <a:r>
              <a:rPr lang="en-US" altLang="ko-KR" dirty="0"/>
              <a:t>ADC (Analog to Digital </a:t>
            </a:r>
            <a:r>
              <a:rPr lang="en-US" altLang="ko-KR" dirty="0" err="1"/>
              <a:t>Conveter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12bits</a:t>
            </a:r>
            <a:r>
              <a:rPr lang="ko-KR" altLang="en-US" dirty="0"/>
              <a:t> 해상도 </a:t>
            </a:r>
            <a:r>
              <a:rPr lang="en-US" altLang="ko-KR" dirty="0"/>
              <a:t>: 0~4095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값</a:t>
            </a:r>
            <a:endParaRPr lang="en-US" altLang="ko-KR" dirty="0"/>
          </a:p>
          <a:p>
            <a:pPr lvl="1"/>
            <a:r>
              <a:rPr lang="en-US" altLang="ko-KR" dirty="0"/>
              <a:t>8</a:t>
            </a:r>
            <a:r>
              <a:rPr lang="ko-KR" altLang="en-US" dirty="0"/>
              <a:t>개의 단일입력 혹은 </a:t>
            </a:r>
            <a:r>
              <a:rPr lang="en-US" altLang="ko-KR" dirty="0"/>
              <a:t>4</a:t>
            </a:r>
            <a:r>
              <a:rPr lang="ko-KR" altLang="en-US" dirty="0"/>
              <a:t>개의 차등입력</a:t>
            </a:r>
            <a:endParaRPr lang="en-US" altLang="ko-KR" dirty="0"/>
          </a:p>
          <a:p>
            <a:pPr lvl="1"/>
            <a:r>
              <a:rPr lang="en-US" altLang="ko-KR" dirty="0"/>
              <a:t>SPI </a:t>
            </a:r>
            <a:r>
              <a:rPr lang="ko-KR" altLang="en-US" dirty="0"/>
              <a:t>직렬 인터페이스 이용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100ksps </a:t>
            </a:r>
            <a:r>
              <a:rPr lang="ko-KR" altLang="en-US" dirty="0"/>
              <a:t>의 속도로 변환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131DF-E530-9CA1-8E3C-22F5B333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EE9649-929D-670B-5A93-62F5964EA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916" y="1340768"/>
            <a:ext cx="3647619" cy="2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75590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143F2-5109-BFF0-7572-9CD5CC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MCP3208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7010-B8FF-9493-61CE-86F9D2C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핀 배열 및 기능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131DF-E530-9CA1-8E3C-22F5B333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416B05-F67B-C6A7-B3CE-0E618D76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16" y="2259731"/>
            <a:ext cx="3633894" cy="3024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4D61034F-87D1-8818-FC95-CC5A7FA2EC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55976" y="1879849"/>
              <a:ext cx="4536504" cy="37204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136">
                      <a:extLst>
                        <a:ext uri="{9D8B030D-6E8A-4147-A177-3AD203B41FA5}">
                          <a16:colId xmlns:a16="http://schemas.microsoft.com/office/drawing/2014/main" val="1816187211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9015085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Pin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Function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5407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CH0~CH7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Analog Inputs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5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DD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Power Supply(+2.7~5.5V)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8856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REF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Reference Voltage Input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4702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AGND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Analog Ground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68373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CLK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Serial Clock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2184819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OUT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Serial Data OUT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4723572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IN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Serial Data 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5621620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ko-K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</a:rPr>
                                    <m:t>CS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/SHDN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Chip Select / Shutdown Input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152658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DGND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Digital Ground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63715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4D61034F-87D1-8818-FC95-CC5A7FA2EC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5677484"/>
                  </p:ext>
                </p:extLst>
              </p:nvPr>
            </p:nvGraphicFramePr>
            <p:xfrm>
              <a:off x="4355976" y="1879849"/>
              <a:ext cx="4536504" cy="37204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136">
                      <a:extLst>
                        <a:ext uri="{9D8B030D-6E8A-4147-A177-3AD203B41FA5}">
                          <a16:colId xmlns:a16="http://schemas.microsoft.com/office/drawing/2014/main" val="1816187211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9015085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Pin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Function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5407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CH0~CH7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Analog Inputs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5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DD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Power Supply(+2.7~5.5V)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8856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REF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Reference Voltage Input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4702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AGND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Analog Ground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68373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CLK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Serial Clock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21848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OUT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Serial Data OUT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4723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</a:t>
                          </a:r>
                          <a:r>
                            <a:rPr lang="en-US" altLang="ko-KR" baseline="-250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IN</a:t>
                          </a:r>
                          <a:endParaRPr lang="ko-KR" altLang="en-US" baseline="-250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Serial Data 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5621620"/>
                      </a:ext>
                    </a:extLst>
                  </a:tr>
                  <a:tr h="39808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755385" r="-271144" b="-1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Chip Select / Shutdown Input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1526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DGND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Digital Ground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63715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5368357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FA27F-ADDB-FF94-2D78-F013CACF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1DFD00-53AD-5819-3775-CD6FF416B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SPI (Serial Peripheral Interface)</a:t>
            </a:r>
          </a:p>
          <a:p>
            <a:pPr lvl="1"/>
            <a:r>
              <a:rPr lang="ko-KR" altLang="en-US" dirty="0"/>
              <a:t>플래시</a:t>
            </a:r>
            <a:r>
              <a:rPr lang="en-US" altLang="ko-KR" dirty="0"/>
              <a:t> </a:t>
            </a:r>
            <a:r>
              <a:rPr lang="ko-KR" altLang="en-US" dirty="0"/>
              <a:t>메모리</a:t>
            </a:r>
            <a:r>
              <a:rPr lang="en-US" altLang="ko-KR" dirty="0"/>
              <a:t>, </a:t>
            </a:r>
            <a:r>
              <a:rPr lang="ko-KR" altLang="en-US" dirty="0"/>
              <a:t>센서</a:t>
            </a:r>
            <a:r>
              <a:rPr lang="en-US" altLang="ko-KR" dirty="0"/>
              <a:t>, </a:t>
            </a:r>
            <a:r>
              <a:rPr lang="ko-KR" altLang="en-US" dirty="0"/>
              <a:t>실시간 시계</a:t>
            </a:r>
            <a:r>
              <a:rPr lang="en-US" altLang="ko-KR" dirty="0"/>
              <a:t>(RTC), ADC </a:t>
            </a:r>
            <a:r>
              <a:rPr lang="ko-KR" altLang="en-US" dirty="0"/>
              <a:t>등의 통신에 일반적으로 사용하는 직렬 인터페이스</a:t>
            </a:r>
            <a:endParaRPr lang="en-US" altLang="ko-KR" dirty="0"/>
          </a:p>
          <a:p>
            <a:pPr lvl="1"/>
            <a:r>
              <a:rPr lang="ko-KR" altLang="en-US" dirty="0" err="1"/>
              <a:t>모토롤라</a:t>
            </a:r>
            <a:r>
              <a:rPr lang="ko-KR" altLang="en-US" dirty="0"/>
              <a:t> 사에서 개발</a:t>
            </a:r>
            <a:endParaRPr lang="en-US" altLang="ko-KR" dirty="0"/>
          </a:p>
          <a:p>
            <a:pPr lvl="1"/>
            <a:r>
              <a:rPr lang="ko-KR" altLang="en-US" dirty="0"/>
              <a:t>마스터와 </a:t>
            </a:r>
            <a:r>
              <a:rPr lang="ko-KR" altLang="en-US" dirty="0" err="1"/>
              <a:t>슬레이브</a:t>
            </a:r>
            <a:r>
              <a:rPr lang="ko-KR" altLang="en-US" dirty="0"/>
              <a:t> 간 </a:t>
            </a:r>
            <a:r>
              <a:rPr lang="ko-KR" altLang="en-US" dirty="0" err="1"/>
              <a:t>전이중</a:t>
            </a:r>
            <a:r>
              <a:rPr lang="en-US" altLang="ko-KR" dirty="0"/>
              <a:t>(full-duplex, </a:t>
            </a:r>
            <a:r>
              <a:rPr lang="ko-KR" altLang="en-US" dirty="0"/>
              <a:t>동시 양방향 통신 가능</a:t>
            </a:r>
            <a:r>
              <a:rPr lang="en-US" altLang="ko-KR" dirty="0"/>
              <a:t>) </a:t>
            </a:r>
            <a:r>
              <a:rPr lang="ko-KR" altLang="en-US" dirty="0"/>
              <a:t>동기식</a:t>
            </a:r>
            <a:r>
              <a:rPr lang="en-US" altLang="ko-KR" dirty="0"/>
              <a:t> </a:t>
            </a:r>
            <a:r>
              <a:rPr lang="ko-KR" altLang="en-US" dirty="0"/>
              <a:t>직렬 통신 제공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4EB14-CECD-465F-E5F0-42F5A7610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A37457-3DE1-37E9-54DA-46600AFC2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8" y="3789040"/>
            <a:ext cx="4116414" cy="2591211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C79A8A1-1E77-6CE0-658F-8A182705D38A}"/>
              </a:ext>
            </a:extLst>
          </p:cNvPr>
          <p:cNvGraphicFramePr>
            <a:graphicFrameLocks noGrp="1"/>
          </p:cNvGraphicFramePr>
          <p:nvPr/>
        </p:nvGraphicFramePr>
        <p:xfrm>
          <a:off x="4224364" y="3366948"/>
          <a:ext cx="4792179" cy="3009900"/>
        </p:xfrm>
        <a:graphic>
          <a:graphicData uri="http://schemas.openxmlformats.org/drawingml/2006/table">
            <a:tbl>
              <a:tblPr/>
              <a:tblGrid>
                <a:gridCol w="635668">
                  <a:extLst>
                    <a:ext uri="{9D8B030D-6E8A-4147-A177-3AD203B41FA5}">
                      <a16:colId xmlns:a16="http://schemas.microsoft.com/office/drawing/2014/main" val="446115638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763755987"/>
                    </a:ext>
                  </a:extLst>
                </a:gridCol>
                <a:gridCol w="1564223">
                  <a:extLst>
                    <a:ext uri="{9D8B030D-6E8A-4147-A177-3AD203B41FA5}">
                      <a16:colId xmlns:a16="http://schemas.microsoft.com/office/drawing/2014/main" val="3735874185"/>
                    </a:ext>
                  </a:extLst>
                </a:gridCol>
              </a:tblGrid>
              <a:tr h="5471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Function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Alternate</a:t>
                      </a:r>
                    </a:p>
                    <a:p>
                      <a:pPr algn="ctr"/>
                      <a:r>
                        <a:rPr lang="en-US" sz="16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labels...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98724"/>
                  </a:ext>
                </a:extLst>
              </a:tr>
              <a:tr h="54718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SCLK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Clock (output from master)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SCK, CLK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722366"/>
                  </a:ext>
                </a:extLst>
              </a:tr>
              <a:tr h="54718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MOSI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Master Output Slave Input (data output from master)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SDI, DIN, SI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748762"/>
                  </a:ext>
                </a:extLst>
              </a:tr>
              <a:tr h="54718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MISO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Master Input Slave Output(data output from slave)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SDO, DOUT, SO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296533"/>
                  </a:ext>
                </a:extLst>
              </a:tr>
              <a:tr h="54718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Slave Select (often active </a:t>
                      </a:r>
                    </a:p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low, output from master)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CE, SSEL, CS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55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911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832341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0BBA6-3380-7C68-5622-CBF12589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SPI </a:t>
            </a:r>
            <a:r>
              <a:rPr lang="ko-KR" altLang="en-US" dirty="0"/>
              <a:t>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731D3-1646-DC71-8129-C9D2C1669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46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78FC0-7056-0320-3425-CBC60EEBF61F}"/>
              </a:ext>
            </a:extLst>
          </p:cNvPr>
          <p:cNvSpPr txBox="1"/>
          <p:nvPr/>
        </p:nvSpPr>
        <p:spPr>
          <a:xfrm>
            <a:off x="2987824" y="6179726"/>
            <a:ext cx="3763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Newer models have a 2</a:t>
            </a:r>
            <a:r>
              <a:rPr lang="en-US" altLang="ko-KR" sz="1800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nd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SPI Bus.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89A8D0-2A7E-7617-B96D-FE06216A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5" y="1124744"/>
            <a:ext cx="8092750" cy="48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3658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242B5-06A2-00F2-2F88-61E8A75A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</a:t>
            </a:r>
            <a:r>
              <a:rPr lang="ko-KR" altLang="en-US" dirty="0"/>
              <a:t> 내부 </a:t>
            </a:r>
            <a:r>
              <a:rPr lang="ko-KR" altLang="en-US" dirty="0" err="1"/>
              <a:t>블럭도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1C541-CC11-7C3C-569C-AFD4C1FAB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47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DE2628-868A-8A89-768E-B70925136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3" y="1181836"/>
            <a:ext cx="6048674" cy="50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11840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D967E-FFB5-C5FD-7698-370807EB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</a:t>
            </a:r>
            <a:r>
              <a:rPr lang="ko-KR" altLang="en-US" dirty="0"/>
              <a:t> 데이터 포맷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81777-97BE-F3B7-0E8A-687FD6F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 </a:t>
            </a:r>
            <a:r>
              <a:rPr lang="ko-KR" altLang="en-US" dirty="0"/>
              <a:t>데이터 포맷</a:t>
            </a:r>
            <a:endParaRPr lang="en-US" altLang="ko-KR" dirty="0"/>
          </a:p>
          <a:p>
            <a:pPr lvl="1"/>
            <a:r>
              <a:rPr lang="en-US" altLang="ko-KR" dirty="0"/>
              <a:t>CS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en-US" altLang="ko-KR" dirty="0">
                <a:sym typeface="Wingdings" panose="05000000000000000000" pitchFamily="2" charset="2"/>
              </a:rPr>
              <a:t>0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통신 시작</a:t>
            </a:r>
            <a:r>
              <a:rPr lang="en-US" altLang="ko-KR" dirty="0">
                <a:sym typeface="Wingdings" panose="05000000000000000000" pitchFamily="2" charset="2"/>
              </a:rPr>
              <a:t>, SCLK</a:t>
            </a:r>
            <a:r>
              <a:rPr lang="ko-KR" altLang="en-US" dirty="0">
                <a:sym typeface="Wingdings" panose="05000000000000000000" pitchFamily="2" charset="2"/>
              </a:rPr>
              <a:t>로 클럭 신호 발생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</a:t>
            </a:r>
            <a:r>
              <a:rPr lang="en-US" altLang="ko-KR" baseline="-25000" dirty="0">
                <a:sym typeface="Wingdings" panose="05000000000000000000" pitchFamily="2" charset="2"/>
              </a:rPr>
              <a:t>IN</a:t>
            </a:r>
            <a:r>
              <a:rPr lang="en-US" altLang="ko-KR" dirty="0">
                <a:sym typeface="Wingdings" panose="05000000000000000000" pitchFamily="2" charset="2"/>
              </a:rPr>
              <a:t> : SGL/DIFF  </a:t>
            </a:r>
            <a:r>
              <a:rPr lang="ko-KR" altLang="en-US" dirty="0">
                <a:sym typeface="Wingdings" panose="05000000000000000000" pitchFamily="2" charset="2"/>
              </a:rPr>
              <a:t>단일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차등 입력 지정</a:t>
            </a:r>
            <a:r>
              <a:rPr lang="en-US" altLang="ko-KR" dirty="0">
                <a:sym typeface="Wingdings" panose="05000000000000000000" pitchFamily="2" charset="2"/>
              </a:rPr>
              <a:t>, D2~D0  </a:t>
            </a:r>
            <a:r>
              <a:rPr lang="ko-KR" altLang="en-US" dirty="0">
                <a:sym typeface="Wingdings" panose="05000000000000000000" pitchFamily="2" charset="2"/>
              </a:rPr>
              <a:t>입력채널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</a:t>
            </a:r>
            <a:r>
              <a:rPr lang="en-US" altLang="ko-KR" baseline="-25000" dirty="0">
                <a:sym typeface="Wingdings" panose="05000000000000000000" pitchFamily="2" charset="2"/>
              </a:rPr>
              <a:t>OUT</a:t>
            </a:r>
            <a:r>
              <a:rPr lang="en-US" altLang="ko-KR" dirty="0">
                <a:sym typeface="Wingdings" panose="05000000000000000000" pitchFamily="2" charset="2"/>
              </a:rPr>
              <a:t> :  Null </a:t>
            </a:r>
            <a:r>
              <a:rPr lang="ko-KR" altLang="en-US" dirty="0">
                <a:sym typeface="Wingdings" panose="05000000000000000000" pitchFamily="2" charset="2"/>
              </a:rPr>
              <a:t>비트와</a:t>
            </a:r>
            <a:r>
              <a:rPr lang="en-US" altLang="ko-KR" dirty="0">
                <a:sym typeface="Wingdings" panose="05000000000000000000" pitchFamily="2" charset="2"/>
              </a:rPr>
              <a:t> 12</a:t>
            </a:r>
            <a:r>
              <a:rPr lang="ko-KR" altLang="en-US" dirty="0">
                <a:sym typeface="Wingdings" panose="05000000000000000000" pitchFamily="2" charset="2"/>
              </a:rPr>
              <a:t>비트의 데이터 전송</a:t>
            </a:r>
            <a:r>
              <a:rPr lang="en-US" altLang="ko-KR" dirty="0">
                <a:sym typeface="Wingdings" panose="05000000000000000000" pitchFamily="2" charset="2"/>
              </a:rPr>
              <a:t>(MSB)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AE1F-0B38-527E-EE3A-EC5B428AF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48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DFB918A-7C51-373B-F867-A9EC58CC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4" y="2924944"/>
            <a:ext cx="7848872" cy="3248776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A64ADB-6113-1C4E-6D0C-1391FB6EC0C9}"/>
              </a:ext>
            </a:extLst>
          </p:cNvPr>
          <p:cNvSpPr/>
          <p:nvPr/>
        </p:nvSpPr>
        <p:spPr>
          <a:xfrm>
            <a:off x="1331640" y="3268587"/>
            <a:ext cx="216024" cy="4320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5E59A74-BCC6-0254-B329-41E388FC9860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1547664" y="3431467"/>
            <a:ext cx="761554" cy="531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500452-6365-6357-AEFA-6642D083D4C9}"/>
              </a:ext>
            </a:extLst>
          </p:cNvPr>
          <p:cNvSpPr/>
          <p:nvPr/>
        </p:nvSpPr>
        <p:spPr>
          <a:xfrm>
            <a:off x="2309218" y="3251447"/>
            <a:ext cx="1758725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0 :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통신시작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B73699-2CA1-6BE7-00D5-9308A7B80696}"/>
              </a:ext>
            </a:extLst>
          </p:cNvPr>
          <p:cNvSpPr/>
          <p:nvPr/>
        </p:nvSpPr>
        <p:spPr>
          <a:xfrm>
            <a:off x="1763688" y="3954579"/>
            <a:ext cx="5256584" cy="3600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is clocked out of A/D Converter on falling edges.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402871D-C3F9-8565-492C-EAD95BF04506}"/>
              </a:ext>
            </a:extLst>
          </p:cNvPr>
          <p:cNvSpPr/>
          <p:nvPr/>
        </p:nvSpPr>
        <p:spPr>
          <a:xfrm>
            <a:off x="1434181" y="4571640"/>
            <a:ext cx="1192559" cy="4320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6FF92FF-8EE0-5851-937D-68BCE33495B8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2626740" y="4787664"/>
            <a:ext cx="561840" cy="2622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FD1530C-8737-14A4-B784-4A4D9884DC59}"/>
              </a:ext>
            </a:extLst>
          </p:cNvPr>
          <p:cNvSpPr/>
          <p:nvPr/>
        </p:nvSpPr>
        <p:spPr>
          <a:xfrm>
            <a:off x="3188580" y="4869848"/>
            <a:ext cx="491181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시그널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수신 후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방식 및 채널번호 수신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7CD1683-6699-8A60-29D8-BB97F396A98C}"/>
              </a:ext>
            </a:extLst>
          </p:cNvPr>
          <p:cNvSpPr/>
          <p:nvPr/>
        </p:nvSpPr>
        <p:spPr>
          <a:xfrm>
            <a:off x="2673585" y="5212373"/>
            <a:ext cx="2906527" cy="4320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8096DB2-5640-34A3-BC41-3CEC6EDE6E92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4126849" y="5644421"/>
            <a:ext cx="456263" cy="3852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03D455-25AF-5B7D-8610-51E87F69283C}"/>
              </a:ext>
            </a:extLst>
          </p:cNvPr>
          <p:cNvSpPr/>
          <p:nvPr/>
        </p:nvSpPr>
        <p:spPr>
          <a:xfrm>
            <a:off x="2127206" y="6029704"/>
            <a:ext cx="491181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NULL(0)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전송 후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12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비트의 아날로그 데이터 전송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BB9018-849D-6330-26F3-F11135E956BD}"/>
              </a:ext>
            </a:extLst>
          </p:cNvPr>
          <p:cNvSpPr/>
          <p:nvPr/>
        </p:nvSpPr>
        <p:spPr>
          <a:xfrm>
            <a:off x="5580112" y="5229888"/>
            <a:ext cx="2319524" cy="7462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6171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20" grpId="0" animBg="1"/>
      <p:bldP spid="21" grpId="0" animBg="1"/>
      <p:bldP spid="23" grpId="0" animBg="1"/>
      <p:bldP spid="28" grpId="0" animBg="1"/>
      <p:bldP spid="3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D967E-FFB5-C5FD-7698-370807EB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</a:t>
            </a:r>
            <a:r>
              <a:rPr lang="ko-KR" altLang="en-US" dirty="0"/>
              <a:t> 데이터 포맷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81777-97BE-F3B7-0E8A-687FD6F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</a:t>
            </a:r>
            <a:r>
              <a:rPr lang="en-US" altLang="ko-KR" baseline="-25000" dirty="0"/>
              <a:t>IN</a:t>
            </a:r>
            <a:r>
              <a:rPr lang="ko-KR" altLang="en-US" dirty="0"/>
              <a:t> 비트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AE1F-0B38-527E-EE3A-EC5B428AF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49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DE44A9-6F99-8486-9520-74C13B6432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3"/>
          <a:stretch/>
        </p:blipFill>
        <p:spPr>
          <a:xfrm>
            <a:off x="296516" y="1652704"/>
            <a:ext cx="7542857" cy="4193925"/>
          </a:xfrm>
          <a:prstGeom prst="rect">
            <a:avLst/>
          </a:prstGeom>
        </p:spPr>
      </p:pic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A7EE479F-BD11-920A-5C0A-28370705711B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5714747"/>
          <a:ext cx="260352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41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48A5011-39A8-77AB-734A-42EF2E2A5A7C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3599171"/>
          <a:ext cx="259228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36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36A2CF3-6A29-02F0-5681-BF4BF4366582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4128065"/>
          <a:ext cx="259228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36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31CE5E0-3BDA-4CB2-8214-9470ABA493CA}"/>
              </a:ext>
            </a:extLst>
          </p:cNvPr>
          <p:cNvGraphicFramePr>
            <a:graphicFrameLocks noGrp="1"/>
          </p:cNvGraphicFramePr>
          <p:nvPr/>
        </p:nvGraphicFramePr>
        <p:xfrm>
          <a:off x="5586951" y="5185853"/>
          <a:ext cx="259228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36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0A585BD-3503-E792-99F7-111103DCC9FC}"/>
              </a:ext>
            </a:extLst>
          </p:cNvPr>
          <p:cNvSpPr txBox="1"/>
          <p:nvPr/>
        </p:nvSpPr>
        <p:spPr>
          <a:xfrm>
            <a:off x="8251409" y="4390969"/>
            <a:ext cx="332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C83E9C-F025-DD0D-3B5F-9C8272DFD5CC}"/>
              </a:ext>
            </a:extLst>
          </p:cNvPr>
          <p:cNvSpPr txBox="1"/>
          <p:nvPr/>
        </p:nvSpPr>
        <p:spPr>
          <a:xfrm>
            <a:off x="8176021" y="4862754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&gt;&gt;2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007BF8-F922-7781-2821-CA1154A49B4A}"/>
              </a:ext>
            </a:extLst>
          </p:cNvPr>
          <p:cNvSpPr txBox="1"/>
          <p:nvPr/>
        </p:nvSpPr>
        <p:spPr>
          <a:xfrm>
            <a:off x="8200214" y="5714747"/>
            <a:ext cx="466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0x6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E346F-BD30-78A9-166F-8D97CFB5AFD0}"/>
              </a:ext>
            </a:extLst>
          </p:cNvPr>
          <p:cNvSpPr txBox="1"/>
          <p:nvPr/>
        </p:nvSpPr>
        <p:spPr>
          <a:xfrm>
            <a:off x="8164984" y="3573016"/>
            <a:ext cx="466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0x7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7DB74-0604-8FAE-11AD-9925DC20B29E}"/>
              </a:ext>
            </a:extLst>
          </p:cNvPr>
          <p:cNvSpPr txBox="1"/>
          <p:nvPr/>
        </p:nvSpPr>
        <p:spPr>
          <a:xfrm>
            <a:off x="8157660" y="4106288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9F0FF5-BE59-6BB4-2F0A-0CF4FB101865}"/>
              </a:ext>
            </a:extLst>
          </p:cNvPr>
          <p:cNvSpPr txBox="1"/>
          <p:nvPr/>
        </p:nvSpPr>
        <p:spPr>
          <a:xfrm>
            <a:off x="8328651" y="6010667"/>
            <a:ext cx="2279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|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9D28F3A-BF6C-EB3F-3B59-2EEE3487DD48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4656959"/>
          <a:ext cx="258487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09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graphicFrame>
        <p:nvGraphicFramePr>
          <p:cNvPr id="21" name="표 8">
            <a:extLst>
              <a:ext uri="{FF2B5EF4-FFF2-40B4-BE49-F238E27FC236}">
                <a16:creationId xmlns:a16="http://schemas.microsoft.com/office/drawing/2014/main" id="{827786DC-3F4C-DB24-3F82-58827C7DB0AA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6192126"/>
          <a:ext cx="260352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41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5441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3665C86-814B-FBEF-B447-D801AC9250A2}"/>
              </a:ext>
            </a:extLst>
          </p:cNvPr>
          <p:cNvSpPr/>
          <p:nvPr/>
        </p:nvSpPr>
        <p:spPr>
          <a:xfrm>
            <a:off x="1043608" y="4581128"/>
            <a:ext cx="1080120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350EC3-6562-E036-3581-179009011529}"/>
              </a:ext>
            </a:extLst>
          </p:cNvPr>
          <p:cNvSpPr/>
          <p:nvPr/>
        </p:nvSpPr>
        <p:spPr>
          <a:xfrm>
            <a:off x="3185372" y="2300740"/>
            <a:ext cx="179620" cy="166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CF7D690-6F1D-802A-9275-A8732CB8D329}"/>
              </a:ext>
            </a:extLst>
          </p:cNvPr>
          <p:cNvSpPr/>
          <p:nvPr/>
        </p:nvSpPr>
        <p:spPr>
          <a:xfrm>
            <a:off x="3635896" y="2300740"/>
            <a:ext cx="179620" cy="166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8AA2FC-82B9-36CA-0358-E31DB6DD8F88}"/>
              </a:ext>
            </a:extLst>
          </p:cNvPr>
          <p:cNvSpPr/>
          <p:nvPr/>
        </p:nvSpPr>
        <p:spPr>
          <a:xfrm>
            <a:off x="3888324" y="2300740"/>
            <a:ext cx="179620" cy="166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413F15B-40A0-6E72-5E8A-20D2AD6367F1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1583668" y="2467068"/>
            <a:ext cx="1691514" cy="21140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7CDE5F4-EF1C-662F-3F05-23AA372755FC}"/>
              </a:ext>
            </a:extLst>
          </p:cNvPr>
          <p:cNvSpPr/>
          <p:nvPr/>
        </p:nvSpPr>
        <p:spPr>
          <a:xfrm>
            <a:off x="1447446" y="2258591"/>
            <a:ext cx="191754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14868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9" grpId="0"/>
      <p:bldP spid="5" grpId="0" animBg="1"/>
      <p:bldP spid="6" grpId="0" animBg="1"/>
      <p:bldP spid="17" grpId="0" animBg="1"/>
      <p:bldP spid="18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D967E-FFB5-C5FD-7698-370807EB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</a:t>
            </a:r>
            <a:r>
              <a:rPr lang="ko-KR" altLang="en-US" dirty="0"/>
              <a:t> 데이터 포맷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81777-97BE-F3B7-0E8A-687FD6F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</a:t>
            </a:r>
            <a:r>
              <a:rPr lang="en-US" altLang="ko-KR" baseline="-25000" dirty="0"/>
              <a:t>IN</a:t>
            </a:r>
            <a:r>
              <a:rPr lang="ko-KR" altLang="en-US" dirty="0"/>
              <a:t> 비트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AE1F-0B38-527E-EE3A-EC5B428AF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DE44A9-6F99-8486-9520-74C13B6432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3"/>
          <a:stretch/>
        </p:blipFill>
        <p:spPr>
          <a:xfrm>
            <a:off x="296516" y="1652704"/>
            <a:ext cx="7542857" cy="4193925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48A5011-39A8-77AB-734A-42EF2E2A5A7C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4057798"/>
          <a:ext cx="259228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36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36A2CF3-6A29-02F0-5681-BF4BF4366582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4586692"/>
          <a:ext cx="259228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36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0A585BD-3503-E792-99F7-111103DCC9FC}"/>
              </a:ext>
            </a:extLst>
          </p:cNvPr>
          <p:cNvSpPr txBox="1"/>
          <p:nvPr/>
        </p:nvSpPr>
        <p:spPr>
          <a:xfrm>
            <a:off x="8262768" y="5093809"/>
            <a:ext cx="332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E346F-BD30-78A9-166F-8D97CFB5AFD0}"/>
              </a:ext>
            </a:extLst>
          </p:cNvPr>
          <p:cNvSpPr txBox="1"/>
          <p:nvPr/>
        </p:nvSpPr>
        <p:spPr>
          <a:xfrm>
            <a:off x="8164984" y="4031643"/>
            <a:ext cx="466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0x7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7DB74-0604-8FAE-11AD-9925DC20B29E}"/>
              </a:ext>
            </a:extLst>
          </p:cNvPr>
          <p:cNvSpPr txBox="1"/>
          <p:nvPr/>
        </p:nvSpPr>
        <p:spPr>
          <a:xfrm>
            <a:off x="8157660" y="4564915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9D28F3A-BF6C-EB3F-3B59-2EEE3487DD48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5115586"/>
          <a:ext cx="258487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09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3109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938044-1335-F06F-EB92-C7BDC7B9E669}"/>
              </a:ext>
            </a:extLst>
          </p:cNvPr>
          <p:cNvGraphicFramePr>
            <a:graphicFrameLocks noGrp="1"/>
          </p:cNvGraphicFramePr>
          <p:nvPr/>
        </p:nvGraphicFramePr>
        <p:xfrm>
          <a:off x="5572696" y="6173374"/>
          <a:ext cx="259228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36">
                  <a:extLst>
                    <a:ext uri="{9D8B030D-6E8A-4147-A177-3AD203B41FA5}">
                      <a16:colId xmlns:a16="http://schemas.microsoft.com/office/drawing/2014/main" val="64108938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58929171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14627715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4007615262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54785404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877926798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69293820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1782228200"/>
                    </a:ext>
                  </a:extLst>
                </a:gridCol>
              </a:tblGrid>
              <a:tr h="247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413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B48145-1CC4-33B7-B751-2BD7368E5066}"/>
              </a:ext>
            </a:extLst>
          </p:cNvPr>
          <p:cNvSpPr txBox="1"/>
          <p:nvPr/>
        </p:nvSpPr>
        <p:spPr>
          <a:xfrm>
            <a:off x="8237154" y="6173374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&lt;&lt;6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B8D0C6-AF03-1E79-A894-BBB1773A81E0}"/>
              </a:ext>
            </a:extLst>
          </p:cNvPr>
          <p:cNvSpPr/>
          <p:nvPr/>
        </p:nvSpPr>
        <p:spPr>
          <a:xfrm>
            <a:off x="1043608" y="4581128"/>
            <a:ext cx="1080120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D48AB0-C43B-EB6A-CF1B-A2D62832C286}"/>
              </a:ext>
            </a:extLst>
          </p:cNvPr>
          <p:cNvSpPr/>
          <p:nvPr/>
        </p:nvSpPr>
        <p:spPr>
          <a:xfrm>
            <a:off x="3185372" y="2300740"/>
            <a:ext cx="179620" cy="166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3E29DA-6CC2-B059-727F-AC4F8FF5C167}"/>
              </a:ext>
            </a:extLst>
          </p:cNvPr>
          <p:cNvSpPr/>
          <p:nvPr/>
        </p:nvSpPr>
        <p:spPr>
          <a:xfrm>
            <a:off x="3635896" y="2300740"/>
            <a:ext cx="179620" cy="166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D1349E-07B3-4436-2D1C-99C5F96D909B}"/>
              </a:ext>
            </a:extLst>
          </p:cNvPr>
          <p:cNvSpPr/>
          <p:nvPr/>
        </p:nvSpPr>
        <p:spPr>
          <a:xfrm>
            <a:off x="3888324" y="2300740"/>
            <a:ext cx="179620" cy="166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6D2DC76-9D3D-50A7-AC26-0657ED11CA5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583668" y="2482680"/>
            <a:ext cx="1997598" cy="20984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6EA83A-CECC-6030-75FD-479DF5180010}"/>
              </a:ext>
            </a:extLst>
          </p:cNvPr>
          <p:cNvSpPr/>
          <p:nvPr/>
        </p:nvSpPr>
        <p:spPr>
          <a:xfrm>
            <a:off x="3581266" y="2266656"/>
            <a:ext cx="191754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57543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6" grpId="0"/>
      <p:bldP spid="8" grpId="0" animBg="1"/>
      <p:bldP spid="14" grpId="0" animBg="1"/>
      <p:bldP spid="17" grpId="0" animBg="1"/>
      <p:bldP spid="18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D967E-FFB5-C5FD-7698-370807EB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</a:t>
            </a:r>
            <a:r>
              <a:rPr lang="ko-KR" altLang="en-US" dirty="0"/>
              <a:t> 데이터 포맷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81777-97BE-F3B7-0E8A-687FD6F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</a:t>
            </a:r>
            <a:r>
              <a:rPr lang="en-US" altLang="ko-KR" baseline="-25000" dirty="0"/>
              <a:t>OUT</a:t>
            </a:r>
            <a:r>
              <a:rPr lang="ko-KR" altLang="en-US" dirty="0"/>
              <a:t> 비트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AE1F-0B38-527E-EE3A-EC5B428AF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B89647-ED16-9B81-6D51-9AFA473A1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00" y="1902547"/>
            <a:ext cx="7600000" cy="1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39249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48AEC-E685-2842-2F89-DFEBFF5A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 </a:t>
            </a:r>
            <a:r>
              <a:rPr lang="ko-KR" altLang="en-US" dirty="0"/>
              <a:t>인터페이스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4D4C7-7B1B-3450-05CD-C0E734474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딸기메뉴 </a:t>
            </a:r>
            <a:r>
              <a:rPr lang="en-US" altLang="ko-KR" dirty="0"/>
              <a:t>– Preferences – </a:t>
            </a:r>
            <a:r>
              <a:rPr lang="en-US" altLang="ko-KR" dirty="0" err="1"/>
              <a:t>RaspberryPiConfiguration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CFC51-6A25-B5C5-E23A-D8C041725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9AFB3B-408F-8D05-0715-225057FF4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545" y="2132856"/>
            <a:ext cx="4733333" cy="3666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ABB8AF-3A1B-48F6-9298-7B0D94A05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75997"/>
            <a:ext cx="3077101" cy="47803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597B50B-4E9A-06CD-9501-5F97A8721529}"/>
              </a:ext>
            </a:extLst>
          </p:cNvPr>
          <p:cNvSpPr/>
          <p:nvPr/>
        </p:nvSpPr>
        <p:spPr>
          <a:xfrm>
            <a:off x="323528" y="1700808"/>
            <a:ext cx="288032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74AB7B-BB5B-1812-33EA-6FE7E8E9EDD8}"/>
              </a:ext>
            </a:extLst>
          </p:cNvPr>
          <p:cNvSpPr/>
          <p:nvPr/>
        </p:nvSpPr>
        <p:spPr>
          <a:xfrm>
            <a:off x="314002" y="4000232"/>
            <a:ext cx="123366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1A4E24-F758-E73D-C645-15A13E6120FE}"/>
              </a:ext>
            </a:extLst>
          </p:cNvPr>
          <p:cNvSpPr/>
          <p:nvPr/>
        </p:nvSpPr>
        <p:spPr>
          <a:xfrm>
            <a:off x="1554900" y="5655507"/>
            <a:ext cx="1653248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69D048-4888-871D-F45D-A5B03C907C4C}"/>
              </a:ext>
            </a:extLst>
          </p:cNvPr>
          <p:cNvSpPr/>
          <p:nvPr/>
        </p:nvSpPr>
        <p:spPr>
          <a:xfrm>
            <a:off x="5393942" y="2492896"/>
            <a:ext cx="834242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4D160D-6F8A-04ED-638E-2F47EBEAB618}"/>
              </a:ext>
            </a:extLst>
          </p:cNvPr>
          <p:cNvSpPr/>
          <p:nvPr/>
        </p:nvSpPr>
        <p:spPr>
          <a:xfrm>
            <a:off x="3851920" y="3460428"/>
            <a:ext cx="4536504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450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56BB9-95F6-58CC-BB50-FD0C713A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 </a:t>
            </a:r>
            <a:r>
              <a:rPr lang="ko-KR" altLang="en-US" dirty="0"/>
              <a:t>실습회로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A27E8-D567-DAB4-57E7-65732FB2E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ko-KR" altLang="en-US" dirty="0">
                <a:sym typeface="Wingdings" panose="05000000000000000000" pitchFamily="2" charset="2"/>
              </a:rPr>
              <a:t>실습회로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14000"/>
              </a:lnSpc>
            </a:pPr>
            <a:r>
              <a:rPr lang="en-US" altLang="ko-KR" dirty="0">
                <a:sym typeface="Wingdings" panose="05000000000000000000" pitchFamily="2" charset="2"/>
              </a:rPr>
              <a:t>CS/SHDN  CE0, CLK  SCLK(GPIO11), D</a:t>
            </a:r>
            <a:r>
              <a:rPr lang="en-US" altLang="ko-KR" baseline="-25000" dirty="0">
                <a:sym typeface="Wingdings" panose="05000000000000000000" pitchFamily="2" charset="2"/>
              </a:rPr>
              <a:t>OUT</a:t>
            </a:r>
            <a:r>
              <a:rPr lang="en-US" altLang="ko-KR" dirty="0">
                <a:sym typeface="Wingdings" panose="05000000000000000000" pitchFamily="2" charset="2"/>
              </a:rPr>
              <a:t>  MISO(GPIO9), D</a:t>
            </a:r>
            <a:r>
              <a:rPr lang="en-US" altLang="ko-KR" baseline="-25000" dirty="0">
                <a:sym typeface="Wingdings" panose="05000000000000000000" pitchFamily="2" charset="2"/>
              </a:rPr>
              <a:t>IN</a:t>
            </a:r>
            <a:r>
              <a:rPr lang="en-US" altLang="ko-KR" dirty="0">
                <a:sym typeface="Wingdings" panose="05000000000000000000" pitchFamily="2" charset="2"/>
              </a:rPr>
              <a:t>  MOSI(GPIO10)</a:t>
            </a:r>
          </a:p>
          <a:p>
            <a:pPr lvl="1">
              <a:lnSpc>
                <a:spcPct val="114000"/>
              </a:lnSpc>
            </a:pPr>
            <a:r>
              <a:rPr lang="en-US" altLang="ko-KR" dirty="0">
                <a:sym typeface="Wingdings" panose="05000000000000000000" pitchFamily="2" charset="2"/>
              </a:rPr>
              <a:t>AGND/DGND  GND, V</a:t>
            </a:r>
            <a:r>
              <a:rPr lang="en-US" altLang="ko-KR" baseline="-25000" dirty="0">
                <a:sym typeface="Wingdings" panose="05000000000000000000" pitchFamily="2" charset="2"/>
              </a:rPr>
              <a:t>DD</a:t>
            </a:r>
            <a:r>
              <a:rPr lang="en-US" altLang="ko-KR" dirty="0">
                <a:sym typeface="Wingdings" panose="05000000000000000000" pitchFamily="2" charset="2"/>
              </a:rPr>
              <a:t>/V</a:t>
            </a:r>
            <a:r>
              <a:rPr lang="en-US" altLang="ko-KR" baseline="-25000" dirty="0">
                <a:sym typeface="Wingdings" panose="05000000000000000000" pitchFamily="2" charset="2"/>
              </a:rPr>
              <a:t>REF</a:t>
            </a:r>
            <a:r>
              <a:rPr lang="en-US" altLang="ko-KR" dirty="0">
                <a:sym typeface="Wingdings" panose="05000000000000000000" pitchFamily="2" charset="2"/>
              </a:rPr>
              <a:t>  3.3V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654228-FA88-89BC-0B5C-5663DB575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53</a:t>
            </a:fld>
            <a:endParaRPr lang="en-US" altLang="ko-KR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5D44067E-0CFB-8FE4-9178-D7AA1E325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46" y="3036461"/>
            <a:ext cx="1070312" cy="3516740"/>
          </a:xfrm>
          <a:prstGeom prst="rect">
            <a:avLst/>
          </a:prstGeom>
        </p:spPr>
      </p:pic>
      <p:pic>
        <p:nvPicPr>
          <p:cNvPr id="7" name="그림 6" descr="회로, 전자 공학, 전자 부품, 회로 구성요소이(가) 표시된 사진&#10;&#10;자동 생성된 설명">
            <a:extLst>
              <a:ext uri="{FF2B5EF4-FFF2-40B4-BE49-F238E27FC236}">
                <a16:creationId xmlns:a16="http://schemas.microsoft.com/office/drawing/2014/main" id="{BA62D6E9-E33E-C291-755F-E91595BF52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21" y="2793038"/>
            <a:ext cx="6177816" cy="3769687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A352815F-A382-3359-65F0-7DA9C742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030" y="3018593"/>
            <a:ext cx="1406424" cy="159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65519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46BFB-CA7B-E524-A767-D5E6CA6D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MCP 3208 </a:t>
            </a:r>
            <a:r>
              <a:rPr lang="ko-KR" altLang="en-US" dirty="0"/>
              <a:t>기본 동작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A3F3C-55CC-1232-6DAA-F6F7EF724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4D1D2E-4DB7-6FB8-B7BC-06D942A7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11" y="1052736"/>
            <a:ext cx="7536578" cy="53832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93024761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46BFB-CA7B-E524-A767-D5E6CA6D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MCP 3208 </a:t>
            </a:r>
            <a:r>
              <a:rPr lang="ko-KR" altLang="en-US" dirty="0"/>
              <a:t>기본 동작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A3F3C-55CC-1232-6DAA-F6F7EF724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1C6F7D-BC1A-2EE1-6C17-ECADE94F1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24744"/>
            <a:ext cx="8002539" cy="25202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BB1232-A450-546E-E059-7BE8FEB847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266"/>
          <a:stretch/>
        </p:blipFill>
        <p:spPr>
          <a:xfrm>
            <a:off x="683568" y="4293096"/>
            <a:ext cx="1840204" cy="10121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0F0DC39-8C44-6669-1186-C31780580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4293097"/>
            <a:ext cx="1656184" cy="1012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2F270F-8012-255E-4702-762CDC578F2F}"/>
              </a:ext>
            </a:extLst>
          </p:cNvPr>
          <p:cNvSpPr txBox="1"/>
          <p:nvPr/>
        </p:nvSpPr>
        <p:spPr>
          <a:xfrm>
            <a:off x="618773" y="5456257"/>
            <a:ext cx="2081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CH0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GND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연결한 경우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53171-DF96-C064-579E-D59D38DDA365}"/>
              </a:ext>
            </a:extLst>
          </p:cNvPr>
          <p:cNvSpPr txBox="1"/>
          <p:nvPr/>
        </p:nvSpPr>
        <p:spPr>
          <a:xfrm>
            <a:off x="3500311" y="5460969"/>
            <a:ext cx="1923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CH0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5V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연결한 경우</a:t>
            </a:r>
          </a:p>
        </p:txBody>
      </p:sp>
    </p:spTree>
    <p:extLst>
      <p:ext uri="{BB962C8B-B14F-4D97-AF65-F5344CB8AC3E}">
        <p14:creationId xmlns:p14="http://schemas.microsoft.com/office/powerpoint/2010/main" val="1539187774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MCP 3208</a:t>
            </a:r>
            <a:r>
              <a:rPr lang="ko-KR" altLang="en-US" dirty="0"/>
              <a:t>의 모든 채널 입력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464DC5-3BA4-C022-4E14-88CE95A60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11" y="1052736"/>
            <a:ext cx="7536578" cy="53832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2274485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MCP 3208</a:t>
            </a:r>
            <a:r>
              <a:rPr lang="ko-KR" altLang="en-US" dirty="0"/>
              <a:t>의 모든 채널 입력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2AF835-99C5-DC30-19E9-9EC09D0C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13" y="4149080"/>
            <a:ext cx="7828571" cy="132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A26B09-8BBD-863C-58EF-84F69FEBF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27" y="1052736"/>
            <a:ext cx="8305344" cy="27363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8965484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A8F3-63D9-7249-0AEF-5321FF9A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2DF96-7275-8938-E802-95043DB7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3208 </a:t>
            </a:r>
            <a:r>
              <a:rPr lang="ko-KR" altLang="en-US" dirty="0"/>
              <a:t>실습회로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79D928-C143-C0D6-7E9A-568376BF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ko-KR" altLang="en-US" dirty="0">
                <a:sym typeface="Wingdings" panose="05000000000000000000" pitchFamily="2" charset="2"/>
              </a:rPr>
              <a:t>실습회로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14000"/>
              </a:lnSpc>
            </a:pPr>
            <a:r>
              <a:rPr lang="ko-KR" altLang="en-US" dirty="0">
                <a:sym typeface="Wingdings" panose="05000000000000000000" pitchFamily="2" charset="2"/>
              </a:rPr>
              <a:t>기존 실습회로에 </a:t>
            </a:r>
            <a:r>
              <a:rPr lang="en-US" altLang="ko-KR" dirty="0">
                <a:sym typeface="Wingdings" panose="05000000000000000000" pitchFamily="2" charset="2"/>
              </a:rPr>
              <a:t>LED </a:t>
            </a:r>
            <a:r>
              <a:rPr lang="ko-KR" altLang="en-US" dirty="0">
                <a:sym typeface="Wingdings" panose="05000000000000000000" pitchFamily="2" charset="2"/>
              </a:rPr>
              <a:t>추가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09ACB-04FE-688D-04B4-6861ABAE1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58</a:t>
            </a:fld>
            <a:endParaRPr lang="en-US" altLang="ko-KR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BFFC5E3-57DE-6DD3-8B45-6204C314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9" y="2475423"/>
            <a:ext cx="1070312" cy="3516740"/>
          </a:xfrm>
          <a:prstGeom prst="rect">
            <a:avLst/>
          </a:prstGeom>
        </p:spPr>
      </p:pic>
      <p:pic>
        <p:nvPicPr>
          <p:cNvPr id="8" name="그림 7" descr="회로, 전자 공학, 전자 부품, 회로 구성요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92E31C-C0D1-6A3B-E96F-62B0083E57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107238"/>
            <a:ext cx="6177816" cy="3769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35E533-EF95-0444-5014-F3130FCB01B7}"/>
              </a:ext>
            </a:extLst>
          </p:cNvPr>
          <p:cNvSpPr txBox="1"/>
          <p:nvPr/>
        </p:nvSpPr>
        <p:spPr>
          <a:xfrm>
            <a:off x="6948264" y="2708920"/>
            <a:ext cx="500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99000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#18</a:t>
            </a:r>
            <a:endParaRPr lang="ko-KR" altLang="en-US" b="1" dirty="0">
              <a:solidFill>
                <a:srgbClr val="990000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3228952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15] </a:t>
            </a:r>
            <a:r>
              <a:rPr lang="ko-KR" altLang="en-US" dirty="0"/>
              <a:t>가변저항을 이용한 아날로그 입력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BC6608-B418-A073-665C-0EF81216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14" y="740209"/>
            <a:ext cx="6828571" cy="58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1374584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15] </a:t>
            </a:r>
            <a:r>
              <a:rPr lang="ko-KR" altLang="en-US" dirty="0"/>
              <a:t>가변저항을 이용한 아날로그 입력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73FF3A-F2EA-B2E0-493B-835F83B2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32" y="1052736"/>
            <a:ext cx="8698936" cy="33123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ACC9B3C-5A6B-776C-3CE6-F8DE81F4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437112"/>
            <a:ext cx="1323810" cy="20666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E13A73-31B9-8E30-F4F3-288D6019E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4647474"/>
            <a:ext cx="4600000" cy="1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9556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16] </a:t>
            </a:r>
            <a:r>
              <a:rPr lang="en-US" altLang="ko-KR" dirty="0" err="1"/>
              <a:t>gpiozero</a:t>
            </a:r>
            <a:r>
              <a:rPr lang="ko-KR" altLang="en-US" dirty="0"/>
              <a:t>를 이용한 </a:t>
            </a:r>
            <a:r>
              <a:rPr lang="en-US" altLang="ko-KR" dirty="0"/>
              <a:t>MCP3208 </a:t>
            </a:r>
            <a:r>
              <a:rPr lang="ko-KR" altLang="en-US" dirty="0"/>
              <a:t>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61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FB6EB3-7D03-615C-E9F0-D85728C6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800" y="2924944"/>
            <a:ext cx="2677544" cy="20671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A72613-13C0-8CB1-7830-EE03C55E9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980728"/>
            <a:ext cx="4271005" cy="55534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366166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파이선</a:t>
            </a:r>
            <a:r>
              <a:rPr lang="ko-KR" altLang="en-US" dirty="0"/>
              <a:t> 기본 명령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 input()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디지털 입력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Pushbutton </a:t>
            </a:r>
            <a:r>
              <a:rPr lang="ko-KR" altLang="en-US" dirty="0"/>
              <a:t>응용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 err="1"/>
              <a:t>Rpi.GPIO.input</a:t>
            </a:r>
            <a:r>
              <a:rPr lang="en-US" altLang="ko-KR" dirty="0"/>
              <a:t>()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Toggle Switch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Interrupt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Thread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Multi-thread </a:t>
            </a:r>
            <a:r>
              <a:rPr lang="ko-KR" altLang="en-US" dirty="0"/>
              <a:t>동작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아날로그 입력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MCP3208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 err="1"/>
              <a:t>gpiozero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62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2830822"/>
            <a:ext cx="2611016" cy="324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28788"/>
      </p:ext>
    </p:extLst>
  </p:cSld>
  <p:clrMapOvr>
    <a:masterClrMapping/>
  </p:clrMapOvr>
  <p:transition advTm="65490"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63</a:t>
            </a:fld>
            <a:endParaRPr lang="en-US" altLang="ko-KR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C7CD794-C143-6D1A-913B-9C294F575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60542"/>
              </p:ext>
            </p:extLst>
          </p:nvPr>
        </p:nvGraphicFramePr>
        <p:xfrm>
          <a:off x="251520" y="997259"/>
          <a:ext cx="8640959" cy="5519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36098744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114938114"/>
                    </a:ext>
                  </a:extLst>
                </a:gridCol>
                <a:gridCol w="2160239">
                  <a:extLst>
                    <a:ext uri="{9D8B030D-6E8A-4147-A177-3AD203B41FA5}">
                      <a16:colId xmlns:a16="http://schemas.microsoft.com/office/drawing/2014/main" val="3430201202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6115155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39552944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3370670553"/>
                    </a:ext>
                  </a:extLst>
                </a:gridCol>
              </a:tblGrid>
              <a:tr h="1971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392050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add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input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114392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interrupt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604548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blink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join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162466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break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low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70112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callback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554243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noise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05947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channel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output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954994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cleanup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pass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099730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connect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141861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current (cur)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previous (pre)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804431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cycle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466283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define (def)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priority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07410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detect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pulldown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68238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duty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pullup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463879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else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59869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enter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332716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event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setup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662745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except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share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882030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exit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sleep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54897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fading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state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953704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flag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switch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240017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false</a:t>
                      </a: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target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486574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float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toggle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527525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global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true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832532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high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45698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if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warning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34987"/>
                  </a:ext>
                </a:extLst>
              </a:tr>
              <a:tr h="1971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import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while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5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82417"/>
      </p:ext>
    </p:extLst>
  </p:cSld>
  <p:clrMapOvr>
    <a:masterClrMapping/>
  </p:clrMapOvr>
  <p:transition advTm="65490"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F0EE5-8490-E277-5AB3-A03B74A5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3E70342-43A5-E686-0B2B-244B21FF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A9B887-BB2C-ED1E-3A7A-C18599C64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64</a:t>
            </a:fld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D5D4456-3B84-5FF8-9B4E-530F7280A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156244"/>
              </p:ext>
            </p:extLst>
          </p:nvPr>
        </p:nvGraphicFramePr>
        <p:xfrm>
          <a:off x="467544" y="1124744"/>
          <a:ext cx="8208912" cy="51125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511943717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124086859"/>
                    </a:ext>
                  </a:extLst>
                </a:gridCol>
              </a:tblGrid>
              <a:tr h="2323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97422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bouncetime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490727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Callback </a:t>
                      </a: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함수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349676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439064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GPIO.BCM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71452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GPIO.RISING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31102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gpiozero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796935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input()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661178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Interrupt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117814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ISR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847971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KeyboardInterrupt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568396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MCP3208</a:t>
                      </a: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345255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Multi-Tasking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743355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Multi-Threading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694515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Pull Up / Pull Down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332654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Pushbutton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658911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pwm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196281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Rising Edge / Falling Edge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457706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RPi.GPIO.input()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656435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Thread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335392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threading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362405"/>
                  </a:ext>
                </a:extLst>
              </a:tr>
              <a:tr h="2323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Toggle Switch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89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328991"/>
      </p:ext>
    </p:extLst>
  </p:cSld>
  <p:clrMapOvr>
    <a:masterClrMapping/>
  </p:clrMapOvr>
  <p:transition advTm="65490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도전과제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1. </a:t>
            </a:r>
            <a:r>
              <a:rPr lang="ko-KR" altLang="en-US" dirty="0"/>
              <a:t>인터럽트 이용 </a:t>
            </a:r>
            <a:r>
              <a:rPr lang="ko-KR" altLang="en-US" dirty="0" err="1"/>
              <a:t>토글</a:t>
            </a:r>
            <a:r>
              <a:rPr lang="ko-KR" altLang="en-US" dirty="0"/>
              <a:t> 스위치</a:t>
            </a:r>
            <a:r>
              <a:rPr lang="en-US" altLang="ko-KR" dirty="0"/>
              <a:t>(</a:t>
            </a:r>
            <a:r>
              <a:rPr lang="ko-KR" altLang="en-US" dirty="0"/>
              <a:t>교재 </a:t>
            </a:r>
            <a:r>
              <a:rPr lang="en-US" altLang="ko-KR" dirty="0"/>
              <a:t>P.162 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</a:p>
          <a:p>
            <a:pPr lvl="1"/>
            <a:r>
              <a:rPr lang="en-US" altLang="ko-KR" dirty="0"/>
              <a:t>GPIO17</a:t>
            </a:r>
            <a:r>
              <a:rPr lang="ko-KR" altLang="en-US" dirty="0"/>
              <a:t> 버튼 입력</a:t>
            </a:r>
            <a:r>
              <a:rPr lang="en-US" altLang="ko-KR" dirty="0"/>
              <a:t>, GPIO23 Red LED </a:t>
            </a:r>
            <a:r>
              <a:rPr lang="ko-KR" altLang="en-US" dirty="0"/>
              <a:t>출력 </a:t>
            </a:r>
            <a:r>
              <a:rPr lang="ko-KR" altLang="en-US" dirty="0" err="1"/>
              <a:t>토글</a:t>
            </a:r>
            <a:endParaRPr lang="en-US" altLang="ko-KR" dirty="0"/>
          </a:p>
          <a:p>
            <a:pPr lvl="1"/>
            <a:r>
              <a:rPr lang="ko-KR" altLang="en-US" dirty="0" err="1"/>
              <a:t>토글</a:t>
            </a:r>
            <a:r>
              <a:rPr lang="ko-KR" altLang="en-US" dirty="0"/>
              <a:t> 스위치 기능을 이용하여 </a:t>
            </a:r>
            <a:r>
              <a:rPr lang="en-US" altLang="ko-KR" dirty="0"/>
              <a:t>LED </a:t>
            </a:r>
            <a:r>
              <a:rPr lang="ko-KR" altLang="en-US" dirty="0"/>
              <a:t>밝기 조절 </a:t>
            </a:r>
            <a:r>
              <a:rPr lang="en-US" altLang="ko-KR" dirty="0"/>
              <a:t>0% </a:t>
            </a:r>
            <a:r>
              <a:rPr lang="en-US" altLang="ko-KR" dirty="0">
                <a:sym typeface="Wingdings" panose="05000000000000000000" pitchFamily="2" charset="2"/>
              </a:rPr>
              <a:t> 50%  100%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버튼 입력은 인터럽트로 처리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593786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도전과제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66</a:t>
            </a:fld>
            <a:endParaRPr lang="en-US" altLang="ko-KR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108CE92-6B91-B202-A3D8-028D8F5B5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05" y="980728"/>
            <a:ext cx="5843789" cy="54355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7459766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도전과제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과제 </a:t>
            </a:r>
            <a:r>
              <a:rPr lang="en-US" altLang="ko-KR" dirty="0">
                <a:sym typeface="Wingdings" panose="05000000000000000000" pitchFamily="2" charset="2"/>
              </a:rPr>
              <a:t>2. </a:t>
            </a:r>
            <a:r>
              <a:rPr lang="ko-KR" altLang="en-US" dirty="0">
                <a:sym typeface="Wingdings" panose="05000000000000000000" pitchFamily="2" charset="2"/>
              </a:rPr>
              <a:t>다중 입출력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교재 </a:t>
            </a:r>
            <a:r>
              <a:rPr lang="en-US" altLang="ko-KR" dirty="0">
                <a:sym typeface="Wingdings" panose="05000000000000000000" pitchFamily="2" charset="2"/>
              </a:rPr>
              <a:t>P.165 </a:t>
            </a:r>
            <a:r>
              <a:rPr lang="ko-KR" altLang="en-US" dirty="0">
                <a:sym typeface="Wingdings" panose="05000000000000000000" pitchFamily="2" charset="2"/>
              </a:rPr>
              <a:t>참고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개의</a:t>
            </a:r>
            <a:r>
              <a:rPr lang="en-US" altLang="ko-KR" dirty="0">
                <a:sym typeface="Wingdings" panose="05000000000000000000" pitchFamily="2" charset="2"/>
              </a:rPr>
              <a:t> Pushbutton(17, 27, 22)</a:t>
            </a:r>
            <a:r>
              <a:rPr lang="ko-KR" altLang="en-US" dirty="0">
                <a:sym typeface="Wingdings" panose="05000000000000000000" pitchFamily="2" charset="2"/>
              </a:rPr>
              <a:t>과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개의 </a:t>
            </a:r>
            <a:r>
              <a:rPr lang="en-US" altLang="ko-KR" dirty="0">
                <a:sym typeface="Wingdings" panose="05000000000000000000" pitchFamily="2" charset="2"/>
              </a:rPr>
              <a:t>LED(23, 22) </a:t>
            </a:r>
            <a:r>
              <a:rPr lang="ko-KR" altLang="en-US" dirty="0">
                <a:sym typeface="Wingdings" panose="05000000000000000000" pitchFamily="2" charset="2"/>
              </a:rPr>
              <a:t>연결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각 버튼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토글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스위치로 구현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에 따라 다른 </a:t>
            </a:r>
            <a:r>
              <a:rPr lang="en-US" altLang="ko-KR" dirty="0">
                <a:sym typeface="Wingdings" panose="05000000000000000000" pitchFamily="2" charset="2"/>
              </a:rPr>
              <a:t>LED </a:t>
            </a:r>
            <a:r>
              <a:rPr lang="ko-KR" altLang="en-US" dirty="0">
                <a:sym typeface="Wingdings" panose="05000000000000000000" pitchFamily="2" charset="2"/>
              </a:rPr>
              <a:t>구동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pb1  Red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LED, pb2  Blue LED, pb3  Turn Off All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버튼 입력은 인터럽트로 처리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505244"/>
      </p:ext>
    </p:extLst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도전과제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68</a:t>
            </a:fld>
            <a:endParaRPr lang="en-US" altLang="ko-KR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26B9C02-E3DE-8F48-8092-65C065994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67903"/>
            <a:ext cx="8991600" cy="37221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59560515"/>
      </p:ext>
    </p:extLst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69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32685</TotalTime>
  <Words>2518</Words>
  <Application>Microsoft Office PowerPoint</Application>
  <PresentationFormat>화면 슬라이드 쇼(4:3)</PresentationFormat>
  <Paragraphs>675</Paragraphs>
  <Slides>69</Slides>
  <Notes>2</Notes>
  <HiddenSlides>0</HiddenSlides>
  <MMClips>2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83" baseType="lpstr">
      <vt:lpstr>HY견고딕</vt:lpstr>
      <vt:lpstr>HY헤드라인M</vt:lpstr>
      <vt:lpstr>굴림</vt:lpstr>
      <vt:lpstr>맑은 고딕</vt:lpstr>
      <vt:lpstr>Malgun Gothic Semilight</vt:lpstr>
      <vt:lpstr>휴먼엑스포</vt:lpstr>
      <vt:lpstr>휴먼편지체</vt:lpstr>
      <vt:lpstr>Cambria Math</vt:lpstr>
      <vt:lpstr>Lucida Console</vt:lpstr>
      <vt:lpstr>Source Sans Pro</vt:lpstr>
      <vt:lpstr>Symbol</vt:lpstr>
      <vt:lpstr>Times New Roman</vt:lpstr>
      <vt:lpstr>Wingdings</vt:lpstr>
      <vt:lpstr>기본 디자인</vt:lpstr>
      <vt:lpstr>5강. 입력처리 (디지털 입력, 아날로그 입력)</vt:lpstr>
      <vt:lpstr>PowerPoint 프레젠테이션</vt:lpstr>
      <vt:lpstr>생각 더하기</vt:lpstr>
      <vt:lpstr>학습목표</vt:lpstr>
      <vt:lpstr>Python 언어  input()</vt:lpstr>
      <vt:lpstr>Python 언어  input()</vt:lpstr>
      <vt:lpstr>RPi.GPIO.input() 함수</vt:lpstr>
      <vt:lpstr>RPi.GPIO.input() 함수</vt:lpstr>
      <vt:lpstr>RPi.GPIO.input() 함수</vt:lpstr>
      <vt:lpstr>푸시 버튼(Pushbutton)</vt:lpstr>
      <vt:lpstr>푸시 버튼(Push Button) – 플로팅</vt:lpstr>
      <vt:lpstr>푸시 버튼 – Pullup / Pulldown</vt:lpstr>
      <vt:lpstr>Pushbutton 실습회로</vt:lpstr>
      <vt:lpstr>라즈베리파이의 풀업/풀다운 지정</vt:lpstr>
      <vt:lpstr>Pushbutton 동작</vt:lpstr>
      <vt:lpstr>gpiozero</vt:lpstr>
      <vt:lpstr>Pushbutton 동작</vt:lpstr>
      <vt:lpstr>Pushbutton 동작</vt:lpstr>
      <vt:lpstr>토글 스위치 (Toggle Switch)</vt:lpstr>
      <vt:lpstr>토글 스위치 (Toggle Switch)</vt:lpstr>
      <vt:lpstr>토글 스위치 (Toggle Switch)</vt:lpstr>
      <vt:lpstr>상승 에지 / 하강 에지</vt:lpstr>
      <vt:lpstr>토글 스위치 (Toggle Switch)</vt:lpstr>
      <vt:lpstr>인터럽트</vt:lpstr>
      <vt:lpstr>토글 스위치 (Toggle Switch)</vt:lpstr>
      <vt:lpstr>토글 스위치 (Toggle Switch)</vt:lpstr>
      <vt:lpstr>토글 스위치 (Toggle Switch)</vt:lpstr>
      <vt:lpstr>멀티 태스킹/ 멀티 스레딩</vt:lpstr>
      <vt:lpstr>Process 와 Thread</vt:lpstr>
      <vt:lpstr>쓰레드(Thread)</vt:lpstr>
      <vt:lpstr>단일/다중 스레드</vt:lpstr>
      <vt:lpstr>쓰레드의 동작 개념</vt:lpstr>
      <vt:lpstr>쓰레드(Threead)</vt:lpstr>
      <vt:lpstr>쓰레드(Threead)</vt:lpstr>
      <vt:lpstr>쓰레드(Threead)</vt:lpstr>
      <vt:lpstr>쓰레드(Threead)</vt:lpstr>
      <vt:lpstr>쓰레드(Threead)</vt:lpstr>
      <vt:lpstr>쓰레드(Threead)</vt:lpstr>
      <vt:lpstr>쓰레드 실습회로</vt:lpstr>
      <vt:lpstr>쓰레드(Threead)</vt:lpstr>
      <vt:lpstr>쓰레드(Threead)</vt:lpstr>
      <vt:lpstr>PowerPoint 프레젠테이션</vt:lpstr>
      <vt:lpstr>MCP3208</vt:lpstr>
      <vt:lpstr>MCP3208</vt:lpstr>
      <vt:lpstr>SPI</vt:lpstr>
      <vt:lpstr>라즈베리파이의 SPI 핀</vt:lpstr>
      <vt:lpstr>MCP 3208 내부 블럭도</vt:lpstr>
      <vt:lpstr>MCP 3208 데이터 포맷</vt:lpstr>
      <vt:lpstr>MCP 3208 데이터 포맷</vt:lpstr>
      <vt:lpstr>MCP 3208 데이터 포맷</vt:lpstr>
      <vt:lpstr>MCP 3208 데이터 포맷</vt:lpstr>
      <vt:lpstr>SPI 인터페이스 활성화</vt:lpstr>
      <vt:lpstr>MCP 3208 실습회로</vt:lpstr>
      <vt:lpstr>[실습13] MCP 3208 기본 동작</vt:lpstr>
      <vt:lpstr>[실습13] MCP 3208 기본 동작</vt:lpstr>
      <vt:lpstr>[실습14] MCP 3208의 모든 채널 입력</vt:lpstr>
      <vt:lpstr>[실습14] MCP 3208의 모든 채널 입력</vt:lpstr>
      <vt:lpstr>MCP 3208 실습회로</vt:lpstr>
      <vt:lpstr>[실습15] 가변저항을 이용한 아날로그 입력</vt:lpstr>
      <vt:lpstr>[실습15] 가변저항을 이용한 아날로그 입력</vt:lpstr>
      <vt:lpstr>[실습16] gpiozero를 이용한 MCP3208 활용</vt:lpstr>
      <vt:lpstr>Summary</vt:lpstr>
      <vt:lpstr>단어</vt:lpstr>
      <vt:lpstr>용어</vt:lpstr>
      <vt:lpstr>도전과제</vt:lpstr>
      <vt:lpstr>도전과제 1</vt:lpstr>
      <vt:lpstr>도전과제</vt:lpstr>
      <vt:lpstr>도전과제 2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415</cp:revision>
  <cp:lastPrinted>2022-07-06T04:11:04Z</cp:lastPrinted>
  <dcterms:created xsi:type="dcterms:W3CDTF">2003-05-07T20:17:23Z</dcterms:created>
  <dcterms:modified xsi:type="dcterms:W3CDTF">2025-10-01T04:46:46Z</dcterms:modified>
</cp:coreProperties>
</file>