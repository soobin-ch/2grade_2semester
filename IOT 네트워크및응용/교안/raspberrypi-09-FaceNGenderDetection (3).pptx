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632" r:id="rId2"/>
    <p:sldId id="648" r:id="rId3"/>
    <p:sldId id="1147" r:id="rId4"/>
    <p:sldId id="1148" r:id="rId5"/>
    <p:sldId id="705" r:id="rId6"/>
    <p:sldId id="1196" r:id="rId7"/>
    <p:sldId id="1197" r:id="rId8"/>
    <p:sldId id="1198" r:id="rId9"/>
    <p:sldId id="1244" r:id="rId10"/>
    <p:sldId id="1202" r:id="rId11"/>
    <p:sldId id="1199" r:id="rId12"/>
    <p:sldId id="1209" r:id="rId13"/>
    <p:sldId id="1241" r:id="rId14"/>
    <p:sldId id="1201" r:id="rId15"/>
    <p:sldId id="1242" r:id="rId16"/>
    <p:sldId id="1205" r:id="rId17"/>
    <p:sldId id="1210" r:id="rId18"/>
    <p:sldId id="1211" r:id="rId19"/>
    <p:sldId id="1206" r:id="rId20"/>
    <p:sldId id="1212" r:id="rId21"/>
    <p:sldId id="1213" r:id="rId22"/>
    <p:sldId id="1214" r:id="rId23"/>
    <p:sldId id="1208" r:id="rId24"/>
    <p:sldId id="1215" r:id="rId25"/>
    <p:sldId id="1219" r:id="rId26"/>
    <p:sldId id="1220" r:id="rId27"/>
    <p:sldId id="1218" r:id="rId28"/>
    <p:sldId id="1217" r:id="rId29"/>
    <p:sldId id="1246" r:id="rId30"/>
    <p:sldId id="1247" r:id="rId31"/>
    <p:sldId id="1216" r:id="rId32"/>
    <p:sldId id="1221" r:id="rId33"/>
    <p:sldId id="1222" r:id="rId34"/>
    <p:sldId id="1223" r:id="rId35"/>
    <p:sldId id="1224" r:id="rId36"/>
    <p:sldId id="1225" r:id="rId37"/>
    <p:sldId id="1245" r:id="rId38"/>
    <p:sldId id="1226" r:id="rId39"/>
    <p:sldId id="1227" r:id="rId40"/>
    <p:sldId id="1228" r:id="rId41"/>
    <p:sldId id="1229" r:id="rId42"/>
    <p:sldId id="1232" r:id="rId43"/>
    <p:sldId id="1243" r:id="rId44"/>
    <p:sldId id="1230" r:id="rId45"/>
    <p:sldId id="1231" r:id="rId46"/>
    <p:sldId id="1233" r:id="rId47"/>
    <p:sldId id="1234" r:id="rId48"/>
    <p:sldId id="1235" r:id="rId49"/>
    <p:sldId id="1236" r:id="rId50"/>
    <p:sldId id="1237" r:id="rId51"/>
    <p:sldId id="1238" r:id="rId52"/>
    <p:sldId id="1239" r:id="rId53"/>
    <p:sldId id="1240" r:id="rId54"/>
    <p:sldId id="1248" r:id="rId55"/>
    <p:sldId id="1249" r:id="rId56"/>
    <p:sldId id="1192" r:id="rId57"/>
    <p:sldId id="703" r:id="rId58"/>
  </p:sldIdLst>
  <p:sldSz cx="9144000" cy="6858000" type="screen4x3"/>
  <p:notesSz cx="6797675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1C2FF"/>
    <a:srgbClr val="FFB7B7"/>
    <a:srgbClr val="E5F4D4"/>
    <a:srgbClr val="FFEBAB"/>
    <a:srgbClr val="BF1179"/>
    <a:srgbClr val="6699FF"/>
    <a:srgbClr val="CC6600"/>
    <a:srgbClr val="CC9900"/>
    <a:srgbClr val="9900F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3" autoAdjust="0"/>
    <p:restoredTop sz="94637" autoAdjust="0"/>
  </p:normalViewPr>
  <p:slideViewPr>
    <p:cSldViewPr>
      <p:cViewPr varScale="1">
        <p:scale>
          <a:sx n="80" d="100"/>
          <a:sy n="80" d="100"/>
        </p:scale>
        <p:origin x="96" y="5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fld id="{6E18D26C-3B1C-4A75-AF3E-A957EA2050B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fld id="{A47F0F6E-AF40-4620-A1A6-208690352297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975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E3D2A-221C-4236-B09B-111D309BF24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8520258"/>
      </p:ext>
    </p:extLst>
  </p:cSld>
  <p:clrMapOvr>
    <a:masterClrMapping/>
  </p:clrMapOvr>
  <p:transition>
    <p:diamond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40000" indent="-180000">
              <a:buClr>
                <a:schemeClr val="accent6">
                  <a:lumMod val="50000"/>
                </a:schemeClr>
              </a:buClr>
              <a:defRPr b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2000" indent="-144000"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0662DF40-CD95-4196-B16C-EF23877BEF64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30270425"/>
      </p:ext>
    </p:extLst>
  </p:cSld>
  <p:clrMapOvr>
    <a:masterClrMapping/>
  </p:clrMapOvr>
  <p:transition>
    <p:diamond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A90645-18CC-4080-AA78-8345F84AA3F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92483"/>
      </p:ext>
    </p:extLst>
  </p:cSld>
  <p:clrMapOvr>
    <a:masterClrMapping/>
  </p:clrMapOvr>
  <p:transition>
    <p:diamond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D180CC-85CA-4A26-A6C0-DE61C9CE90F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48083975"/>
      </p:ext>
    </p:extLst>
  </p:cSld>
  <p:clrMapOvr>
    <a:masterClrMapping/>
  </p:clrMapOvr>
  <p:transition>
    <p:diamond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28EFD3-9F17-4F2E-A4A6-06CB9F2FD85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24396524"/>
      </p:ext>
    </p:extLst>
  </p:cSld>
  <p:clrMapOvr>
    <a:masterClrMapping/>
  </p:clrMapOvr>
  <p:transition>
    <p:diamond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18258E-745D-49A3-B42E-85584AAF848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147816"/>
      </p:ext>
    </p:extLst>
  </p:cSld>
  <p:clrMapOvr>
    <a:masterClrMapping/>
  </p:clrMapOvr>
  <p:transition>
    <p:diamond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B21161-BD0B-43AB-A0F1-8EAE020023E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936474"/>
      </p:ext>
    </p:extLst>
  </p:cSld>
  <p:clrMapOvr>
    <a:masterClrMapping/>
  </p:clrMapOvr>
  <p:transition>
    <p:diamond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C2CC99-8F12-4602-A805-6D054ED5A58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8920583"/>
      </p:ext>
    </p:extLst>
  </p:cSld>
  <p:clrMapOvr>
    <a:masterClrMapping/>
  </p:clrMapOvr>
  <p:transition>
    <p:diamond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20EE68-4FFD-4146-8152-D379E891418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7287805"/>
      </p:ext>
    </p:extLst>
  </p:cSld>
  <p:clrMapOvr>
    <a:masterClrMapping/>
  </p:clrMapOvr>
  <p:transition>
    <p:diamond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9A198F-69FF-49CD-AE6F-66B8F34D0E9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0332559"/>
      </p:ext>
    </p:extLst>
  </p:cSld>
  <p:clrMapOvr>
    <a:masterClrMapping/>
  </p:clrMapOvr>
  <p:transition>
    <p:diamond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C26BED-B130-401B-B39F-2F6B8067329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76354483"/>
      </p:ext>
    </p:extLst>
  </p:cSld>
  <p:clrMapOvr>
    <a:masterClrMapping/>
  </p:clrMapOvr>
  <p:transition>
    <p:diamond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44DB92-B6B2-4C58-9652-839AF8C5938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6087093"/>
      </p:ext>
    </p:extLst>
  </p:cSld>
  <p:clrMapOvr>
    <a:masterClrMapping/>
  </p:clrMapOvr>
  <p:transition>
    <p:diamond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4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87313"/>
            <a:ext cx="89281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53200"/>
            <a:ext cx="533400" cy="31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defRPr>
            </a:lvl1pPr>
          </a:lstStyle>
          <a:p>
            <a:fld id="{3F8E1CEE-8D81-4355-9B98-CFF96B1FE2F4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9" name="Text Box 16"/>
          <p:cNvSpPr txBox="1">
            <a:spLocks noChangeArrowheads="1"/>
          </p:cNvSpPr>
          <p:nvPr userDrawn="1"/>
        </p:nvSpPr>
        <p:spPr bwMode="auto">
          <a:xfrm>
            <a:off x="34925" y="6562725"/>
            <a:ext cx="47799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defRPr/>
            </a:pPr>
            <a:r>
              <a:rPr lang="ko-KR" altLang="en-US" sz="1100" b="1" dirty="0">
                <a:solidFill>
                  <a:srgbClr val="CC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꿈    은 이루어진다 </a:t>
            </a:r>
            <a:r>
              <a:rPr lang="en-US" altLang="ko-KR" sz="1100" b="1" dirty="0">
                <a:solidFill>
                  <a:srgbClr val="CC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608763"/>
            <a:ext cx="971550" cy="22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포인트가 5개인 별 10"/>
          <p:cNvSpPr/>
          <p:nvPr userDrawn="1"/>
        </p:nvSpPr>
        <p:spPr>
          <a:xfrm>
            <a:off x="265113" y="6515100"/>
            <a:ext cx="214312" cy="269875"/>
          </a:xfrm>
          <a:prstGeom prst="star5">
            <a:avLst/>
          </a:prstGeom>
          <a:solidFill>
            <a:srgbClr val="FFFF0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diamond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anose="05000000000000000000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8080"/>
        </a:buClr>
        <a:buFont typeface="Wingdings" panose="05000000000000000000" pitchFamily="2" charset="2"/>
        <a:buChar char="§"/>
        <a:defRPr kumimoji="1" sz="2000">
          <a:solidFill>
            <a:srgbClr val="005250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>
          <a:solidFill>
            <a:srgbClr val="777777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2.png"/><Relationship Id="rId7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0.png"/><Relationship Id="rId4" Type="http://schemas.openxmlformats.org/officeDocument/2006/relationships/image" Target="../media/image410.png"/><Relationship Id="rId9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w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3473D6-E516-0E77-871F-9FCD0DAF79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99"/>
          <a:stretch/>
        </p:blipFill>
        <p:spPr>
          <a:xfrm>
            <a:off x="0" y="548640"/>
            <a:ext cx="9144000" cy="5801554"/>
          </a:xfrm>
          <a:prstGeom prst="rect">
            <a:avLst/>
          </a:prstGeom>
        </p:spPr>
      </p:pic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5445224"/>
            <a:ext cx="6400800" cy="503460"/>
          </a:xfrm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eaLnBrk="1" hangingPunct="1">
              <a:defRPr/>
            </a:pP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컴퓨터공학과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490984" y="660797"/>
            <a:ext cx="8043416" cy="1616075"/>
          </a:xfrm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algn="ctr">
              <a:defRPr/>
            </a:pPr>
            <a:r>
              <a:rPr lang="en-US" altLang="ko-KR" sz="4000" dirty="0">
                <a:solidFill>
                  <a:srgbClr val="FFFF00"/>
                </a:solidFill>
              </a:rPr>
              <a:t>9</a:t>
            </a:r>
            <a:r>
              <a:rPr lang="ko-KR" altLang="en-US" sz="4000" dirty="0">
                <a:solidFill>
                  <a:srgbClr val="FFFF00"/>
                </a:solidFill>
              </a:rPr>
              <a:t>강</a:t>
            </a:r>
            <a:r>
              <a:rPr lang="en-US" altLang="ko-KR" sz="4000" dirty="0">
                <a:solidFill>
                  <a:srgbClr val="FFFF00"/>
                </a:solidFill>
              </a:rPr>
              <a:t>. OpenCV </a:t>
            </a:r>
            <a:r>
              <a:rPr lang="ko-KR" altLang="en-US" sz="4000" dirty="0">
                <a:solidFill>
                  <a:srgbClr val="FFFF00"/>
                </a:solidFill>
              </a:rPr>
              <a:t>응용</a:t>
            </a:r>
            <a:br>
              <a:rPr lang="en-US" altLang="ko-KR" sz="4000" dirty="0">
                <a:solidFill>
                  <a:srgbClr val="FFFF00"/>
                </a:solidFill>
              </a:rPr>
            </a:br>
            <a:r>
              <a:rPr lang="en-US" altLang="ko-KR" sz="4000" dirty="0">
                <a:solidFill>
                  <a:srgbClr val="FFFF00"/>
                </a:solidFill>
              </a:rPr>
              <a:t>(</a:t>
            </a:r>
            <a:r>
              <a:rPr lang="ko-KR" altLang="en-US" sz="4000" dirty="0">
                <a:solidFill>
                  <a:srgbClr val="FFFF00"/>
                </a:solidFill>
              </a:rPr>
              <a:t>얼굴</a:t>
            </a:r>
            <a:r>
              <a:rPr lang="en-US" altLang="ko-KR" sz="4000" dirty="0">
                <a:solidFill>
                  <a:srgbClr val="FFFF00"/>
                </a:solidFill>
              </a:rPr>
              <a:t> </a:t>
            </a:r>
            <a:r>
              <a:rPr lang="ko-KR" altLang="en-US" sz="4000" dirty="0">
                <a:solidFill>
                  <a:srgbClr val="FFFF00"/>
                </a:solidFill>
              </a:rPr>
              <a:t>검출 및 성별 분류</a:t>
            </a:r>
            <a:r>
              <a:rPr lang="en-US" altLang="ko-KR" sz="4000" dirty="0">
                <a:solidFill>
                  <a:srgbClr val="FFFF00"/>
                </a:solidFill>
              </a:rPr>
              <a:t>)</a:t>
            </a:r>
            <a:endParaRPr lang="ko-KR" altLang="en-US" sz="4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diamond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053847-62A1-4E89-8DAA-4521CF1C0422}" type="slidenum">
              <a:rPr lang="en-US" altLang="ko-KR" smtClean="0"/>
              <a:pPr/>
              <a:t>2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1CFBD8-781C-B3D5-71BB-31A4CAAF7AF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DF5458A-0DEF-391A-5FF2-F77A47FFC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466" y="-11113"/>
            <a:ext cx="5277068" cy="68802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7C7A59-D03B-8B1F-F1AA-0886B805236B}"/>
              </a:ext>
            </a:extLst>
          </p:cNvPr>
          <p:cNvSpPr txBox="1"/>
          <p:nvPr/>
        </p:nvSpPr>
        <p:spPr>
          <a:xfrm>
            <a:off x="1187641" y="3068960"/>
            <a:ext cx="6768736" cy="73584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당신의 성공 기준은</a:t>
            </a:r>
            <a:r>
              <a:rPr lang="en-US" altLang="ko-KR" sz="32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?</a:t>
            </a:r>
            <a:endParaRPr lang="ko-KR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37AAA-9225-BF7A-E059-12051550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 더하기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D299EF-1918-3AF4-E997-ADA91BD42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89726EAC-9563-E113-C8EF-5A4608B19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052736"/>
            <a:ext cx="8997950" cy="4318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90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 algn="just"/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마틴 루터 킹 목사의 명언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C88A8E1-671F-10F7-DF36-A829A93D7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6" y="1484536"/>
            <a:ext cx="8997950" cy="4891087"/>
          </a:xfrm>
          <a:prstGeom prst="rect">
            <a:avLst/>
          </a:prstGeom>
          <a:solidFill>
            <a:schemeClr val="bg1"/>
          </a:solidFill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40000"/>
              </a:lnSpc>
            </a:pPr>
            <a:r>
              <a:rPr lang="ko-KR" altLang="en-US" sz="2000" b="0" i="0" dirty="0">
                <a:solidFill>
                  <a:srgbClr val="181818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어둠으로 어둠을 몰아낼 수는 없습니다</a:t>
            </a:r>
            <a:r>
              <a:rPr lang="en-US" altLang="ko-KR" sz="2000" b="0" i="0" dirty="0">
                <a:solidFill>
                  <a:srgbClr val="181818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오직 빛으로만 그럴 수 있습니다</a:t>
            </a:r>
            <a:r>
              <a:rPr lang="en-US" altLang="ko-KR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증오로 증오를 몰아낼 수는 없습니다</a:t>
            </a:r>
            <a:r>
              <a:rPr lang="en-US" altLang="ko-KR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오직 사랑으로만 그럴 수 있습니다</a:t>
            </a:r>
            <a:r>
              <a:rPr lang="en-US" altLang="ko-KR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ko-KR" altLang="en-US" sz="2400" b="0" i="0" dirty="0">
              <a:solidFill>
                <a:srgbClr val="31708F"/>
              </a:solidFill>
              <a:effectLst/>
              <a:latin typeface="Whitney"/>
            </a:endParaRPr>
          </a:p>
          <a:p>
            <a:pPr>
              <a:lnSpc>
                <a:spcPct val="140000"/>
              </a:lnSpc>
            </a:pPr>
            <a:r>
              <a:rPr lang="en-US" altLang="ko-KR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― </a:t>
            </a:r>
            <a:r>
              <a:rPr lang="ko-KR" altLang="en-US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마틴 루터 킹 </a:t>
            </a:r>
            <a:r>
              <a:rPr lang="en-US" altLang="ko-KR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(Martin Luther King Jr.)</a:t>
            </a:r>
          </a:p>
          <a:p>
            <a:pPr algn="l">
              <a:lnSpc>
                <a:spcPct val="140000"/>
              </a:lnSpc>
            </a:pPr>
            <a:endParaRPr lang="en-US" altLang="ko-KR" sz="2400" b="0" i="1" dirty="0">
              <a:solidFill>
                <a:srgbClr val="31708F"/>
              </a:solidFill>
              <a:effectLst/>
              <a:latin typeface="Whitney"/>
            </a:endParaRPr>
          </a:p>
          <a:p>
            <a:pPr algn="l">
              <a:lnSpc>
                <a:spcPct val="140000"/>
              </a:lnSpc>
            </a:pPr>
            <a:r>
              <a:rPr lang="en-US" altLang="ko-KR" sz="2400" b="0" i="1" dirty="0">
                <a:solidFill>
                  <a:srgbClr val="31708F"/>
                </a:solidFill>
                <a:effectLst/>
                <a:latin typeface="Whitney"/>
              </a:rPr>
              <a:t>“Darkness cannot drive out darkness: </a:t>
            </a:r>
          </a:p>
          <a:p>
            <a:pPr algn="l">
              <a:lnSpc>
                <a:spcPct val="140000"/>
              </a:lnSpc>
            </a:pPr>
            <a:r>
              <a:rPr lang="en-US" altLang="ko-KR" sz="2400" b="0" i="1" dirty="0">
                <a:solidFill>
                  <a:srgbClr val="31708F"/>
                </a:solidFill>
                <a:effectLst/>
                <a:latin typeface="Whitney"/>
              </a:rPr>
              <a:t>only light can do that. </a:t>
            </a:r>
          </a:p>
          <a:p>
            <a:pPr algn="l">
              <a:lnSpc>
                <a:spcPct val="140000"/>
              </a:lnSpc>
            </a:pPr>
            <a:r>
              <a:rPr lang="en-US" altLang="ko-KR" sz="2400" b="0" i="1" dirty="0">
                <a:solidFill>
                  <a:srgbClr val="31708F"/>
                </a:solidFill>
                <a:effectLst/>
                <a:latin typeface="Whitney"/>
              </a:rPr>
              <a:t>Hate cannot drive out hate: </a:t>
            </a:r>
          </a:p>
          <a:p>
            <a:pPr algn="l">
              <a:lnSpc>
                <a:spcPct val="140000"/>
              </a:lnSpc>
            </a:pPr>
            <a:r>
              <a:rPr lang="en-US" altLang="ko-KR" sz="2400" b="0" i="1" dirty="0">
                <a:solidFill>
                  <a:srgbClr val="31708F"/>
                </a:solidFill>
                <a:effectLst/>
                <a:latin typeface="Whitney"/>
              </a:rPr>
              <a:t>only love can do that.”</a:t>
            </a:r>
            <a:endParaRPr lang="en-US" altLang="ko-KR" sz="2000" b="1" i="0" dirty="0">
              <a:solidFill>
                <a:srgbClr val="000000"/>
              </a:solidFill>
              <a:effectLst/>
              <a:latin typeface="Oswald Light" panose="020B0604020202020204" pitchFamily="2" charset="0"/>
            </a:endParaRPr>
          </a:p>
        </p:txBody>
      </p:sp>
      <p:pic>
        <p:nvPicPr>
          <p:cNvPr id="7" name="Picture 10" descr="mouse">
            <a:extLst>
              <a:ext uri="{FF2B5EF4-FFF2-40B4-BE49-F238E27FC236}">
                <a16:creationId xmlns:a16="http://schemas.microsoft.com/office/drawing/2014/main" id="{1CBFBD61-7228-2393-82AD-793AFFAC1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1255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541CC0-CBFF-6EBE-8827-6D15109E1EE1}"/>
              </a:ext>
            </a:extLst>
          </p:cNvPr>
          <p:cNvSpPr txBox="1"/>
          <p:nvPr/>
        </p:nvSpPr>
        <p:spPr>
          <a:xfrm>
            <a:off x="6053342" y="5074280"/>
            <a:ext cx="28341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&lt;Martin Luther King Jr., 1929~1968&gt;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미국의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비폭력주의 흑인 인권운동가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1964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노벨 평화상 수상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1968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년 과격파 백인단체로부터 암살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6575490-6403-B18B-D959-F6AA57983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913" y="1590967"/>
            <a:ext cx="2743298" cy="337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28073"/>
      </p:ext>
    </p:extLst>
  </p:cSld>
  <p:clrMapOvr>
    <a:masterClrMapping/>
  </p:clrMapOvr>
  <p:transition>
    <p:diamond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643438"/>
            <a:ext cx="3892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본 강의를 이수하면 </a:t>
            </a:r>
            <a:r>
              <a:rPr lang="ko-KR" altLang="en-US" dirty="0" err="1"/>
              <a:t>하르</a:t>
            </a:r>
            <a:r>
              <a:rPr lang="ko-KR" altLang="en-US" dirty="0"/>
              <a:t> 기반 분류기를 활용할 수 있다</a:t>
            </a:r>
            <a:r>
              <a:rPr lang="en-US" altLang="ko-KR" dirty="0"/>
              <a:t>.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 err="1"/>
              <a:t>하르</a:t>
            </a:r>
            <a:r>
              <a:rPr lang="ko-KR" altLang="en-US" dirty="0"/>
              <a:t> 기반 분류기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 err="1"/>
              <a:t>하르</a:t>
            </a:r>
            <a:r>
              <a:rPr lang="ko-KR" altLang="en-US" dirty="0"/>
              <a:t> 기반 성별 분류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 err="1"/>
              <a:t>하르</a:t>
            </a:r>
            <a:r>
              <a:rPr lang="ko-KR" altLang="en-US" dirty="0"/>
              <a:t> 기반 얼굴 검출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 err="1"/>
              <a:t>하르</a:t>
            </a:r>
            <a:r>
              <a:rPr lang="ko-KR" altLang="en-US" dirty="0"/>
              <a:t> 기반 눈 검출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얼굴 기울기 계산 및 보정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입술 영역 및 머리 영역 검출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히스토그램 을 통한 유사도 검증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성별 분류 및 결과 출력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18452"/>
      </p:ext>
    </p:extLst>
  </p:cSld>
  <p:clrMapOvr>
    <a:masterClrMapping/>
  </p:clrMapOvr>
  <p:transition>
    <p:diamond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얼굴 검출 및 인식</a:t>
            </a:r>
          </a:p>
        </p:txBody>
      </p:sp>
      <p:sp>
        <p:nvSpPr>
          <p:cNvPr id="9219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/>
            <a:fld id="{616E6C8A-84E0-4B82-8FE4-EFB84950B3CE}" type="slidenum">
              <a:rPr lang="en-US" altLang="ko-KR" sz="1000">
                <a:solidFill>
                  <a:srgbClr val="02B0AC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pPr eaLnBrk="1" hangingPunct="1"/>
              <a:t>5</a:t>
            </a:fld>
            <a:endParaRPr lang="en-US" altLang="ko-KR" sz="1000">
              <a:solidFill>
                <a:srgbClr val="02B0AC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46" name="내용 개체 틀 4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실생활에서의 얼굴 검출 및 인식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카메라를 이용한 얼굴 검출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페이스 북이나 구글의 얼굴 영역 검출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얼굴 검출 및 인식을 이용한 스마트 폰 잠금 해제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얼굴 인식을 이용한 </a:t>
            </a:r>
            <a:r>
              <a:rPr lang="ko-KR" altLang="en-US" dirty="0" err="1"/>
              <a:t>도어록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얼굴 검출</a:t>
            </a:r>
            <a:endParaRPr lang="en-US" altLang="ko-KR" dirty="0"/>
          </a:p>
          <a:p>
            <a:pPr lvl="1">
              <a:defRPr/>
            </a:pPr>
            <a:r>
              <a:rPr lang="ko-KR" altLang="en-US" dirty="0" err="1"/>
              <a:t>하르</a:t>
            </a:r>
            <a:r>
              <a:rPr lang="en-US" altLang="ko-KR" dirty="0"/>
              <a:t> (</a:t>
            </a:r>
            <a:r>
              <a:rPr lang="en-US" altLang="ko-KR" dirty="0" err="1"/>
              <a:t>Haar</a:t>
            </a:r>
            <a:r>
              <a:rPr lang="en-US" altLang="ko-KR" dirty="0"/>
              <a:t>)</a:t>
            </a:r>
            <a:r>
              <a:rPr lang="ko-KR" altLang="en-US" dirty="0"/>
              <a:t> 기반 검출기</a:t>
            </a:r>
            <a:endParaRPr lang="en-US" altLang="ko-KR" dirty="0"/>
          </a:p>
          <a:p>
            <a:pPr lvl="2">
              <a:defRPr/>
            </a:pP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436096" y="6217052"/>
            <a:ext cx="3425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https://hwanine.github.io/ai/OpenCV/&gt;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D03BCC-E939-DCE7-73DC-C85CAE9EB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800" y="3872942"/>
            <a:ext cx="3208529" cy="235555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</p:cSld>
  <p:clrMapOvr>
    <a:masterClrMapping/>
  </p:clrMapOvr>
  <p:transition>
    <p:diamond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F5102-D70A-BD44-AD27-0FEB6A2D1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하르</a:t>
            </a:r>
            <a:r>
              <a:rPr lang="en-US" altLang="ko-KR" dirty="0"/>
              <a:t>(</a:t>
            </a:r>
            <a:r>
              <a:rPr lang="en-US" altLang="ko-KR" dirty="0" err="1"/>
              <a:t>Haar</a:t>
            </a:r>
            <a:r>
              <a:rPr lang="en-US" altLang="ko-KR" dirty="0"/>
              <a:t>)</a:t>
            </a:r>
            <a:r>
              <a:rPr lang="ko-KR" altLang="en-US" dirty="0"/>
              <a:t> 기반 분류기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AA2862-01C7-2385-5B61-0BA3F3302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유사</a:t>
            </a:r>
            <a:r>
              <a:rPr lang="en-US" altLang="ko-KR" dirty="0"/>
              <a:t> </a:t>
            </a:r>
            <a:r>
              <a:rPr lang="ko-KR" altLang="en-US" dirty="0" err="1"/>
              <a:t>하르</a:t>
            </a:r>
            <a:r>
              <a:rPr lang="ko-KR" altLang="en-US" dirty="0"/>
              <a:t> 특징</a:t>
            </a:r>
            <a:r>
              <a:rPr lang="en-US" altLang="ko-KR" dirty="0"/>
              <a:t>(</a:t>
            </a:r>
            <a:r>
              <a:rPr lang="en-US" altLang="ko-KR" dirty="0" err="1"/>
              <a:t>Haar</a:t>
            </a:r>
            <a:r>
              <a:rPr lang="en-US" altLang="ko-KR" dirty="0"/>
              <a:t>-like features) </a:t>
            </a:r>
            <a:r>
              <a:rPr lang="ko-KR" altLang="en-US" dirty="0"/>
              <a:t>방법</a:t>
            </a:r>
            <a:endParaRPr lang="en-US" altLang="ko-KR" dirty="0"/>
          </a:p>
          <a:p>
            <a:pPr lvl="1"/>
            <a:r>
              <a:rPr lang="en-US" altLang="ko-KR" dirty="0"/>
              <a:t>Viola</a:t>
            </a:r>
            <a:r>
              <a:rPr lang="ko-KR" altLang="en-US" dirty="0"/>
              <a:t>와 </a:t>
            </a:r>
            <a:r>
              <a:rPr lang="en-US" altLang="ko-KR" dirty="0"/>
              <a:t>Jones</a:t>
            </a:r>
            <a:r>
              <a:rPr lang="ko-KR" altLang="en-US" dirty="0"/>
              <a:t>의 논문 </a:t>
            </a:r>
            <a:r>
              <a:rPr lang="en-US" altLang="ko-KR" dirty="0"/>
              <a:t>“Rapid Object Detection Using a Boosted Cascade of Simple Features(2001)”</a:t>
            </a:r>
          </a:p>
          <a:p>
            <a:pPr lvl="1"/>
            <a:r>
              <a:rPr lang="ko-KR" altLang="en-US" dirty="0"/>
              <a:t>얼굴과</a:t>
            </a:r>
            <a:r>
              <a:rPr lang="en-US" altLang="ko-KR" dirty="0"/>
              <a:t> </a:t>
            </a:r>
            <a:r>
              <a:rPr lang="ko-KR" altLang="en-US" dirty="0"/>
              <a:t>얼굴이 아닌 것의 차이를 효율적으로 보여줌</a:t>
            </a:r>
            <a:endParaRPr lang="en-US" altLang="ko-KR" dirty="0"/>
          </a:p>
          <a:p>
            <a:pPr lvl="1"/>
            <a:r>
              <a:rPr lang="ko-KR" altLang="en-US" dirty="0"/>
              <a:t>특징 값은 흰색 영역과 검은색 직사각형 영역의 화소 값의 차로 정의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B741CD-4628-E9AD-1089-93164C1E7E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9E9F57-A697-793A-4CA0-EB096530A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435" y="3210204"/>
            <a:ext cx="4135130" cy="27763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17C641-771B-50F7-37A3-C58A6B280D29}"/>
              </a:ext>
            </a:extLst>
          </p:cNvPr>
          <p:cNvSpPr txBox="1"/>
          <p:nvPr/>
        </p:nvSpPr>
        <p:spPr>
          <a:xfrm>
            <a:off x="1735217" y="6107633"/>
            <a:ext cx="5695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유사 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하르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특징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https://www.researchgate.net/figure/Haar-like-features)&gt;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3028537"/>
      </p:ext>
    </p:extLst>
  </p:cSld>
  <p:clrMapOvr>
    <a:masterClrMapping/>
  </p:clrMapOvr>
  <p:transition>
    <p:diamond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F5102-D70A-BD44-AD27-0FEB6A2D1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하르</a:t>
            </a:r>
            <a:r>
              <a:rPr lang="en-US" altLang="ko-KR" dirty="0"/>
              <a:t> </a:t>
            </a:r>
            <a:r>
              <a:rPr lang="ko-KR" altLang="en-US" dirty="0"/>
              <a:t>기반 다단계 분류기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AA2862-01C7-2385-5B61-0BA3F3302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하르</a:t>
            </a:r>
            <a:r>
              <a:rPr lang="ko-KR" altLang="en-US" dirty="0"/>
              <a:t> 기반 다단계 분류기</a:t>
            </a:r>
            <a:r>
              <a:rPr lang="en-US" altLang="ko-KR" sz="2000" dirty="0"/>
              <a:t>(</a:t>
            </a:r>
            <a:r>
              <a:rPr lang="en-US" altLang="ko-KR" sz="2000" dirty="0" err="1"/>
              <a:t>haar</a:t>
            </a:r>
            <a:r>
              <a:rPr lang="en-US" altLang="ko-KR" sz="2000" dirty="0"/>
              <a:t> feature-based cascade classifiers)</a:t>
            </a:r>
            <a:endParaRPr lang="en-US" altLang="ko-KR" dirty="0"/>
          </a:p>
          <a:p>
            <a:pPr lvl="1"/>
            <a:r>
              <a:rPr lang="ko-KR" altLang="en-US" dirty="0"/>
              <a:t>유사 </a:t>
            </a:r>
            <a:r>
              <a:rPr lang="ko-KR" altLang="en-US" dirty="0" err="1"/>
              <a:t>하르</a:t>
            </a:r>
            <a:r>
              <a:rPr lang="ko-KR" altLang="en-US" dirty="0"/>
              <a:t> 특징과 매우 단순한 특징들을 조합하여 객체를 찾아냄</a:t>
            </a:r>
            <a:endParaRPr lang="en-US" altLang="ko-KR" dirty="0"/>
          </a:p>
          <a:p>
            <a:pPr lvl="1"/>
            <a:r>
              <a:rPr lang="ko-KR" altLang="en-US" dirty="0"/>
              <a:t>다단계</a:t>
            </a:r>
            <a:r>
              <a:rPr lang="en-US" altLang="ko-KR" dirty="0"/>
              <a:t>(cascade)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</a:t>
            </a:r>
            <a:r>
              <a:rPr lang="ko-KR" altLang="en-US" dirty="0"/>
              <a:t>여러 단계의 검출기 순차 사용 </a:t>
            </a:r>
            <a:r>
              <a:rPr lang="en-US" altLang="ko-KR" dirty="0"/>
              <a:t>: </a:t>
            </a:r>
            <a:r>
              <a:rPr lang="ko-KR" altLang="en-US" dirty="0"/>
              <a:t>단순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</a:t>
            </a:r>
            <a:r>
              <a:rPr lang="ko-KR" altLang="en-US" dirty="0"/>
              <a:t>복잡</a:t>
            </a:r>
            <a:endParaRPr lang="en-US" altLang="ko-KR" dirty="0"/>
          </a:p>
          <a:p>
            <a:pPr lvl="2"/>
            <a:r>
              <a:rPr lang="en-US" altLang="ko-KR" dirty="0"/>
              <a:t>1,000</a:t>
            </a:r>
            <a:r>
              <a:rPr lang="ko-KR" altLang="en-US" dirty="0"/>
              <a:t>개 이상의 얼굴 영상과 </a:t>
            </a:r>
            <a:r>
              <a:rPr lang="en-US" altLang="ko-KR" dirty="0"/>
              <a:t>10,000</a:t>
            </a:r>
            <a:r>
              <a:rPr lang="ko-KR" altLang="en-US" dirty="0"/>
              <a:t>개 이상의 非얼굴 영상으로 학습</a:t>
            </a:r>
            <a:endParaRPr lang="en-US" altLang="ko-KR" dirty="0"/>
          </a:p>
          <a:p>
            <a:pPr lvl="2"/>
            <a:r>
              <a:rPr lang="ko-KR" altLang="en-US" dirty="0"/>
              <a:t>멀티코어 </a:t>
            </a:r>
            <a:r>
              <a:rPr lang="en-US" altLang="ko-KR" dirty="0"/>
              <a:t>CPU</a:t>
            </a:r>
            <a:r>
              <a:rPr lang="ko-KR" altLang="en-US" dirty="0"/>
              <a:t>장착 컴퓨터에서 일주일 정도의 시간 소요</a:t>
            </a:r>
            <a:endParaRPr lang="en-US" altLang="ko-KR" dirty="0"/>
          </a:p>
          <a:p>
            <a:pPr lvl="1"/>
            <a:r>
              <a:rPr lang="en-US" altLang="ko-KR" dirty="0"/>
              <a:t>OpenCV</a:t>
            </a:r>
            <a:r>
              <a:rPr lang="ko-KR" altLang="en-US" dirty="0"/>
              <a:t>에서는 미리 학습한 다양한 검출기 제공</a:t>
            </a:r>
            <a:endParaRPr lang="en-US" altLang="ko-KR" dirty="0"/>
          </a:p>
          <a:p>
            <a:pPr lvl="2"/>
            <a:r>
              <a:rPr lang="ko-KR" altLang="en-US" dirty="0"/>
              <a:t>전면 얼굴</a:t>
            </a:r>
            <a:r>
              <a:rPr lang="en-US" altLang="ko-KR" dirty="0"/>
              <a:t>, </a:t>
            </a:r>
            <a:r>
              <a:rPr lang="ko-KR" altLang="en-US" dirty="0"/>
              <a:t>측면 얼굴</a:t>
            </a:r>
            <a:r>
              <a:rPr lang="en-US" altLang="ko-KR" dirty="0"/>
              <a:t>, </a:t>
            </a:r>
            <a:r>
              <a:rPr lang="ko-KR" altLang="en-US" dirty="0"/>
              <a:t>눈</a:t>
            </a:r>
            <a:r>
              <a:rPr lang="en-US" altLang="ko-KR" dirty="0"/>
              <a:t>, </a:t>
            </a:r>
            <a:r>
              <a:rPr lang="ko-KR" altLang="en-US" dirty="0"/>
              <a:t>코 등 검출 가능</a:t>
            </a:r>
            <a:r>
              <a:rPr lang="en-US" altLang="ko-KR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B741CD-4628-E9AD-1089-93164C1E7E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7</a:t>
            </a:fld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17C641-771B-50F7-37A3-C58A6B280D29}"/>
              </a:ext>
            </a:extLst>
          </p:cNvPr>
          <p:cNvSpPr txBox="1"/>
          <p:nvPr/>
        </p:nvSpPr>
        <p:spPr>
          <a:xfrm>
            <a:off x="729430" y="6107633"/>
            <a:ext cx="77073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AdaBoosting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for face detection(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https://docs.opencv.org/3.4/db/d28/tutorial_cascade_classifier.html)&gt;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9666D08-C5E0-8171-2E45-A7F9EB6F4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463" y="4163549"/>
            <a:ext cx="3053074" cy="187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810806"/>
      </p:ext>
    </p:extLst>
  </p:cSld>
  <p:clrMapOvr>
    <a:masterClrMapping/>
  </p:clrMapOvr>
  <p:transition>
    <p:diamond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34F191-581D-89F8-7F74-E37C99981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검출기 파일 다운로드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3DB7B7-1EBE-CA0F-6C06-5ED1C3B03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구글로 </a:t>
            </a:r>
            <a:r>
              <a:rPr lang="en-US" altLang="ko-KR" dirty="0"/>
              <a:t>”cascade classifier </a:t>
            </a:r>
            <a:r>
              <a:rPr lang="en-US" altLang="ko-KR" dirty="0" err="1"/>
              <a:t>opencv</a:t>
            </a:r>
            <a:r>
              <a:rPr lang="en-US" altLang="ko-KR" dirty="0"/>
              <a:t> xml” </a:t>
            </a:r>
            <a:r>
              <a:rPr lang="ko-KR" altLang="en-US" dirty="0"/>
              <a:t>검색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93EE18-15AD-FFB3-9F8A-A054E2EC9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8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ECB39FB-20F5-EEED-3BAF-CD915A52E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445" y="1650382"/>
            <a:ext cx="7133333" cy="42190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7108BF3A-DB8C-45B2-3B8A-FC37C0B53088}"/>
              </a:ext>
            </a:extLst>
          </p:cNvPr>
          <p:cNvSpPr/>
          <p:nvPr/>
        </p:nvSpPr>
        <p:spPr>
          <a:xfrm>
            <a:off x="1070150" y="3219846"/>
            <a:ext cx="5328592" cy="10801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191492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C257D-5A88-C416-9371-190D3FF2C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A7FFA-8D67-C83E-B2AB-D6070ECD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검출기 파일 다운로드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2CF2D0-696C-AF4A-7D9A-83A9C06C5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Haar</a:t>
            </a:r>
            <a:r>
              <a:rPr lang="ko-KR" altLang="en-US" dirty="0"/>
              <a:t> </a:t>
            </a:r>
            <a:r>
              <a:rPr lang="en-US" altLang="ko-KR" dirty="0"/>
              <a:t>Classifiers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B4BF68-C1E9-C66F-46EF-02D24C06B9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9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F3AF9C-F2E7-BE74-FE70-2A8369945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700808"/>
            <a:ext cx="5040560" cy="439265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25404821"/>
      </p:ext>
    </p:extLst>
  </p:cSld>
  <p:clrMapOvr>
    <a:masterClrMapping/>
  </p:clrMapOvr>
  <p:transition>
    <p:diamond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34F191-581D-89F8-7F74-E37C99981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검출기 파일 다운로드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3DB7B7-1EBE-CA0F-6C06-5ED1C3B03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https://github.com/opencv/opencv/tree/master/data/haarcascades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93EE18-15AD-FFB3-9F8A-A054E2EC9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10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CD02CD-40D3-5151-2D84-44ACD5BEA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7" y="1869760"/>
            <a:ext cx="8784366" cy="45825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26B1831-223D-7D71-2657-DA1CE9A80671}"/>
              </a:ext>
            </a:extLst>
          </p:cNvPr>
          <p:cNvSpPr/>
          <p:nvPr/>
        </p:nvSpPr>
        <p:spPr>
          <a:xfrm>
            <a:off x="467543" y="1869760"/>
            <a:ext cx="7848873" cy="33510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haarcascade_eye.xml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D78A469-7A53-8039-0D78-BCF72F5997A4}"/>
              </a:ext>
            </a:extLst>
          </p:cNvPr>
          <p:cNvSpPr/>
          <p:nvPr/>
        </p:nvSpPr>
        <p:spPr>
          <a:xfrm>
            <a:off x="482824" y="3180318"/>
            <a:ext cx="7823358" cy="33510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haarcascade_frontalface_alt2.xml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978307-ED46-7187-DD47-792A1CD2C8F0}"/>
              </a:ext>
            </a:extLst>
          </p:cNvPr>
          <p:cNvSpPr/>
          <p:nvPr/>
        </p:nvSpPr>
        <p:spPr>
          <a:xfrm>
            <a:off x="467543" y="3759324"/>
            <a:ext cx="7823358" cy="33510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haarcascade_frontalface_default.xml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0948972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0B3AC-3568-E54E-5F13-C2D082D6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검출기 파일 다운로드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83FED1-D0A5-A736-F238-118232D1D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다운로드 클릭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02E97-DD2B-DE54-8933-16ED73DA3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11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4AE6311-239A-E177-CE01-5948AE3B9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60" y="1870372"/>
            <a:ext cx="8330704" cy="34737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B549277-32D4-2F74-7A12-B52335583CB0}"/>
              </a:ext>
            </a:extLst>
          </p:cNvPr>
          <p:cNvSpPr/>
          <p:nvPr/>
        </p:nvSpPr>
        <p:spPr>
          <a:xfrm>
            <a:off x="8028384" y="3093896"/>
            <a:ext cx="360040" cy="33510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9E8598B-ECC5-0624-A97F-18A174A3C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113" y="1891005"/>
            <a:ext cx="2275216" cy="9988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91998384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47208-3C61-3C9F-0AD4-A56A55DB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검출기 파일 다운로드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D2B996-D8B9-A865-577A-DA139E768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12</a:t>
            </a:fld>
            <a:endParaRPr lang="en-US" altLang="ko-KR"/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04FF3701-2945-A834-5BD7-3CF2C76D4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week09 </a:t>
            </a:r>
            <a:r>
              <a:rPr lang="ko-KR" altLang="en-US" dirty="0"/>
              <a:t>폴더 내에 저장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10D66E-78EA-E311-2CE7-41D902E1F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991" y="1700808"/>
            <a:ext cx="6422018" cy="45219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3198D95-DE56-2D05-886D-C7CBDA97DE32}"/>
              </a:ext>
            </a:extLst>
          </p:cNvPr>
          <p:cNvSpPr/>
          <p:nvPr/>
        </p:nvSpPr>
        <p:spPr>
          <a:xfrm>
            <a:off x="3575304" y="4816402"/>
            <a:ext cx="2808312" cy="64807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2050404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47208-3C61-3C9F-0AD4-A56A55DB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성별 분류 기초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B2F779-6D89-2FE6-64F4-7281663FC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1" y="981075"/>
            <a:ext cx="4464050" cy="5581650"/>
          </a:xfrm>
        </p:spPr>
        <p:txBody>
          <a:bodyPr/>
          <a:lstStyle/>
          <a:p>
            <a:r>
              <a:rPr lang="ko-KR" altLang="en-US" dirty="0"/>
              <a:t>성별분류 기초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남성에 비해 여성의 입술 색깔이 붉다</a:t>
            </a:r>
            <a:endParaRPr lang="en-US" altLang="ko-KR" dirty="0"/>
          </a:p>
          <a:p>
            <a:pPr lvl="1"/>
            <a:r>
              <a:rPr lang="ko-KR" altLang="en-US" dirty="0"/>
              <a:t>남성에</a:t>
            </a:r>
            <a:r>
              <a:rPr lang="en-US" altLang="ko-KR" dirty="0"/>
              <a:t> </a:t>
            </a:r>
            <a:r>
              <a:rPr lang="ko-KR" altLang="en-US" dirty="0"/>
              <a:t>비해 여성의 머리카락이 길다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오류 가능성 큼 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더 정교한 알고리즘 필요</a:t>
            </a:r>
            <a:endParaRPr lang="en-US" altLang="ko-K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ko-KR" altLang="en-US" dirty="0"/>
              <a:t>입술영역 인식</a:t>
            </a:r>
            <a:endParaRPr lang="en-US" altLang="ko-KR" dirty="0"/>
          </a:p>
          <a:p>
            <a:pPr lvl="1"/>
            <a:r>
              <a:rPr lang="ko-KR" altLang="en-US" dirty="0"/>
              <a:t>얼굴과 입술의 색깔 비교</a:t>
            </a:r>
            <a:endParaRPr lang="en-US" altLang="ko-KR" dirty="0"/>
          </a:p>
          <a:p>
            <a:r>
              <a:rPr lang="ko-KR" altLang="en-US" dirty="0"/>
              <a:t>머리카락 인식</a:t>
            </a:r>
            <a:endParaRPr lang="en-US" altLang="ko-KR" dirty="0"/>
          </a:p>
          <a:p>
            <a:pPr lvl="1"/>
            <a:r>
              <a:rPr lang="ko-KR" altLang="en-US" dirty="0"/>
              <a:t>귀밑 영역에 머리카락이 있는지 색상 비교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D2B996-D8B9-A865-577A-DA139E768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13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A0827C9-5246-35A9-DCBE-8E8E2AF93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23" y="1124744"/>
            <a:ext cx="4395123" cy="4680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47BFDC-58E6-DE13-08F6-062D9D5103F7}"/>
              </a:ext>
            </a:extLst>
          </p:cNvPr>
          <p:cNvSpPr txBox="1"/>
          <p:nvPr/>
        </p:nvSpPr>
        <p:spPr>
          <a:xfrm>
            <a:off x="7978231" y="158454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윗머리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A6AE5C6-60D0-E3B2-53AD-88153B7458D6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7308304" y="1753826"/>
            <a:ext cx="669927" cy="11148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171B74A-6605-D698-1C8C-C481CC498C57}"/>
              </a:ext>
            </a:extLst>
          </p:cNvPr>
          <p:cNvSpPr txBox="1"/>
          <p:nvPr/>
        </p:nvSpPr>
        <p:spPr>
          <a:xfrm>
            <a:off x="7978231" y="281562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귀밑머리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F6D1B64-5CDA-FE24-4007-5DC925757C57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7413351" y="2984900"/>
            <a:ext cx="564880" cy="44410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4C5B179-2AA7-D6C7-D955-9AC867E09D73}"/>
              </a:ext>
            </a:extLst>
          </p:cNvPr>
          <p:cNvSpPr txBox="1"/>
          <p:nvPr/>
        </p:nvSpPr>
        <p:spPr>
          <a:xfrm>
            <a:off x="7475529" y="4556113"/>
            <a:ext cx="10054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입술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F0964A8-05C8-CD13-6D6B-192303FD4124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804248" y="3429000"/>
            <a:ext cx="671281" cy="129639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84C85EC-F72B-AEE1-E400-81BFAC01AF36}"/>
              </a:ext>
            </a:extLst>
          </p:cNvPr>
          <p:cNvSpPr txBox="1"/>
          <p:nvPr/>
        </p:nvSpPr>
        <p:spPr>
          <a:xfrm>
            <a:off x="5860783" y="4661659"/>
            <a:ext cx="10054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얼굴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3DA457C-6775-5152-836A-E53F978F2D3F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6363485" y="2815623"/>
            <a:ext cx="108212" cy="1846036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2BF8AE54-ED95-FB52-F3C5-C4A74EC3780E}"/>
              </a:ext>
            </a:extLst>
          </p:cNvPr>
          <p:cNvSpPr/>
          <p:nvPr/>
        </p:nvSpPr>
        <p:spPr>
          <a:xfrm>
            <a:off x="6141955" y="1865173"/>
            <a:ext cx="1271396" cy="184603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141548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D8EB1-E206-09A6-A7BC-F12A0FAB9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성별 분류 프로그램의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D7CA86-0977-AA64-82F7-C8BB99497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14</a:t>
            </a:fld>
            <a:endParaRPr lang="en-US" altLang="ko-KR"/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E7F7A5FA-335A-8604-98C5-E584C8BAD3A7}"/>
              </a:ext>
            </a:extLst>
          </p:cNvPr>
          <p:cNvSpPr/>
          <p:nvPr/>
        </p:nvSpPr>
        <p:spPr>
          <a:xfrm>
            <a:off x="2898709" y="1022470"/>
            <a:ext cx="3312368" cy="360040"/>
          </a:xfrm>
          <a:prstGeom prst="flowChartAlternateProcess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얼굴 영상 입력 및 전 처리 </a:t>
            </a: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913E5243-5DF8-95C4-4C36-FF37380A4F55}"/>
              </a:ext>
            </a:extLst>
          </p:cNvPr>
          <p:cNvSpPr/>
          <p:nvPr/>
        </p:nvSpPr>
        <p:spPr>
          <a:xfrm>
            <a:off x="2898709" y="1611677"/>
            <a:ext cx="3312368" cy="360040"/>
          </a:xfrm>
          <a:prstGeom prst="flowChartAlternateProcess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얼굴 및 눈 영역 검출</a:t>
            </a: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AF047549-68F4-D7F4-73E7-DFB1324C4601}"/>
              </a:ext>
            </a:extLst>
          </p:cNvPr>
          <p:cNvSpPr/>
          <p:nvPr/>
        </p:nvSpPr>
        <p:spPr>
          <a:xfrm>
            <a:off x="2898709" y="2216852"/>
            <a:ext cx="3312368" cy="360040"/>
          </a:xfrm>
          <a:prstGeom prst="flowChartAlternateProcess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얼굴 기울기 계산 및 보정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순서도: 대체 처리 7">
            <a:extLst>
              <a:ext uri="{FF2B5EF4-FFF2-40B4-BE49-F238E27FC236}">
                <a16:creationId xmlns:a16="http://schemas.microsoft.com/office/drawing/2014/main" id="{A5A8827C-5E95-617D-3143-DA257560D7E0}"/>
              </a:ext>
            </a:extLst>
          </p:cNvPr>
          <p:cNvSpPr/>
          <p:nvPr/>
        </p:nvSpPr>
        <p:spPr>
          <a:xfrm>
            <a:off x="450437" y="2915701"/>
            <a:ext cx="3312368" cy="360040"/>
          </a:xfrm>
          <a:prstGeom prst="flowChartAlternateProcess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입술 영역 계산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순서도: 대체 처리 8">
            <a:extLst>
              <a:ext uri="{FF2B5EF4-FFF2-40B4-BE49-F238E27FC236}">
                <a16:creationId xmlns:a16="http://schemas.microsoft.com/office/drawing/2014/main" id="{970FB023-F49E-6C8F-9BE9-E1A00411BED1}"/>
              </a:ext>
            </a:extLst>
          </p:cNvPr>
          <p:cNvSpPr/>
          <p:nvPr/>
        </p:nvSpPr>
        <p:spPr>
          <a:xfrm>
            <a:off x="450437" y="3520876"/>
            <a:ext cx="3312368" cy="360040"/>
          </a:xfrm>
          <a:prstGeom prst="flowChartAlternateProcess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입술 </a:t>
            </a:r>
            <a:r>
              <a:rPr lang="ko-KR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 마스크 생성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순서도: 대체 처리 9">
            <a:extLst>
              <a:ext uri="{FF2B5EF4-FFF2-40B4-BE49-F238E27FC236}">
                <a16:creationId xmlns:a16="http://schemas.microsoft.com/office/drawing/2014/main" id="{F3C45772-9476-0FB9-7D07-1835E96FE4E8}"/>
              </a:ext>
            </a:extLst>
          </p:cNvPr>
          <p:cNvSpPr/>
          <p:nvPr/>
        </p:nvSpPr>
        <p:spPr>
          <a:xfrm>
            <a:off x="450437" y="4126051"/>
            <a:ext cx="3312368" cy="360040"/>
          </a:xfrm>
          <a:prstGeom prst="flowChartAlternateProcess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입술 영역별 히스토그램 계산</a:t>
            </a:r>
          </a:p>
        </p:txBody>
      </p:sp>
      <p:sp>
        <p:nvSpPr>
          <p:cNvPr id="11" name="순서도: 대체 처리 10">
            <a:extLst>
              <a:ext uri="{FF2B5EF4-FFF2-40B4-BE49-F238E27FC236}">
                <a16:creationId xmlns:a16="http://schemas.microsoft.com/office/drawing/2014/main" id="{CCC2CB4B-B051-5750-3EBB-8B876D478505}"/>
              </a:ext>
            </a:extLst>
          </p:cNvPr>
          <p:cNvSpPr/>
          <p:nvPr/>
        </p:nvSpPr>
        <p:spPr>
          <a:xfrm>
            <a:off x="124676" y="4731226"/>
            <a:ext cx="3963890" cy="360040"/>
          </a:xfrm>
          <a:prstGeom prst="flowChartAlternateProcess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입술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얼굴 히스토그램 유사도 계산</a:t>
            </a:r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EF45D063-A6F5-8F8B-F235-D5CB649B07AF}"/>
              </a:ext>
            </a:extLst>
          </p:cNvPr>
          <p:cNvSpPr/>
          <p:nvPr/>
        </p:nvSpPr>
        <p:spPr>
          <a:xfrm>
            <a:off x="5391675" y="2911743"/>
            <a:ext cx="3312368" cy="360040"/>
          </a:xfrm>
          <a:prstGeom prst="flowChartAlternateProcess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머리카락 영역 계산</a:t>
            </a:r>
          </a:p>
        </p:txBody>
      </p:sp>
      <p:sp>
        <p:nvSpPr>
          <p:cNvPr id="13" name="순서도: 대체 처리 12">
            <a:extLst>
              <a:ext uri="{FF2B5EF4-FFF2-40B4-BE49-F238E27FC236}">
                <a16:creationId xmlns:a16="http://schemas.microsoft.com/office/drawing/2014/main" id="{9CC19F1E-5038-40CD-28DE-C9D576371520}"/>
              </a:ext>
            </a:extLst>
          </p:cNvPr>
          <p:cNvSpPr/>
          <p:nvPr/>
        </p:nvSpPr>
        <p:spPr>
          <a:xfrm>
            <a:off x="5391675" y="3516918"/>
            <a:ext cx="3312368" cy="360040"/>
          </a:xfrm>
          <a:prstGeom prst="flowChartAlternateProcess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머리카락 영역 마스크 생성</a:t>
            </a:r>
          </a:p>
        </p:txBody>
      </p:sp>
      <p:sp>
        <p:nvSpPr>
          <p:cNvPr id="14" name="순서도: 대체 처리 13">
            <a:extLst>
              <a:ext uri="{FF2B5EF4-FFF2-40B4-BE49-F238E27FC236}">
                <a16:creationId xmlns:a16="http://schemas.microsoft.com/office/drawing/2014/main" id="{3250DCEA-5AB0-5A68-1F50-4FDC1F203961}"/>
              </a:ext>
            </a:extLst>
          </p:cNvPr>
          <p:cNvSpPr/>
          <p:nvPr/>
        </p:nvSpPr>
        <p:spPr>
          <a:xfrm>
            <a:off x="5391675" y="4122093"/>
            <a:ext cx="3312368" cy="360040"/>
          </a:xfrm>
          <a:prstGeom prst="flowChartAlternateProcess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머리카락 영역별 히스토그램 계산</a:t>
            </a:r>
          </a:p>
        </p:txBody>
      </p:sp>
      <p:sp>
        <p:nvSpPr>
          <p:cNvPr id="15" name="순서도: 대체 처리 14">
            <a:extLst>
              <a:ext uri="{FF2B5EF4-FFF2-40B4-BE49-F238E27FC236}">
                <a16:creationId xmlns:a16="http://schemas.microsoft.com/office/drawing/2014/main" id="{6916EF27-FA29-677F-CAF5-47915F712DEC}"/>
              </a:ext>
            </a:extLst>
          </p:cNvPr>
          <p:cNvSpPr/>
          <p:nvPr/>
        </p:nvSpPr>
        <p:spPr>
          <a:xfrm>
            <a:off x="5065914" y="4727268"/>
            <a:ext cx="3963890" cy="360040"/>
          </a:xfrm>
          <a:prstGeom prst="flowChartAlternateProcess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lnSpc>
                <a:spcPct val="80000"/>
              </a:lnSpc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윗머리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귀밑머리 히스토그램 유사도 계산</a:t>
            </a:r>
          </a:p>
        </p:txBody>
      </p:sp>
      <p:sp>
        <p:nvSpPr>
          <p:cNvPr id="16" name="순서도: 판단 15">
            <a:extLst>
              <a:ext uri="{FF2B5EF4-FFF2-40B4-BE49-F238E27FC236}">
                <a16:creationId xmlns:a16="http://schemas.microsoft.com/office/drawing/2014/main" id="{6C4B51CD-0994-3B89-2844-1A62403C10E9}"/>
              </a:ext>
            </a:extLst>
          </p:cNvPr>
          <p:cNvSpPr/>
          <p:nvPr/>
        </p:nvSpPr>
        <p:spPr>
          <a:xfrm>
            <a:off x="2610677" y="5524054"/>
            <a:ext cx="3888432" cy="432048"/>
          </a:xfrm>
          <a:prstGeom prst="flowChartDecisi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유사도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비교</a:t>
            </a:r>
          </a:p>
        </p:txBody>
      </p:sp>
      <p:sp>
        <p:nvSpPr>
          <p:cNvPr id="17" name="순서도: 대체 처리 16">
            <a:extLst>
              <a:ext uri="{FF2B5EF4-FFF2-40B4-BE49-F238E27FC236}">
                <a16:creationId xmlns:a16="http://schemas.microsoft.com/office/drawing/2014/main" id="{7B119D7D-6F20-99E2-06D8-73F146BC7434}"/>
              </a:ext>
            </a:extLst>
          </p:cNvPr>
          <p:cNvSpPr/>
          <p:nvPr/>
        </p:nvSpPr>
        <p:spPr>
          <a:xfrm>
            <a:off x="2898709" y="6116895"/>
            <a:ext cx="3312368" cy="360040"/>
          </a:xfrm>
          <a:prstGeom prst="flowChartAlternateProcess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남녀 분류 및 결과 표시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9C92248-05E0-81C1-C72F-AF6D80EE8C4D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4554893" y="1382510"/>
            <a:ext cx="0" cy="229167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E8A02F2-6655-5DFE-BE98-44057A4685C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554893" y="1971717"/>
            <a:ext cx="0" cy="245135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254C183-4AD5-471E-64B0-7B40315115AD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2106621" y="3275741"/>
            <a:ext cx="0" cy="245135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8EFB7DC0-DC5C-163C-616D-BC905EF6E6F0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2106621" y="3880916"/>
            <a:ext cx="0" cy="245135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91D72DD-0D7D-F0A9-6AE6-501D648C3E72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2106621" y="4486091"/>
            <a:ext cx="0" cy="245135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C2EF3AE4-3E3D-1F0B-C651-CC446A91B28B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7047859" y="3271783"/>
            <a:ext cx="0" cy="245135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D5716DB-5011-8116-2024-03FA28B58DF7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7047859" y="3876958"/>
            <a:ext cx="0" cy="245135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7DA5473-BB4A-0C96-E72C-7AEFC38BCC39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7047859" y="4482133"/>
            <a:ext cx="0" cy="245135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CEC3AC1B-ED8F-0937-66F1-BC1BE32FA1B9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4554893" y="5956102"/>
            <a:ext cx="0" cy="16079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12520507-CCED-01AC-02EF-80B3510EC7CB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3161353" y="1522160"/>
            <a:ext cx="338809" cy="2448272"/>
          </a:xfrm>
          <a:prstGeom prst="bentConnector3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F3710A8F-D631-E662-1F50-C4921F036CAE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16200000" flipH="1">
            <a:off x="5633951" y="1497834"/>
            <a:ext cx="334851" cy="2492966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22DFAC4F-051A-C05A-C02A-2F069A412F66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 rot="16200000" flipH="1">
            <a:off x="3114363" y="4083524"/>
            <a:ext cx="432788" cy="2448272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86B55A53-7125-446D-AFD6-C904C7B0485E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rot="5400000">
            <a:off x="5583003" y="4059198"/>
            <a:ext cx="436746" cy="2492966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595445"/>
      </p:ext>
    </p:extLst>
  </p:cSld>
  <p:clrMapOvr>
    <a:masterClrMapping/>
  </p:clrMapOvr>
  <p:transition>
    <p:diamond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296E71-3756-6667-8FC2-8CFB26A1A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이미지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E762D1-71B7-BACB-DE6E-B9243AE14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week10/images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17BCF5-1197-868C-6516-BDD7422BA1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F6794E8-0E38-3C81-597A-106095BE4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99" y="1567714"/>
            <a:ext cx="7200802" cy="372257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8697844"/>
      </p:ext>
    </p:extLst>
  </p:cSld>
  <p:clrMapOvr>
    <a:masterClrMapping/>
  </p:clrMapOvr>
  <p:transition>
    <p:diamond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BCDEB-22CE-62E3-E31B-D4CE3506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/>
              <a:t>얼굴 검출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1364D-10EE-876D-5F62-69D1A0B1D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B09866C-7152-EC5E-BEB4-E2883AF15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49" y="991947"/>
            <a:ext cx="8028702" cy="55243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44684794"/>
      </p:ext>
    </p:extLst>
  </p:cSld>
  <p:clrMapOvr>
    <a:masterClrMapping/>
  </p:clrMapOvr>
  <p:transition>
    <p:diamond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BCDEB-22CE-62E3-E31B-D4CE3506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/>
              <a:t>얼굴 검출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1364D-10EE-876D-5F62-69D1A0B1D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17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5092C9-20E0-7236-547D-98A511EAD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66" y="1030609"/>
            <a:ext cx="8233068" cy="53285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6571450"/>
      </p:ext>
    </p:extLst>
  </p:cSld>
  <p:clrMapOvr>
    <a:masterClrMapping/>
  </p:clrMapOvr>
  <p:transition>
    <p:diamond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BCDEB-22CE-62E3-E31B-D4CE3506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/>
              <a:t>얼굴 검출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1364D-10EE-876D-5F62-69D1A0B1D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FF9E3E8-E8A1-F797-6C33-DFE3E843D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4" y="1052737"/>
            <a:ext cx="1951402" cy="208542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6BF97B3-5500-C904-55C3-466DF5AB2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593" y="1049490"/>
            <a:ext cx="2015886" cy="21197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19433C2-12F8-58AA-758A-87F953883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614" y="1095375"/>
            <a:ext cx="2853538" cy="204559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CDFFFF7-1079-8B10-9D85-6DD8E70C8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892" y="1052736"/>
            <a:ext cx="1568309" cy="208542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8C8749A-44D9-6E6B-D20A-F8F06D46CA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984" y="3690648"/>
            <a:ext cx="1903941" cy="202651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F7F0DE5-7342-B6A0-8980-908EB62412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4226" y="3673431"/>
            <a:ext cx="1942837" cy="205982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A4F8CEE-C0B5-6323-7646-4E735A9AD7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8484" y="3680546"/>
            <a:ext cx="2828033" cy="204559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3CBF97A-3F01-D21C-4D8C-80FBDBF2C2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6782" y="3673431"/>
            <a:ext cx="1794868" cy="20598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55377D3-D3D5-2D4E-EFD9-FD9CC72F6491}"/>
              </a:ext>
            </a:extLst>
          </p:cNvPr>
          <p:cNvSpPr txBox="1"/>
          <p:nvPr/>
        </p:nvSpPr>
        <p:spPr>
          <a:xfrm>
            <a:off x="479248" y="3138163"/>
            <a:ext cx="12234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&lt;man.jpg&gt;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969E1E-2B2F-CA89-87FC-6E513993B778}"/>
              </a:ext>
            </a:extLst>
          </p:cNvPr>
          <p:cNvSpPr txBox="1"/>
          <p:nvPr/>
        </p:nvSpPr>
        <p:spPr>
          <a:xfrm>
            <a:off x="2379155" y="3138163"/>
            <a:ext cx="1610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&lt;woman1.jpg&gt;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B40B08-B91D-E93D-DA6D-4A32FB0F2885}"/>
              </a:ext>
            </a:extLst>
          </p:cNvPr>
          <p:cNvSpPr txBox="1"/>
          <p:nvPr/>
        </p:nvSpPr>
        <p:spPr>
          <a:xfrm>
            <a:off x="4278686" y="3138163"/>
            <a:ext cx="1610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&lt;woman2.jpg&gt;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5E1DBE-D0B2-B6F0-254A-3DEA25333EFD}"/>
              </a:ext>
            </a:extLst>
          </p:cNvPr>
          <p:cNvSpPr txBox="1"/>
          <p:nvPr/>
        </p:nvSpPr>
        <p:spPr>
          <a:xfrm>
            <a:off x="6251401" y="3138163"/>
            <a:ext cx="1610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&lt;woman3.jpg&gt;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2789B5-D45B-EFE0-CDBE-65EDA6A1E3A3}"/>
              </a:ext>
            </a:extLst>
          </p:cNvPr>
          <p:cNvSpPr txBox="1"/>
          <p:nvPr/>
        </p:nvSpPr>
        <p:spPr>
          <a:xfrm>
            <a:off x="285573" y="5733256"/>
            <a:ext cx="1610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&lt;woman4.jpg&gt;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9EA255-23B6-A28F-3C4B-2F60E333A96D}"/>
              </a:ext>
            </a:extLst>
          </p:cNvPr>
          <p:cNvSpPr txBox="1"/>
          <p:nvPr/>
        </p:nvSpPr>
        <p:spPr>
          <a:xfrm>
            <a:off x="2270263" y="5760693"/>
            <a:ext cx="1610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&lt;woman5.jpg&gt;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DA97E0-CEAC-61D3-0DB1-911F890B109D}"/>
              </a:ext>
            </a:extLst>
          </p:cNvPr>
          <p:cNvSpPr txBox="1"/>
          <p:nvPr/>
        </p:nvSpPr>
        <p:spPr>
          <a:xfrm>
            <a:off x="4757119" y="5753054"/>
            <a:ext cx="1610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&lt;womans.jpg&gt;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B8749D-DA46-1E47-E994-B2D38F8BB026}"/>
              </a:ext>
            </a:extLst>
          </p:cNvPr>
          <p:cNvSpPr txBox="1"/>
          <p:nvPr/>
        </p:nvSpPr>
        <p:spPr>
          <a:xfrm>
            <a:off x="7179804" y="5758274"/>
            <a:ext cx="1548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&lt;humans.jpg&gt;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4823814"/>
      </p:ext>
    </p:extLst>
  </p:cSld>
  <p:clrMapOvr>
    <a:masterClrMapping/>
  </p:clrMapOvr>
  <p:transition>
    <p:diamond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BCDEB-22CE-62E3-E31B-D4CE3506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2] </a:t>
            </a:r>
            <a:r>
              <a:rPr lang="ko-KR" altLang="en-US" dirty="0"/>
              <a:t>눈 검출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1364D-10EE-876D-5F62-69D1A0B1D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19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D7DAB4-E01E-014A-DF3B-584B27DF0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34" y="984498"/>
            <a:ext cx="7789931" cy="54726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674173"/>
      </p:ext>
    </p:extLst>
  </p:cSld>
  <p:clrMapOvr>
    <a:masterClrMapping/>
  </p:clrMapOvr>
  <p:transition>
    <p:diamond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BCDEB-22CE-62E3-E31B-D4CE3506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2] </a:t>
            </a:r>
            <a:r>
              <a:rPr lang="ko-KR" altLang="en-US" dirty="0"/>
              <a:t>눈 검출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1364D-10EE-876D-5F62-69D1A0B1D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20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A79A83-3202-18EC-CBC6-145AE5253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02" y="888368"/>
            <a:ext cx="7232196" cy="561662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194FEF6-F5F9-D643-7A89-805CAF7DBCF0}"/>
              </a:ext>
            </a:extLst>
          </p:cNvPr>
          <p:cNvSpPr/>
          <p:nvPr/>
        </p:nvSpPr>
        <p:spPr>
          <a:xfrm>
            <a:off x="966843" y="5805264"/>
            <a:ext cx="7221255" cy="6997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491573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BCDEB-22CE-62E3-E31B-D4CE3506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2] </a:t>
            </a:r>
            <a:r>
              <a:rPr lang="ko-KR" altLang="en-US" dirty="0"/>
              <a:t>눈 검출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1364D-10EE-876D-5F62-69D1A0B1D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21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B072C89-1E9A-0674-FB5B-4E27E0E6C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6" y="1124744"/>
            <a:ext cx="7776866" cy="415099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5445471-46F5-B497-9099-391567A87553}"/>
              </a:ext>
            </a:extLst>
          </p:cNvPr>
          <p:cNvSpPr/>
          <p:nvPr/>
        </p:nvSpPr>
        <p:spPr>
          <a:xfrm>
            <a:off x="683568" y="1196752"/>
            <a:ext cx="7776864" cy="324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116124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BCDEB-22CE-62E3-E31B-D4CE3506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2] </a:t>
            </a:r>
            <a:r>
              <a:rPr lang="ko-KR" altLang="en-US" dirty="0"/>
              <a:t>눈 검출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1364D-10EE-876D-5F62-69D1A0B1D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22</a:t>
            </a:fld>
            <a:endParaRPr lang="en-US" altLang="ko-K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08395A-45E0-5E6B-4A54-258FCE91E606}"/>
              </a:ext>
            </a:extLst>
          </p:cNvPr>
          <p:cNvSpPr txBox="1"/>
          <p:nvPr/>
        </p:nvSpPr>
        <p:spPr>
          <a:xfrm>
            <a:off x="479248" y="3138163"/>
            <a:ext cx="12234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&lt;man.jpg&gt;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4BDF42-0A1F-7836-6AE0-603080C6A42D}"/>
              </a:ext>
            </a:extLst>
          </p:cNvPr>
          <p:cNvSpPr txBox="1"/>
          <p:nvPr/>
        </p:nvSpPr>
        <p:spPr>
          <a:xfrm>
            <a:off x="2379155" y="3138163"/>
            <a:ext cx="1610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&lt;woman1.jpg&gt;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5824F3-4CD4-A7CD-358D-6B320F97BCA8}"/>
              </a:ext>
            </a:extLst>
          </p:cNvPr>
          <p:cNvSpPr txBox="1"/>
          <p:nvPr/>
        </p:nvSpPr>
        <p:spPr>
          <a:xfrm>
            <a:off x="4278686" y="3138163"/>
            <a:ext cx="1610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&lt;woman2.jpg&gt;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ED5A28-A0AA-03E9-E49A-6FAB3D2C7030}"/>
              </a:ext>
            </a:extLst>
          </p:cNvPr>
          <p:cNvSpPr txBox="1"/>
          <p:nvPr/>
        </p:nvSpPr>
        <p:spPr>
          <a:xfrm>
            <a:off x="6251401" y="3138163"/>
            <a:ext cx="1610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&lt;woman3.jpg&gt;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56FA74-38AD-E150-8EC9-F6111B3B0FB2}"/>
              </a:ext>
            </a:extLst>
          </p:cNvPr>
          <p:cNvSpPr txBox="1"/>
          <p:nvPr/>
        </p:nvSpPr>
        <p:spPr>
          <a:xfrm>
            <a:off x="285573" y="5733256"/>
            <a:ext cx="1610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&lt;woman4.jpg&gt;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1D479A-E0EA-43FD-F7C5-3BAA88E3F682}"/>
              </a:ext>
            </a:extLst>
          </p:cNvPr>
          <p:cNvSpPr txBox="1"/>
          <p:nvPr/>
        </p:nvSpPr>
        <p:spPr>
          <a:xfrm>
            <a:off x="3146357" y="5760984"/>
            <a:ext cx="1610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&lt;womans.jpg&gt;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4FE574C9-15F6-0909-E1A4-4E4A53724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50" y="1035595"/>
            <a:ext cx="1952078" cy="211970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9D6B1396-1B0D-85C3-01ED-171FF1DAE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091" y="1011811"/>
            <a:ext cx="2033182" cy="2155347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4618B38-0AB5-F09D-CB39-6CD524298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483" y="1011811"/>
            <a:ext cx="1632965" cy="2165643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A1AEA99-18D6-354F-0119-83F9C51981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7658" y="1011811"/>
            <a:ext cx="3020196" cy="2155347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F4D15CA3-B9FA-DABE-BFA7-4391EED518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977" y="3641073"/>
            <a:ext cx="1952078" cy="208249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B494CB9C-D5B7-B631-EA88-A49F45C567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9155" y="3650382"/>
            <a:ext cx="2937874" cy="211060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A239596-A4D4-746E-4D8E-03D3A36513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1067" y="3621823"/>
            <a:ext cx="2161709" cy="22243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EADC5F-28E5-0B3A-F245-CE094A767394}"/>
              </a:ext>
            </a:extLst>
          </p:cNvPr>
          <p:cNvSpPr txBox="1"/>
          <p:nvPr/>
        </p:nvSpPr>
        <p:spPr>
          <a:xfrm>
            <a:off x="6377509" y="5760984"/>
            <a:ext cx="1548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&lt;humans.jpg&gt;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9917460"/>
      </p:ext>
    </p:extLst>
  </p:cSld>
  <p:clrMapOvr>
    <a:masterClrMapping/>
  </p:clrMapOvr>
  <p:transition>
    <p:diamond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F3BAAE-BFFD-8265-8371-009ECA791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성별 분류 </a:t>
            </a:r>
            <a:r>
              <a:rPr lang="en-US" altLang="ko-KR" dirty="0"/>
              <a:t>– </a:t>
            </a:r>
            <a:r>
              <a:rPr lang="ko-KR" altLang="en-US" dirty="0"/>
              <a:t>기울기 보정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6289C54-E0C5-08F1-71D8-D94337B241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얼굴 기울기 계산 및 보정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입술영역과 얼굴영역을 분리하려면 얼굴 왜곡의 수정 필요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전체적인 보정은 어려우나 좌우로 기울어진 보정 가능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눈 중심좌표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개의 차분 이용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ko-KR" b="1" i="0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𝐭𝐚𝐧</m:t>
                    </m:r>
                    <m:d>
                      <m:dPr>
                        <m:ctrlPr>
                          <a:rPr lang="en-US" altLang="ko-KR" b="1" i="0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ko-KR" altLang="en-US" b="1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𝛉</m:t>
                        </m:r>
                      </m:e>
                    </m:d>
                    <m:r>
                      <a:rPr lang="en-US" altLang="ko-KR" b="1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ko-KR" b="1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b="1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𝒅𝒚</m:t>
                        </m:r>
                      </m:num>
                      <m:den>
                        <m:r>
                          <a:rPr lang="en-US" altLang="ko-KR" b="1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𝒅𝒙</m:t>
                        </m:r>
                      </m:den>
                    </m:f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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𝜽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unc>
                      <m:func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tan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fPr>
                              <m:num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𝒅𝒚</m:t>
                                </m:r>
                              </m:num>
                              <m:den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𝒅𝒙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ko-KR" dirty="0"/>
              </a:p>
              <a:p>
                <a:pPr lvl="2"/>
                <a:r>
                  <a:rPr lang="ko-KR" altLang="en-US" dirty="0"/>
                  <a:t>양의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값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sym typeface="Wingdings" panose="05000000000000000000" pitchFamily="2" charset="2"/>
                  </a:rPr>
                  <a:t>반시계방향</a:t>
                </a:r>
                <a:r>
                  <a:rPr lang="en-US" altLang="ko-KR" dirty="0">
                    <a:sym typeface="Wingdings" panose="05000000000000000000" pitchFamily="2" charset="2"/>
                  </a:rPr>
                  <a:t>, </a:t>
                </a:r>
                <a:r>
                  <a:rPr lang="ko-KR" altLang="en-US" dirty="0">
                    <a:sym typeface="Wingdings" panose="05000000000000000000" pitchFamily="2" charset="2"/>
                  </a:rPr>
                  <a:t>음의 값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sym typeface="Wingdings" panose="05000000000000000000" pitchFamily="2" charset="2"/>
                  </a:rPr>
                  <a:t>시계방향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6289C54-E0C5-08F1-71D8-D94337B241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4" t="-3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609F0F-EAC6-3349-6BFB-B847F7DEA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23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0ADC336-A8ED-7BDC-3384-96E273710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101" y="3612069"/>
            <a:ext cx="3633677" cy="2442637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DFC7D0A-3C2E-237D-B64E-8C5BABBDE4CC}"/>
              </a:ext>
            </a:extLst>
          </p:cNvPr>
          <p:cNvCxnSpPr>
            <a:cxnSpLocks/>
          </p:cNvCxnSpPr>
          <p:nvPr/>
        </p:nvCxnSpPr>
        <p:spPr>
          <a:xfrm>
            <a:off x="5861206" y="3894716"/>
            <a:ext cx="223224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5021D5D-9493-CB84-341B-E401DDEB1435}"/>
              </a:ext>
            </a:extLst>
          </p:cNvPr>
          <p:cNvCxnSpPr>
            <a:cxnSpLocks/>
          </p:cNvCxnSpPr>
          <p:nvPr/>
        </p:nvCxnSpPr>
        <p:spPr>
          <a:xfrm>
            <a:off x="5861206" y="4769613"/>
            <a:ext cx="223224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5C9C241-A1F5-1837-92C8-B9100094492B}"/>
              </a:ext>
            </a:extLst>
          </p:cNvPr>
          <p:cNvCxnSpPr>
            <a:cxnSpLocks/>
          </p:cNvCxnSpPr>
          <p:nvPr/>
        </p:nvCxnSpPr>
        <p:spPr>
          <a:xfrm flipV="1">
            <a:off x="6221246" y="3667891"/>
            <a:ext cx="0" cy="130694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9E9E7B5-4CFB-6BA9-D3BD-92B379825685}"/>
              </a:ext>
            </a:extLst>
          </p:cNvPr>
          <p:cNvCxnSpPr>
            <a:cxnSpLocks/>
          </p:cNvCxnSpPr>
          <p:nvPr/>
        </p:nvCxnSpPr>
        <p:spPr>
          <a:xfrm flipV="1">
            <a:off x="7589398" y="3661552"/>
            <a:ext cx="0" cy="130694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F0E3CD51-2C4D-AD66-7ABB-FF48475B71AB}"/>
              </a:ext>
            </a:extLst>
          </p:cNvPr>
          <p:cNvSpPr/>
          <p:nvPr/>
        </p:nvSpPr>
        <p:spPr>
          <a:xfrm>
            <a:off x="7561966" y="3858716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64D5AAF-87EB-0C24-2C56-C1A0C1B99B01}"/>
              </a:ext>
            </a:extLst>
          </p:cNvPr>
          <p:cNvSpPr/>
          <p:nvPr/>
        </p:nvSpPr>
        <p:spPr>
          <a:xfrm>
            <a:off x="6185246" y="4733613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46FBF9-EEC0-60F1-75E8-AB63D8FDB4FF}"/>
                  </a:ext>
                </a:extLst>
              </p:cNvPr>
              <p:cNvSpPr txBox="1"/>
              <p:nvPr/>
            </p:nvSpPr>
            <p:spPr>
              <a:xfrm flipH="1">
                <a:off x="7474271" y="3429000"/>
                <a:ext cx="82809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왼</a:t>
                </a:r>
                <a:r>
                  <a:rPr lang="en-US" altLang="ko-KR" sz="1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눈</a:t>
                </a:r>
                <a:endPara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𝑝𝑡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46FBF9-EEC0-60F1-75E8-AB63D8FDB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74271" y="3429000"/>
                <a:ext cx="828097" cy="461665"/>
              </a:xfrm>
              <a:prstGeom prst="rect">
                <a:avLst/>
              </a:prstGeom>
              <a:blipFill>
                <a:blip r:embed="rId4"/>
                <a:stretch>
                  <a:fillRect t="-1333"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33A8742-1EA1-8351-B63B-C6C307088C60}"/>
                  </a:ext>
                </a:extLst>
              </p:cNvPr>
              <p:cNvSpPr txBox="1"/>
              <p:nvPr/>
            </p:nvSpPr>
            <p:spPr>
              <a:xfrm flipH="1">
                <a:off x="5358846" y="4810725"/>
                <a:ext cx="82809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오른</a:t>
                </a:r>
                <a:r>
                  <a:rPr lang="en-US" altLang="ko-KR" sz="1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눈</a:t>
                </a:r>
                <a:endPara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𝑝𝑡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33A8742-1EA1-8351-B63B-C6C307088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58846" y="4810725"/>
                <a:ext cx="828097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1E28285-EBB8-2795-2A1E-71F5CF0CFE85}"/>
              </a:ext>
            </a:extLst>
          </p:cNvPr>
          <p:cNvCxnSpPr/>
          <p:nvPr/>
        </p:nvCxnSpPr>
        <p:spPr>
          <a:xfrm>
            <a:off x="6229814" y="4904489"/>
            <a:ext cx="1340720" cy="0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3160519-1D9D-3643-2161-717B26A9CB59}"/>
              </a:ext>
            </a:extLst>
          </p:cNvPr>
          <p:cNvCxnSpPr>
            <a:cxnSpLocks/>
          </p:cNvCxnSpPr>
          <p:nvPr/>
        </p:nvCxnSpPr>
        <p:spPr>
          <a:xfrm flipV="1">
            <a:off x="7888319" y="3899809"/>
            <a:ext cx="0" cy="874896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50F00B-7D50-599C-D51C-1FF05B94E39E}"/>
                  </a:ext>
                </a:extLst>
              </p:cNvPr>
              <p:cNvSpPr txBox="1"/>
              <p:nvPr/>
            </p:nvSpPr>
            <p:spPr>
              <a:xfrm flipH="1">
                <a:off x="6531494" y="4887775"/>
                <a:ext cx="82809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200" i="1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50F00B-7D50-599C-D51C-1FF05B94E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31494" y="4887775"/>
                <a:ext cx="828097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979085D-1B5F-B1AE-5BCF-A6E1252EAD77}"/>
                  </a:ext>
                </a:extLst>
              </p:cNvPr>
              <p:cNvSpPr txBox="1"/>
              <p:nvPr/>
            </p:nvSpPr>
            <p:spPr>
              <a:xfrm flipH="1">
                <a:off x="7621672" y="4176524"/>
                <a:ext cx="82809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200" i="1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979085D-1B5F-B1AE-5BCF-A6E1252EA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21672" y="4176524"/>
                <a:ext cx="828097" cy="276999"/>
              </a:xfrm>
              <a:prstGeom prst="rect">
                <a:avLst/>
              </a:prstGeom>
              <a:blipFill>
                <a:blip r:embed="rId7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723B31BB-7602-1835-DA14-564DFC944755}"/>
              </a:ext>
            </a:extLst>
          </p:cNvPr>
          <p:cNvCxnSpPr>
            <a:cxnSpLocks/>
          </p:cNvCxnSpPr>
          <p:nvPr/>
        </p:nvCxnSpPr>
        <p:spPr>
          <a:xfrm flipH="1">
            <a:off x="6084168" y="3852552"/>
            <a:ext cx="1577317" cy="10065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원호 39">
            <a:extLst>
              <a:ext uri="{FF2B5EF4-FFF2-40B4-BE49-F238E27FC236}">
                <a16:creationId xmlns:a16="http://schemas.microsoft.com/office/drawing/2014/main" id="{F7C74F86-4404-5020-C850-87CC5D6EBDEF}"/>
              </a:ext>
            </a:extLst>
          </p:cNvPr>
          <p:cNvSpPr/>
          <p:nvPr/>
        </p:nvSpPr>
        <p:spPr>
          <a:xfrm rot="1558295">
            <a:off x="6310973" y="4605700"/>
            <a:ext cx="252000" cy="252000"/>
          </a:xfrm>
          <a:prstGeom prst="arc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92EE88C-3294-06E4-69BB-D22E7DCC5D4F}"/>
                  </a:ext>
                </a:extLst>
              </p:cNvPr>
              <p:cNvSpPr txBox="1"/>
              <p:nvPr/>
            </p:nvSpPr>
            <p:spPr>
              <a:xfrm flipH="1">
                <a:off x="6495239" y="4546902"/>
                <a:ext cx="3912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2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92EE88C-3294-06E4-69BB-D22E7DCC5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95239" y="4546902"/>
                <a:ext cx="391223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A4F0A20-8144-425C-FD75-4B47FB12D134}"/>
                  </a:ext>
                </a:extLst>
              </p:cNvPr>
              <p:cNvSpPr txBox="1"/>
              <p:nvPr/>
            </p:nvSpPr>
            <p:spPr>
              <a:xfrm flipH="1">
                <a:off x="6229814" y="5518355"/>
                <a:ext cx="1900259" cy="691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𝑝𝑡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1 −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𝑝𝑡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ko-KR" sz="1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𝜃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unc>
                        <m:func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20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𝑑𝑦</m:t>
                                  </m:r>
                                </m:num>
                                <m:den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A4F0A20-8144-425C-FD75-4B47FB12D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29814" y="5518355"/>
                <a:ext cx="1900259" cy="6919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5895350"/>
      </p:ext>
    </p:extLst>
  </p:cSld>
  <p:clrMapOvr>
    <a:masterClrMapping/>
  </p:clrMapOvr>
  <p:transition>
    <p:diamond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BA186B-F0BF-4FA9-19F1-889DBA9F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3] haar_utils.py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82F4090-CF6F-264A-439D-B892B429C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haar_utils.py</a:t>
            </a:r>
          </a:p>
          <a:p>
            <a:pPr lvl="1"/>
            <a:r>
              <a:rPr lang="ko-KR" altLang="en-US" dirty="0"/>
              <a:t>공통으로</a:t>
            </a:r>
            <a:r>
              <a:rPr lang="en-US" altLang="ko-KR" dirty="0"/>
              <a:t> </a:t>
            </a:r>
            <a:r>
              <a:rPr lang="ko-KR" altLang="en-US" dirty="0"/>
              <a:t>사용할 수 있는 함수들을 라이브러리로 정의</a:t>
            </a:r>
            <a:endParaRPr lang="en-US" altLang="ko-KR" dirty="0"/>
          </a:p>
          <a:p>
            <a:pPr lvl="1"/>
            <a:r>
              <a:rPr lang="ko-KR" altLang="en-US" dirty="0"/>
              <a:t>필요한 곳에서 라이브러리를 불러 사용 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10BEB3-1D6E-9A7E-FD4C-24573B8A7D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24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B003EC8-B230-4B03-AC35-B5E223EF0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038" y="2348880"/>
            <a:ext cx="5765924" cy="42043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66583823"/>
      </p:ext>
    </p:extLst>
  </p:cSld>
  <p:clrMapOvr>
    <a:masterClrMapping/>
  </p:clrMapOvr>
  <p:transition>
    <p:diamond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BA186B-F0BF-4FA9-19F1-889DBA9F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3] haar_utils.py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10BEB3-1D6E-9A7E-FD4C-24573B8A7D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C4FD4B-346A-490A-B830-84C28D276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32" y="1052736"/>
            <a:ext cx="8987736" cy="489654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72744231"/>
      </p:ext>
    </p:extLst>
  </p:cSld>
  <p:clrMapOvr>
    <a:masterClrMapping/>
  </p:clrMapOvr>
  <p:transition>
    <p:diamond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BA186B-F0BF-4FA9-19F1-889DBA9F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3] haar_utils.py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10BEB3-1D6E-9A7E-FD4C-24573B8A7D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26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3B92A6-4AEA-7BD4-00E9-5F9BB9D9E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6" y="1216758"/>
            <a:ext cx="8943206" cy="19242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88705967"/>
      </p:ext>
    </p:extLst>
  </p:cSld>
  <p:clrMapOvr>
    <a:masterClrMapping/>
  </p:clrMapOvr>
  <p:transition>
    <p:diamond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BA186B-F0BF-4FA9-19F1-889DBA9F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3] </a:t>
            </a:r>
            <a:r>
              <a:rPr lang="ko-KR" altLang="en-US" dirty="0"/>
              <a:t>얼굴 기울기 보정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10BEB3-1D6E-9A7E-FD4C-24573B8A7D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27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FC5F3EC-7691-147F-4C3C-77A716EF7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39" y="1013879"/>
            <a:ext cx="8225961" cy="54338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26955772"/>
      </p:ext>
    </p:extLst>
  </p:cSld>
  <p:clrMapOvr>
    <a:masterClrMapping/>
  </p:clrMapOvr>
  <p:transition>
    <p:diamond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BA186B-F0BF-4FA9-19F1-889DBA9F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3] </a:t>
            </a:r>
            <a:r>
              <a:rPr lang="ko-KR" altLang="en-US" dirty="0"/>
              <a:t>얼굴 기울기 보정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10BEB3-1D6E-9A7E-FD4C-24573B8A7D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8926EBF-EBD6-F907-0F57-D76BDE388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43" y="985455"/>
            <a:ext cx="8143913" cy="555429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23015893"/>
      </p:ext>
    </p:extLst>
  </p:cSld>
  <p:clrMapOvr>
    <a:masterClrMapping/>
  </p:clrMapOvr>
  <p:transition>
    <p:diamond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8D4E0-DC57-A625-7C25-A927396CC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3] </a:t>
            </a:r>
            <a:r>
              <a:rPr lang="ko-KR" altLang="en-US" dirty="0"/>
              <a:t>얼굴 기울기 보정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2D427B-0DA1-B87F-5F68-1B86A3C31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_03_CorrectImage.py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en-US" altLang="ko-KR" dirty="0"/>
              <a:t>Haar_utils.py</a:t>
            </a:r>
            <a:r>
              <a:rPr lang="ko-KR" altLang="en-US" dirty="0"/>
              <a:t>가 같은 폴더 내부에 존재하여야 함</a:t>
            </a:r>
            <a:endParaRPr lang="en-US" altLang="ko-KR" dirty="0"/>
          </a:p>
          <a:p>
            <a:pPr lvl="1"/>
            <a:r>
              <a:rPr lang="en-US" altLang="ko-KR" dirty="0" err="1"/>
              <a:t>TypeError</a:t>
            </a:r>
            <a:r>
              <a:rPr lang="en-US" altLang="ko-KR" dirty="0"/>
              <a:t> </a:t>
            </a:r>
            <a:r>
              <a:rPr lang="ko-KR" altLang="en-US" dirty="0"/>
              <a:t>발생</a:t>
            </a:r>
            <a:endParaRPr lang="en-US" altLang="ko-KR" dirty="0"/>
          </a:p>
          <a:p>
            <a:pPr lvl="2"/>
            <a:r>
              <a:rPr lang="ko-KR" altLang="en-US" dirty="0"/>
              <a:t>에러는 </a:t>
            </a:r>
            <a:r>
              <a:rPr lang="en-US" altLang="ko-KR" dirty="0"/>
              <a:t>cv2.getRotationMatrix2D()</a:t>
            </a:r>
            <a:r>
              <a:rPr lang="ko-KR" altLang="en-US" dirty="0"/>
              <a:t> 함수에 전달된 </a:t>
            </a:r>
            <a:r>
              <a:rPr lang="en-US" altLang="ko-KR" dirty="0"/>
              <a:t>center</a:t>
            </a:r>
            <a:r>
              <a:rPr lang="ko-KR" altLang="en-US" dirty="0"/>
              <a:t> 인자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en-US" altLang="ko-KR" dirty="0" err="1"/>
              <a:t>face_center</a:t>
            </a:r>
            <a:r>
              <a:rPr lang="en-US" altLang="ko-KR" dirty="0"/>
              <a:t>)</a:t>
            </a:r>
            <a:r>
              <a:rPr lang="ko-KR" altLang="en-US" dirty="0"/>
              <a:t>의 타입이 잘못되었을 때 발생</a:t>
            </a:r>
            <a:endParaRPr lang="en-US" altLang="ko-KR" dirty="0"/>
          </a:p>
          <a:p>
            <a:pPr lvl="2"/>
            <a:r>
              <a:rPr lang="en-US" altLang="ko-KR" dirty="0" err="1"/>
              <a:t>face_center</a:t>
            </a:r>
            <a:r>
              <a:rPr lang="ko-KR" altLang="en-US" dirty="0"/>
              <a:t>의 요소 중 하나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x </a:t>
            </a:r>
            <a:r>
              <a:rPr lang="ko-KR" altLang="en-US" dirty="0"/>
              <a:t>또는 </a:t>
            </a:r>
            <a:r>
              <a:rPr lang="en-US" altLang="ko-KR" dirty="0"/>
              <a:t>y)</a:t>
            </a:r>
            <a:r>
              <a:rPr lang="ko-KR" altLang="en-US" dirty="0"/>
              <a:t>가 </a:t>
            </a:r>
            <a:r>
              <a:rPr lang="en-US" altLang="ko-KR" dirty="0"/>
              <a:t>float</a:t>
            </a:r>
            <a:r>
              <a:rPr lang="ko-KR" altLang="en-US" dirty="0"/>
              <a:t>나 </a:t>
            </a:r>
            <a:r>
              <a:rPr lang="en-US" altLang="ko-KR" dirty="0"/>
              <a:t>int</a:t>
            </a:r>
            <a:r>
              <a:rPr lang="ko-KR" altLang="en-US" dirty="0"/>
              <a:t>가 아닌 다른 타입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-US" altLang="ko-KR" dirty="0" err="1"/>
              <a:t>numpy.ndarray</a:t>
            </a:r>
            <a:r>
              <a:rPr lang="en-US" altLang="ko-KR" dirty="0"/>
              <a:t>, list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2AFB7F-54A5-1378-A5CF-0E1C20AF23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29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577462-30A4-1BEF-3300-955B8F420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2" y="4077072"/>
            <a:ext cx="7966540" cy="20162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46321462"/>
      </p:ext>
    </p:extLst>
  </p:cSld>
  <p:clrMapOvr>
    <a:masterClrMapping/>
  </p:clrMapOvr>
  <p:transition>
    <p:diamond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82ADF-A72A-1375-32EF-F3EEB6FEC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A192B-46C4-337D-1EEE-F1AAA9B86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3] </a:t>
            </a:r>
            <a:r>
              <a:rPr lang="ko-KR" altLang="en-US" dirty="0"/>
              <a:t>얼굴 기울기 보정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4D50E0-629B-73EB-1EE8-F9B595BDF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haar_utils.py </a:t>
            </a:r>
            <a:r>
              <a:rPr lang="ko-KR" altLang="en-US" dirty="0"/>
              <a:t>수정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00AB22-D170-C411-97B9-B6F3197CF3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30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F47AEEC-3239-84E6-301D-C37A47F35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72" y="1553425"/>
            <a:ext cx="8275856" cy="331573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4318D77-6520-4B95-5A08-E234B1994734}"/>
              </a:ext>
            </a:extLst>
          </p:cNvPr>
          <p:cNvSpPr/>
          <p:nvPr/>
        </p:nvSpPr>
        <p:spPr>
          <a:xfrm>
            <a:off x="1259632" y="2000872"/>
            <a:ext cx="7450296" cy="1224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65969FC-4C72-B1EA-090A-289D7865A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845" y="5013623"/>
            <a:ext cx="5478310" cy="140509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993FEC-8D0A-D8E1-5F20-6D63ED8456C1}"/>
              </a:ext>
            </a:extLst>
          </p:cNvPr>
          <p:cNvSpPr/>
          <p:nvPr/>
        </p:nvSpPr>
        <p:spPr>
          <a:xfrm>
            <a:off x="1857634" y="6092824"/>
            <a:ext cx="5453521" cy="31591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379743"/>
      </p:ext>
    </p:extLst>
  </p:cSld>
  <p:clrMapOvr>
    <a:masterClrMapping/>
  </p:clrMapOvr>
  <p:transition>
    <p:diamond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BA186B-F0BF-4FA9-19F1-889DBA9F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3] </a:t>
            </a:r>
            <a:r>
              <a:rPr lang="ko-KR" altLang="en-US" dirty="0"/>
              <a:t>얼굴 기울기 보정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10BEB3-1D6E-9A7E-FD4C-24573B8A7D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31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8789F5-88C9-6F9D-6820-A223C8868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912" y="1889079"/>
            <a:ext cx="7026176" cy="367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409772"/>
      </p:ext>
    </p:extLst>
  </p:cSld>
  <p:clrMapOvr>
    <a:masterClrMapping/>
  </p:clrMapOvr>
  <p:transition>
    <p:diamond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ED8A0-DFD1-09EB-1247-65BF5CEEB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네 개의 영역 추출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4AC286-71A2-11CF-81C4-43F4048AF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856538" cy="5581650"/>
          </a:xfrm>
        </p:spPr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개의 영역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추후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마스크 적용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ko-KR" altLang="en-US" dirty="0"/>
              <a:t>윗머리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rois</a:t>
            </a:r>
            <a:r>
              <a:rPr lang="en-US" altLang="ko-KR" dirty="0">
                <a:sym typeface="Wingdings" panose="05000000000000000000" pitchFamily="2" charset="2"/>
              </a:rPr>
              <a:t>[0]</a:t>
            </a:r>
            <a:endParaRPr lang="en-US" altLang="ko-KR" dirty="0"/>
          </a:p>
          <a:p>
            <a:pPr lvl="2"/>
            <a:r>
              <a:rPr lang="ko-KR" altLang="en-US" dirty="0"/>
              <a:t>얼굴 영역의 위 </a:t>
            </a:r>
            <a:r>
              <a:rPr lang="en-US" altLang="ko-KR" dirty="0"/>
              <a:t>40%</a:t>
            </a:r>
            <a:r>
              <a:rPr lang="ko-KR" altLang="en-US" dirty="0"/>
              <a:t>에 위치</a:t>
            </a:r>
            <a:endParaRPr lang="en-US" altLang="ko-KR" dirty="0"/>
          </a:p>
          <a:p>
            <a:pPr lvl="2"/>
            <a:r>
              <a:rPr lang="en-US" altLang="ko-KR" dirty="0"/>
              <a:t>face </a:t>
            </a:r>
            <a:r>
              <a:rPr lang="ko-KR" altLang="en-US" dirty="0"/>
              <a:t>영역 바깥</a:t>
            </a:r>
            <a:endParaRPr lang="en-US" altLang="ko-KR" dirty="0"/>
          </a:p>
          <a:p>
            <a:pPr lvl="1"/>
            <a:r>
              <a:rPr lang="ko-KR" altLang="en-US" dirty="0"/>
              <a:t>귀밑머리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rois</a:t>
            </a:r>
            <a:r>
              <a:rPr lang="en-US" altLang="ko-KR" dirty="0">
                <a:sym typeface="Wingdings" panose="05000000000000000000" pitchFamily="2" charset="2"/>
              </a:rPr>
              <a:t>[1]</a:t>
            </a:r>
            <a:endParaRPr lang="en-US" altLang="ko-KR" dirty="0"/>
          </a:p>
          <a:p>
            <a:pPr lvl="2"/>
            <a:r>
              <a:rPr lang="ko-KR" altLang="en-US" dirty="0"/>
              <a:t>얼굴 영역의 아래 </a:t>
            </a:r>
            <a:r>
              <a:rPr lang="en-US" altLang="ko-KR" dirty="0"/>
              <a:t>40%</a:t>
            </a:r>
            <a:r>
              <a:rPr lang="ko-KR" altLang="en-US" dirty="0"/>
              <a:t>에 위치</a:t>
            </a:r>
            <a:endParaRPr lang="en-US" altLang="ko-KR" dirty="0"/>
          </a:p>
          <a:p>
            <a:pPr lvl="2"/>
            <a:r>
              <a:rPr lang="en-US" altLang="ko-KR" dirty="0"/>
              <a:t>face </a:t>
            </a:r>
            <a:r>
              <a:rPr lang="ko-KR" altLang="en-US" dirty="0"/>
              <a:t>영역 바깥</a:t>
            </a:r>
            <a:endParaRPr lang="en-US" altLang="ko-KR" dirty="0"/>
          </a:p>
          <a:p>
            <a:pPr lvl="1"/>
            <a:r>
              <a:rPr lang="ko-KR" altLang="en-US" dirty="0"/>
              <a:t>입술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rois</a:t>
            </a:r>
            <a:r>
              <a:rPr lang="en-US" altLang="ko-KR" dirty="0">
                <a:sym typeface="Wingdings" panose="05000000000000000000" pitchFamily="2" charset="2"/>
              </a:rPr>
              <a:t>[2]</a:t>
            </a:r>
            <a:endParaRPr lang="en-US" altLang="ko-KR" dirty="0"/>
          </a:p>
          <a:p>
            <a:pPr lvl="2"/>
            <a:r>
              <a:rPr lang="ko-KR" altLang="en-US" dirty="0"/>
              <a:t>얼굴 중심에서 </a:t>
            </a:r>
            <a:r>
              <a:rPr lang="en-US" altLang="ko-KR" dirty="0"/>
              <a:t>30% </a:t>
            </a:r>
            <a:r>
              <a:rPr lang="ko-KR" altLang="en-US" dirty="0"/>
              <a:t>아래 위치</a:t>
            </a:r>
            <a:endParaRPr lang="en-US" altLang="ko-KR" dirty="0"/>
          </a:p>
          <a:p>
            <a:pPr lvl="2"/>
            <a:r>
              <a:rPr lang="ko-KR" altLang="en-US" dirty="0"/>
              <a:t>폭은 얼굴 넓이의 </a:t>
            </a:r>
            <a:r>
              <a:rPr lang="en-US" altLang="ko-KR" dirty="0"/>
              <a:t>36%</a:t>
            </a:r>
          </a:p>
          <a:p>
            <a:pPr lvl="2"/>
            <a:r>
              <a:rPr lang="ko-KR" altLang="en-US" dirty="0"/>
              <a:t>높이는 얼굴 높이의 </a:t>
            </a:r>
            <a:r>
              <a:rPr lang="en-US" altLang="ko-KR" dirty="0"/>
              <a:t>20%</a:t>
            </a:r>
          </a:p>
          <a:p>
            <a:pPr lvl="1"/>
            <a:r>
              <a:rPr lang="en-US" altLang="ko-KR" dirty="0"/>
              <a:t>hair </a:t>
            </a:r>
            <a:r>
              <a:rPr lang="en-US" altLang="ko-KR" dirty="0">
                <a:sym typeface="Wingdings" panose="05000000000000000000" pitchFamily="2" charset="2"/>
              </a:rPr>
              <a:t> rois[3]</a:t>
            </a:r>
            <a:endParaRPr lang="en-US" altLang="ko-KR" dirty="0"/>
          </a:p>
          <a:p>
            <a:pPr lvl="2"/>
            <a:r>
              <a:rPr lang="ko-KR" altLang="en-US" dirty="0"/>
              <a:t>윗머리</a:t>
            </a:r>
            <a:r>
              <a:rPr lang="en-US" altLang="ko-KR" dirty="0"/>
              <a:t>, </a:t>
            </a:r>
            <a:r>
              <a:rPr lang="ko-KR" altLang="en-US" dirty="0"/>
              <a:t>귀밑머리 포함 전체 사각형 </a:t>
            </a:r>
            <a:r>
              <a:rPr lang="en-US" altLang="ko-KR" dirty="0">
                <a:sym typeface="Wingdings" panose="05000000000000000000" pitchFamily="2" charset="2"/>
              </a:rPr>
              <a:t> w</a:t>
            </a:r>
            <a:r>
              <a:rPr lang="ko-KR" altLang="en-US" dirty="0">
                <a:sym typeface="Wingdings" panose="05000000000000000000" pitchFamily="2" charset="2"/>
              </a:rPr>
              <a:t>의 </a:t>
            </a:r>
            <a:r>
              <a:rPr lang="en-US" altLang="ko-KR" dirty="0">
                <a:sym typeface="Wingdings" panose="05000000000000000000" pitchFamily="2" charset="2"/>
              </a:rPr>
              <a:t>90%, h</a:t>
            </a:r>
            <a:r>
              <a:rPr lang="ko-KR" altLang="en-US" dirty="0">
                <a:sym typeface="Wingdings" panose="05000000000000000000" pitchFamily="2" charset="2"/>
              </a:rPr>
              <a:t>의 </a:t>
            </a:r>
            <a:r>
              <a:rPr lang="en-US" altLang="ko-KR" dirty="0">
                <a:sym typeface="Wingdings" panose="05000000000000000000" pitchFamily="2" charset="2"/>
              </a:rPr>
              <a:t>130%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361B1C-656A-E60B-3B84-062B25962E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32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FF023EA-76EF-46A1-9DDF-5B824F603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1628800"/>
            <a:ext cx="3751573" cy="39604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54FAD7-DBAF-D39F-BB12-28EBC31325CE}"/>
              </a:ext>
            </a:extLst>
          </p:cNvPr>
          <p:cNvSpPr txBox="1"/>
          <p:nvPr/>
        </p:nvSpPr>
        <p:spPr>
          <a:xfrm>
            <a:off x="5292080" y="1772816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윗머리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FA2BBC7-8CB1-19C1-F4A2-A1E5E863BD11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092299" y="1942093"/>
            <a:ext cx="351909" cy="26277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7754ABF-963C-4516-CB5B-B4CD11C92CB7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092299" y="1942093"/>
            <a:ext cx="1288013" cy="26277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409C760-AF81-E0A0-F9BA-81FB7B0B68E8}"/>
              </a:ext>
            </a:extLst>
          </p:cNvPr>
          <p:cNvSpPr txBox="1"/>
          <p:nvPr/>
        </p:nvSpPr>
        <p:spPr>
          <a:xfrm>
            <a:off x="5643989" y="463340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귀밑머리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9EF9243-D59A-9BD7-0161-44A5246614C0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6649392" y="3765666"/>
            <a:ext cx="800219" cy="103702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5F6AE07-B2EC-8469-E93D-0EAA07669867}"/>
              </a:ext>
            </a:extLst>
          </p:cNvPr>
          <p:cNvCxnSpPr>
            <a:cxnSpLocks/>
            <a:stCxn id="18" idx="3"/>
          </p:cNvCxnSpPr>
          <p:nvPr/>
        </p:nvCxnSpPr>
        <p:spPr>
          <a:xfrm flipH="1" flipV="1">
            <a:off x="6444208" y="3765666"/>
            <a:ext cx="205184" cy="103702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51911D6-7B29-67A3-8EE0-0628F05F6F44}"/>
              </a:ext>
            </a:extLst>
          </p:cNvPr>
          <p:cNvSpPr txBox="1"/>
          <p:nvPr/>
        </p:nvSpPr>
        <p:spPr>
          <a:xfrm>
            <a:off x="7319525" y="445123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입술</a:t>
            </a:r>
          </a:p>
        </p:txBody>
      </p:sp>
    </p:spTree>
    <p:extLst>
      <p:ext uri="{BB962C8B-B14F-4D97-AF65-F5344CB8AC3E}">
        <p14:creationId xmlns:p14="http://schemas.microsoft.com/office/powerpoint/2010/main" val="712318137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/>
      <p:bldP spid="2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5AC927CB-22FA-2141-0522-39C005AE3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49" y="958602"/>
            <a:ext cx="8768902" cy="54726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07ED8A0-DFD1-09EB-1247-65BF5CEEB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4] </a:t>
            </a:r>
            <a:r>
              <a:rPr lang="ko-KR" altLang="en-US" dirty="0"/>
              <a:t>네 영역 추출 </a:t>
            </a:r>
            <a:r>
              <a:rPr lang="en-US" altLang="ko-KR" dirty="0"/>
              <a:t>- haar_utils.py </a:t>
            </a:r>
            <a:r>
              <a:rPr lang="ko-KR" altLang="en-US" dirty="0"/>
              <a:t>코드 추가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361B1C-656A-E60B-3B84-062B25962E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33</a:t>
            </a:fld>
            <a:endParaRPr lang="en-US" altLang="ko-KR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EAF10B1-C6A2-EA2A-D2E6-C726A82B1E9F}"/>
              </a:ext>
            </a:extLst>
          </p:cNvPr>
          <p:cNvSpPr/>
          <p:nvPr/>
        </p:nvSpPr>
        <p:spPr>
          <a:xfrm>
            <a:off x="6804248" y="2733368"/>
            <a:ext cx="1800200" cy="1800000"/>
          </a:xfrm>
          <a:prstGeom prst="rect">
            <a:avLst/>
          </a:prstGeom>
          <a:solidFill>
            <a:schemeClr val="bg1"/>
          </a:solidFill>
          <a:ln>
            <a:solidFill>
              <a:srgbClr val="BF11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345AE64-0088-ED42-2608-30AB9ED8353E}"/>
              </a:ext>
            </a:extLst>
          </p:cNvPr>
          <p:cNvSpPr/>
          <p:nvPr/>
        </p:nvSpPr>
        <p:spPr>
          <a:xfrm>
            <a:off x="6914400" y="2463368"/>
            <a:ext cx="1620000" cy="2340000"/>
          </a:xfrm>
          <a:prstGeom prst="ellipse">
            <a:avLst/>
          </a:prstGeom>
          <a:solidFill>
            <a:srgbClr val="FFEBAB">
              <a:alpha val="5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89D3069-E424-052F-1F4E-1DE229D62314}"/>
              </a:ext>
            </a:extLst>
          </p:cNvPr>
          <p:cNvSpPr/>
          <p:nvPr/>
        </p:nvSpPr>
        <p:spPr>
          <a:xfrm>
            <a:off x="6914400" y="2463368"/>
            <a:ext cx="789948" cy="1145648"/>
          </a:xfrm>
          <a:prstGeom prst="rect">
            <a:avLst/>
          </a:prstGeom>
          <a:solidFill>
            <a:srgbClr val="E5F4D4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4B11D5-08B3-26BF-9670-B794AA4E6028}"/>
              </a:ext>
            </a:extLst>
          </p:cNvPr>
          <p:cNvSpPr txBox="1"/>
          <p:nvPr/>
        </p:nvSpPr>
        <p:spPr>
          <a:xfrm>
            <a:off x="7814917" y="1800012"/>
            <a:ext cx="1008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gap_face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F17058E-1B68-7752-86D6-1508357ECE53}"/>
              </a:ext>
            </a:extLst>
          </p:cNvPr>
          <p:cNvCxnSpPr>
            <a:cxnSpLocks/>
            <a:stCxn id="12" idx="0"/>
            <a:endCxn id="13" idx="1"/>
          </p:cNvCxnSpPr>
          <p:nvPr/>
        </p:nvCxnSpPr>
        <p:spPr>
          <a:xfrm flipV="1">
            <a:off x="7309374" y="1969289"/>
            <a:ext cx="505543" cy="49407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510960"/>
      </p:ext>
    </p:extLst>
  </p:cSld>
  <p:clrMapOvr>
    <a:masterClrMapping/>
  </p:clrMapOvr>
  <p:transition>
    <p:diamond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34728B9-1F60-8888-8557-4D7E960EA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38" y="1340768"/>
            <a:ext cx="8894324" cy="41764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07ED8A0-DFD1-09EB-1247-65BF5CEEB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4] </a:t>
            </a:r>
            <a:r>
              <a:rPr lang="ko-KR" altLang="en-US" dirty="0"/>
              <a:t>네 영역 추출 </a:t>
            </a:r>
            <a:r>
              <a:rPr lang="en-US" altLang="ko-KR" dirty="0"/>
              <a:t>- haar_utils.py </a:t>
            </a:r>
            <a:r>
              <a:rPr lang="ko-KR" altLang="en-US" dirty="0"/>
              <a:t>코드 추가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361B1C-656A-E60B-3B84-062B25962E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34</a:t>
            </a:fld>
            <a:endParaRPr lang="en-US" altLang="ko-KR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0A3272D-FE6E-E03A-BF59-6C2BCFC7848F}"/>
              </a:ext>
            </a:extLst>
          </p:cNvPr>
          <p:cNvSpPr/>
          <p:nvPr/>
        </p:nvSpPr>
        <p:spPr>
          <a:xfrm>
            <a:off x="7450076" y="2040530"/>
            <a:ext cx="1620000" cy="2340000"/>
          </a:xfrm>
          <a:prstGeom prst="ellipse">
            <a:avLst/>
          </a:prstGeom>
          <a:solidFill>
            <a:srgbClr val="FFEBAB">
              <a:alpha val="5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E06B9D-E9E2-DE82-8962-DE44728C1CF9}"/>
              </a:ext>
            </a:extLst>
          </p:cNvPr>
          <p:cNvSpPr txBox="1"/>
          <p:nvPr/>
        </p:nvSpPr>
        <p:spPr>
          <a:xfrm>
            <a:off x="7807649" y="2612566"/>
            <a:ext cx="853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gap_lip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55B09D0-4A88-0D1F-A43A-4F8690012C86}"/>
              </a:ext>
            </a:extLst>
          </p:cNvPr>
          <p:cNvSpPr/>
          <p:nvPr/>
        </p:nvSpPr>
        <p:spPr>
          <a:xfrm>
            <a:off x="8034090" y="3342483"/>
            <a:ext cx="555728" cy="338554"/>
          </a:xfrm>
          <a:prstGeom prst="rect">
            <a:avLst/>
          </a:prstGeom>
          <a:solidFill>
            <a:srgbClr val="FFB7B7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1A8015-FB54-CDD0-F32E-6C54B90B053E}"/>
              </a:ext>
            </a:extLst>
          </p:cNvPr>
          <p:cNvSpPr/>
          <p:nvPr/>
        </p:nvSpPr>
        <p:spPr>
          <a:xfrm>
            <a:off x="8034090" y="3342483"/>
            <a:ext cx="282326" cy="158525"/>
          </a:xfrm>
          <a:prstGeom prst="rect">
            <a:avLst/>
          </a:prstGeom>
          <a:solidFill>
            <a:srgbClr val="E5F4D4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9A53E86-C44F-D9D2-466C-A829E881E2D4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V="1">
            <a:off x="8175253" y="2951120"/>
            <a:ext cx="58956" cy="39136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083594"/>
      </p:ext>
    </p:extLst>
  </p:cSld>
  <p:clrMapOvr>
    <a:masterClrMapping/>
  </p:clrMapOvr>
  <p:transition>
    <p:diamond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ED8A0-DFD1-09EB-1247-65BF5CEEB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4] </a:t>
            </a:r>
            <a:r>
              <a:rPr lang="ko-KR" altLang="en-US" dirty="0"/>
              <a:t>네 영역 추출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361B1C-656A-E60B-3B84-062B25962E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0C2276-7DEB-6EB2-FA92-B5DFDCBCD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57" y="980728"/>
            <a:ext cx="8147286" cy="54529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31259029"/>
      </p:ext>
    </p:extLst>
  </p:cSld>
  <p:clrMapOvr>
    <a:masterClrMapping/>
  </p:clrMapOvr>
  <p:transition>
    <p:diamond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ED8A0-DFD1-09EB-1247-65BF5CEEB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4] </a:t>
            </a:r>
            <a:r>
              <a:rPr lang="ko-KR" altLang="en-US" dirty="0"/>
              <a:t>네 영역 추출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361B1C-656A-E60B-3B84-062B25962E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98A3E9E-617E-AC31-9D57-92C015329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321" y="812740"/>
            <a:ext cx="7095357" cy="58451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60092778"/>
      </p:ext>
    </p:extLst>
  </p:cSld>
  <p:clrMapOvr>
    <a:masterClrMapping/>
  </p:clrMapOvr>
  <p:transition>
    <p:diamond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1B3F6-7F82-75EA-EF00-A583EE241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4] </a:t>
            </a:r>
            <a:r>
              <a:rPr lang="ko-KR" altLang="en-US" dirty="0"/>
              <a:t>네 영역 추출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CFB811-972D-9EF9-93F1-5D0163B8D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635FE2-BD01-6A17-C210-DB84C51C91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37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E100A6C-4B61-EC43-1651-5EF1E31D6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108" y="1484784"/>
            <a:ext cx="4371783" cy="461725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31749657"/>
      </p:ext>
    </p:extLst>
  </p:cSld>
  <p:clrMapOvr>
    <a:masterClrMapping/>
  </p:clrMapOvr>
  <p:transition>
    <p:diamond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AC389-F3A2-5A88-3143-6F7EDCDE7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마스크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E5091E-FC2C-FA89-1E26-5586B574E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기본 마스크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요구되는</a:t>
            </a:r>
            <a:r>
              <a:rPr lang="en-US" altLang="ko-KR" dirty="0"/>
              <a:t> 4</a:t>
            </a:r>
            <a:r>
              <a:rPr lang="ko-KR" altLang="en-US" dirty="0"/>
              <a:t>개의 마스크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A72B6C-C326-6A0A-128C-935ED650A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38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77CA9E9-7ADA-ACB3-E35E-EE585BC8C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817" y="1462874"/>
            <a:ext cx="1940062" cy="205638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1CE4B2F-B087-F967-CC4B-4D58FA70E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184" y="1462874"/>
            <a:ext cx="1944216" cy="20522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8AB7B97-548C-379D-B550-0BF411B12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131" y="1482144"/>
            <a:ext cx="1931753" cy="20522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858B1E4-12BE-F2C9-D6EE-C1C6695312D3}"/>
              </a:ext>
            </a:extLst>
          </p:cNvPr>
          <p:cNvSpPr txBox="1"/>
          <p:nvPr/>
        </p:nvSpPr>
        <p:spPr>
          <a:xfrm>
            <a:off x="3887248" y="3494442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hair_mask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30E40D-00A1-7F75-1A2E-0FBC3C2DB003}"/>
              </a:ext>
            </a:extLst>
          </p:cNvPr>
          <p:cNvSpPr txBox="1"/>
          <p:nvPr/>
        </p:nvSpPr>
        <p:spPr>
          <a:xfrm>
            <a:off x="6928143" y="3534372"/>
            <a:ext cx="12682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lip_mask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4E26DA7-7C0D-0F25-735C-C0B082D6D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84" y="4957217"/>
            <a:ext cx="1283961" cy="94692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D6CDA64-F2B0-A876-5C44-F0B60122A3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623" y="4941167"/>
            <a:ext cx="1316060" cy="96297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49009CC-DEAD-24C9-A1C4-CDA57807BB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1977" y="5042126"/>
            <a:ext cx="638175" cy="60007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80BE1F9-2223-3027-2D18-0015E15B28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3995" y="4219168"/>
            <a:ext cx="1268297" cy="2042038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0C50C559-F732-9BB1-4F07-3EC3009A7A7C}"/>
              </a:ext>
            </a:extLst>
          </p:cNvPr>
          <p:cNvGrpSpPr/>
          <p:nvPr/>
        </p:nvGrpSpPr>
        <p:grpSpPr>
          <a:xfrm>
            <a:off x="1469565" y="1689922"/>
            <a:ext cx="3412239" cy="3267295"/>
            <a:chOff x="1469565" y="1689922"/>
            <a:chExt cx="3412239" cy="3267295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CB54150-879F-E790-2284-391B5487914B}"/>
                </a:ext>
              </a:extLst>
            </p:cNvPr>
            <p:cNvSpPr/>
            <p:nvPr/>
          </p:nvSpPr>
          <p:spPr>
            <a:xfrm>
              <a:off x="4233732" y="1689922"/>
              <a:ext cx="648072" cy="36004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1EF66588-A7E5-0903-D5FD-7AC41F0F2510}"/>
                </a:ext>
              </a:extLst>
            </p:cNvPr>
            <p:cNvCxnSpPr>
              <a:endCxn id="23" idx="1"/>
            </p:cNvCxnSpPr>
            <p:nvPr/>
          </p:nvCxnSpPr>
          <p:spPr>
            <a:xfrm>
              <a:off x="1979712" y="1869942"/>
              <a:ext cx="2254020" cy="0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B8E9B17E-74B0-5CFB-288F-754C0767B846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 flipH="1">
              <a:off x="1469565" y="2049962"/>
              <a:ext cx="3088203" cy="2907255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714CDDD-6F31-26D7-1C1C-4BFFDE2C500A}"/>
              </a:ext>
            </a:extLst>
          </p:cNvPr>
          <p:cNvGrpSpPr/>
          <p:nvPr/>
        </p:nvGrpSpPr>
        <p:grpSpPr>
          <a:xfrm>
            <a:off x="1985803" y="2292917"/>
            <a:ext cx="2902092" cy="2648250"/>
            <a:chOff x="1979712" y="1689922"/>
            <a:chExt cx="2902092" cy="264825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0B0B539-6280-1B38-6036-0C1BFA52950F}"/>
                </a:ext>
              </a:extLst>
            </p:cNvPr>
            <p:cNvSpPr/>
            <p:nvPr/>
          </p:nvSpPr>
          <p:spPr>
            <a:xfrm>
              <a:off x="4233732" y="1689922"/>
              <a:ext cx="648072" cy="36004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FB25FF76-F639-365A-BED6-F7C12CB4CE4F}"/>
                </a:ext>
              </a:extLst>
            </p:cNvPr>
            <p:cNvCxnSpPr>
              <a:endCxn id="31" idx="1"/>
            </p:cNvCxnSpPr>
            <p:nvPr/>
          </p:nvCxnSpPr>
          <p:spPr>
            <a:xfrm>
              <a:off x="1979712" y="1869942"/>
              <a:ext cx="2254020" cy="0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6530D8E2-67FB-BE0F-2BB3-19F13EA6B637}"/>
                </a:ext>
              </a:extLst>
            </p:cNvPr>
            <p:cNvCxnSpPr>
              <a:cxnSpLocks/>
              <a:endCxn id="18" idx="0"/>
            </p:cNvCxnSpPr>
            <p:nvPr/>
          </p:nvCxnSpPr>
          <p:spPr>
            <a:xfrm flipH="1">
              <a:off x="3632562" y="2049962"/>
              <a:ext cx="925206" cy="2288210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5A1003D-3FE9-7AE3-010A-25BA6D2ABB03}"/>
              </a:ext>
            </a:extLst>
          </p:cNvPr>
          <p:cNvGrpSpPr/>
          <p:nvPr/>
        </p:nvGrpSpPr>
        <p:grpSpPr>
          <a:xfrm>
            <a:off x="1763812" y="2275863"/>
            <a:ext cx="5931134" cy="2766263"/>
            <a:chOff x="-1373402" y="1792126"/>
            <a:chExt cx="5931134" cy="2766263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0E4E92CB-D9AD-0C7D-CE9E-507EDFD8F030}"/>
                </a:ext>
              </a:extLst>
            </p:cNvPr>
            <p:cNvSpPr/>
            <p:nvPr/>
          </p:nvSpPr>
          <p:spPr>
            <a:xfrm>
              <a:off x="4233732" y="1792126"/>
              <a:ext cx="324000" cy="216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A0B5BCCB-3C51-6A0E-092C-669A7F9DC10F}"/>
                </a:ext>
              </a:extLst>
            </p:cNvPr>
            <p:cNvCxnSpPr>
              <a:cxnSpLocks/>
              <a:endCxn id="36" idx="1"/>
            </p:cNvCxnSpPr>
            <p:nvPr/>
          </p:nvCxnSpPr>
          <p:spPr>
            <a:xfrm flipV="1">
              <a:off x="-1373402" y="1900126"/>
              <a:ext cx="5607134" cy="2067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99540B13-5BC6-B0FA-2B0F-303157A5FB7F}"/>
                </a:ext>
              </a:extLst>
            </p:cNvPr>
            <p:cNvCxnSpPr>
              <a:cxnSpLocks/>
              <a:stCxn id="36" idx="2"/>
              <a:endCxn id="20" idx="0"/>
            </p:cNvCxnSpPr>
            <p:nvPr/>
          </p:nvCxnSpPr>
          <p:spPr>
            <a:xfrm flipH="1">
              <a:off x="2483851" y="2008126"/>
              <a:ext cx="1911881" cy="255026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04FEF37-3567-A642-9EE1-3D38E996C0D4}"/>
              </a:ext>
            </a:extLst>
          </p:cNvPr>
          <p:cNvCxnSpPr>
            <a:stCxn id="10" idx="2"/>
            <a:endCxn id="22" idx="0"/>
          </p:cNvCxnSpPr>
          <p:nvPr/>
        </p:nvCxnSpPr>
        <p:spPr>
          <a:xfrm>
            <a:off x="7562292" y="3515102"/>
            <a:ext cx="205852" cy="7040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6FFA131-28C0-5A65-1EC3-4F623CE67A03}"/>
              </a:ext>
            </a:extLst>
          </p:cNvPr>
          <p:cNvSpPr txBox="1"/>
          <p:nvPr/>
        </p:nvSpPr>
        <p:spPr>
          <a:xfrm>
            <a:off x="7707246" y="3875897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비트단위보수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928C3D-12DE-0925-7676-5D99E1BC5AE6}"/>
              </a:ext>
            </a:extLst>
          </p:cNvPr>
          <p:cNvSpPr txBox="1"/>
          <p:nvPr/>
        </p:nvSpPr>
        <p:spPr>
          <a:xfrm>
            <a:off x="426651" y="6013596"/>
            <a:ext cx="20858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&lt;masks[0] 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윗머리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7E3ABF-3563-3135-8F9A-78D3ED2FC49A}"/>
              </a:ext>
            </a:extLst>
          </p:cNvPr>
          <p:cNvSpPr txBox="1"/>
          <p:nvPr/>
        </p:nvSpPr>
        <p:spPr>
          <a:xfrm>
            <a:off x="2494682" y="6008962"/>
            <a:ext cx="2291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&lt;masks[1]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귀밑머리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5398C0-0381-2EAD-5986-6DF9CB4C42D4}"/>
              </a:ext>
            </a:extLst>
          </p:cNvPr>
          <p:cNvSpPr txBox="1"/>
          <p:nvPr/>
        </p:nvSpPr>
        <p:spPr>
          <a:xfrm>
            <a:off x="4732336" y="6018369"/>
            <a:ext cx="18806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&lt;masks[2] 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30875AC-27B1-F8DB-99B9-6DC2AFA36B51}"/>
              </a:ext>
            </a:extLst>
          </p:cNvPr>
          <p:cNvSpPr txBox="1"/>
          <p:nvPr/>
        </p:nvSpPr>
        <p:spPr>
          <a:xfrm>
            <a:off x="6842248" y="6258370"/>
            <a:ext cx="1851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&lt;masks[3] : face&gt;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6743830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AC2227-CE27-4908-0365-FB290D222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5] 4</a:t>
            </a:r>
            <a:r>
              <a:rPr lang="ko-KR" altLang="en-US" dirty="0"/>
              <a:t>영역 마스크 </a:t>
            </a:r>
            <a:r>
              <a:rPr lang="en-US" altLang="ko-KR" dirty="0"/>
              <a:t>– haar_utils.py </a:t>
            </a:r>
            <a:r>
              <a:rPr lang="ko-KR" altLang="en-US" dirty="0"/>
              <a:t>코드 추가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0B15CD-4831-E21F-B980-F970B85239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39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A27D34-D832-4F82-94FB-B92221ED9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28" y="840605"/>
            <a:ext cx="7857143" cy="57809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95282933"/>
      </p:ext>
    </p:extLst>
  </p:cSld>
  <p:clrMapOvr>
    <a:masterClrMapping/>
  </p:clrMapOvr>
  <p:transition>
    <p:diamond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AC2227-CE27-4908-0365-FB290D222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5] 4</a:t>
            </a:r>
            <a:r>
              <a:rPr lang="ko-KR" altLang="en-US" dirty="0"/>
              <a:t>영역 마스크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0B15CD-4831-E21F-B980-F970B85239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40</a:t>
            </a:fld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D873EFD-E348-E556-3FB3-443324CEF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2" y="912570"/>
            <a:ext cx="8383596" cy="555277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20471845"/>
      </p:ext>
    </p:extLst>
  </p:cSld>
  <p:clrMapOvr>
    <a:masterClrMapping/>
  </p:clrMapOvr>
  <p:transition>
    <p:diamond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AC2227-CE27-4908-0365-FB290D222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5] 4</a:t>
            </a:r>
            <a:r>
              <a:rPr lang="ko-KR" altLang="en-US" dirty="0"/>
              <a:t>영역 마스크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0B15CD-4831-E21F-B980-F970B85239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41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AE097A5-35D4-3AB6-F062-E5EE9A7C1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87" y="1021230"/>
            <a:ext cx="8646226" cy="539576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20286046"/>
      </p:ext>
    </p:extLst>
  </p:cSld>
  <p:clrMapOvr>
    <a:masterClrMapping/>
  </p:clrMapOvr>
  <p:transition>
    <p:diamond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556C98-7F59-8818-D769-6F80CBDB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히스토그램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777AD1-9AB7-0F19-EB70-6A5889C97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1" y="981075"/>
            <a:ext cx="8640513" cy="5581650"/>
          </a:xfrm>
        </p:spPr>
        <p:txBody>
          <a:bodyPr/>
          <a:lstStyle/>
          <a:p>
            <a:r>
              <a:rPr lang="ko-KR" altLang="en-US" dirty="0"/>
              <a:t>히스토그램</a:t>
            </a:r>
            <a:r>
              <a:rPr lang="en-US" altLang="ko-KR" dirty="0"/>
              <a:t>(histogram)</a:t>
            </a:r>
          </a:p>
          <a:p>
            <a:pPr lvl="1"/>
            <a:r>
              <a:rPr lang="ko-KR" altLang="en-US" dirty="0"/>
              <a:t>표로 되어 있는 도수 분포를 정보 그림으로 나타낸 것</a:t>
            </a:r>
            <a:endParaRPr lang="en-US" altLang="ko-KR" dirty="0"/>
          </a:p>
          <a:p>
            <a:pPr lvl="1"/>
            <a:r>
              <a:rPr lang="ko-KR" altLang="en-US" dirty="0"/>
              <a:t>도수분포표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가로축은 계급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세로축은 도수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E2F979-2B0D-049D-86ED-EF24338B81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42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9B20223-16A8-0817-D476-3D1669926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190" y="2780928"/>
            <a:ext cx="4320034" cy="365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751539"/>
      </p:ext>
    </p:extLst>
  </p:cSld>
  <p:clrMapOvr>
    <a:masterClrMapping/>
  </p:clrMapOvr>
  <p:transition>
    <p:diamond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556C98-7F59-8818-D769-6F80CBDB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히스토그램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777AD1-9AB7-0F19-EB70-6A5889C97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1" y="981075"/>
            <a:ext cx="8856537" cy="5581650"/>
          </a:xfrm>
        </p:spPr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히스토그램 유사도</a:t>
            </a:r>
            <a:r>
              <a:rPr lang="en-US" altLang="ko-KR" dirty="0">
                <a:sym typeface="Wingdings" panose="05000000000000000000" pitchFamily="2" charset="2"/>
              </a:rPr>
              <a:t>(histogram similarity)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비교대상인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두 히스토그램을 인자로 전달하여 유사도를 수치로 반환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사진들이 얼마나 비슷한 지 측정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유사도가 크면 비슷함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E2F979-2B0D-049D-86ED-EF24338B81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43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3CA8264-4A3D-F221-4C0D-61445A625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07" y="2780928"/>
            <a:ext cx="7942424" cy="371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020315"/>
      </p:ext>
    </p:extLst>
  </p:cSld>
  <p:clrMapOvr>
    <a:masterClrMapping/>
  </p:clrMapOvr>
  <p:transition>
    <p:diamond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40395-CC5A-6E49-0ED3-E384E987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6] </a:t>
            </a:r>
            <a:r>
              <a:rPr lang="ko-KR" altLang="en-US" dirty="0"/>
              <a:t>유사도 검사 </a:t>
            </a:r>
            <a:r>
              <a:rPr lang="en-US" altLang="ko-KR" dirty="0"/>
              <a:t>– haar_utils.py </a:t>
            </a:r>
            <a:r>
              <a:rPr lang="ko-KR" altLang="en-US" dirty="0"/>
              <a:t>코드</a:t>
            </a:r>
            <a:r>
              <a:rPr lang="en-US" altLang="ko-KR" dirty="0"/>
              <a:t> </a:t>
            </a:r>
            <a:r>
              <a:rPr lang="ko-KR" altLang="en-US" dirty="0"/>
              <a:t>추가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294FEF-4861-F623-8F48-28A5CC75B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44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4D5A9F-AB16-1AF5-8F57-502D17424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7" y="1556792"/>
            <a:ext cx="8909126" cy="374441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03304923"/>
      </p:ext>
    </p:extLst>
  </p:cSld>
  <p:clrMapOvr>
    <a:masterClrMapping/>
  </p:clrMapOvr>
  <p:transition>
    <p:diamond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40395-CC5A-6E49-0ED3-E384E987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6] </a:t>
            </a:r>
            <a:r>
              <a:rPr lang="ko-KR" altLang="en-US" dirty="0"/>
              <a:t>유사도 검사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294FEF-4861-F623-8F48-28A5CC75B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45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B4CF5A-45DF-0329-5F1F-1D8F1C2A8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16" y="1029396"/>
            <a:ext cx="8163967" cy="55480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1175176"/>
      </p:ext>
    </p:extLst>
  </p:cSld>
  <p:clrMapOvr>
    <a:masterClrMapping/>
  </p:clrMapOvr>
  <p:transition>
    <p:diamond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40395-CC5A-6E49-0ED3-E384E987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6] </a:t>
            </a:r>
            <a:r>
              <a:rPr lang="ko-KR" altLang="en-US" dirty="0"/>
              <a:t>유사도 검사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294FEF-4861-F623-8F48-28A5CC75B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B92166-C7C0-AB6F-6103-9E4594EC3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6" y="906747"/>
            <a:ext cx="8220067" cy="58289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EB8D6F2-E3F6-480A-8CAF-877A2EE6C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787" y="5414945"/>
            <a:ext cx="3425392" cy="117998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00821570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BD571-C57E-B9FA-C777-33F0E64DB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성별 분류 기준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436133-5E50-2191-7017-51EE63F25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히스토그램 유사도</a:t>
            </a:r>
            <a:endParaRPr lang="en-US" altLang="ko-KR" dirty="0"/>
          </a:p>
          <a:p>
            <a:pPr lvl="1"/>
            <a:r>
              <a:rPr lang="en-US" altLang="ko-KR" dirty="0"/>
              <a:t>sims[0] : </a:t>
            </a:r>
            <a:r>
              <a:rPr lang="ko-KR" altLang="en-US" dirty="0"/>
              <a:t>얼굴</a:t>
            </a:r>
            <a:r>
              <a:rPr lang="en-US" altLang="ko-KR" dirty="0"/>
              <a:t>-</a:t>
            </a:r>
            <a:r>
              <a:rPr lang="ko-KR" altLang="en-US" dirty="0"/>
              <a:t>입술 유사도</a:t>
            </a:r>
            <a:endParaRPr lang="en-US" altLang="ko-KR" dirty="0"/>
          </a:p>
          <a:p>
            <a:pPr lvl="2"/>
            <a:r>
              <a:rPr lang="ko-KR" altLang="en-US" dirty="0"/>
              <a:t>유사도가 적으면</a:t>
            </a:r>
            <a:r>
              <a:rPr lang="en-US" altLang="ko-KR" dirty="0"/>
              <a:t>(</a:t>
            </a:r>
            <a:r>
              <a:rPr lang="ko-KR" altLang="en-US" dirty="0"/>
              <a:t>얼굴과 입술색이 다르면</a:t>
            </a:r>
            <a:r>
              <a:rPr lang="en-US" altLang="ko-KR" dirty="0"/>
              <a:t>)</a:t>
            </a:r>
            <a:r>
              <a:rPr lang="ko-KR" altLang="en-US" dirty="0"/>
              <a:t> 여성의 가능성이 큼</a:t>
            </a:r>
            <a:endParaRPr lang="en-US" altLang="ko-KR" dirty="0"/>
          </a:p>
          <a:p>
            <a:pPr lvl="2"/>
            <a:r>
              <a:rPr lang="en-US" altLang="ko-KR" dirty="0"/>
              <a:t>60</a:t>
            </a:r>
            <a:r>
              <a:rPr lang="ko-KR" altLang="en-US" dirty="0"/>
              <a:t>개 영상분석결과 유의미한 결과는 나타나지 않음</a:t>
            </a:r>
            <a:endParaRPr lang="en-US" altLang="ko-KR" dirty="0"/>
          </a:p>
          <a:p>
            <a:pPr lvl="1"/>
            <a:r>
              <a:rPr lang="en-US" altLang="ko-KR" dirty="0"/>
              <a:t>sims[1] : </a:t>
            </a:r>
            <a:r>
              <a:rPr lang="ko-KR" altLang="en-US" dirty="0" err="1"/>
              <a:t>윗</a:t>
            </a:r>
            <a:r>
              <a:rPr lang="en-US" altLang="ko-KR" dirty="0"/>
              <a:t>-</a:t>
            </a:r>
            <a:r>
              <a:rPr lang="ko-KR" altLang="en-US" dirty="0"/>
              <a:t>귀밑머리</a:t>
            </a:r>
            <a:r>
              <a:rPr lang="en-US" altLang="ko-KR" dirty="0"/>
              <a:t> </a:t>
            </a:r>
            <a:r>
              <a:rPr lang="ko-KR" altLang="en-US" dirty="0"/>
              <a:t>유사도</a:t>
            </a:r>
            <a:endParaRPr lang="en-US" altLang="ko-KR" dirty="0"/>
          </a:p>
          <a:p>
            <a:pPr lvl="2"/>
            <a:r>
              <a:rPr lang="ko-KR" altLang="en-US" dirty="0"/>
              <a:t>윗머리</a:t>
            </a:r>
            <a:r>
              <a:rPr lang="en-US" altLang="ko-KR" dirty="0"/>
              <a:t>-</a:t>
            </a:r>
            <a:r>
              <a:rPr lang="ko-KR" altLang="en-US" dirty="0"/>
              <a:t>귀밑머리가 유사하면 여성의 가능성이 큼</a:t>
            </a:r>
            <a:endParaRPr lang="en-US" altLang="ko-KR" dirty="0"/>
          </a:p>
          <a:p>
            <a:pPr lvl="2"/>
            <a:r>
              <a:rPr lang="en-US" altLang="ko-KR" dirty="0"/>
              <a:t>60</a:t>
            </a:r>
            <a:r>
              <a:rPr lang="ko-KR" altLang="en-US" dirty="0"/>
              <a:t>개 영상분석결과 유의미한 결과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남성 </a:t>
            </a:r>
            <a:r>
              <a:rPr lang="en-US" altLang="ko-KR" dirty="0"/>
              <a:t>: 0~29, </a:t>
            </a:r>
            <a:r>
              <a:rPr lang="ko-KR" altLang="en-US" dirty="0"/>
              <a:t>여성 </a:t>
            </a:r>
            <a:r>
              <a:rPr lang="en-US" altLang="ko-KR" dirty="0"/>
              <a:t>: 30~59</a:t>
            </a:r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D9F3DF-3A38-A335-8F51-569247273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47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F864617-89DB-9743-6896-3180CD348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700" y="4026211"/>
            <a:ext cx="5400600" cy="252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608225"/>
      </p:ext>
    </p:extLst>
  </p:cSld>
  <p:clrMapOvr>
    <a:masterClrMapping/>
  </p:clrMapOvr>
  <p:transition>
    <p:diamond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BD571-C57E-B9FA-C777-33F0E64DB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성별 분류 기준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436133-5E50-2191-7017-51EE63F25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히스토그램 유사도를 이용한 남녀 분류</a:t>
            </a:r>
            <a:endParaRPr lang="en-US" altLang="ko-KR" dirty="0"/>
          </a:p>
          <a:p>
            <a:pPr lvl="1"/>
            <a:r>
              <a:rPr lang="ko-KR" altLang="en-US" dirty="0"/>
              <a:t>기준이 두가지라 정확한 구분은 불가능</a:t>
            </a:r>
            <a:endParaRPr lang="en-US" altLang="ko-KR" dirty="0"/>
          </a:p>
          <a:p>
            <a:pPr lvl="1"/>
            <a:r>
              <a:rPr lang="ko-KR" altLang="en-US" dirty="0"/>
              <a:t>최대한의 결과를 도출하기 위해 두가지 조건을 검색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D9F3DF-3A38-A335-8F51-569247273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48</a:t>
            </a:fld>
            <a:endParaRPr lang="en-US" altLang="ko-KR"/>
          </a:p>
        </p:txBody>
      </p:sp>
      <p:sp>
        <p:nvSpPr>
          <p:cNvPr id="6" name="순서도: 판단 5">
            <a:extLst>
              <a:ext uri="{FF2B5EF4-FFF2-40B4-BE49-F238E27FC236}">
                <a16:creationId xmlns:a16="http://schemas.microsoft.com/office/drawing/2014/main" id="{E29EDD62-36CE-6426-7E9C-8C552052B11A}"/>
              </a:ext>
            </a:extLst>
          </p:cNvPr>
          <p:cNvSpPr/>
          <p:nvPr/>
        </p:nvSpPr>
        <p:spPr>
          <a:xfrm>
            <a:off x="1708545" y="2552595"/>
            <a:ext cx="3353476" cy="687770"/>
          </a:xfrm>
          <a:prstGeom prst="flowChartDecisi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sims[0]&gt;0.2</a:t>
            </a:r>
            <a:endParaRPr lang="ko-KR" altLang="en-US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순서도: 판단 6">
            <a:extLst>
              <a:ext uri="{FF2B5EF4-FFF2-40B4-BE49-F238E27FC236}">
                <a16:creationId xmlns:a16="http://schemas.microsoft.com/office/drawing/2014/main" id="{A34856B7-7606-1B1B-A7AE-8E27468DF7F3}"/>
              </a:ext>
            </a:extLst>
          </p:cNvPr>
          <p:cNvSpPr/>
          <p:nvPr/>
        </p:nvSpPr>
        <p:spPr>
          <a:xfrm>
            <a:off x="1708545" y="4348267"/>
            <a:ext cx="3353476" cy="687770"/>
          </a:xfrm>
          <a:prstGeom prst="flowChartDecisi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sims[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1]&gt;criteria</a:t>
            </a:r>
            <a:endParaRPr lang="ko-KR" altLang="en-US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3821039-5CD1-8D66-B82B-07613C3CF204}"/>
              </a:ext>
            </a:extLst>
          </p:cNvPr>
          <p:cNvSpPr/>
          <p:nvPr/>
        </p:nvSpPr>
        <p:spPr>
          <a:xfrm>
            <a:off x="2338846" y="3528049"/>
            <a:ext cx="2092874" cy="5180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criteria=0.25</a:t>
            </a:r>
            <a:endParaRPr lang="ko-KR" altLang="en-US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DF1D521-3678-A29C-DF16-3BAAA496598B}"/>
              </a:ext>
            </a:extLst>
          </p:cNvPr>
          <p:cNvSpPr/>
          <p:nvPr/>
        </p:nvSpPr>
        <p:spPr>
          <a:xfrm>
            <a:off x="5071414" y="3528049"/>
            <a:ext cx="2092874" cy="5180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criteria=0.1</a:t>
            </a:r>
            <a:endParaRPr lang="ko-KR" altLang="en-US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9F3AA26-7BD8-5B99-28BE-2D56DE65B405}"/>
              </a:ext>
            </a:extLst>
          </p:cNvPr>
          <p:cNvSpPr/>
          <p:nvPr/>
        </p:nvSpPr>
        <p:spPr>
          <a:xfrm>
            <a:off x="2352695" y="5342111"/>
            <a:ext cx="2092874" cy="5180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Woman</a:t>
            </a:r>
            <a:endParaRPr lang="ko-KR" altLang="en-US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B6A07F-8E6D-2C5A-0F0D-AB4581B340B2}"/>
              </a:ext>
            </a:extLst>
          </p:cNvPr>
          <p:cNvSpPr/>
          <p:nvPr/>
        </p:nvSpPr>
        <p:spPr>
          <a:xfrm>
            <a:off x="5071414" y="5338245"/>
            <a:ext cx="2092874" cy="5180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</a:t>
            </a:r>
            <a:endParaRPr lang="ko-KR" altLang="en-US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8CBD385-B24E-A33B-B1FE-DBD5DC56E348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3385283" y="3240365"/>
            <a:ext cx="0" cy="28768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55E0758-6F34-ED52-E3F1-D4ACF89D21E0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3385283" y="4046059"/>
            <a:ext cx="0" cy="30220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0D6B213-2CDB-BD87-2090-E179F7B84258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3385283" y="5036037"/>
            <a:ext cx="13849" cy="30607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8D7D0528-B782-E169-0D17-CFC1B4F1C3D0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>
            <a:off x="5062021" y="2896480"/>
            <a:ext cx="1055830" cy="631569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BE38F678-D0D5-FFE5-5EF3-4E6DF09A96D6}"/>
              </a:ext>
            </a:extLst>
          </p:cNvPr>
          <p:cNvCxnSpPr>
            <a:cxnSpLocks/>
            <a:stCxn id="7" idx="3"/>
            <a:endCxn id="11" idx="0"/>
          </p:cNvCxnSpPr>
          <p:nvPr/>
        </p:nvCxnSpPr>
        <p:spPr>
          <a:xfrm>
            <a:off x="5062021" y="4692152"/>
            <a:ext cx="1055830" cy="646093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78EF49E5-71C1-2249-77A0-32DA282446E4}"/>
              </a:ext>
            </a:extLst>
          </p:cNvPr>
          <p:cNvCxnSpPr>
            <a:stCxn id="9" idx="2"/>
            <a:endCxn id="7" idx="0"/>
          </p:cNvCxnSpPr>
          <p:nvPr/>
        </p:nvCxnSpPr>
        <p:spPr>
          <a:xfrm rot="5400000">
            <a:off x="4600463" y="2830879"/>
            <a:ext cx="302208" cy="2732568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말풍선: 모서리가 둥근 사각형 28">
            <a:extLst>
              <a:ext uri="{FF2B5EF4-FFF2-40B4-BE49-F238E27FC236}">
                <a16:creationId xmlns:a16="http://schemas.microsoft.com/office/drawing/2014/main" id="{188DF018-134F-44E5-3854-75EFDC8CDAEA}"/>
              </a:ext>
            </a:extLst>
          </p:cNvPr>
          <p:cNvSpPr/>
          <p:nvPr/>
        </p:nvSpPr>
        <p:spPr>
          <a:xfrm>
            <a:off x="467544" y="2552596"/>
            <a:ext cx="1231476" cy="876404"/>
          </a:xfrm>
          <a:prstGeom prst="wedgeRoundRectCallout">
            <a:avLst>
              <a:gd name="adj1" fmla="val 150924"/>
              <a:gd name="adj2" fmla="val 2307"/>
              <a:gd name="adj3" fmla="val 16667"/>
            </a:avLst>
          </a:prstGeom>
          <a:solidFill>
            <a:srgbClr val="71C2FF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입술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얼굴</a:t>
            </a:r>
          </a:p>
        </p:txBody>
      </p:sp>
      <p:sp>
        <p:nvSpPr>
          <p:cNvPr id="30" name="말풍선: 모서리가 둥근 사각형 29">
            <a:extLst>
              <a:ext uri="{FF2B5EF4-FFF2-40B4-BE49-F238E27FC236}">
                <a16:creationId xmlns:a16="http://schemas.microsoft.com/office/drawing/2014/main" id="{300D3643-975A-AFAE-9D01-6178F40EF1F4}"/>
              </a:ext>
            </a:extLst>
          </p:cNvPr>
          <p:cNvSpPr/>
          <p:nvPr/>
        </p:nvSpPr>
        <p:spPr>
          <a:xfrm>
            <a:off x="477069" y="4742297"/>
            <a:ext cx="1231476" cy="876404"/>
          </a:xfrm>
          <a:prstGeom prst="wedgeRoundRectCallout">
            <a:avLst>
              <a:gd name="adj1" fmla="val 115226"/>
              <a:gd name="adj2" fmla="val -53874"/>
              <a:gd name="adj3" fmla="val 16667"/>
            </a:avLst>
          </a:prstGeom>
          <a:solidFill>
            <a:srgbClr val="71C2FF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윗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귀밑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머리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356066-2199-2D66-4ACF-7B11895AA6CA}"/>
              </a:ext>
            </a:extLst>
          </p:cNvPr>
          <p:cNvSpPr txBox="1"/>
          <p:nvPr/>
        </p:nvSpPr>
        <p:spPr>
          <a:xfrm>
            <a:off x="3663770" y="3099082"/>
            <a:ext cx="1402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여성가능성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</a:t>
            </a:r>
            <a:endParaRPr lang="en-US" altLang="ko-KR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Symbol" panose="05050102010706020507" pitchFamily="18" charset="2"/>
            </a:endParaRPr>
          </a:p>
          <a:p>
            <a:pPr algn="ctr"/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제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2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조건 엄격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28170F-2AFC-E05F-CB84-9F572CD6C0C0}"/>
              </a:ext>
            </a:extLst>
          </p:cNvPr>
          <p:cNvSpPr txBox="1"/>
          <p:nvPr/>
        </p:nvSpPr>
        <p:spPr>
          <a:xfrm>
            <a:off x="6183511" y="2938147"/>
            <a:ext cx="1406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여성가능성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</a:t>
            </a:r>
            <a:endParaRPr lang="en-US" altLang="ko-KR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Symbol" panose="05050102010706020507" pitchFamily="18" charset="2"/>
            </a:endParaRPr>
          </a:p>
          <a:p>
            <a:pPr algn="ctr"/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제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2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조건 완화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836631-DC11-30B9-E603-11BB5C97562F}"/>
              </a:ext>
            </a:extLst>
          </p:cNvPr>
          <p:cNvSpPr txBox="1"/>
          <p:nvPr/>
        </p:nvSpPr>
        <p:spPr>
          <a:xfrm>
            <a:off x="3118058" y="3193060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0835F5-CEC2-B97C-558A-011C61C16560}"/>
              </a:ext>
            </a:extLst>
          </p:cNvPr>
          <p:cNvSpPr txBox="1"/>
          <p:nvPr/>
        </p:nvSpPr>
        <p:spPr>
          <a:xfrm>
            <a:off x="3118058" y="5010384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ECD5FE-C896-FBA6-37DC-00037A4E0199}"/>
              </a:ext>
            </a:extLst>
          </p:cNvPr>
          <p:cNvSpPr txBox="1"/>
          <p:nvPr/>
        </p:nvSpPr>
        <p:spPr>
          <a:xfrm>
            <a:off x="5088466" y="2612531"/>
            <a:ext cx="327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5017CD-0003-15B0-001F-9005BEF96A57}"/>
              </a:ext>
            </a:extLst>
          </p:cNvPr>
          <p:cNvSpPr txBox="1"/>
          <p:nvPr/>
        </p:nvSpPr>
        <p:spPr>
          <a:xfrm>
            <a:off x="5088466" y="4429855"/>
            <a:ext cx="327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5436922"/>
      </p:ext>
    </p:extLst>
  </p:cSld>
  <p:clrMapOvr>
    <a:masterClrMapping/>
  </p:clrMapOvr>
  <p:transition>
    <p:diamond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C1CF0-8E51-097E-0CC6-5B3356323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7] </a:t>
            </a:r>
            <a:r>
              <a:rPr lang="ko-KR" altLang="en-US" dirty="0"/>
              <a:t>성별분류 </a:t>
            </a:r>
            <a:r>
              <a:rPr lang="en-US" altLang="ko-KR" dirty="0"/>
              <a:t>– haar_utils.py </a:t>
            </a:r>
            <a:r>
              <a:rPr lang="ko-KR" altLang="en-US" dirty="0"/>
              <a:t>코드 추가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64A75-2EE5-512B-AAF4-9C17BFAA50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49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B0AB39-5C74-0980-2F37-BF070886E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12" y="1052736"/>
            <a:ext cx="8567175" cy="54006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96069277"/>
      </p:ext>
    </p:extLst>
  </p:cSld>
  <p:clrMapOvr>
    <a:masterClrMapping/>
  </p:clrMapOvr>
  <p:transition>
    <p:diamond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C1CF0-8E51-097E-0CC6-5B3356323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7] </a:t>
            </a:r>
            <a:r>
              <a:rPr lang="ko-KR" altLang="en-US" dirty="0"/>
              <a:t>성별분류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64A75-2EE5-512B-AAF4-9C17BFAA50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50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3FD2BA-52F6-6CB5-8AF3-DABCA04BC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22" y="979398"/>
            <a:ext cx="8134756" cy="544814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93822304"/>
      </p:ext>
    </p:extLst>
  </p:cSld>
  <p:clrMapOvr>
    <a:masterClrMapping/>
  </p:clrMapOvr>
  <p:transition>
    <p:diamond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C1CF0-8E51-097E-0CC6-5B3356323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7] </a:t>
            </a:r>
            <a:r>
              <a:rPr lang="ko-KR" altLang="en-US" dirty="0"/>
              <a:t>성별분류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64A75-2EE5-512B-AAF4-9C17BFAA50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51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037D716-D891-6D31-36B0-8F97C237B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04" y="836613"/>
            <a:ext cx="7974991" cy="571658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27557859"/>
      </p:ext>
    </p:extLst>
  </p:cSld>
  <p:clrMapOvr>
    <a:masterClrMapping/>
  </p:clrMapOvr>
  <p:transition>
    <p:diamond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C1CF0-8E51-097E-0CC6-5B3356323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7] </a:t>
            </a:r>
            <a:r>
              <a:rPr lang="ko-KR" altLang="en-US" dirty="0"/>
              <a:t>성별분류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64A75-2EE5-512B-AAF4-9C17BFAA50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52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359EA8-222C-A5E8-1681-BB585AFBD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722" y="1124597"/>
            <a:ext cx="2591842" cy="273645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7D805D1-8DC3-AC27-D8D8-AE65DE52E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1" y="1102691"/>
            <a:ext cx="2591842" cy="276226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7CF1AFA-1C75-3EFB-528F-2D74A6A4B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494" y="1085850"/>
            <a:ext cx="2037879" cy="26845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BA468A-97CB-39ED-D11A-E050744ED6E4}"/>
              </a:ext>
            </a:extLst>
          </p:cNvPr>
          <p:cNvSpPr txBox="1"/>
          <p:nvPr/>
        </p:nvSpPr>
        <p:spPr>
          <a:xfrm>
            <a:off x="792166" y="3887217"/>
            <a:ext cx="12234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&lt;man.jpg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8C588D-4B13-83F5-A52B-3193307A0B32}"/>
              </a:ext>
            </a:extLst>
          </p:cNvPr>
          <p:cNvSpPr txBox="1"/>
          <p:nvPr/>
        </p:nvSpPr>
        <p:spPr>
          <a:xfrm>
            <a:off x="3911262" y="3887217"/>
            <a:ext cx="1610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&lt;woman1.jpg&gt;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891A0D-42BC-243A-CFDA-07325631DE52}"/>
              </a:ext>
            </a:extLst>
          </p:cNvPr>
          <p:cNvSpPr txBox="1"/>
          <p:nvPr/>
        </p:nvSpPr>
        <p:spPr>
          <a:xfrm>
            <a:off x="6918004" y="3887217"/>
            <a:ext cx="1610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&lt;woman2.jpg&gt;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0806F80-F2ED-0869-F0C8-32DCA09FA0C8}"/>
              </a:ext>
            </a:extLst>
          </p:cNvPr>
          <p:cNvSpPr/>
          <p:nvPr/>
        </p:nvSpPr>
        <p:spPr>
          <a:xfrm>
            <a:off x="6516216" y="908720"/>
            <a:ext cx="792088" cy="7493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71581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C1CF0-8E51-097E-0CC6-5B3356323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알아야 할 용어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64A75-2EE5-512B-AAF4-9C17BFAA50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53</a:t>
            </a:fld>
            <a:endParaRPr lang="en-US" altLang="ko-KR"/>
          </a:p>
        </p:txBody>
      </p:sp>
      <p:pic>
        <p:nvPicPr>
          <p:cNvPr id="6" name="Picture 4" descr="PE01460_">
            <a:extLst>
              <a:ext uri="{FF2B5EF4-FFF2-40B4-BE49-F238E27FC236}">
                <a16:creationId xmlns:a16="http://schemas.microsoft.com/office/drawing/2014/main" id="{669985C0-EED4-F55C-8CBA-C7639E040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5" y="2830822"/>
            <a:ext cx="2611016" cy="3246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D4CC33F-173E-4459-73B0-549D7E85D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 err="1"/>
              <a:t>하르</a:t>
            </a:r>
            <a:r>
              <a:rPr lang="ko-KR" altLang="en-US" dirty="0"/>
              <a:t> 기반 분류기</a:t>
            </a:r>
            <a:endParaRPr lang="en-US" altLang="ko-KR" dirty="0"/>
          </a:p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 err="1"/>
              <a:t>하르</a:t>
            </a:r>
            <a:r>
              <a:rPr lang="ko-KR" altLang="en-US" dirty="0"/>
              <a:t> 기반 성별 분류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 err="1"/>
              <a:t>하르</a:t>
            </a:r>
            <a:r>
              <a:rPr lang="ko-KR" altLang="en-US" dirty="0"/>
              <a:t> 기반 얼굴 검출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 err="1"/>
              <a:t>하르</a:t>
            </a:r>
            <a:r>
              <a:rPr lang="ko-KR" altLang="en-US" dirty="0"/>
              <a:t> 기반 눈 검출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얼굴 기울기 계산 및 보정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입술 영역 및 머리 영역 검출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히스토그램 을 통한 유사도 검증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성별 분류 및 결과 출력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2445691"/>
      </p:ext>
    </p:extLst>
  </p:cSld>
  <p:clrMapOvr>
    <a:masterClrMapping/>
  </p:clrMapOvr>
  <p:transition>
    <p:diamond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37051-AE07-F8C0-0CB5-89B697268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2A1B2-87FC-EA9D-3C0A-4F28381EB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124C64-539B-B5DB-53D4-54D9E873FD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54</a:t>
            </a:fld>
            <a:endParaRPr lang="en-US" altLang="ko-KR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ECDDDD0-96C7-6714-1F84-F77C7AEBF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84169"/>
              </p:ext>
            </p:extLst>
          </p:nvPr>
        </p:nvGraphicFramePr>
        <p:xfrm>
          <a:off x="251520" y="928141"/>
          <a:ext cx="8640959" cy="55816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96879389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356725906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666721105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836335007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69108112"/>
                    </a:ext>
                  </a:extLst>
                </a:gridCol>
                <a:gridCol w="1944215">
                  <a:extLst>
                    <a:ext uri="{9D8B030D-6E8A-4147-A177-3AD203B41FA5}">
                      <a16:colId xmlns:a16="http://schemas.microsoft.com/office/drawing/2014/main" val="449559696"/>
                    </a:ext>
                  </a:extLst>
                </a:gridCol>
              </a:tblGrid>
              <a:tr h="1993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601425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affine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179045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angle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gender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892165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gray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964332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calculate (calc)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import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167197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cascade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length (len)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821605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center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977203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circle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lower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873958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classfy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matrix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01990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compare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multi-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994867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convert (cvt)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multiply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33079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correct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original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508057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criteria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pre-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256113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cubic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raise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324535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default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range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190987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define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rectangle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23488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destroy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return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189482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detect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rotation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142277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detection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scale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92323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display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shape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344310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draw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similarity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015319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ellipse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squeeze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558881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equalize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subtract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36776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exception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transform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105538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expand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upper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252985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feature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utility (util)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652282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frontal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082932"/>
                  </a:ext>
                </a:extLst>
              </a:tr>
              <a:tr h="199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wrap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61" marR="9061" marT="90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265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7394560"/>
      </p:ext>
    </p:extLst>
  </p:cSld>
  <p:clrMapOvr>
    <a:masterClrMapping/>
  </p:clrMapOvr>
  <p:transition>
    <p:diamond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A4A38-3715-2BBD-529C-A1B5F7969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6D75DE-CAFA-E39C-9C9D-F05296980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3D5CD2-D593-5781-033D-BBD5F1DF21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55</a:t>
            </a:fld>
            <a:endParaRPr lang="en-US" altLang="ko-KR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6A7593A-AFBF-2E72-F19C-84121E763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024720"/>
              </p:ext>
            </p:extLst>
          </p:nvPr>
        </p:nvGraphicFramePr>
        <p:xfrm>
          <a:off x="609600" y="1772816"/>
          <a:ext cx="7924800" cy="3312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168">
                  <a:extLst>
                    <a:ext uri="{9D8B030D-6E8A-4147-A177-3AD203B41FA5}">
                      <a16:colId xmlns:a16="http://schemas.microsoft.com/office/drawing/2014/main" val="232928843"/>
                    </a:ext>
                  </a:extLst>
                </a:gridCol>
                <a:gridCol w="6050632">
                  <a:extLst>
                    <a:ext uri="{9D8B030D-6E8A-4147-A177-3AD203B41FA5}">
                      <a16:colId xmlns:a16="http://schemas.microsoft.com/office/drawing/2014/main" val="44025957"/>
                    </a:ext>
                  </a:extLst>
                </a:gridCol>
              </a:tblGrid>
              <a:tr h="41404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40791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Haar classifier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09663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Histogram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099921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mask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014850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Numpy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693334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OpenCV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751490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260014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tuple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238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9964558"/>
      </p:ext>
    </p:extLst>
  </p:cSld>
  <p:clrMapOvr>
    <a:masterClrMapping/>
  </p:clrMapOvr>
  <p:transition>
    <p:diamond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5DB94-80DB-4181-EC88-E586933D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ACD2C9-9181-3FCC-E0EE-3D1E9BF77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단계별 실행 과정을 촬영 혹은 캡처하여 제출</a:t>
            </a:r>
            <a:endParaRPr lang="en-US" altLang="ko-KR" dirty="0"/>
          </a:p>
          <a:p>
            <a:pPr lvl="1"/>
            <a:r>
              <a:rPr lang="ko-KR" altLang="en-US" dirty="0"/>
              <a:t>예제의</a:t>
            </a:r>
            <a:r>
              <a:rPr lang="en-US" altLang="ko-KR" dirty="0"/>
              <a:t> </a:t>
            </a:r>
            <a:r>
              <a:rPr lang="ko-KR" altLang="en-US" dirty="0"/>
              <a:t>실행결과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도전과제</a:t>
            </a:r>
            <a:endParaRPr lang="en-US" altLang="ko-KR" dirty="0"/>
          </a:p>
          <a:p>
            <a:pPr lvl="1"/>
            <a:r>
              <a:rPr lang="ko-KR" altLang="en-US" dirty="0"/>
              <a:t>자신의</a:t>
            </a:r>
            <a:r>
              <a:rPr lang="en-US" altLang="ko-KR" dirty="0"/>
              <a:t> </a:t>
            </a:r>
            <a:r>
              <a:rPr lang="ko-KR" altLang="en-US" dirty="0"/>
              <a:t>사진을 입력하고</a:t>
            </a:r>
            <a:r>
              <a:rPr lang="en-US" altLang="ko-KR" dirty="0"/>
              <a:t>, </a:t>
            </a:r>
            <a:r>
              <a:rPr lang="ko-KR" altLang="en-US" dirty="0"/>
              <a:t>성별 분류를 </a:t>
            </a:r>
            <a:r>
              <a:rPr lang="ko-KR" altLang="en-US" dirty="0" err="1"/>
              <a:t>해보시오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B75E5-CF9B-C501-369F-7BE5D8E8C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426209"/>
      </p:ext>
    </p:extLst>
  </p:cSld>
  <p:clrMapOvr>
    <a:masterClrMapping/>
  </p:clrMapOvr>
  <p:transition>
    <p:diamond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</a:t>
            </a:r>
            <a:r>
              <a:rPr lang="en-US" altLang="ko-KR"/>
              <a:t>students learn more.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57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diamond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29089</TotalTime>
  <Words>1602</Words>
  <Application>Microsoft Office PowerPoint</Application>
  <PresentationFormat>화면 슬라이드 쇼(4:3)</PresentationFormat>
  <Paragraphs>392</Paragraphs>
  <Slides>57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9" baseType="lpstr">
      <vt:lpstr>HY견고딕</vt:lpstr>
      <vt:lpstr>Whitney</vt:lpstr>
      <vt:lpstr>굴림</vt:lpstr>
      <vt:lpstr>맑은 고딕</vt:lpstr>
      <vt:lpstr>휴먼엑스포</vt:lpstr>
      <vt:lpstr>휴먼편지체</vt:lpstr>
      <vt:lpstr>Arial</vt:lpstr>
      <vt:lpstr>Cambria Math</vt:lpstr>
      <vt:lpstr>Oswald Light</vt:lpstr>
      <vt:lpstr>Times New Roman</vt:lpstr>
      <vt:lpstr>Wingdings</vt:lpstr>
      <vt:lpstr>기본 디자인</vt:lpstr>
      <vt:lpstr>9강. OpenCV 응용 (얼굴 검출 및 성별 분류)</vt:lpstr>
      <vt:lpstr>PowerPoint 프레젠테이션</vt:lpstr>
      <vt:lpstr>생각 더하기</vt:lpstr>
      <vt:lpstr>학습목표</vt:lpstr>
      <vt:lpstr>얼굴 검출 및 인식</vt:lpstr>
      <vt:lpstr>하르(Haar) 기반 분류기</vt:lpstr>
      <vt:lpstr>하르 기반 다단계 분류기</vt:lpstr>
      <vt:lpstr>검출기 파일 다운로드</vt:lpstr>
      <vt:lpstr>검출기 파일 다운로드</vt:lpstr>
      <vt:lpstr>검출기 파일 다운로드</vt:lpstr>
      <vt:lpstr>검출기 파일 다운로드</vt:lpstr>
      <vt:lpstr>검출기 파일 다운로드</vt:lpstr>
      <vt:lpstr>성별 분류 기초</vt:lpstr>
      <vt:lpstr>성별 분류 프로그램의 구성</vt:lpstr>
      <vt:lpstr>이미지 준비</vt:lpstr>
      <vt:lpstr>[실습1] 얼굴 검출</vt:lpstr>
      <vt:lpstr>[실습1] 얼굴 검출</vt:lpstr>
      <vt:lpstr>[실습1] 얼굴 검출</vt:lpstr>
      <vt:lpstr>[실습2] 눈 검출</vt:lpstr>
      <vt:lpstr>[실습2] 눈 검출</vt:lpstr>
      <vt:lpstr>[실습2] 눈 검출</vt:lpstr>
      <vt:lpstr>[실습2] 눈 검출</vt:lpstr>
      <vt:lpstr>성별 분류 – 기울기 보정</vt:lpstr>
      <vt:lpstr>[실습3] haar_utils.py</vt:lpstr>
      <vt:lpstr>[실습3] haar_utils.py</vt:lpstr>
      <vt:lpstr>[실습3] haar_utils.py</vt:lpstr>
      <vt:lpstr>[실습3] 얼굴 기울기 보정</vt:lpstr>
      <vt:lpstr>[실습3] 얼굴 기울기 보정</vt:lpstr>
      <vt:lpstr>[실습3] 얼굴 기울기 보정</vt:lpstr>
      <vt:lpstr>[실습3] 얼굴 기울기 보정</vt:lpstr>
      <vt:lpstr>[실습3] 얼굴 기울기 보정</vt:lpstr>
      <vt:lpstr>네 개의 영역 추출</vt:lpstr>
      <vt:lpstr>[실습4] 네 영역 추출 - haar_utils.py 코드 추가</vt:lpstr>
      <vt:lpstr>[실습4] 네 영역 추출 - haar_utils.py 코드 추가</vt:lpstr>
      <vt:lpstr>[실습4] 네 영역 추출</vt:lpstr>
      <vt:lpstr>[실습4] 네 영역 추출</vt:lpstr>
      <vt:lpstr>[실습4] 네 영역 추출</vt:lpstr>
      <vt:lpstr>마스크 만들기</vt:lpstr>
      <vt:lpstr>[실습5] 4영역 마스크 – haar_utils.py 코드 추가 </vt:lpstr>
      <vt:lpstr>[실습5] 4영역 마스크</vt:lpstr>
      <vt:lpstr>[실습5] 4영역 마스크</vt:lpstr>
      <vt:lpstr>히스토그램</vt:lpstr>
      <vt:lpstr>히스토그램</vt:lpstr>
      <vt:lpstr>[실습6] 유사도 검사 – haar_utils.py 코드 추가 </vt:lpstr>
      <vt:lpstr>[실습6] 유사도 검사</vt:lpstr>
      <vt:lpstr>[실습6] 유사도 검사</vt:lpstr>
      <vt:lpstr>성별 분류 기준</vt:lpstr>
      <vt:lpstr>성별 분류 기준</vt:lpstr>
      <vt:lpstr>[실습7] 성별분류 – haar_utils.py 코드 추가</vt:lpstr>
      <vt:lpstr>[실습7] 성별분류</vt:lpstr>
      <vt:lpstr>[실습7] 성별분류</vt:lpstr>
      <vt:lpstr>[실습7] 성별분류</vt:lpstr>
      <vt:lpstr>알아야 할 용어</vt:lpstr>
      <vt:lpstr>단어</vt:lpstr>
      <vt:lpstr>단어</vt:lpstr>
      <vt:lpstr>과제</vt:lpstr>
      <vt:lpstr>질의 응답</vt:lpstr>
    </vt:vector>
  </TitlesOfParts>
  <Company>두원공과대학 인터넷프로그래밍과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김형래</dc:creator>
  <cp:lastModifiedBy>김형래</cp:lastModifiedBy>
  <cp:revision>555</cp:revision>
  <dcterms:created xsi:type="dcterms:W3CDTF">2003-05-07T20:17:23Z</dcterms:created>
  <dcterms:modified xsi:type="dcterms:W3CDTF">2025-10-22T05:55:53Z</dcterms:modified>
</cp:coreProperties>
</file>