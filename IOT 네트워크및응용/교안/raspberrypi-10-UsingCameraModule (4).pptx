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632" r:id="rId2"/>
    <p:sldId id="648" r:id="rId3"/>
    <p:sldId id="1147" r:id="rId4"/>
    <p:sldId id="1148" r:id="rId5"/>
    <p:sldId id="705" r:id="rId6"/>
    <p:sldId id="1196" r:id="rId7"/>
    <p:sldId id="1256" r:id="rId8"/>
    <p:sldId id="1197" r:id="rId9"/>
    <p:sldId id="1198" r:id="rId10"/>
    <p:sldId id="1240" r:id="rId11"/>
    <p:sldId id="1202" r:id="rId12"/>
    <p:sldId id="1199" r:id="rId13"/>
    <p:sldId id="1203" r:id="rId14"/>
    <p:sldId id="1241" r:id="rId15"/>
    <p:sldId id="1244" r:id="rId16"/>
    <p:sldId id="1204" r:id="rId17"/>
    <p:sldId id="1242" r:id="rId18"/>
    <p:sldId id="1243" r:id="rId19"/>
    <p:sldId id="1209" r:id="rId20"/>
    <p:sldId id="1245" r:id="rId21"/>
    <p:sldId id="1201" r:id="rId22"/>
    <p:sldId id="1205" r:id="rId23"/>
    <p:sldId id="1246" r:id="rId24"/>
    <p:sldId id="1257" r:id="rId25"/>
    <p:sldId id="1258" r:id="rId26"/>
    <p:sldId id="1252" r:id="rId27"/>
    <p:sldId id="1266" r:id="rId28"/>
    <p:sldId id="1267" r:id="rId29"/>
    <p:sldId id="1253" r:id="rId30"/>
    <p:sldId id="1268" r:id="rId31"/>
    <p:sldId id="1269" r:id="rId32"/>
    <p:sldId id="1259" r:id="rId33"/>
    <p:sldId id="1260" r:id="rId34"/>
    <p:sldId id="1270" r:id="rId35"/>
    <p:sldId id="1264" r:id="rId36"/>
    <p:sldId id="1271" r:id="rId37"/>
    <p:sldId id="1265" r:id="rId38"/>
    <p:sldId id="1272" r:id="rId39"/>
    <p:sldId id="1273" r:id="rId40"/>
    <p:sldId id="1210" r:id="rId41"/>
    <p:sldId id="1274" r:id="rId42"/>
    <p:sldId id="1275" r:id="rId43"/>
    <p:sldId id="1211" r:id="rId44"/>
    <p:sldId id="1249" r:id="rId45"/>
    <p:sldId id="1250" r:id="rId46"/>
    <p:sldId id="1251" r:id="rId47"/>
    <p:sldId id="1276" r:id="rId48"/>
    <p:sldId id="1248" r:id="rId49"/>
    <p:sldId id="1193" r:id="rId50"/>
    <p:sldId id="1277" r:id="rId51"/>
    <p:sldId id="1192" r:id="rId52"/>
    <p:sldId id="703" r:id="rId53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E5"/>
    <a:srgbClr val="6699FF"/>
    <a:srgbClr val="CC6600"/>
    <a:srgbClr val="CC9900"/>
    <a:srgbClr val="9900FF"/>
    <a:srgbClr val="FFCC99"/>
    <a:srgbClr val="0000FF"/>
    <a:srgbClr val="CCFF99"/>
    <a:srgbClr val="85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1" autoAdjust="0"/>
    <p:restoredTop sz="94637" autoAdjust="0"/>
  </p:normalViewPr>
  <p:slideViewPr>
    <p:cSldViewPr>
      <p:cViewPr varScale="1">
        <p:scale>
          <a:sx n="103" d="100"/>
          <a:sy n="103" d="100"/>
        </p:scale>
        <p:origin x="108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6E18D26C-3B1C-4A75-AF3E-A957EA2050B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A47F0F6E-AF40-4620-A1A6-2086903522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3D2A-221C-4236-B09B-111D309BF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520258"/>
      </p:ext>
    </p:extLst>
  </p:cSld>
  <p:clrMapOvr>
    <a:masterClrMapping/>
  </p:clrMapOvr>
  <p:transition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0000" indent="-180000">
              <a:buClr>
                <a:schemeClr val="accent6">
                  <a:lumMod val="50000"/>
                </a:schemeClr>
              </a:buClr>
              <a:defRPr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2000" indent="-144000"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0662DF40-CD95-4196-B16C-EF23877BEF64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270425"/>
      </p:ext>
    </p:extLst>
  </p:cSld>
  <p:clrMapOvr>
    <a:masterClrMapping/>
  </p:clrMapOvr>
  <p:transition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90645-18CC-4080-AA78-8345F84AA3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92483"/>
      </p:ext>
    </p:extLst>
  </p:cSld>
  <p:clrMapOvr>
    <a:masterClrMapping/>
  </p:clrMapOvr>
  <p:transition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80CC-85CA-4A26-A6C0-DE61C9CE90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083975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8EFD3-9F17-4F2E-A4A6-06CB9F2FD8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96524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8258E-745D-49A3-B42E-85584AAF84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147816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21161-BD0B-43AB-A0F1-8EAE020023E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936474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2CC99-8F12-4602-A805-6D054ED5A5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8920583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20EE68-4FFD-4146-8152-D379E89141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287805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A198F-69FF-49CD-AE6F-66B8F34D0E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332559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26BED-B130-401B-B39F-2F6B806732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6354483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4DB92-B6B2-4C58-9652-839AF8C593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6087093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87313"/>
            <a:ext cx="892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5334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defRPr>
            </a:lvl1pPr>
          </a:lstStyle>
          <a:p>
            <a:fld id="{3F8E1CEE-8D81-4355-9B98-CFF96B1FE2F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Text Box 16"/>
          <p:cNvSpPr txBox="1">
            <a:spLocks noChangeArrowheads="1"/>
          </p:cNvSpPr>
          <p:nvPr userDrawn="1"/>
        </p:nvSpPr>
        <p:spPr bwMode="auto">
          <a:xfrm>
            <a:off x="34925" y="6562725"/>
            <a:ext cx="477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    은 이루어진다 </a:t>
            </a:r>
            <a:r>
              <a:rPr lang="en-US" altLang="ko-KR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608763"/>
            <a:ext cx="97155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포인트가 5개인 별 10"/>
          <p:cNvSpPr/>
          <p:nvPr userDrawn="1"/>
        </p:nvSpPr>
        <p:spPr>
          <a:xfrm>
            <a:off x="265113" y="6515100"/>
            <a:ext cx="214312" cy="269875"/>
          </a:xfrm>
          <a:prstGeom prst="star5">
            <a:avLst/>
          </a:prstGeom>
          <a:solidFill>
            <a:srgbClr val="FFFF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amond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8080"/>
        </a:buClr>
        <a:buFont typeface="Wingdings" panose="05000000000000000000" pitchFamily="2" charset="2"/>
        <a:buChar char="§"/>
        <a:defRPr kumimoji="1" sz="2000">
          <a:solidFill>
            <a:srgbClr val="00525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777777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490984" y="332656"/>
            <a:ext cx="8043416" cy="1616075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10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카메라 모듈 활용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4000" dirty="0">
                <a:solidFill>
                  <a:srgbClr val="FFFF00"/>
                </a:solidFill>
              </a:rPr>
              <a:t>(</a:t>
            </a:r>
            <a:r>
              <a:rPr lang="ko-KR" altLang="en-US" sz="4000" dirty="0">
                <a:solidFill>
                  <a:srgbClr val="FFFF00"/>
                </a:solidFill>
              </a:rPr>
              <a:t>얼굴</a:t>
            </a:r>
            <a:r>
              <a:rPr lang="en-US" altLang="ko-KR" sz="4000" dirty="0">
                <a:solidFill>
                  <a:srgbClr val="FFFF00"/>
                </a:solidFill>
              </a:rPr>
              <a:t> </a:t>
            </a:r>
            <a:r>
              <a:rPr lang="ko-KR" altLang="en-US" sz="4000" dirty="0">
                <a:solidFill>
                  <a:srgbClr val="FFFF00"/>
                </a:solidFill>
              </a:rPr>
              <a:t>검출 및 성별 분류</a:t>
            </a:r>
            <a:r>
              <a:rPr lang="en-US" altLang="ko-KR" sz="4000" dirty="0">
                <a:solidFill>
                  <a:srgbClr val="FFFF00"/>
                </a:solidFill>
              </a:rPr>
              <a:t>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E0D60A-D7BF-58F8-D420-51FEC190E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401"/>
            <a:ext cx="9144000" cy="3242791"/>
          </a:xfrm>
          <a:prstGeom prst="rect">
            <a:avLst/>
          </a:prstGeom>
        </p:spPr>
      </p:pic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44CBAB5D-50C0-704B-8276-2ED14D2DF5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10"/>
          <a:stretch/>
        </p:blipFill>
        <p:spPr>
          <a:xfrm>
            <a:off x="2339752" y="23539"/>
            <a:ext cx="4464496" cy="6762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980F13-050F-A415-8148-1E958F4047CE}"/>
              </a:ext>
            </a:extLst>
          </p:cNvPr>
          <p:cNvSpPr txBox="1"/>
          <p:nvPr/>
        </p:nvSpPr>
        <p:spPr>
          <a:xfrm>
            <a:off x="1187641" y="3068960"/>
            <a:ext cx="6768736" cy="73584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있을 때 잘 해 </a:t>
            </a:r>
            <a:r>
              <a:rPr lang="en-US" altLang="ko-KR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!</a:t>
            </a:r>
            <a:endParaRPr lang="ko-KR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 err="1">
                <a:solidFill>
                  <a:srgbClr val="339966"/>
                </a:solidFill>
                <a:latin typeface="+mn-ea"/>
                <a:ea typeface="+mn-ea"/>
              </a:rPr>
              <a:t>버틀란드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러셀 경의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40000"/>
              </a:lnSpc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오늘날 세상에서 </a:t>
            </a:r>
            <a:endParaRPr lang="en-US" altLang="ko-KR" sz="2000" b="0" i="0" dirty="0">
              <a:solidFill>
                <a:srgbClr val="181818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남의 불행을 바라는 것보다</a:t>
            </a:r>
            <a:endParaRPr lang="en-US" altLang="ko-KR" sz="2000" dirty="0">
              <a:solidFill>
                <a:srgbClr val="181818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자신의 행복을 바라는 사람이 더 많다면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,</a:t>
            </a:r>
          </a:p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우리는 머지않아</a:t>
            </a:r>
            <a:endParaRPr lang="en-US" altLang="ko-KR" sz="2000" dirty="0">
              <a:solidFill>
                <a:srgbClr val="181818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낙원을 가질 수 </a:t>
            </a: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있을 것입니다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2400" b="0" i="0" dirty="0">
              <a:solidFill>
                <a:srgbClr val="31708F"/>
              </a:solidFill>
              <a:effectLst/>
              <a:latin typeface="Whitney"/>
            </a:endParaRPr>
          </a:p>
          <a:p>
            <a:pPr>
              <a:lnSpc>
                <a:spcPct val="140000"/>
              </a:lnSpc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 err="1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버트런드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러셀 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(Bertrand Arthur William Russell)</a:t>
            </a:r>
          </a:p>
          <a:p>
            <a:pPr algn="l">
              <a:lnSpc>
                <a:spcPct val="14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4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“If there were in the world today any large number of people who desired their own happiness more than they desired the unhappiness of others, we could have paradise in a few years”</a:t>
            </a:r>
            <a:endParaRPr lang="en-US" altLang="ko-KR" sz="2000" b="1" i="0" dirty="0">
              <a:solidFill>
                <a:srgbClr val="000000"/>
              </a:solidFill>
              <a:effectLst/>
              <a:latin typeface="Oswald Light" panose="020B0604020202020204" pitchFamily="2" charset="0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727427" y="3930079"/>
            <a:ext cx="338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&lt;Bertrand Russell, 1872~1970&gt;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영국의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철학자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역사학자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비평가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1950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노벨 문학상 수상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Principia Mathematica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출간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SW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할아버지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DD70BF-5F64-9FBB-0022-8B25AFE16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465" y="1549203"/>
            <a:ext cx="2659069" cy="231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diamond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카메라 모듈을 활용할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bullseye </a:t>
            </a:r>
            <a:r>
              <a:rPr lang="ko-KR" altLang="en-US" dirty="0"/>
              <a:t>버전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라즈베리파이</a:t>
            </a:r>
            <a:r>
              <a:rPr lang="ko-KR" altLang="en-US" dirty="0"/>
              <a:t> 전용 카메라 활성화 </a:t>
            </a:r>
            <a:r>
              <a:rPr lang="en-US" altLang="ko-KR" dirty="0"/>
              <a:t>: </a:t>
            </a:r>
            <a:r>
              <a:rPr lang="ko-KR" altLang="en-US" dirty="0"/>
              <a:t>카메라 장착</a:t>
            </a:r>
            <a:r>
              <a:rPr lang="en-US" altLang="ko-KR" dirty="0"/>
              <a:t>, </a:t>
            </a:r>
            <a:r>
              <a:rPr lang="ko-KR" altLang="en-US" dirty="0"/>
              <a:t>카메라 활성화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카메라 모듈 테스트 </a:t>
            </a:r>
            <a:r>
              <a:rPr lang="en-US" altLang="ko-KR" dirty="0"/>
              <a:t>: </a:t>
            </a:r>
            <a:r>
              <a:rPr lang="ko-KR" altLang="en-US" dirty="0"/>
              <a:t>사진 찍기</a:t>
            </a:r>
            <a:r>
              <a:rPr lang="en-US" altLang="ko-KR" dirty="0"/>
              <a:t>, </a:t>
            </a:r>
            <a:r>
              <a:rPr lang="ko-KR" altLang="en-US" dirty="0"/>
              <a:t>동영상 찍기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카메라 영상 입력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출력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bookworm : picamera2</a:t>
            </a:r>
            <a:r>
              <a:rPr lang="ko-KR" altLang="en-US" dirty="0"/>
              <a:t>를 이용하여 카메라 영상 입력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mycamera.py </a:t>
            </a:r>
            <a:r>
              <a:rPr lang="ko-KR" altLang="en-US" dirty="0"/>
              <a:t>라이브러리</a:t>
            </a:r>
            <a:r>
              <a:rPr lang="en-US" altLang="ko-KR" dirty="0"/>
              <a:t> </a:t>
            </a:r>
            <a:r>
              <a:rPr lang="ko-KR" altLang="en-US" dirty="0"/>
              <a:t>생성 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카메라 영상 입출력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카메라 영상 입력</a:t>
            </a:r>
            <a:r>
              <a:rPr lang="en-US" altLang="ko-KR" dirty="0"/>
              <a:t>(mycamera.py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스틸컷</a:t>
            </a:r>
            <a:r>
              <a:rPr lang="en-US" altLang="ko-KR" dirty="0"/>
              <a:t> </a:t>
            </a:r>
            <a:r>
              <a:rPr lang="ko-KR" altLang="en-US" dirty="0"/>
              <a:t>저장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카메라 영상 저장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카메라 영상 얼굴 인식 및 성별 분류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9</a:t>
            </a:r>
            <a:r>
              <a:rPr lang="ko-KR" altLang="en-US" dirty="0"/>
              <a:t>강 프로그램 일부 수정 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라즈베리파이용</a:t>
            </a:r>
            <a:r>
              <a:rPr lang="ko-KR" altLang="en-US" dirty="0"/>
              <a:t> 카메라</a:t>
            </a:r>
          </a:p>
        </p:txBody>
      </p:sp>
      <p:sp>
        <p:nvSpPr>
          <p:cNvPr id="9219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/>
            <a:fld id="{616E6C8A-84E0-4B82-8FE4-EFB84950B3CE}" type="slidenum">
              <a:rPr lang="en-US" altLang="ko-KR" sz="1000">
                <a:solidFill>
                  <a:srgbClr val="02B0AC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 eaLnBrk="1" hangingPunct="1"/>
              <a:t>5</a:t>
            </a:fld>
            <a:endParaRPr lang="en-US" altLang="ko-KR" sz="1000">
              <a:solidFill>
                <a:srgbClr val="02B0AC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6" name="내용 개체 틀 4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카메라 모듈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전용 카메라 </a:t>
            </a:r>
            <a:r>
              <a:rPr lang="en-US" altLang="ko-KR" dirty="0">
                <a:sym typeface="Wingdings" panose="05000000000000000000" pitchFamily="2" charset="2"/>
              </a:rPr>
              <a:t> 5MP, 8MP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웹캠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USB </a:t>
            </a:r>
            <a:r>
              <a:rPr lang="ko-KR" altLang="en-US" dirty="0">
                <a:sym typeface="Wingdings" panose="05000000000000000000" pitchFamily="2" charset="2"/>
              </a:rPr>
              <a:t>형 웹 캠 사용 가능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CCB68D-7344-A501-B18C-592B3EDD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81" y="3862032"/>
            <a:ext cx="3120725" cy="18274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F325CE0-D4FB-AB9B-9D0A-24A763114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052736"/>
            <a:ext cx="3595091" cy="2033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77933C-D4A0-1D34-E8D3-C0F07D6EFABF}"/>
              </a:ext>
            </a:extLst>
          </p:cNvPr>
          <p:cNvSpPr txBox="1"/>
          <p:nvPr/>
        </p:nvSpPr>
        <p:spPr>
          <a:xfrm>
            <a:off x="1691680" y="6102420"/>
            <a:ext cx="1069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카메라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F1E5E113-B585-5C1D-736C-60746171E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51320"/>
              </p:ext>
            </p:extLst>
          </p:nvPr>
        </p:nvGraphicFramePr>
        <p:xfrm>
          <a:off x="4714963" y="3416024"/>
          <a:ext cx="4393541" cy="29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29">
                  <a:extLst>
                    <a:ext uri="{9D8B030D-6E8A-4147-A177-3AD203B41FA5}">
                      <a16:colId xmlns:a16="http://schemas.microsoft.com/office/drawing/2014/main" val="1852808712"/>
                    </a:ext>
                  </a:extLst>
                </a:gridCol>
                <a:gridCol w="1555984">
                  <a:extLst>
                    <a:ext uri="{9D8B030D-6E8A-4147-A177-3AD203B41FA5}">
                      <a16:colId xmlns:a16="http://schemas.microsoft.com/office/drawing/2014/main" val="2604521907"/>
                    </a:ext>
                  </a:extLst>
                </a:gridCol>
                <a:gridCol w="1557528">
                  <a:extLst>
                    <a:ext uri="{9D8B030D-6E8A-4147-A177-3AD203B41FA5}">
                      <a16:colId xmlns:a16="http://schemas.microsoft.com/office/drawing/2014/main" val="4138111640"/>
                    </a:ext>
                  </a:extLst>
                </a:gridCol>
              </a:tblGrid>
              <a:tr h="23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5MP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8MP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07631"/>
                  </a:ext>
                </a:extLst>
              </a:tr>
              <a:tr h="23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Ver.1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Ver.2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780050"/>
                  </a:ext>
                </a:extLst>
              </a:tr>
              <a:tr h="23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해상도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5M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픽셀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픽셀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571916"/>
                  </a:ext>
                </a:extLst>
              </a:tr>
              <a:tr h="23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동영상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동영상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242773"/>
                  </a:ext>
                </a:extLst>
              </a:tr>
              <a:tr h="23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사진크기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2592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1944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32802464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17593"/>
                  </a:ext>
                </a:extLst>
              </a:tr>
              <a:tr h="5526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영상크기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1080p30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720p60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640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480p60/90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1080p30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720p60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640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480p60/90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66379"/>
                  </a:ext>
                </a:extLst>
              </a:tr>
              <a:tr h="23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모듈크기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209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249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695209"/>
                  </a:ext>
                </a:extLst>
              </a:tr>
              <a:tr h="2214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케이블길이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14.5cm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14.5cm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97913"/>
                  </a:ext>
                </a:extLst>
              </a:tr>
              <a:tr h="2214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무게</a:t>
                      </a:r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374379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805167" y="2996952"/>
            <a:ext cx="1992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라즈베리파이용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카메라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5102-D70A-BD44-AD27-0FEB6A2D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 </a:t>
            </a:r>
            <a:r>
              <a:rPr lang="ko-KR" altLang="en-US" dirty="0"/>
              <a:t>전용 카메라 장착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A2862-01C7-2385-5B61-0BA3F33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카메라 장착</a:t>
            </a:r>
            <a:endParaRPr lang="en-US" altLang="ko-KR" dirty="0"/>
          </a:p>
          <a:p>
            <a:pPr lvl="1"/>
            <a:r>
              <a:rPr lang="ko-KR" altLang="en-US" dirty="0"/>
              <a:t>카메라 소켓 잠금 해제</a:t>
            </a:r>
            <a:r>
              <a:rPr lang="en-US" altLang="ko-KR" dirty="0"/>
              <a:t>(unlock)</a:t>
            </a:r>
          </a:p>
          <a:p>
            <a:pPr lvl="2"/>
            <a:r>
              <a:rPr lang="ko-KR" altLang="en-US" dirty="0"/>
              <a:t>검정색 소켓 단자를 위로 올림</a:t>
            </a:r>
            <a:endParaRPr lang="en-US" altLang="ko-KR" dirty="0"/>
          </a:p>
          <a:p>
            <a:pPr lvl="1"/>
            <a:r>
              <a:rPr lang="ko-KR" altLang="en-US" dirty="0"/>
              <a:t>카메라 리본 케이블을 소켓에 장착</a:t>
            </a:r>
            <a:endParaRPr lang="en-US" altLang="ko-KR" dirty="0"/>
          </a:p>
          <a:p>
            <a:pPr lvl="2"/>
            <a:r>
              <a:rPr lang="en-US" altLang="ko-KR" dirty="0"/>
              <a:t>SD </a:t>
            </a:r>
            <a:r>
              <a:rPr lang="ko-KR" altLang="en-US" dirty="0"/>
              <a:t>카드 위치로 리본의 단자 위치</a:t>
            </a:r>
            <a:endParaRPr lang="en-US" altLang="ko-KR" dirty="0"/>
          </a:p>
          <a:p>
            <a:pPr lvl="1"/>
            <a:r>
              <a:rPr lang="ko-KR" altLang="en-US" dirty="0"/>
              <a:t>카메라 소켓 잠금</a:t>
            </a:r>
            <a:r>
              <a:rPr lang="en-US" altLang="ko-KR" dirty="0"/>
              <a:t>(lock)</a:t>
            </a:r>
          </a:p>
          <a:p>
            <a:pPr lvl="2"/>
            <a:r>
              <a:rPr lang="ko-KR" altLang="en-US" dirty="0"/>
              <a:t>검정색 소켓 단자를 누름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741CD-4628-E9AD-1089-93164C1E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DFACD1-ABBF-1E71-EF3C-89A0CE50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108493"/>
            <a:ext cx="2545641" cy="25851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EFF1320-616E-02ED-18F1-6E05C1AD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179" y="4674034"/>
            <a:ext cx="1080120" cy="1201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199652-B100-8BFF-646C-3D5D0682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654547"/>
            <a:ext cx="2160240" cy="12213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화살표: 위쪽 10">
            <a:extLst>
              <a:ext uri="{FF2B5EF4-FFF2-40B4-BE49-F238E27FC236}">
                <a16:creationId xmlns:a16="http://schemas.microsoft.com/office/drawing/2014/main" id="{81836914-3783-E699-C4B6-5F17DE27B5A1}"/>
              </a:ext>
            </a:extLst>
          </p:cNvPr>
          <p:cNvSpPr/>
          <p:nvPr/>
        </p:nvSpPr>
        <p:spPr>
          <a:xfrm>
            <a:off x="1177896" y="4786107"/>
            <a:ext cx="216024" cy="322891"/>
          </a:xfrm>
          <a:prstGeom prst="up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위쪽 11">
            <a:extLst>
              <a:ext uri="{FF2B5EF4-FFF2-40B4-BE49-F238E27FC236}">
                <a16:creationId xmlns:a16="http://schemas.microsoft.com/office/drawing/2014/main" id="{DD321D56-865E-8810-B114-B53AA7EFC51B}"/>
              </a:ext>
            </a:extLst>
          </p:cNvPr>
          <p:cNvSpPr/>
          <p:nvPr/>
        </p:nvSpPr>
        <p:spPr>
          <a:xfrm>
            <a:off x="2572506" y="4786107"/>
            <a:ext cx="216024" cy="322891"/>
          </a:xfrm>
          <a:prstGeom prst="up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BC723-9B8C-805C-DCB2-A55749D779AD}"/>
              </a:ext>
            </a:extLst>
          </p:cNvPr>
          <p:cNvSpPr txBox="1"/>
          <p:nvPr/>
        </p:nvSpPr>
        <p:spPr>
          <a:xfrm>
            <a:off x="1359189" y="6007419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소켓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Unlock&gt;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08960A-31A9-7B8F-0F2B-8EFF88DF771E}"/>
              </a:ext>
            </a:extLst>
          </p:cNvPr>
          <p:cNvSpPr txBox="1"/>
          <p:nvPr/>
        </p:nvSpPr>
        <p:spPr>
          <a:xfrm>
            <a:off x="3778398" y="5998041"/>
            <a:ext cx="1585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소켓에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리본 삽입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50414A08-5E05-A61C-842D-14F43E7FF5DA}"/>
              </a:ext>
            </a:extLst>
          </p:cNvPr>
          <p:cNvSpPr/>
          <p:nvPr/>
        </p:nvSpPr>
        <p:spPr>
          <a:xfrm>
            <a:off x="4355219" y="4732828"/>
            <a:ext cx="216024" cy="322891"/>
          </a:xfrm>
          <a:prstGeom prst="down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082ABE-8506-A49E-6EA2-C4CAC6D60BB7}"/>
              </a:ext>
            </a:extLst>
          </p:cNvPr>
          <p:cNvSpPr txBox="1"/>
          <p:nvPr/>
        </p:nvSpPr>
        <p:spPr>
          <a:xfrm>
            <a:off x="6409450" y="6007418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소켓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Lock&gt;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ED3294-4F2C-0278-00B1-C491480333D6}"/>
              </a:ext>
            </a:extLst>
          </p:cNvPr>
          <p:cNvSpPr txBox="1"/>
          <p:nvPr/>
        </p:nvSpPr>
        <p:spPr>
          <a:xfrm>
            <a:off x="6276113" y="3808087"/>
            <a:ext cx="1585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장착 모습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D73CD40-38A5-8006-4B9A-3CAE869C1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549" y="4689521"/>
            <a:ext cx="1800692" cy="11863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26172BB1-0E43-EE88-2B1B-E3071AE256E0}"/>
              </a:ext>
            </a:extLst>
          </p:cNvPr>
          <p:cNvSpPr/>
          <p:nvPr/>
        </p:nvSpPr>
        <p:spPr>
          <a:xfrm>
            <a:off x="6483120" y="4618277"/>
            <a:ext cx="216024" cy="322891"/>
          </a:xfrm>
          <a:prstGeom prst="down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9CE713AE-5D43-E037-DD89-702F04F18262}"/>
              </a:ext>
            </a:extLst>
          </p:cNvPr>
          <p:cNvSpPr/>
          <p:nvPr/>
        </p:nvSpPr>
        <p:spPr>
          <a:xfrm>
            <a:off x="7236296" y="4880651"/>
            <a:ext cx="216024" cy="322891"/>
          </a:xfrm>
          <a:prstGeom prst="down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02853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92B31-A80D-8AD9-FC61-0536EB51E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46503F-BFE9-7114-5337-D9D4B9C75CFC}"/>
              </a:ext>
            </a:extLst>
          </p:cNvPr>
          <p:cNvSpPr/>
          <p:nvPr/>
        </p:nvSpPr>
        <p:spPr>
          <a:xfrm>
            <a:off x="0" y="0"/>
            <a:ext cx="9144000" cy="6869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FFFD2-2540-AE4B-D829-CA0C8F39BACD}"/>
              </a:ext>
            </a:extLst>
          </p:cNvPr>
          <p:cNvSpPr txBox="1"/>
          <p:nvPr/>
        </p:nvSpPr>
        <p:spPr>
          <a:xfrm>
            <a:off x="510439" y="1124744"/>
            <a:ext cx="8123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bullseye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버전에서 카메라 모듈 활용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DB1B51-F5A6-DFBF-4AB3-1933579D3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42" y="2167095"/>
            <a:ext cx="2792212" cy="26300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E4BEF4-4475-A913-9702-755BAA24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47" y="2167095"/>
            <a:ext cx="2752381" cy="25238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938843-7AEF-1318-8D91-9A377DD71F85}"/>
              </a:ext>
            </a:extLst>
          </p:cNvPr>
          <p:cNvSpPr txBox="1"/>
          <p:nvPr/>
        </p:nvSpPr>
        <p:spPr>
          <a:xfrm>
            <a:off x="901808" y="5423506"/>
            <a:ext cx="7899292" cy="72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en-US" altLang="ko-KR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ullseye</a:t>
            </a:r>
            <a:r>
              <a:rPr lang="ko-KR" altLang="en-US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직역하면 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황소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눈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"</a:t>
            </a:r>
            <a:r>
              <a:rPr lang="ko-KR" altLang="en-US" sz="1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과녁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정중앙에 명중함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뜻하는 영어 표현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울긋불긋한 과녁이 성난 황소의 눈을 닮았기에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3992081"/>
      </p:ext>
    </p:extLst>
  </p:cSld>
  <p:clrMapOvr>
    <a:masterClrMapping/>
  </p:clrMapOvr>
  <p:transition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5102-D70A-BD44-AD27-0FEB6A2D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bullseye :</a:t>
            </a:r>
            <a:r>
              <a:rPr lang="ko-KR" altLang="en-US" dirty="0"/>
              <a:t> 카메라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A2862-01C7-2385-5B61-0BA3F33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터미널에서 </a:t>
            </a:r>
            <a:r>
              <a:rPr lang="en-US" altLang="ko-KR" dirty="0"/>
              <a:t>“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raspi</a:t>
            </a:r>
            <a:r>
              <a:rPr lang="en-US" altLang="ko-KR" dirty="0"/>
              <a:t>-config” </a:t>
            </a:r>
            <a:r>
              <a:rPr lang="ko-KR" altLang="en-US" dirty="0"/>
              <a:t>실행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741CD-4628-E9AD-1089-93164C1E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B0CC87-52D8-9BDA-063D-B04C3BB5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588" y="1565773"/>
            <a:ext cx="5819048" cy="18666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78BA8B-27B7-A30D-2710-2E066496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79" y="3567742"/>
            <a:ext cx="4128933" cy="28157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541717C-5961-E060-ACEE-D208C3209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309" y="3567742"/>
            <a:ext cx="4115395" cy="27954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981080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4F191-581D-89F8-7F74-E37C9998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bullseye :</a:t>
            </a:r>
            <a:r>
              <a:rPr lang="ko-KR" altLang="en-US" dirty="0"/>
              <a:t> 카메라 활성화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3EE18-15AD-FFB3-9F8A-A054E2EC9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61AF7B-AD3C-CAA4-FBC9-B2CB8021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06524"/>
            <a:ext cx="3897063" cy="26448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2759312-EA28-17BA-2CC4-366BA87FE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838" y="1036688"/>
            <a:ext cx="3890672" cy="2638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CB4852-FA16-26BC-EC2C-16EB49ED1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3785612"/>
            <a:ext cx="3796785" cy="260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9149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2D01E-B28E-8F5E-2FEB-33A98D04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bullseye :</a:t>
            </a:r>
            <a:r>
              <a:rPr lang="ko-KR" altLang="en-US" dirty="0"/>
              <a:t> 카메라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65F83-41A8-F521-3378-CBCA555A1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" y="971550"/>
            <a:ext cx="8950325" cy="5581650"/>
          </a:xfrm>
        </p:spPr>
        <p:txBody>
          <a:bodyPr/>
          <a:lstStyle/>
          <a:p>
            <a:r>
              <a:rPr lang="ko-KR" altLang="en-US" dirty="0"/>
              <a:t>데스크탑 기반 카메라 활성화</a:t>
            </a:r>
            <a:endParaRPr lang="en-US" altLang="ko-KR" dirty="0"/>
          </a:p>
          <a:p>
            <a:pPr lvl="1"/>
            <a:r>
              <a:rPr lang="en-US" altLang="ko-KR" dirty="0"/>
              <a:t>2022</a:t>
            </a:r>
            <a:r>
              <a:rPr lang="ko-KR" altLang="en-US" dirty="0"/>
              <a:t>년 이후 릴리즈</a:t>
            </a:r>
            <a:r>
              <a:rPr lang="en-US" altLang="ko-KR" dirty="0"/>
              <a:t> </a:t>
            </a:r>
            <a:r>
              <a:rPr lang="ko-KR" altLang="en-US" dirty="0"/>
              <a:t>에디션에서는 지원하지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8E606-66E8-2C77-7354-BF4E21CAE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892125-D7DC-B5B7-C560-6E585D0A6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73" y="2204865"/>
            <a:ext cx="4163803" cy="33036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6D368AB-EFEC-88A0-00B4-1811D5750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204865"/>
            <a:ext cx="4582865" cy="33123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6A4F94-CC72-26DD-D419-E5DD32DE89BA}"/>
              </a:ext>
            </a:extLst>
          </p:cNvPr>
          <p:cNvSpPr txBox="1"/>
          <p:nvPr/>
        </p:nvSpPr>
        <p:spPr>
          <a:xfrm>
            <a:off x="1646337" y="5668693"/>
            <a:ext cx="1255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2020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에디션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34513-7800-8E78-3917-B4B0D69FAE5C}"/>
              </a:ext>
            </a:extLst>
          </p:cNvPr>
          <p:cNvSpPr txBox="1"/>
          <p:nvPr/>
        </p:nvSpPr>
        <p:spPr>
          <a:xfrm>
            <a:off x="5600781" y="5616089"/>
            <a:ext cx="2237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&lt;2022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이후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bullseye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에디션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1919722"/>
      </p:ext>
    </p:extLst>
  </p:cSld>
  <p:clrMapOvr>
    <a:masterClrMapping/>
  </p:clrMapOvr>
  <p:transition>
    <p:diamond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4F191-581D-89F8-7F74-E37C9998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bullseye :</a:t>
            </a:r>
            <a:r>
              <a:rPr lang="ko-KR" altLang="en-US" dirty="0"/>
              <a:t> 전용 카메라 동작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3DB7B7-1EBE-CA0F-6C06-5ED1C3B0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사진 찍기 </a:t>
            </a:r>
            <a:r>
              <a:rPr lang="en-US" altLang="ko-KR" dirty="0">
                <a:sym typeface="Wingdings" panose="05000000000000000000" pitchFamily="2" charset="2"/>
              </a:rPr>
              <a:t> “</a:t>
            </a:r>
            <a:r>
              <a:rPr lang="en-US" altLang="ko-KR" dirty="0" err="1">
                <a:sym typeface="Wingdings" panose="05000000000000000000" pitchFamily="2" charset="2"/>
              </a:rPr>
              <a:t>raspistill</a:t>
            </a:r>
            <a:r>
              <a:rPr lang="en-US" altLang="ko-KR" dirty="0">
                <a:sym typeface="Wingdings" panose="05000000000000000000" pitchFamily="2" charset="2"/>
              </a:rPr>
              <a:t> -o image.jpg”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3EE18-15AD-FFB3-9F8A-A054E2EC9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11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26370E2-6B62-4B6E-F9C3-C334AF57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138202"/>
            <a:ext cx="4392215" cy="3170207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391E75A-3E34-C759-5C22-205F35FA1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513" y="3138202"/>
            <a:ext cx="3969008" cy="31671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B71EB46-0272-62BA-DEAF-78E5F1292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679686"/>
            <a:ext cx="8381171" cy="1152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094897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bullseye :</a:t>
            </a:r>
            <a:r>
              <a:rPr lang="ko-KR" altLang="en-US" dirty="0"/>
              <a:t> 전용 카메라 동작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3FED1-D0A5-A736-F238-118232D1D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동영상</a:t>
            </a:r>
            <a:r>
              <a:rPr lang="en-US" altLang="ko-KR" dirty="0"/>
              <a:t> </a:t>
            </a:r>
            <a:r>
              <a:rPr lang="ko-KR" altLang="en-US" dirty="0"/>
              <a:t>찍기 </a:t>
            </a:r>
            <a:r>
              <a:rPr lang="en-US" altLang="ko-KR" dirty="0">
                <a:sym typeface="Wingdings" panose="05000000000000000000" pitchFamily="2" charset="2"/>
              </a:rPr>
              <a:t> “</a:t>
            </a:r>
            <a:r>
              <a:rPr lang="en-US" altLang="ko-KR" dirty="0" err="1">
                <a:sym typeface="Wingdings" panose="05000000000000000000" pitchFamily="2" charset="2"/>
              </a:rPr>
              <a:t>raspivid</a:t>
            </a:r>
            <a:r>
              <a:rPr lang="en-US" altLang="ko-KR" dirty="0">
                <a:sym typeface="Wingdings" panose="05000000000000000000" pitchFamily="2" charset="2"/>
              </a:rPr>
              <a:t> -o video.h264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AC14A8-B6BF-CE2C-9650-831FD751B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5" y="1809752"/>
            <a:ext cx="8338962" cy="395112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7E488C-5C32-15F9-A625-5613B97F5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349326"/>
            <a:ext cx="4536504" cy="3284698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81A5D39-EB53-CC24-CD01-34E7F6802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3479493"/>
            <a:ext cx="5285222" cy="27673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91998384"/>
      </p:ext>
    </p:extLst>
  </p:cSld>
  <p:clrMapOvr>
    <a:masterClrMapping/>
  </p:clrMapOvr>
  <p:transition>
    <p:diamond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1] </a:t>
            </a:r>
            <a:r>
              <a:rPr lang="ko-KR" altLang="en-US" dirty="0"/>
              <a:t>카메라로 읽은 영상 화면출력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13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8BE0AB-19DF-F624-74A7-2060D688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95" y="947287"/>
            <a:ext cx="5723809" cy="54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C2A61EE-50C2-E4F7-2EDD-D2293DF50140}"/>
              </a:ext>
            </a:extLst>
          </p:cNvPr>
          <p:cNvCxnSpPr>
            <a:cxnSpLocks/>
          </p:cNvCxnSpPr>
          <p:nvPr/>
        </p:nvCxnSpPr>
        <p:spPr>
          <a:xfrm>
            <a:off x="2834664" y="5022320"/>
            <a:ext cx="459009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24491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1] </a:t>
            </a:r>
            <a:r>
              <a:rPr lang="ko-KR" altLang="en-US" dirty="0"/>
              <a:t>카메라로 읽은 영상 화면출력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14</a:t>
            </a:fld>
            <a:endParaRPr lang="en-US" altLang="ko-KR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73F2DF9-270B-008B-813E-3D3AED610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659" y="2852936"/>
            <a:ext cx="3450681" cy="27469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0598273-1537-7750-140E-837EF551E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5" y="1366991"/>
            <a:ext cx="9047619" cy="11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9C7949-D136-BA3A-879D-66802AD20E1D}"/>
              </a:ext>
            </a:extLst>
          </p:cNvPr>
          <p:cNvSpPr/>
          <p:nvPr/>
        </p:nvSpPr>
        <p:spPr>
          <a:xfrm>
            <a:off x="141094" y="1718072"/>
            <a:ext cx="8823394" cy="7028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ED5C2-1748-D212-A698-3376DD938CB2}"/>
              </a:ext>
            </a:extLst>
          </p:cNvPr>
          <p:cNvSpPr txBox="1"/>
          <p:nvPr/>
        </p:nvSpPr>
        <p:spPr>
          <a:xfrm>
            <a:off x="524419" y="5877272"/>
            <a:ext cx="8119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경고 발생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영상의 해상도가 매우 크며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초당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품질은 매우 저하됨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196224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14752-BD0D-7E9A-5CA1-776656B4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1] </a:t>
            </a:r>
            <a:r>
              <a:rPr lang="ko-KR" altLang="en-US" dirty="0"/>
              <a:t>카메라를 설치할 경우 마운트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F7F9E-C5CD-0D7B-EA3D-19BCA4853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터미널에서 </a:t>
            </a:r>
            <a:r>
              <a:rPr lang="en-US" altLang="ko-KR" dirty="0"/>
              <a:t>“ls –l /dev/video*”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장착된 카메라 모듈은 </a:t>
            </a:r>
            <a:r>
              <a:rPr lang="en-US" altLang="ko-KR" dirty="0"/>
              <a:t>/dev/video0</a:t>
            </a:r>
            <a:r>
              <a:rPr lang="ko-KR" altLang="en-US" dirty="0"/>
              <a:t>으로 관리됨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82354E-60F2-BAA2-6D20-B56A3BA8F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294893-84F2-B763-3DA0-0F5F7882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39" y="2148175"/>
            <a:ext cx="6480722" cy="324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81362"/>
      </p:ext>
    </p:extLst>
  </p:cSld>
  <p:clrMapOvr>
    <a:masterClrMapping/>
  </p:clrMapOvr>
  <p:transition>
    <p:diamond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66C1F38-BE9C-ED58-0EFC-83B6B43C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124744"/>
            <a:ext cx="6696746" cy="43402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1] </a:t>
            </a:r>
            <a:r>
              <a:rPr lang="ko-KR" altLang="en-US" dirty="0"/>
              <a:t>일부 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16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E21CAF-05DA-DEE6-2D45-4A68EB1FAC64}"/>
              </a:ext>
            </a:extLst>
          </p:cNvPr>
          <p:cNvSpPr/>
          <p:nvPr/>
        </p:nvSpPr>
        <p:spPr>
          <a:xfrm>
            <a:off x="418049" y="1764816"/>
            <a:ext cx="4401632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8E8456-C310-D95E-2199-D80295102981}"/>
              </a:ext>
            </a:extLst>
          </p:cNvPr>
          <p:cNvSpPr/>
          <p:nvPr/>
        </p:nvSpPr>
        <p:spPr>
          <a:xfrm>
            <a:off x="181917" y="4314485"/>
            <a:ext cx="6696745" cy="11504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ED5EBF4-1DA4-BC4D-5336-8DDCAC736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46" y="1533611"/>
            <a:ext cx="2951505" cy="2372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A1E369-37D1-427F-9578-ECA73C539021}"/>
              </a:ext>
            </a:extLst>
          </p:cNvPr>
          <p:cNvSpPr txBox="1"/>
          <p:nvPr/>
        </p:nvSpPr>
        <p:spPr>
          <a:xfrm>
            <a:off x="561289" y="5877272"/>
            <a:ext cx="8045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영상의 해상도는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640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480, 3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fps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이며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품질은 좋음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하지만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경고 발생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28B5A-6B48-1198-E171-4892B5258837}"/>
              </a:ext>
            </a:extLst>
          </p:cNvPr>
          <p:cNvSpPr txBox="1"/>
          <p:nvPr/>
        </p:nvSpPr>
        <p:spPr>
          <a:xfrm>
            <a:off x="451985" y="3614224"/>
            <a:ext cx="4400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후 영상 출력까지 다소 시간이 소요됨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94271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A97D9-D715-CC21-F115-05517DE1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카메라 모듈 연결시의 경고 문제 해결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38E25A-8EA7-AFD4-036F-14CBFB650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검색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0D1A9A-587D-3057-793F-FF2ADB981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5715B2-A814-9DD9-FD5F-5136EBE2C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1" y="1509952"/>
            <a:ext cx="5904656" cy="28160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A2EFFD6-70C0-F8DA-204F-5061ED04A485}"/>
              </a:ext>
            </a:extLst>
          </p:cNvPr>
          <p:cNvSpPr/>
          <p:nvPr/>
        </p:nvSpPr>
        <p:spPr>
          <a:xfrm>
            <a:off x="1331640" y="3429000"/>
            <a:ext cx="4401632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E66A8B-F741-1BF8-7826-9CB49C7F8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156" y="3906953"/>
            <a:ext cx="5890232" cy="25740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55B3861-F81A-7CE5-3DBD-840A3C77B4D0}"/>
              </a:ext>
            </a:extLst>
          </p:cNvPr>
          <p:cNvSpPr/>
          <p:nvPr/>
        </p:nvSpPr>
        <p:spPr>
          <a:xfrm>
            <a:off x="4211960" y="5734376"/>
            <a:ext cx="1809344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63247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14752-BD0D-7E9A-5CA1-776656B4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V4L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F7F9E-C5CD-0D7B-EA3D-19BCA4853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V4L, V4L2</a:t>
            </a:r>
          </a:p>
          <a:p>
            <a:pPr lvl="1"/>
            <a:r>
              <a:rPr lang="en-US" altLang="ko-KR" dirty="0"/>
              <a:t>V4L : Video4Linux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리눅스에서 비디오를 처리하기 위한 드라이버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V4L2 : Video4Linux Version 2</a:t>
            </a:r>
          </a:p>
          <a:p>
            <a:r>
              <a:rPr lang="ko-KR" altLang="en-US" dirty="0"/>
              <a:t>터미널에서 </a:t>
            </a:r>
            <a:r>
              <a:rPr lang="en-US" altLang="ko-KR" dirty="0"/>
              <a:t>“v4l2-ctl -h”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v4l2-ctl </a:t>
            </a:r>
            <a:r>
              <a:rPr lang="ko-KR" altLang="en-US" dirty="0"/>
              <a:t>명령어의 옵션 확인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82354E-60F2-BAA2-6D20-B56A3BA8F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AD424F-527E-A725-F23F-196AD375F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438120"/>
            <a:ext cx="5194643" cy="2840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399749"/>
      </p:ext>
    </p:extLst>
  </p:cSld>
  <p:clrMapOvr>
    <a:masterClrMapping/>
  </p:clrMapOvr>
  <p:transition>
    <p:diamond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47208-3C61-3C9F-0AD4-A56A55DB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2] cv2.CAP_V4L </a:t>
            </a:r>
            <a:r>
              <a:rPr lang="ko-KR" altLang="en-US" dirty="0"/>
              <a:t>옵션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2B996-D8B9-A865-577A-DA139E768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F53FB0-F461-6F2F-5EB2-2830ACA8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58" y="1052736"/>
            <a:ext cx="6047619" cy="49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E481E52-90C9-8728-4940-6706EBD80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156" y="1917229"/>
            <a:ext cx="2914286" cy="8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6992DBA-6E90-8F08-5902-295E6C436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156" y="2794657"/>
            <a:ext cx="2897828" cy="229052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BC6A40-BB5D-27E6-0E89-95D098B46DA5}"/>
              </a:ext>
            </a:extLst>
          </p:cNvPr>
          <p:cNvSpPr txBox="1"/>
          <p:nvPr/>
        </p:nvSpPr>
        <p:spPr>
          <a:xfrm>
            <a:off x="3059410" y="6155101"/>
            <a:ext cx="302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품질의 영상 추출 가능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5040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47208-3C61-3C9F-0AD4-A56A55DB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3] </a:t>
            </a:r>
            <a:r>
              <a:rPr lang="ko-KR" altLang="en-US" dirty="0"/>
              <a:t>영상의 프레임 크기 변경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2B996-D8B9-A865-577A-DA139E768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D6926D-4601-C2DF-DFA7-DAAFBF11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9" y="1076619"/>
            <a:ext cx="4987638" cy="43686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9D2F12-E8B9-238C-BEEA-08579B1C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415" y="1076619"/>
            <a:ext cx="5058385" cy="14768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58B8CB5-1963-0C5C-392D-C25A95A58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562" y="2679409"/>
            <a:ext cx="3095238" cy="10285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2DD7E7-668E-C79E-2FA0-DD40DF256294}"/>
              </a:ext>
            </a:extLst>
          </p:cNvPr>
          <p:cNvSpPr txBox="1"/>
          <p:nvPr/>
        </p:nvSpPr>
        <p:spPr>
          <a:xfrm>
            <a:off x="634064" y="5867527"/>
            <a:ext cx="7875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속성을 이용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 크기 조절이 가능하나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영상의 품질에 문제를 야기할 가능성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프레임 크기 조절 시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frame.resize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()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권장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414FA3F-0725-2D0A-A910-BC2371013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562" y="3797062"/>
            <a:ext cx="3092789" cy="17921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5287549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D8EB1-E206-09A6-A7BC-F12A0FAB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4] </a:t>
            </a:r>
            <a:r>
              <a:rPr lang="ko-KR" altLang="en-US" dirty="0" err="1"/>
              <a:t>스틸컷</a:t>
            </a:r>
            <a:r>
              <a:rPr lang="ko-KR" altLang="en-US" dirty="0"/>
              <a:t>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7CA86-0977-AA64-82F7-C8BB99497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21</a:t>
            </a:fld>
            <a:endParaRPr lang="en-US" altLang="ko-KR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0BF83C-0895-02B7-1D69-A147CE17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36046"/>
            <a:ext cx="6295238" cy="49428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C1710A-2764-8223-8A6A-D8927EC7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068" y="1231623"/>
            <a:ext cx="2983396" cy="21973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37FC56-3867-45C5-13E8-8593767FB337}"/>
              </a:ext>
            </a:extLst>
          </p:cNvPr>
          <p:cNvSpPr/>
          <p:nvPr/>
        </p:nvSpPr>
        <p:spPr>
          <a:xfrm>
            <a:off x="6939120" y="1606756"/>
            <a:ext cx="482132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6749A5C-6027-E025-6082-0B6131D85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068" y="3594684"/>
            <a:ext cx="2981720" cy="257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9544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5] </a:t>
            </a:r>
            <a:r>
              <a:rPr lang="ko-KR" altLang="en-US" dirty="0"/>
              <a:t>동영상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96981A-3828-3CF5-3A1C-D8A7009B4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62" y="1009192"/>
            <a:ext cx="6190476" cy="53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4684794"/>
      </p:ext>
    </p:extLst>
  </p:cSld>
  <p:clrMapOvr>
    <a:masterClrMapping/>
  </p:clrMapOvr>
  <p:transition>
    <p:diamond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5] </a:t>
            </a:r>
            <a:r>
              <a:rPr lang="ko-KR" altLang="en-US" dirty="0"/>
              <a:t>동영상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9A2C40-9AC2-E84F-C81F-CD458E251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347" y="3867880"/>
            <a:ext cx="2667057" cy="24762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EC17D4-4257-A48C-5683-4DFCA48CC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284" y="3861048"/>
            <a:ext cx="3309724" cy="24762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0C66B1-9650-6CEB-77D6-93907F966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284" y="995667"/>
            <a:ext cx="6475432" cy="25942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267297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CCBA-DE8A-A18E-BA0E-B8594EA3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DE356-0E2C-2C98-85A6-0199982EC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24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930A49-9744-2D45-6E2D-CDF45E24F146}"/>
              </a:ext>
            </a:extLst>
          </p:cNvPr>
          <p:cNvSpPr/>
          <p:nvPr/>
        </p:nvSpPr>
        <p:spPr>
          <a:xfrm>
            <a:off x="0" y="0"/>
            <a:ext cx="9144000" cy="6869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83B62-15FB-DEC6-3D59-8BD961211522}"/>
              </a:ext>
            </a:extLst>
          </p:cNvPr>
          <p:cNvSpPr txBox="1"/>
          <p:nvPr/>
        </p:nvSpPr>
        <p:spPr>
          <a:xfrm>
            <a:off x="763586" y="1124744"/>
            <a:ext cx="7616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bookworm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버전에서 카메라 모듈 활용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6E8AC3-C12A-5F90-D4B5-95D266F106AC}"/>
              </a:ext>
            </a:extLst>
          </p:cNvPr>
          <p:cNvSpPr txBox="1"/>
          <p:nvPr/>
        </p:nvSpPr>
        <p:spPr>
          <a:xfrm>
            <a:off x="901808" y="5423506"/>
            <a:ext cx="7899292" cy="72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bookworm</a:t>
            </a:r>
            <a:r>
              <a:rPr lang="ko-KR" altLang="en-US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직역하면 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800" i="0" dirty="0" err="1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독서광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i="0" dirty="0" err="1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데비안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리눅스 배포판의 코드명으로도 사용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토이 스토리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단역 캐릭터</a:t>
            </a:r>
            <a:r>
              <a:rPr lang="en-US" altLang="ko-KR" sz="1800" i="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7E8A88-3908-FFE3-5BB5-270F99EF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79" y="2204864"/>
            <a:ext cx="287924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71716"/>
      </p:ext>
    </p:extLst>
  </p:cSld>
  <p:clrMapOvr>
    <a:masterClrMapping/>
  </p:clrMapOvr>
  <p:transition>
    <p:diamond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6458-E297-D608-1576-B790490E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C58F1-E888-9E65-9F73-E6A2B137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bookworm </a:t>
            </a:r>
            <a:r>
              <a:rPr lang="ko-KR" altLang="en-US" dirty="0"/>
              <a:t>버전 가상환경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890F2-B732-D028-15CE-484B8B55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bookworm</a:t>
            </a:r>
            <a:r>
              <a:rPr lang="ko-KR" altLang="en-US" dirty="0"/>
              <a:t> 버전</a:t>
            </a:r>
            <a:endParaRPr lang="en-US" altLang="ko-KR" dirty="0"/>
          </a:p>
          <a:p>
            <a:pPr lvl="1"/>
            <a:r>
              <a:rPr lang="en-US" altLang="ko-KR" dirty="0"/>
              <a:t>legacy</a:t>
            </a:r>
            <a:r>
              <a:rPr lang="ko-KR" altLang="en-US" dirty="0"/>
              <a:t> </a:t>
            </a:r>
            <a:r>
              <a:rPr lang="en-US" altLang="ko-KR" dirty="0"/>
              <a:t>camera </a:t>
            </a:r>
            <a:r>
              <a:rPr lang="ko-KR" altLang="en-US" dirty="0"/>
              <a:t>지원하지 않음 </a:t>
            </a:r>
            <a:endParaRPr lang="en-US" altLang="ko-KR" dirty="0"/>
          </a:p>
          <a:p>
            <a:pPr lvl="1"/>
            <a:r>
              <a:rPr lang="en-US" altLang="ko-KR" dirty="0"/>
              <a:t>picamera2 </a:t>
            </a:r>
            <a:r>
              <a:rPr lang="ko-KR" altLang="en-US" dirty="0"/>
              <a:t>라이브러리만을</a:t>
            </a:r>
            <a:r>
              <a:rPr lang="en-US" altLang="ko-KR" dirty="0"/>
              <a:t> </a:t>
            </a:r>
            <a:r>
              <a:rPr lang="ko-KR" altLang="en-US" dirty="0"/>
              <a:t>이용하여 영상 혹은 사진을 받아 올 수 있음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C00000"/>
                </a:solidFill>
              </a:rPr>
              <a:t>가상환경</a:t>
            </a:r>
            <a:r>
              <a:rPr lang="ko-KR" altLang="en-US" dirty="0"/>
              <a:t>을 설치하고 적용하는 방법을 추천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9153D-1CE2-B574-B26C-6AEF1557F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25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5C48AD-E84F-C2D1-D176-48CA82C224C2}"/>
              </a:ext>
            </a:extLst>
          </p:cNvPr>
          <p:cNvSpPr/>
          <p:nvPr/>
        </p:nvSpPr>
        <p:spPr>
          <a:xfrm>
            <a:off x="107950" y="2852936"/>
            <a:ext cx="8928100" cy="355580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b="1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bookworm</a:t>
            </a:r>
            <a:endParaRPr lang="ko-KR" altLang="en-US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63052B-6085-354F-9991-77B7F6453707}"/>
              </a:ext>
            </a:extLst>
          </p:cNvPr>
          <p:cNvSpPr/>
          <p:nvPr/>
        </p:nvSpPr>
        <p:spPr>
          <a:xfrm>
            <a:off x="3878675" y="3861048"/>
            <a:ext cx="5128775" cy="2304255"/>
          </a:xfrm>
          <a:prstGeom prst="rect">
            <a:avLst/>
          </a:prstGeom>
          <a:solidFill>
            <a:srgbClr val="FFFFE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b="1" dirty="0" err="1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venv</a:t>
            </a:r>
            <a:endParaRPr lang="ko-KR" altLang="en-US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7F723-A4C9-DDCE-F5BF-63D414836DD9}"/>
              </a:ext>
            </a:extLst>
          </p:cNvPr>
          <p:cNvSpPr txBox="1"/>
          <p:nvPr/>
        </p:nvSpPr>
        <p:spPr>
          <a:xfrm>
            <a:off x="179512" y="3090446"/>
            <a:ext cx="269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89B4E-4E8A-4E75-D5EA-C90BBF92E8CC}"/>
              </a:ext>
            </a:extLst>
          </p:cNvPr>
          <p:cNvSpPr txBox="1"/>
          <p:nvPr/>
        </p:nvSpPr>
        <p:spPr>
          <a:xfrm>
            <a:off x="799458" y="3086203"/>
            <a:ext cx="478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7AF3E-8786-238A-D67C-23501E6B4323}"/>
              </a:ext>
            </a:extLst>
          </p:cNvPr>
          <p:cNvSpPr txBox="1"/>
          <p:nvPr/>
        </p:nvSpPr>
        <p:spPr>
          <a:xfrm>
            <a:off x="799458" y="3602623"/>
            <a:ext cx="625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boot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AA376-2F14-11A4-C663-F7AFE730F678}"/>
              </a:ext>
            </a:extLst>
          </p:cNvPr>
          <p:cNvSpPr txBox="1"/>
          <p:nvPr/>
        </p:nvSpPr>
        <p:spPr>
          <a:xfrm>
            <a:off x="799458" y="4119043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3873C-C104-E7C9-4402-DB72EE3EE1AB}"/>
              </a:ext>
            </a:extLst>
          </p:cNvPr>
          <p:cNvSpPr txBox="1"/>
          <p:nvPr/>
        </p:nvSpPr>
        <p:spPr>
          <a:xfrm>
            <a:off x="799458" y="4635463"/>
            <a:ext cx="410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lib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0B2FAA-447B-C957-430C-55455CDF0DFD}"/>
              </a:ext>
            </a:extLst>
          </p:cNvPr>
          <p:cNvSpPr txBox="1"/>
          <p:nvPr/>
        </p:nvSpPr>
        <p:spPr>
          <a:xfrm>
            <a:off x="799458" y="5151883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usr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60D2A-6114-377E-8EB4-DD21CB8942BD}"/>
              </a:ext>
            </a:extLst>
          </p:cNvPr>
          <p:cNvSpPr txBox="1"/>
          <p:nvPr/>
        </p:nvSpPr>
        <p:spPr>
          <a:xfrm>
            <a:off x="799458" y="5668303"/>
            <a:ext cx="3369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346D18-0AD9-BA8B-DC17-F3DC141B4B96}"/>
              </a:ext>
            </a:extLst>
          </p:cNvPr>
          <p:cNvSpPr txBox="1"/>
          <p:nvPr/>
        </p:nvSpPr>
        <p:spPr>
          <a:xfrm>
            <a:off x="1781906" y="4119043"/>
            <a:ext cx="71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hrkim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12981E-C2FE-F88E-09C4-F409B466DC6C}"/>
              </a:ext>
            </a:extLst>
          </p:cNvPr>
          <p:cNvSpPr txBox="1"/>
          <p:nvPr/>
        </p:nvSpPr>
        <p:spPr>
          <a:xfrm>
            <a:off x="1781906" y="5151883"/>
            <a:ext cx="410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lib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67A6F-0F73-219D-C41B-E02F4D27BFD2}"/>
              </a:ext>
            </a:extLst>
          </p:cNvPr>
          <p:cNvSpPr txBox="1"/>
          <p:nvPr/>
        </p:nvSpPr>
        <p:spPr>
          <a:xfrm>
            <a:off x="2683553" y="4119043"/>
            <a:ext cx="722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works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FA52E2-BDD4-12CC-71EF-0458BA8829CA}"/>
              </a:ext>
            </a:extLst>
          </p:cNvPr>
          <p:cNvSpPr txBox="1"/>
          <p:nvPr/>
        </p:nvSpPr>
        <p:spPr>
          <a:xfrm>
            <a:off x="3970054" y="4119043"/>
            <a:ext cx="5132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env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E115BB-6D0C-03FC-BAC5-8151BAF0F6ED}"/>
              </a:ext>
            </a:extLst>
          </p:cNvPr>
          <p:cNvSpPr txBox="1"/>
          <p:nvPr/>
        </p:nvSpPr>
        <p:spPr>
          <a:xfrm>
            <a:off x="4951169" y="4119043"/>
            <a:ext cx="478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D3318D-A55C-4A25-D26E-288E65B9AE50}"/>
              </a:ext>
            </a:extLst>
          </p:cNvPr>
          <p:cNvSpPr txBox="1"/>
          <p:nvPr/>
        </p:nvSpPr>
        <p:spPr>
          <a:xfrm>
            <a:off x="4951169" y="4650152"/>
            <a:ext cx="410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lib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8C41F5-6A09-C548-3874-D8586A91F7D5}"/>
              </a:ext>
            </a:extLst>
          </p:cNvPr>
          <p:cNvSpPr txBox="1"/>
          <p:nvPr/>
        </p:nvSpPr>
        <p:spPr>
          <a:xfrm>
            <a:off x="4951169" y="5151883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include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69C307-7B03-304E-7F0B-14F6D10A25D0}"/>
              </a:ext>
            </a:extLst>
          </p:cNvPr>
          <p:cNvSpPr txBox="1"/>
          <p:nvPr/>
        </p:nvSpPr>
        <p:spPr>
          <a:xfrm>
            <a:off x="4951169" y="5653614"/>
            <a:ext cx="1147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pyvenv.cfg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C562FA-125F-BD6E-7148-3F4C424CAE32}"/>
              </a:ext>
            </a:extLst>
          </p:cNvPr>
          <p:cNvSpPr txBox="1"/>
          <p:nvPr/>
        </p:nvSpPr>
        <p:spPr>
          <a:xfrm>
            <a:off x="5961668" y="4650152"/>
            <a:ext cx="1089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python3.x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066D6-4515-DF53-6E9B-A66272ADAA5B}"/>
              </a:ext>
            </a:extLst>
          </p:cNvPr>
          <p:cNvSpPr txBox="1"/>
          <p:nvPr/>
        </p:nvSpPr>
        <p:spPr>
          <a:xfrm>
            <a:off x="7568109" y="4650152"/>
            <a:ext cx="1448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site-packages</a:t>
            </a:r>
            <a:endParaRPr lang="ko-KR" altLang="en-US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B1FD0-7F9A-037A-2E97-44E322247F45}"/>
              </a:ext>
            </a:extLst>
          </p:cNvPr>
          <p:cNvSpPr txBox="1"/>
          <p:nvPr/>
        </p:nvSpPr>
        <p:spPr>
          <a:xfrm>
            <a:off x="2588050" y="5151883"/>
            <a:ext cx="1089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python3.x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EE04DFA7-378D-00E3-2781-7DB55143CFF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449138" y="3259723"/>
            <a:ext cx="350320" cy="2577857"/>
          </a:xfrm>
          <a:prstGeom prst="bentConnector3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C8DD38B-286B-88B3-F042-27EDE2EBB086}"/>
              </a:ext>
            </a:extLst>
          </p:cNvPr>
          <p:cNvCxnSpPr>
            <a:endCxn id="8" idx="1"/>
          </p:cNvCxnSpPr>
          <p:nvPr/>
        </p:nvCxnSpPr>
        <p:spPr>
          <a:xfrm flipV="1">
            <a:off x="449138" y="3255480"/>
            <a:ext cx="350320" cy="424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4C82C42-CA2F-3D88-0255-805D9C3D0323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4483336" y="4288320"/>
            <a:ext cx="467833" cy="153457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ACE0075-9678-EDA6-E507-30FAC83F6C89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21280" y="3771900"/>
            <a:ext cx="178178" cy="3165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9AF85B7-45FF-2DF4-9508-80BEEE031E1C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633076" y="4288320"/>
            <a:ext cx="166382" cy="2087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C75AA1B-DCA8-B863-1DFF-D1756122F406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34114" y="4804740"/>
            <a:ext cx="165344" cy="1009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D58E24D-8F21-25EE-9CFD-D5DB56CEFA30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35152" y="5321160"/>
            <a:ext cx="164306" cy="1495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0666800-EC26-F353-6059-5006BCE90EE5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483336" y="4288320"/>
            <a:ext cx="467833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DB58539-A8EE-FF9E-2BBA-69C8603FE98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722388" y="4819429"/>
            <a:ext cx="25052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33D4EC5-E1A5-D9DD-2815-B16847792082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722388" y="5321160"/>
            <a:ext cx="25052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88656B65-BCB1-A0AA-C140-FE2462134C15}"/>
              </a:ext>
            </a:extLst>
          </p:cNvPr>
          <p:cNvCxnSpPr>
            <a:cxnSpLocks/>
            <a:stCxn id="14" idx="1"/>
            <a:endCxn id="10" idx="3"/>
          </p:cNvCxnSpPr>
          <p:nvPr/>
        </p:nvCxnSpPr>
        <p:spPr>
          <a:xfrm flipH="1">
            <a:off x="1517924" y="4288320"/>
            <a:ext cx="263982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2A19B6D3-9978-41A4-E5B2-EA2F8F35E37C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1263046" y="5321160"/>
            <a:ext cx="51886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E689513-DE19-1A59-718C-02F438397CFA}"/>
              </a:ext>
            </a:extLst>
          </p:cNvPr>
          <p:cNvCxnSpPr>
            <a:cxnSpLocks/>
            <a:stCxn id="24" idx="1"/>
            <a:endCxn id="15" idx="3"/>
          </p:cNvCxnSpPr>
          <p:nvPr/>
        </p:nvCxnSpPr>
        <p:spPr>
          <a:xfrm flipH="1">
            <a:off x="2192596" y="5321160"/>
            <a:ext cx="395454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6C11E56-AB33-E0AF-63A8-87B3260F0D42}"/>
              </a:ext>
            </a:extLst>
          </p:cNvPr>
          <p:cNvCxnSpPr>
            <a:cxnSpLocks/>
            <a:stCxn id="16" idx="1"/>
            <a:endCxn id="14" idx="3"/>
          </p:cNvCxnSpPr>
          <p:nvPr/>
        </p:nvCxnSpPr>
        <p:spPr>
          <a:xfrm flipH="1">
            <a:off x="2493960" y="4288320"/>
            <a:ext cx="189593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D06031F-877E-5EA3-3C6B-A63ED8867C74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3406251" y="4288320"/>
            <a:ext cx="563803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95DF60C-6D8A-4930-EA3B-945293F4B24B}"/>
              </a:ext>
            </a:extLst>
          </p:cNvPr>
          <p:cNvCxnSpPr>
            <a:cxnSpLocks/>
            <a:stCxn id="22" idx="1"/>
            <a:endCxn id="19" idx="3"/>
          </p:cNvCxnSpPr>
          <p:nvPr/>
        </p:nvCxnSpPr>
        <p:spPr>
          <a:xfrm flipH="1">
            <a:off x="5361859" y="4819429"/>
            <a:ext cx="599809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EB6167C-E436-B4AF-9004-98ABCA9456BA}"/>
              </a:ext>
            </a:extLst>
          </p:cNvPr>
          <p:cNvCxnSpPr>
            <a:cxnSpLocks/>
            <a:stCxn id="23" idx="1"/>
            <a:endCxn id="22" idx="3"/>
          </p:cNvCxnSpPr>
          <p:nvPr/>
        </p:nvCxnSpPr>
        <p:spPr>
          <a:xfrm flipH="1">
            <a:off x="7051005" y="4819429"/>
            <a:ext cx="517104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7019FF3-83CC-8391-D457-9AD048B55A72}"/>
              </a:ext>
            </a:extLst>
          </p:cNvPr>
          <p:cNvSpPr txBox="1"/>
          <p:nvPr/>
        </p:nvSpPr>
        <p:spPr>
          <a:xfrm>
            <a:off x="2411760" y="5740716"/>
            <a:ext cx="1448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site-packages</a:t>
            </a:r>
            <a:endParaRPr lang="ko-KR" altLang="en-US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175B604-A6D8-6E61-ECBD-F85DC28C6266}"/>
              </a:ext>
            </a:extLst>
          </p:cNvPr>
          <p:cNvCxnSpPr>
            <a:cxnSpLocks/>
            <a:stCxn id="77" idx="0"/>
            <a:endCxn id="24" idx="2"/>
          </p:cNvCxnSpPr>
          <p:nvPr/>
        </p:nvCxnSpPr>
        <p:spPr>
          <a:xfrm flipH="1" flipV="1">
            <a:off x="3132719" y="5490437"/>
            <a:ext cx="3054" cy="250279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2687CF1-D6A5-21E9-4F98-0F677CFB9EF6}"/>
              </a:ext>
            </a:extLst>
          </p:cNvPr>
          <p:cNvSpPr txBox="1"/>
          <p:nvPr/>
        </p:nvSpPr>
        <p:spPr>
          <a:xfrm>
            <a:off x="2692883" y="4466186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.local</a:t>
            </a:r>
            <a:endParaRPr lang="ko-KR" altLang="en-US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2E2C04BE-5C95-8A66-2659-0B3DD7A19750}"/>
              </a:ext>
            </a:extLst>
          </p:cNvPr>
          <p:cNvCxnSpPr>
            <a:cxnSpLocks/>
            <a:stCxn id="14" idx="3"/>
            <a:endCxn id="82" idx="1"/>
          </p:cNvCxnSpPr>
          <p:nvPr/>
        </p:nvCxnSpPr>
        <p:spPr>
          <a:xfrm>
            <a:off x="2493960" y="4288320"/>
            <a:ext cx="198923" cy="347143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90939"/>
      </p:ext>
    </p:extLst>
  </p:cSld>
  <p:clrMapOvr>
    <a:masterClrMapping/>
  </p:clrMapOvr>
  <p:transition>
    <p:diamond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28058-13E6-7AD6-2534-EB7B74842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bookworm</a:t>
            </a:r>
            <a:r>
              <a:rPr lang="ko-KR" altLang="en-US" dirty="0"/>
              <a:t> 및 </a:t>
            </a:r>
            <a:r>
              <a:rPr lang="en-US" altLang="ko-KR" dirty="0" err="1"/>
              <a:t>venv</a:t>
            </a:r>
            <a:r>
              <a:rPr lang="en-US" altLang="ko-KR" dirty="0"/>
              <a:t> </a:t>
            </a:r>
            <a:r>
              <a:rPr lang="ko-KR" altLang="en-US" dirty="0"/>
              <a:t>패키지 설치 위치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카메라 관련 패키지 설치방법</a:t>
            </a:r>
            <a:r>
              <a:rPr lang="en-US" altLang="ko-KR" dirty="0"/>
              <a:t>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157105F-F818-4C50-2526-584806BAD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bookworm </a:t>
            </a:r>
            <a:r>
              <a:rPr lang="ko-KR" altLang="en-US" dirty="0"/>
              <a:t>버전의 카메라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318954-D8C5-2A0C-6EB4-DBAEFB7BA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26</a:t>
            </a:fld>
            <a:endParaRPr lang="en-US" altLang="ko-KR"/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7FF33FF2-9E4E-9E16-A728-99C7264B7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71637"/>
              </p:ext>
            </p:extLst>
          </p:nvPr>
        </p:nvGraphicFramePr>
        <p:xfrm>
          <a:off x="107504" y="1618042"/>
          <a:ext cx="8953672" cy="181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832">
                  <a:extLst>
                    <a:ext uri="{9D8B030D-6E8A-4147-A177-3AD203B41FA5}">
                      <a16:colId xmlns:a16="http://schemas.microsoft.com/office/drawing/2014/main" val="549750272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43211415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071606194"/>
                    </a:ext>
                  </a:extLst>
                </a:gridCol>
              </a:tblGrid>
              <a:tr h="452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설치방법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bookworm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venv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19063"/>
                  </a:ext>
                </a:extLst>
              </a:tr>
              <a:tr h="452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/lib/python3.x/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dist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-packages/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40844"/>
                  </a:ext>
                </a:extLst>
              </a:tr>
              <a:tr h="452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pip (</a:t>
                      </a:r>
                      <a:r>
                        <a:rPr lang="ko-KR" altLang="en-US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usr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/local/lib/python3.x/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dist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-packages/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777474"/>
                  </a:ext>
                </a:extLst>
              </a:tr>
              <a:tr h="452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pip (</a:t>
                      </a:r>
                      <a:r>
                        <a:rPr lang="ko-KR" altLang="en-US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~/.local/lib/python3.x/site-packages/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~/works/env/lib/python3.x/site-packages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309894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9D4554A0-8A54-5A06-23CF-0C92C767E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486464"/>
              </p:ext>
            </p:extLst>
          </p:nvPr>
        </p:nvGraphicFramePr>
        <p:xfrm>
          <a:off x="95164" y="4210431"/>
          <a:ext cx="8953672" cy="2269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832">
                  <a:extLst>
                    <a:ext uri="{9D8B030D-6E8A-4147-A177-3AD203B41FA5}">
                      <a16:colId xmlns:a16="http://schemas.microsoft.com/office/drawing/2014/main" val="549750272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43211415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071606194"/>
                    </a:ext>
                  </a:extLst>
                </a:gridCol>
              </a:tblGrid>
              <a:tr h="452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pip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19063"/>
                  </a:ext>
                </a:extLst>
              </a:tr>
              <a:tr h="452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picamera2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sudo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apt install python3-picamera2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sudo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pip3 install picamera2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40844"/>
                  </a:ext>
                </a:extLst>
              </a:tr>
              <a:tr h="4527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simplejpeg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sudo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pip3 install 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simplejpeg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77747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OpenCV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sudo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apt install python3-opencv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pip3 install 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opencv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-python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설치는 </a:t>
                      </a:r>
                      <a:r>
                        <a:rPr lang="ko-KR" altLang="en-US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비추천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</a:t>
                      </a:r>
                      <a:r>
                        <a:rPr lang="ko-KR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충돌 가능성</a:t>
                      </a:r>
                      <a:r>
                        <a:rPr lang="en-US" altLang="ko-K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309894"/>
                  </a:ext>
                </a:extLst>
              </a:tr>
              <a:tr h="3928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numpy</a:t>
                      </a:r>
                      <a:endParaRPr lang="ko-KR" altLang="en-US" sz="14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pip install </a:t>
                      </a:r>
                      <a:r>
                        <a:rPr lang="en-US" altLang="ko-KR" sz="14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numpy</a:t>
                      </a:r>
                      <a:r>
                        <a:rPr lang="en-US" altLang="ko-KR" sz="14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==1.26.4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9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407017"/>
      </p:ext>
    </p:extLst>
  </p:cSld>
  <p:clrMapOvr>
    <a:masterClrMapping/>
  </p:clrMapOvr>
  <p:transition>
    <p:diamond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F7099-2046-DEA0-F034-8C7ED076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] </a:t>
            </a:r>
            <a:r>
              <a:rPr lang="ko-KR" altLang="en-US" dirty="0"/>
              <a:t>가상환경에 패키지 설치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3F889-54C4-C3CD-B47C-4B13AD0F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가상환경</a:t>
            </a:r>
            <a:r>
              <a:rPr lang="en-US" altLang="ko-KR" dirty="0"/>
              <a:t> </a:t>
            </a:r>
            <a:r>
              <a:rPr lang="ko-KR" altLang="en-US" dirty="0"/>
              <a:t>활성화</a:t>
            </a:r>
            <a:endParaRPr lang="en-US" altLang="ko-KR" dirty="0"/>
          </a:p>
          <a:p>
            <a:pPr lvl="1"/>
            <a:r>
              <a:rPr lang="en-US" altLang="ko-KR" dirty="0"/>
              <a:t>source ~/works/env/bin/activate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picamera2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-US" altLang="ko-KR" dirty="0"/>
              <a:t>pip3 install picamera2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92FCB-61E7-6761-2F19-27E0E4B2D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5C4E83-C23D-5A1C-05EA-2BF348FCC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2008594"/>
            <a:ext cx="8064897" cy="4359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2729D2-17A6-9554-15E7-AC435D5D0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3" y="3767382"/>
            <a:ext cx="8080490" cy="17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03344"/>
      </p:ext>
    </p:extLst>
  </p:cSld>
  <p:clrMapOvr>
    <a:masterClrMapping/>
  </p:clrMapOvr>
  <p:transition>
    <p:diamond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313C-F0A6-EB64-943F-F6F8BDA3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CD2B5-B023-506A-E80B-A837E90B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] </a:t>
            </a:r>
            <a:r>
              <a:rPr lang="ko-KR" altLang="en-US" dirty="0"/>
              <a:t>가상환경에 패키지 설치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C4D0DD-3557-6980-7601-F3B24F130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simplejpeg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-US" altLang="ko-KR" dirty="0"/>
              <a:t>pip3 install </a:t>
            </a:r>
            <a:r>
              <a:rPr lang="en-US" altLang="ko-KR" dirty="0" err="1"/>
              <a:t>simplejpeg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이전버전 설치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simplejpeg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와의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호환성 문제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pip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install </a:t>
            </a:r>
            <a:r>
              <a:rPr lang="en-US" altLang="ko-KR" dirty="0" err="1">
                <a:sym typeface="Wingdings" panose="05000000000000000000" pitchFamily="2" charset="2"/>
              </a:rPr>
              <a:t>numpy</a:t>
            </a:r>
            <a:r>
              <a:rPr lang="en-US" altLang="ko-KR" dirty="0">
                <a:sym typeface="Wingdings" panose="05000000000000000000" pitchFamily="2" charset="2"/>
              </a:rPr>
              <a:t>==1.26.4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0C77F-0B8D-A1FC-4992-5DB1A04B1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A748D1-CB92-EC7C-3D7C-FACE03B19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61" y="1988840"/>
            <a:ext cx="8131597" cy="12961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E487B2-2E60-BAF0-2329-A79744B96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03" y="4734644"/>
            <a:ext cx="8131597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34500"/>
      </p:ext>
    </p:extLst>
  </p:cSld>
  <p:clrMapOvr>
    <a:masterClrMapping/>
  </p:clrMapOvr>
  <p:transition>
    <p:diamond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B9EA-7134-DA29-5FBA-D81AD318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690A8-7900-DFBA-170C-A2C97F6AB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mycamera.py</a:t>
            </a:r>
            <a:r>
              <a:rPr lang="ko-KR" altLang="en-US" dirty="0"/>
              <a:t> 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634E9-4FA7-6FE9-51A2-9234DC097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29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C246376-91EF-A964-EC54-2DD738D6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2" y="937763"/>
            <a:ext cx="8190476" cy="5514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9907611"/>
      </p:ext>
    </p:extLst>
  </p:cSld>
  <p:clrMapOvr>
    <a:masterClrMapping/>
  </p:clrMapOvr>
  <p:transition>
    <p:diamond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C847-7B67-E01D-89EC-168C4BDA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584FA-68AD-85FD-C7A4-3C6E543C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mycamera.py</a:t>
            </a:r>
            <a:r>
              <a:rPr lang="ko-KR" altLang="en-US" dirty="0"/>
              <a:t> 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54685D-40CE-D4F1-A6BA-9158832C4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6C6899-7089-2E14-177D-5DCF54748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8" y="1224238"/>
            <a:ext cx="8209524" cy="44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18312663"/>
      </p:ext>
    </p:extLst>
  </p:cSld>
  <p:clrMapOvr>
    <a:masterClrMapping/>
  </p:clrMapOvr>
  <p:transition>
    <p:diamond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C3D5-4849-3D91-F36F-559B78FB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F6EA3-970F-9985-2092-21E06233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mycamera.py</a:t>
            </a:r>
            <a:r>
              <a:rPr lang="ko-KR" altLang="en-US" dirty="0"/>
              <a:t> 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5B1BD8-39B4-9726-57A4-206DB6DFC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D2C9E7-348A-E02D-7C03-F79C0E64F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5" y="1123477"/>
            <a:ext cx="8723809" cy="25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4132262"/>
      </p:ext>
    </p:extLst>
  </p:cSld>
  <p:clrMapOvr>
    <a:masterClrMapping/>
  </p:clrMapOvr>
  <p:transition>
    <p:diamond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6B14-845A-9F43-98A8-E6A2283D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02542-D577-47CD-BFED-551212D8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mycamera.py</a:t>
            </a:r>
            <a:r>
              <a:rPr lang="ko-KR" altLang="en-US" dirty="0"/>
              <a:t> 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0B250-D22B-AFBB-85EC-FDEA11D3BB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32</a:t>
            </a:fld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677CBD-2BD5-1066-1C9A-CEADA1954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C6967F-3311-0C2B-CEA5-1E636BDD7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6" y="1559172"/>
            <a:ext cx="8820472" cy="352982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898D13A-A49C-7198-130A-120338B8D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56" y="2880629"/>
            <a:ext cx="4235792" cy="352982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3749540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01F2-85A0-0D05-D2C5-171DA6D1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42293-AB7D-D504-7B50-B7EF6471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mycamera.py</a:t>
            </a:r>
            <a:r>
              <a:rPr lang="ko-KR" altLang="en-US" dirty="0"/>
              <a:t> 라이브러리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CD31B-4E9E-5DE1-920A-BCE76B347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D51FE4-21F1-F552-BFD1-44E0F38F5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7085714" cy="45047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7BDD9E8-90CA-E213-455E-5EED928EA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4221088"/>
            <a:ext cx="2627241" cy="21893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6770698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D886-D7C6-F38D-5ECB-5E30D48C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D48E6-5193-A21F-7548-C64D83F4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이미지 뒤집기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AED96-C922-00F4-7B1B-3B989746C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34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2758FD-F9F2-7829-C88C-2B32296F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7142857" cy="47047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764C12-6811-02FA-FE87-947DB48D5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421" y="4265463"/>
            <a:ext cx="2627241" cy="21878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5E07EB7-B577-5A6B-D127-8BA0ED1D37E2}"/>
              </a:ext>
            </a:extLst>
          </p:cNvPr>
          <p:cNvSpPr/>
          <p:nvPr/>
        </p:nvSpPr>
        <p:spPr>
          <a:xfrm>
            <a:off x="1115616" y="3717032"/>
            <a:ext cx="5112568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5521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19DFD-057E-12DF-4AFF-D3DD4ECE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 err="1"/>
              <a:t>스틸컷</a:t>
            </a:r>
            <a:r>
              <a:rPr lang="ko-KR" altLang="en-US" dirty="0"/>
              <a:t>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78D410-DF6C-0952-D73B-A3D45C344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8F049A-42CE-D2D9-B8C5-82F92A2D2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71" y="836613"/>
            <a:ext cx="6942857" cy="57165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57241850"/>
      </p:ext>
    </p:extLst>
  </p:cSld>
  <p:clrMapOvr>
    <a:masterClrMapping/>
  </p:clrMapOvr>
  <p:transition>
    <p:diamond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01CC-D5AC-4AD3-FE60-8CB407FA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ED29B-E34D-0668-391D-DA50313C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 err="1"/>
              <a:t>스틸컷</a:t>
            </a:r>
            <a:r>
              <a:rPr lang="ko-KR" altLang="en-US" dirty="0"/>
              <a:t>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600FD-3895-D07F-F2F5-CB71CEA3C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B1F8FE-8A47-ED49-4CDE-E20BA8EFD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2" y="1097551"/>
            <a:ext cx="8190476" cy="17428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130B9C-A240-90E0-9CE5-37BEFCCD4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53" y="2924944"/>
            <a:ext cx="5521566" cy="30249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36806F-2A8B-F738-7075-B1E67A652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895" y="3645024"/>
            <a:ext cx="3921343" cy="27916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81F87E-A720-E942-FFCA-32F979903271}"/>
              </a:ext>
            </a:extLst>
          </p:cNvPr>
          <p:cNvSpPr txBox="1"/>
          <p:nvPr/>
        </p:nvSpPr>
        <p:spPr>
          <a:xfrm>
            <a:off x="252419" y="6100080"/>
            <a:ext cx="4145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전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“images’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폴더를 미리 생성해 둘 것</a:t>
            </a:r>
          </a:p>
        </p:txBody>
      </p:sp>
    </p:spTree>
    <p:extLst>
      <p:ext uri="{BB962C8B-B14F-4D97-AF65-F5344CB8AC3E}">
        <p14:creationId xmlns:p14="http://schemas.microsoft.com/office/powerpoint/2010/main" val="385170625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5D425-03FA-9AC5-405E-3D8D8AD8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7491C-9FF4-8442-6FF9-B9B0B1F9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동영상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50E872-552F-5D46-8B93-FF5645D0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2FF604-D12E-C4D3-EDD1-FD109B15F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9" y="1295666"/>
            <a:ext cx="7752381" cy="42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0131004"/>
      </p:ext>
    </p:extLst>
  </p:cSld>
  <p:clrMapOvr>
    <a:masterClrMapping/>
  </p:clrMapOvr>
  <p:transition>
    <p:diamond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BD16-2CB2-D08D-381E-BDD382F8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BD10D-95B6-A34F-2C6A-0D519D85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동영상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B7A77-4E61-4E2F-0685-6A92DDAF5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38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7CEFD8-14E5-FCC3-20A5-3AC567891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43" y="1300428"/>
            <a:ext cx="7285714" cy="42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3799346"/>
      </p:ext>
    </p:extLst>
  </p:cSld>
  <p:clrMapOvr>
    <a:masterClrMapping/>
  </p:clrMapOvr>
  <p:transition>
    <p:diamond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52F1-1119-4B43-C097-612EF8AE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950C0-C1BA-6E24-BEA8-62351AA0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동영상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48A5A-6F65-8640-243A-9D2B9FB80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2E0694-62F2-1E9A-3E7D-9BF396974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24744"/>
            <a:ext cx="7580952" cy="43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1FE085-A6A0-CE22-C654-6EB0C0B8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19" y="3539871"/>
            <a:ext cx="4644037" cy="29342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737205-9936-2E84-37F1-87D5170A9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846" y="3509717"/>
            <a:ext cx="3277602" cy="29644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580210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얼굴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7FF28C-BAFD-6CE1-8057-B12260980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1" y="1381381"/>
            <a:ext cx="8142857" cy="40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6571450"/>
      </p:ext>
    </p:extLst>
  </p:cSld>
  <p:clrMapOvr>
    <a:masterClrMapping/>
  </p:clrMapOvr>
  <p:transition>
    <p:diamond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E504-B8F5-7758-EA84-B476E072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7DBB1-9AA2-F46A-29D9-48DE26F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얼굴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78A8A-D4D8-D02A-8B65-5F24F9193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F94074-F53D-BBC6-8D97-72F2F46F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09" y="1198992"/>
            <a:ext cx="6752381" cy="50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422625"/>
      </p:ext>
    </p:extLst>
  </p:cSld>
  <p:clrMapOvr>
    <a:masterClrMapping/>
  </p:clrMapOvr>
  <p:transition>
    <p:diamond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56E9-2443-4CEA-157C-4404CDE9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99D70-160D-DE51-DD56-0C8AAD65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얼굴 검출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A18AB-3E46-7BB2-F1B6-BCD6FD260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42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E7D55F-C63C-A6D3-3004-E18B80C1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07" y="1989541"/>
            <a:ext cx="2433502" cy="15569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94FC9F-6F31-8A3B-FD9B-15E3A132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0" r="22598"/>
          <a:stretch>
            <a:fillRect/>
          </a:stretch>
        </p:blipFill>
        <p:spPr>
          <a:xfrm>
            <a:off x="430907" y="3713960"/>
            <a:ext cx="3193374" cy="749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E0174FD-3946-985B-2CBF-E56C0F026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1989540"/>
            <a:ext cx="4248472" cy="33773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4036058"/>
      </p:ext>
    </p:extLst>
  </p:cSld>
  <p:clrMapOvr>
    <a:masterClrMapping/>
  </p:clrMapOvr>
  <p:transition>
    <p:diamond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 분류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1C9704A-94EA-5A31-F7D3-5D08C3DF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 분류 사전 작업</a:t>
            </a:r>
            <a:endParaRPr lang="en-US" altLang="ko-KR" dirty="0"/>
          </a:p>
          <a:p>
            <a:pPr lvl="1"/>
            <a:r>
              <a:rPr lang="en-US" altLang="ko-KR" dirty="0"/>
              <a:t>9</a:t>
            </a:r>
            <a:r>
              <a:rPr lang="ko-KR" altLang="en-US" dirty="0"/>
              <a:t>강의 </a:t>
            </a:r>
            <a:r>
              <a:rPr lang="en-US" altLang="ko-KR" dirty="0"/>
              <a:t>“haar_utils.py”</a:t>
            </a:r>
            <a:r>
              <a:rPr lang="ko-KR" altLang="en-US" dirty="0"/>
              <a:t>를 현재 폴더에 복사</a:t>
            </a:r>
            <a:endParaRPr lang="en-US" altLang="ko-KR" dirty="0"/>
          </a:p>
          <a:p>
            <a:pPr lvl="1"/>
            <a:r>
              <a:rPr lang="en-US" altLang="ko-KR" dirty="0"/>
              <a:t>9</a:t>
            </a:r>
            <a:r>
              <a:rPr lang="ko-KR" altLang="en-US" dirty="0"/>
              <a:t>강의 </a:t>
            </a:r>
            <a:r>
              <a:rPr lang="en-US" altLang="ko-KR" dirty="0"/>
              <a:t>“_07_ClassfyGender.py”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현재 폴더에 복사 후 이름 변경 </a:t>
            </a:r>
            <a:endParaRPr lang="en-US" altLang="ko-KR" dirty="0"/>
          </a:p>
          <a:p>
            <a:pPr marL="360000" lvl="1" indent="0">
              <a:buNone/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_07_FindGender.py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43</a:t>
            </a:fld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1FFBED-672B-ACC2-A0EF-02213CF30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64" y="2852936"/>
            <a:ext cx="4672672" cy="35819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30267C-FF75-1956-6A45-DDD4F95B2A7C}"/>
              </a:ext>
            </a:extLst>
          </p:cNvPr>
          <p:cNvSpPr/>
          <p:nvPr/>
        </p:nvSpPr>
        <p:spPr>
          <a:xfrm>
            <a:off x="3851920" y="4643928"/>
            <a:ext cx="720080" cy="5852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C6901-1740-2973-D2BA-6EB53A182693}"/>
              </a:ext>
            </a:extLst>
          </p:cNvPr>
          <p:cNvSpPr/>
          <p:nvPr/>
        </p:nvSpPr>
        <p:spPr>
          <a:xfrm>
            <a:off x="4860032" y="3933056"/>
            <a:ext cx="720080" cy="5852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82381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44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32E8A1-0B02-FD56-B2F5-C0A2748D2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38" y="1040008"/>
            <a:ext cx="8609524" cy="5314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3567993"/>
      </p:ext>
    </p:extLst>
  </p:cSld>
  <p:clrMapOvr>
    <a:masterClrMapping/>
  </p:clrMapOvr>
  <p:transition>
    <p:diamond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45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1D7232-4211-0ABE-5DB2-D9971A59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66" y="1957571"/>
            <a:ext cx="7266667" cy="29428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6375752"/>
      </p:ext>
    </p:extLst>
  </p:cSld>
  <p:clrMapOvr>
    <a:masterClrMapping/>
  </p:clrMapOvr>
  <p:transition>
    <p:diamond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0B02F5-9DE3-24B0-E09B-A126AF8D8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418"/>
            <a:ext cx="9144000" cy="50789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0891009"/>
      </p:ext>
    </p:extLst>
  </p:cSld>
  <p:clrMapOvr>
    <a:masterClrMapping/>
  </p:clrMapOvr>
  <p:transition>
    <p:diamond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FDED-F541-6589-72B3-1EAF1C34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36FEC-F2BC-0846-6AD9-59B8B2CC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19DE8-1C4E-2445-CDB6-9E52F0506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1FF3B5-D22C-155C-9E9B-0F849DD91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2738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4809642"/>
      </p:ext>
    </p:extLst>
  </p:cSld>
  <p:clrMapOvr>
    <a:masterClrMapping/>
  </p:clrMapOvr>
  <p:transition>
    <p:diamond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BCDEB-22CE-62E3-E31B-D4CE350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</a:t>
            </a:r>
            <a:r>
              <a:rPr lang="ko-KR" altLang="en-US" dirty="0"/>
              <a:t>성별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1364D-10EE-876D-5F62-69D1A0B1D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DAC137-97E8-E373-3F47-7FCD3361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526" y="1844824"/>
            <a:ext cx="3399874" cy="27176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28B33A-B4B0-8C63-809B-E6CF24F0C58C}"/>
              </a:ext>
            </a:extLst>
          </p:cNvPr>
          <p:cNvSpPr txBox="1"/>
          <p:nvPr/>
        </p:nvSpPr>
        <p:spPr>
          <a:xfrm>
            <a:off x="2513583" y="5232087"/>
            <a:ext cx="4116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반응이 늦은 편이라 실용성은 없을 듯함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6C7C57D-F42F-3C2E-B288-F0F2A2F4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44824"/>
            <a:ext cx="4714286" cy="15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305543"/>
      </p:ext>
    </p:extLst>
  </p:cSld>
  <p:clrMapOvr>
    <a:masterClrMapping/>
  </p:clrMapOvr>
  <p:transition>
    <p:diamond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8A384EF-B765-622A-7EAF-C19646F0B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97117"/>
              </p:ext>
            </p:extLst>
          </p:nvPr>
        </p:nvGraphicFramePr>
        <p:xfrm>
          <a:off x="179512" y="1340768"/>
          <a:ext cx="8004867" cy="3863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2180">
                  <a:extLst>
                    <a:ext uri="{9D8B030D-6E8A-4147-A177-3AD203B41FA5}">
                      <a16:colId xmlns:a16="http://schemas.microsoft.com/office/drawing/2014/main" val="155862451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97571444"/>
                    </a:ext>
                  </a:extLst>
                </a:gridCol>
                <a:gridCol w="1107252">
                  <a:extLst>
                    <a:ext uri="{9D8B030D-6E8A-4147-A177-3AD203B41FA5}">
                      <a16:colId xmlns:a16="http://schemas.microsoft.com/office/drawing/2014/main" val="1454254856"/>
                    </a:ext>
                  </a:extLst>
                </a:gridCol>
                <a:gridCol w="1629052">
                  <a:extLst>
                    <a:ext uri="{9D8B030D-6E8A-4147-A177-3AD203B41FA5}">
                      <a16:colId xmlns:a16="http://schemas.microsoft.com/office/drawing/2014/main" val="372800617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644523705"/>
                    </a:ext>
                  </a:extLst>
                </a:gridCol>
                <a:gridCol w="1224135">
                  <a:extLst>
                    <a:ext uri="{9D8B030D-6E8A-4147-A177-3AD203B41FA5}">
                      <a16:colId xmlns:a16="http://schemas.microsoft.com/office/drawing/2014/main" val="1491718890"/>
                    </a:ext>
                  </a:extLst>
                </a:gridCol>
              </a:tblGrid>
              <a:tr h="25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145189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706384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874736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capture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65466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(config)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092431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correct (corr)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88572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deactivate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object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044139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define (def)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310546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destination (dst)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release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365543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destroy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0019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311188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distribute (dist)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source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54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virtual (v-env)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869176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environment (env)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361467"/>
                  </a:ext>
                </a:extLst>
              </a:tr>
              <a:tr h="2575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01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diamond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383D-A11D-F35C-3D22-B3E889A4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7C8CBBD-C355-90CF-70CB-2C2B0C899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E771C-9937-DB91-BAD7-EBEA779A3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74D7363-E178-0882-395A-B0D674CFA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2729"/>
              </p:ext>
            </p:extLst>
          </p:nvPr>
        </p:nvGraphicFramePr>
        <p:xfrm>
          <a:off x="827584" y="1412776"/>
          <a:ext cx="7488832" cy="3587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1023440121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313265915"/>
                    </a:ext>
                  </a:extLst>
                </a:gridCol>
              </a:tblGrid>
              <a:tr h="239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61130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bookworm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21659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bullseye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255724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cascadeClassifier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20558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cv2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446542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fourcc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04439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09104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814455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histogram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098713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numpy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469789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ord(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70785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picamera2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3070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raspi-config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560741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40394"/>
                  </a:ext>
                </a:extLst>
              </a:tr>
              <a:tr h="239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sudo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59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663765"/>
      </p:ext>
    </p:extLst>
  </p:cSld>
  <p:clrMapOvr>
    <a:masterClrMapping/>
  </p:clrMapOvr>
  <p:transition advTm="65490">
    <p:diamond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ko-KR" altLang="en-US" dirty="0"/>
              <a:t>예제의</a:t>
            </a:r>
            <a:r>
              <a:rPr lang="en-US" altLang="ko-KR" dirty="0"/>
              <a:t> </a:t>
            </a:r>
            <a:r>
              <a:rPr lang="ko-KR" altLang="en-US" dirty="0"/>
              <a:t>실행결과</a:t>
            </a:r>
            <a:endParaRPr lang="en-US" altLang="ko-KR" dirty="0"/>
          </a:p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ko-KR" altLang="en-US" dirty="0"/>
              <a:t>미소 찾기 </a:t>
            </a:r>
            <a:r>
              <a:rPr lang="en-US" altLang="ko-KR" dirty="0">
                <a:sym typeface="Wingdings" panose="05000000000000000000" pitchFamily="2" charset="2"/>
              </a:rPr>
              <a:t> “haarcascade_smile.xml” </a:t>
            </a:r>
            <a:r>
              <a:rPr lang="ko-KR" altLang="en-US" dirty="0">
                <a:sym typeface="Wingdings" panose="05000000000000000000" pitchFamily="2" charset="2"/>
              </a:rPr>
              <a:t>이용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0ECF90-A614-3CCD-CCAA-3ED8497C5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259" y="3284984"/>
            <a:ext cx="1418728" cy="15014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2B9EED-1F84-0E32-E50A-5D245038D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312751"/>
            <a:ext cx="1368152" cy="14736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540DE0B-C285-BBF4-E0F6-AD4F3D1D0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3326927"/>
            <a:ext cx="2063920" cy="14736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2C52CCF-AB7F-B4F5-F55A-10B92F7E8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221" y="3326927"/>
            <a:ext cx="1430697" cy="15014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57563AC-0072-3347-E255-537121404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5081456"/>
            <a:ext cx="1368152" cy="14415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6EA02E-4D87-B05F-966B-3D347207C72E}"/>
              </a:ext>
            </a:extLst>
          </p:cNvPr>
          <p:cNvSpPr txBox="1"/>
          <p:nvPr/>
        </p:nvSpPr>
        <p:spPr>
          <a:xfrm>
            <a:off x="944140" y="4797152"/>
            <a:ext cx="7277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얼굴을 찾은 후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눈 찾기 코드를 수정하여 영역을 정하여 미소를 찾은 경우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4A68E4-0184-3E14-9E31-73E13AFF5F1D}"/>
              </a:ext>
            </a:extLst>
          </p:cNvPr>
          <p:cNvSpPr txBox="1"/>
          <p:nvPr/>
        </p:nvSpPr>
        <p:spPr>
          <a:xfrm>
            <a:off x="1691680" y="6101570"/>
            <a:ext cx="6391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얼굴을 찾는 코드를 수정하여 이미지에서 미소를 직접 찾은 경우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diamond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32774</TotalTime>
  <Words>1306</Words>
  <Application>Microsoft Office PowerPoint</Application>
  <PresentationFormat>화면 슬라이드 쇼(4:3)</PresentationFormat>
  <Paragraphs>344</Paragraphs>
  <Slides>52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3" baseType="lpstr">
      <vt:lpstr>HY견고딕</vt:lpstr>
      <vt:lpstr>Whitney</vt:lpstr>
      <vt:lpstr>굴림</vt:lpstr>
      <vt:lpstr>맑은 고딕</vt:lpstr>
      <vt:lpstr>휴먼엑스포</vt:lpstr>
      <vt:lpstr>휴먼편지체</vt:lpstr>
      <vt:lpstr>Arial</vt:lpstr>
      <vt:lpstr>Oswald Light</vt:lpstr>
      <vt:lpstr>Times New Roman</vt:lpstr>
      <vt:lpstr>Wingdings</vt:lpstr>
      <vt:lpstr>기본 디자인</vt:lpstr>
      <vt:lpstr>10강. 카메라 모듈 활용 (얼굴 검출 및 성별 분류)</vt:lpstr>
      <vt:lpstr>PowerPoint 프레젠테이션</vt:lpstr>
      <vt:lpstr>생각 더하기</vt:lpstr>
      <vt:lpstr>학습목표</vt:lpstr>
      <vt:lpstr>라즈베리파이용 카메라</vt:lpstr>
      <vt:lpstr>라즈베리파이 전용 카메라 장착</vt:lpstr>
      <vt:lpstr>PowerPoint 프레젠테이션</vt:lpstr>
      <vt:lpstr>bullseye : 카메라 활성화</vt:lpstr>
      <vt:lpstr>bullseye : 카메라 활성화</vt:lpstr>
      <vt:lpstr>bullseye : 카메라 활성화</vt:lpstr>
      <vt:lpstr>bullseye : 전용 카메라 동작 테스트</vt:lpstr>
      <vt:lpstr>bullseye : 전용 카메라 동작 테스트</vt:lpstr>
      <vt:lpstr>[참고1] 카메라로 읽은 영상 화면출력</vt:lpstr>
      <vt:lpstr>[참고1] 카메라로 읽은 영상 화면출력</vt:lpstr>
      <vt:lpstr>[참고1] 카메라를 설치할 경우 마운트 위치</vt:lpstr>
      <vt:lpstr>[참고1] 일부 수정</vt:lpstr>
      <vt:lpstr>카메라 모듈 연결시의 경고 문제 해결</vt:lpstr>
      <vt:lpstr>[참고] V4L</vt:lpstr>
      <vt:lpstr>[참고2] cv2.CAP_V4L 옵션 사용</vt:lpstr>
      <vt:lpstr>[참고3] 영상의 프레임 크기 변경</vt:lpstr>
      <vt:lpstr>[참고4] 스틸컷 저장</vt:lpstr>
      <vt:lpstr>[참고5] 동영상 저장</vt:lpstr>
      <vt:lpstr>[참고5] 동영상 저장</vt:lpstr>
      <vt:lpstr>PowerPoint 프레젠테이션</vt:lpstr>
      <vt:lpstr>bookworm 버전 가상환경</vt:lpstr>
      <vt:lpstr>bookworm 버전의 카메라</vt:lpstr>
      <vt:lpstr>[실습] 가상환경에 패키지 설치 </vt:lpstr>
      <vt:lpstr>[실습] 가상환경에 패키지 설치 </vt:lpstr>
      <vt:lpstr>[실습1] mycamera.py 라이브러리</vt:lpstr>
      <vt:lpstr>[실습1] mycamera.py 라이브러리</vt:lpstr>
      <vt:lpstr>[실습1] mycamera.py 라이브러리</vt:lpstr>
      <vt:lpstr>[실습1] mycamera.py 라이브러리</vt:lpstr>
      <vt:lpstr>[실습2] mycamera.py 라이브러리 활용</vt:lpstr>
      <vt:lpstr>[실습3] 이미지 뒤집기</vt:lpstr>
      <vt:lpstr>[실습4] 스틸컷 저장</vt:lpstr>
      <vt:lpstr>[실습4] 스틸컷 저장</vt:lpstr>
      <vt:lpstr>[실습5] 동영상 저장</vt:lpstr>
      <vt:lpstr>[실습5] 동영상 저장</vt:lpstr>
      <vt:lpstr>[실습5] 동영상 저장</vt:lpstr>
      <vt:lpstr>[실습6] 얼굴 검출</vt:lpstr>
      <vt:lpstr>[실습6] 얼굴 검출</vt:lpstr>
      <vt:lpstr>[실습6] 얼굴 검출</vt:lpstr>
      <vt:lpstr>[실습7] 성별 분류</vt:lpstr>
      <vt:lpstr>[실습7] 성별 분류</vt:lpstr>
      <vt:lpstr>[실습7] 성별 분류</vt:lpstr>
      <vt:lpstr>[실습7] 성별 분류</vt:lpstr>
      <vt:lpstr>[실습7] 성별 분류</vt:lpstr>
      <vt:lpstr>[실습7] 성별 분류</vt:lpstr>
      <vt:lpstr>단어</vt:lpstr>
      <vt:lpstr>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558</cp:revision>
  <dcterms:created xsi:type="dcterms:W3CDTF">2003-05-07T20:17:23Z</dcterms:created>
  <dcterms:modified xsi:type="dcterms:W3CDTF">2025-11-01T11:30:56Z</dcterms:modified>
</cp:coreProperties>
</file>