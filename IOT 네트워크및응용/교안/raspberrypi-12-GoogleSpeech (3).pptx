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632" r:id="rId2"/>
    <p:sldId id="648" r:id="rId3"/>
    <p:sldId id="1147" r:id="rId4"/>
    <p:sldId id="1148" r:id="rId5"/>
    <p:sldId id="1194" r:id="rId6"/>
    <p:sldId id="1232" r:id="rId7"/>
    <p:sldId id="1196" r:id="rId8"/>
    <p:sldId id="1195" r:id="rId9"/>
    <p:sldId id="1197" r:id="rId10"/>
    <p:sldId id="1198" r:id="rId11"/>
    <p:sldId id="1199" r:id="rId12"/>
    <p:sldId id="1200" r:id="rId13"/>
    <p:sldId id="1201" r:id="rId14"/>
    <p:sldId id="1202" r:id="rId15"/>
    <p:sldId id="1203" r:id="rId16"/>
    <p:sldId id="1204" r:id="rId17"/>
    <p:sldId id="1205" r:id="rId18"/>
    <p:sldId id="1206" r:id="rId19"/>
    <p:sldId id="1233" r:id="rId20"/>
    <p:sldId id="1207" r:id="rId21"/>
    <p:sldId id="1208" r:id="rId22"/>
    <p:sldId id="1209" r:id="rId23"/>
    <p:sldId id="1210" r:id="rId24"/>
    <p:sldId id="1234" r:id="rId25"/>
    <p:sldId id="1235" r:id="rId26"/>
    <p:sldId id="1237" r:id="rId27"/>
    <p:sldId id="1236" r:id="rId28"/>
    <p:sldId id="1238" r:id="rId29"/>
    <p:sldId id="1239" r:id="rId30"/>
    <p:sldId id="1211" r:id="rId31"/>
    <p:sldId id="1212" r:id="rId32"/>
    <p:sldId id="1213" r:id="rId33"/>
    <p:sldId id="1214" r:id="rId34"/>
    <p:sldId id="1215" r:id="rId35"/>
    <p:sldId id="1216" r:id="rId36"/>
    <p:sldId id="1217" r:id="rId37"/>
    <p:sldId id="1218" r:id="rId38"/>
    <p:sldId id="1219" r:id="rId39"/>
    <p:sldId id="1241" r:id="rId40"/>
    <p:sldId id="1220" r:id="rId41"/>
    <p:sldId id="1221" r:id="rId42"/>
    <p:sldId id="1223" r:id="rId43"/>
    <p:sldId id="1222" r:id="rId44"/>
    <p:sldId id="1224" r:id="rId45"/>
    <p:sldId id="1225" r:id="rId46"/>
    <p:sldId id="1226" r:id="rId47"/>
    <p:sldId id="1227" r:id="rId48"/>
    <p:sldId id="1228" r:id="rId49"/>
    <p:sldId id="1229" r:id="rId50"/>
    <p:sldId id="1230" r:id="rId51"/>
    <p:sldId id="1231" r:id="rId52"/>
    <p:sldId id="1242" r:id="rId53"/>
    <p:sldId id="1192" r:id="rId54"/>
    <p:sldId id="703" r:id="rId55"/>
  </p:sldIdLst>
  <p:sldSz cx="9144000" cy="6858000" type="screen4x3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99FF"/>
    <a:srgbClr val="CC6600"/>
    <a:srgbClr val="CC9900"/>
    <a:srgbClr val="9900FF"/>
    <a:srgbClr val="FFCC99"/>
    <a:srgbClr val="0000FF"/>
    <a:srgbClr val="CCFF99"/>
    <a:srgbClr val="85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2" autoAdjust="0"/>
    <p:restoredTop sz="94637" autoAdjust="0"/>
  </p:normalViewPr>
  <p:slideViewPr>
    <p:cSldViewPr>
      <p:cViewPr varScale="1">
        <p:scale>
          <a:sx n="99" d="100"/>
          <a:sy n="99" d="100"/>
        </p:scale>
        <p:origin x="50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6E18D26C-3B1C-4A75-AF3E-A957EA2050B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A47F0F6E-AF40-4620-A1A6-208690352297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975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E3D2A-221C-4236-B09B-111D309BF24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8520258"/>
      </p:ext>
    </p:extLst>
  </p:cSld>
  <p:clrMapOvr>
    <a:masterClrMapping/>
  </p:clrMapOvr>
  <p:transition>
    <p:diamond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40000" indent="-180000">
              <a:buClr>
                <a:schemeClr val="accent6">
                  <a:lumMod val="50000"/>
                </a:schemeClr>
              </a:buClr>
              <a:defRPr b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2000" indent="-144000"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0662DF40-CD95-4196-B16C-EF23877BEF64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30270425"/>
      </p:ext>
    </p:extLst>
  </p:cSld>
  <p:clrMapOvr>
    <a:masterClrMapping/>
  </p:clrMapOvr>
  <p:transition>
    <p:diamond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A90645-18CC-4080-AA78-8345F84AA3F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92483"/>
      </p:ext>
    </p:extLst>
  </p:cSld>
  <p:clrMapOvr>
    <a:masterClrMapping/>
  </p:clrMapOvr>
  <p:transition>
    <p:diamond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D180CC-85CA-4A26-A6C0-DE61C9CE90F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8083975"/>
      </p:ext>
    </p:extLst>
  </p:cSld>
  <p:clrMapOvr>
    <a:masterClrMapping/>
  </p:clrMapOvr>
  <p:transition>
    <p:diamond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28EFD3-9F17-4F2E-A4A6-06CB9F2FD85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4396524"/>
      </p:ext>
    </p:extLst>
  </p:cSld>
  <p:clrMapOvr>
    <a:masterClrMapping/>
  </p:clrMapOvr>
  <p:transition>
    <p:diamond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18258E-745D-49A3-B42E-85584AAF84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147816"/>
      </p:ext>
    </p:extLst>
  </p:cSld>
  <p:clrMapOvr>
    <a:masterClrMapping/>
  </p:clrMapOvr>
  <p:transition>
    <p:diamond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B21161-BD0B-43AB-A0F1-8EAE020023E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936474"/>
      </p:ext>
    </p:extLst>
  </p:cSld>
  <p:clrMapOvr>
    <a:masterClrMapping/>
  </p:clrMapOvr>
  <p:transition>
    <p:diamond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C2CC99-8F12-4602-A805-6D054ED5A5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8920583"/>
      </p:ext>
    </p:extLst>
  </p:cSld>
  <p:clrMapOvr>
    <a:masterClrMapping/>
  </p:clrMapOvr>
  <p:transition>
    <p:diamond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20EE68-4FFD-4146-8152-D379E891418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7287805"/>
      </p:ext>
    </p:extLst>
  </p:cSld>
  <p:clrMapOvr>
    <a:masterClrMapping/>
  </p:clrMapOvr>
  <p:transition>
    <p:diamond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9A198F-69FF-49CD-AE6F-66B8F34D0E9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0332559"/>
      </p:ext>
    </p:extLst>
  </p:cSld>
  <p:clrMapOvr>
    <a:masterClrMapping/>
  </p:clrMapOvr>
  <p:transition>
    <p:diamond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C26BED-B130-401B-B39F-2F6B8067329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6354483"/>
      </p:ext>
    </p:extLst>
  </p:cSld>
  <p:clrMapOvr>
    <a:masterClrMapping/>
  </p:clrMapOvr>
  <p:transition>
    <p:diamond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44DB92-B6B2-4C58-9652-839AF8C593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6087093"/>
      </p:ext>
    </p:extLst>
  </p:cSld>
  <p:clrMapOvr>
    <a:masterClrMapping/>
  </p:clrMapOvr>
  <p:transition>
    <p:diamond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4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87313"/>
            <a:ext cx="89281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53200"/>
            <a:ext cx="533400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defRPr>
            </a:lvl1pPr>
          </a:lstStyle>
          <a:p>
            <a:fld id="{3F8E1CEE-8D81-4355-9B98-CFF96B1FE2F4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9" name="Text Box 16"/>
          <p:cNvSpPr txBox="1">
            <a:spLocks noChangeArrowheads="1"/>
          </p:cNvSpPr>
          <p:nvPr userDrawn="1"/>
        </p:nvSpPr>
        <p:spPr bwMode="auto">
          <a:xfrm>
            <a:off x="34925" y="6562725"/>
            <a:ext cx="47799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defRPr/>
            </a:pPr>
            <a:r>
              <a:rPr lang="ko-KR" altLang="en-US" sz="1100" b="1" dirty="0">
                <a:solidFill>
                  <a:srgbClr val="CC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꿈    은 이루어진다 </a:t>
            </a:r>
            <a:r>
              <a:rPr lang="en-US" altLang="ko-KR" sz="1100" b="1" dirty="0">
                <a:solidFill>
                  <a:srgbClr val="CC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608763"/>
            <a:ext cx="971550" cy="22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포인트가 5개인 별 10"/>
          <p:cNvSpPr/>
          <p:nvPr userDrawn="1"/>
        </p:nvSpPr>
        <p:spPr>
          <a:xfrm>
            <a:off x="265113" y="6515100"/>
            <a:ext cx="214312" cy="269875"/>
          </a:xfrm>
          <a:prstGeom prst="star5">
            <a:avLst/>
          </a:prstGeom>
          <a:solidFill>
            <a:srgbClr val="FFFF0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diamond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anose="05000000000000000000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8080"/>
        </a:buClr>
        <a:buFont typeface="Wingdings" panose="05000000000000000000" pitchFamily="2" charset="2"/>
        <a:buChar char="§"/>
        <a:defRPr kumimoji="1" sz="2000">
          <a:solidFill>
            <a:srgbClr val="005250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>
          <a:solidFill>
            <a:srgbClr val="777777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21DC65-096E-A39B-0630-6FBB002FF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024"/>
            <a:ext cx="9144000" cy="6825021"/>
          </a:xfrm>
          <a:prstGeom prst="rect">
            <a:avLst/>
          </a:prstGeom>
        </p:spPr>
      </p:pic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5445224"/>
            <a:ext cx="6400800" cy="503460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eaLnBrk="1" hangingPunct="1">
              <a:defRPr/>
            </a:pP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490984" y="332656"/>
            <a:ext cx="8043416" cy="1616075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algn="ctr">
              <a:defRPr/>
            </a:pPr>
            <a:r>
              <a:rPr lang="en-US" altLang="ko-KR" sz="4000" dirty="0">
                <a:solidFill>
                  <a:srgbClr val="FFFF00"/>
                </a:solidFill>
              </a:rPr>
              <a:t>13</a:t>
            </a:r>
            <a:r>
              <a:rPr lang="ko-KR" altLang="en-US" sz="4000" dirty="0">
                <a:solidFill>
                  <a:srgbClr val="FFFF00"/>
                </a:solidFill>
              </a:rPr>
              <a:t>강</a:t>
            </a:r>
            <a:r>
              <a:rPr lang="en-US" altLang="ko-KR" sz="4000" dirty="0">
                <a:solidFill>
                  <a:srgbClr val="FFFF00"/>
                </a:solidFill>
              </a:rPr>
              <a:t>. </a:t>
            </a:r>
            <a:r>
              <a:rPr lang="ko-KR" altLang="en-US" sz="4000" dirty="0">
                <a:solidFill>
                  <a:srgbClr val="FFFF00"/>
                </a:solidFill>
              </a:rPr>
              <a:t>음성인식</a:t>
            </a:r>
            <a:br>
              <a:rPr lang="en-US" altLang="ko-KR" sz="4000" dirty="0">
                <a:solidFill>
                  <a:srgbClr val="FFFF00"/>
                </a:solidFill>
              </a:rPr>
            </a:br>
            <a:r>
              <a:rPr lang="en-US" altLang="ko-KR" sz="4000" dirty="0">
                <a:solidFill>
                  <a:srgbClr val="FFFF00"/>
                </a:solidFill>
              </a:rPr>
              <a:t>(Google</a:t>
            </a:r>
            <a:r>
              <a:rPr lang="ko-KR" altLang="en-US" sz="4000" dirty="0">
                <a:solidFill>
                  <a:srgbClr val="FFFF00"/>
                </a:solidFill>
              </a:rPr>
              <a:t> </a:t>
            </a:r>
            <a:r>
              <a:rPr lang="en-US" altLang="ko-KR" sz="4000" dirty="0">
                <a:solidFill>
                  <a:srgbClr val="FFFF00"/>
                </a:solidFill>
              </a:rPr>
              <a:t>Speech)</a:t>
            </a:r>
            <a:endParaRPr lang="ko-KR" altLang="en-US" sz="4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diamond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1CFBD8-781C-B3D5-71BB-31A4CAAF7AF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32A3B7-C113-0292-ADA3-9A0C4D4A2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879" y="0"/>
            <a:ext cx="462224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A686A5-88FE-BD8E-29F7-C1D52D888B85}"/>
              </a:ext>
            </a:extLst>
          </p:cNvPr>
          <p:cNvSpPr txBox="1"/>
          <p:nvPr/>
        </p:nvSpPr>
        <p:spPr>
          <a:xfrm>
            <a:off x="1187641" y="3068960"/>
            <a:ext cx="6768736" cy="73584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아들은</a:t>
            </a:r>
            <a:r>
              <a:rPr lang="en-US" altLang="ko-KR" sz="3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3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아버지를 닮아 갑니다</a:t>
            </a:r>
            <a:r>
              <a:rPr lang="en-US" altLang="ko-KR" sz="3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.</a:t>
            </a:r>
            <a:endParaRPr lang="ko-KR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37AAA-9225-BF7A-E059-12051550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 더하기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299EF-1918-3AF4-E997-ADA91BD42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89726EAC-9563-E113-C8EF-5A4608B1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슈바이처의 명언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C88A8E1-671F-10F7-DF36-A829A93D7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6" y="14845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ko-KR" altLang="en-US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성공은 행복의 열쇠가 아닙니다</a:t>
            </a:r>
            <a:r>
              <a:rPr lang="en-US" altLang="ko-KR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행복이 성공의 열쇠입니다</a:t>
            </a:r>
            <a:r>
              <a:rPr lang="en-US" altLang="ko-KR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당신이 하는 일을 사랑한다면</a:t>
            </a:r>
            <a:r>
              <a:rPr lang="en-US" altLang="ko-KR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,</a:t>
            </a:r>
          </a:p>
          <a:p>
            <a:pPr>
              <a:lnSpc>
                <a:spcPct val="130000"/>
              </a:lnSpc>
            </a:pPr>
            <a:r>
              <a:rPr lang="ko-KR" altLang="en-US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당신은 성공하게 될 것입니다</a:t>
            </a:r>
            <a:r>
              <a:rPr lang="en-US" altLang="ko-KR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en-US" altLang="ko-KR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― </a:t>
            </a:r>
            <a:r>
              <a:rPr lang="ko-KR" altLang="en-US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슈바이처 </a:t>
            </a:r>
            <a:r>
              <a:rPr lang="en-US" altLang="ko-KR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(Albert Schweitzer)</a:t>
            </a:r>
          </a:p>
          <a:p>
            <a:pPr algn="l">
              <a:lnSpc>
                <a:spcPct val="130000"/>
              </a:lnSpc>
            </a:pPr>
            <a:endParaRPr lang="en-US" altLang="ko-KR" sz="24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30000"/>
              </a:lnSpc>
            </a:pPr>
            <a:endParaRPr lang="en-US" altLang="ko-KR" sz="24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30000"/>
              </a:lnSpc>
            </a:pPr>
            <a:endParaRPr lang="en-US" altLang="ko-KR" sz="24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30000"/>
              </a:lnSpc>
            </a:pPr>
            <a:r>
              <a:rPr lang="en-US" altLang="ko-KR" sz="2400" b="0" i="1" dirty="0">
                <a:solidFill>
                  <a:srgbClr val="31708F"/>
                </a:solidFill>
                <a:effectLst/>
                <a:latin typeface="Whitney"/>
              </a:rPr>
              <a:t>“Success is not the key to happiness. Happiness is the key to success. If you love what you are doing, you will be successful.”</a:t>
            </a:r>
          </a:p>
        </p:txBody>
      </p:sp>
      <p:pic>
        <p:nvPicPr>
          <p:cNvPr id="7" name="Picture 10" descr="mouse">
            <a:extLst>
              <a:ext uri="{FF2B5EF4-FFF2-40B4-BE49-F238E27FC236}">
                <a16:creationId xmlns:a16="http://schemas.microsoft.com/office/drawing/2014/main" id="{1CBFBD61-7228-2393-82AD-793AFFAC1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541CC0-CBFF-6EBE-8827-6D15109E1EE1}"/>
              </a:ext>
            </a:extLst>
          </p:cNvPr>
          <p:cNvSpPr txBox="1"/>
          <p:nvPr/>
        </p:nvSpPr>
        <p:spPr>
          <a:xfrm>
            <a:off x="5727427" y="3930079"/>
            <a:ext cx="35886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en-US" altLang="ko-KR" sz="1200" i="0" dirty="0">
                <a:solidFill>
                  <a:srgbClr val="373A3C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Ludwig Philipp Albert Schweitzer(1875~1965)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독일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출신 의사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철학자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신학자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음악가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1928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괴테상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1952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노벨평화상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아프리카 봉사활동에 헌신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9292427-269C-9817-82AB-F68762550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5342" y="1525768"/>
            <a:ext cx="3349336" cy="231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28073"/>
      </p:ext>
    </p:extLst>
  </p:cSld>
  <p:clrMapOvr>
    <a:masterClrMapping/>
  </p:clrMapOvr>
  <p:transition>
    <p:diamond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강의를 이수하면 음성인식을 구현할 수 있다</a:t>
            </a:r>
            <a:r>
              <a:rPr lang="en-US" altLang="ko-KR" dirty="0"/>
              <a:t>.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Google Speech </a:t>
            </a:r>
            <a:r>
              <a:rPr lang="ko-KR" altLang="en-US" dirty="0"/>
              <a:t>활용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Google Cloud</a:t>
            </a:r>
            <a:r>
              <a:rPr lang="ko-KR" altLang="en-US" dirty="0"/>
              <a:t> </a:t>
            </a:r>
            <a:r>
              <a:rPr lang="en-US" altLang="ko-KR" dirty="0"/>
              <a:t>platform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프로젝트 생성하기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Google</a:t>
            </a:r>
            <a:r>
              <a:rPr lang="ko-KR" altLang="en-US" dirty="0"/>
              <a:t> </a:t>
            </a:r>
            <a:r>
              <a:rPr lang="en-US" altLang="ko-KR" dirty="0"/>
              <a:t>Cloud</a:t>
            </a:r>
            <a:r>
              <a:rPr lang="ko-KR" altLang="en-US" dirty="0"/>
              <a:t> </a:t>
            </a:r>
            <a:r>
              <a:rPr lang="en-US" altLang="ko-KR" dirty="0"/>
              <a:t>Speech</a:t>
            </a:r>
            <a:r>
              <a:rPr lang="ko-KR" altLang="en-US" dirty="0"/>
              <a:t> </a:t>
            </a:r>
            <a:r>
              <a:rPr lang="en-US" altLang="ko-KR" dirty="0"/>
              <a:t>API</a:t>
            </a:r>
            <a:r>
              <a:rPr lang="ko-KR" altLang="en-US" dirty="0"/>
              <a:t> 키 발급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STT(Speech-To-Text) API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라이브러리 설치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Google </a:t>
            </a:r>
            <a:r>
              <a:rPr lang="ko-KR" altLang="en-US" dirty="0"/>
              <a:t>음성인식 라이브러리 활용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영어 인식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한국어 인식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한국어 인식 및 말하기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18452"/>
      </p:ext>
    </p:extLst>
  </p:cSld>
  <p:clrMapOvr>
    <a:masterClrMapping/>
  </p:clrMapOvr>
  <p:transition>
    <p:diamond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143F2-5109-BFF0-7572-9CD5CC21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기술과 서비스의 각축장</a:t>
            </a:r>
            <a:r>
              <a:rPr lang="en-US" altLang="ko-KR" dirty="0"/>
              <a:t>, </a:t>
            </a:r>
            <a:r>
              <a:rPr lang="ko-KR" altLang="en-US" dirty="0"/>
              <a:t>음성인식 시장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E57010-B8FF-9493-61CE-86F9D2C61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음성인식 시장의 확장</a:t>
            </a:r>
            <a:endParaRPr lang="en-US" altLang="ko-KR" dirty="0"/>
          </a:p>
          <a:p>
            <a:pPr lvl="1"/>
            <a:r>
              <a:rPr lang="ko-KR" altLang="en-US" dirty="0" err="1"/>
              <a:t>팬데믹</a:t>
            </a:r>
            <a:r>
              <a:rPr lang="ko-KR" altLang="en-US" dirty="0"/>
              <a:t> 기간을 거치며 중요성이 더욱 부각</a:t>
            </a:r>
            <a:endParaRPr lang="en-US" altLang="ko-KR" dirty="0"/>
          </a:p>
          <a:p>
            <a:pPr lvl="1"/>
            <a:r>
              <a:rPr lang="ko-KR" altLang="en-US" dirty="0"/>
              <a:t>국내 주요 기기 및 서비스</a:t>
            </a:r>
            <a:endParaRPr lang="en-US" altLang="ko-KR" dirty="0"/>
          </a:p>
          <a:p>
            <a:pPr lvl="2"/>
            <a:r>
              <a:rPr lang="ko-KR" altLang="en-US" sz="1800" dirty="0"/>
              <a:t>삼성 </a:t>
            </a:r>
            <a:r>
              <a:rPr lang="ko-KR" altLang="en-US" sz="1800" dirty="0" err="1"/>
              <a:t>빅스비</a:t>
            </a:r>
            <a:endParaRPr lang="en-US" altLang="ko-KR" sz="1800" dirty="0"/>
          </a:p>
          <a:p>
            <a:pPr lvl="2"/>
            <a:r>
              <a:rPr lang="en-US" altLang="ko-KR" sz="1800" dirty="0"/>
              <a:t>LG Q</a:t>
            </a:r>
            <a:r>
              <a:rPr lang="ko-KR" altLang="en-US" sz="1800" dirty="0"/>
              <a:t>보이스</a:t>
            </a:r>
            <a:endParaRPr lang="en-US" altLang="ko-KR" sz="1800" dirty="0"/>
          </a:p>
          <a:p>
            <a:pPr lvl="2"/>
            <a:r>
              <a:rPr lang="en-US" altLang="ko-KR" sz="1800" dirty="0"/>
              <a:t>SK </a:t>
            </a:r>
            <a:r>
              <a:rPr lang="ko-KR" altLang="en-US" sz="1800" dirty="0"/>
              <a:t>누구</a:t>
            </a:r>
            <a:endParaRPr lang="en-US" altLang="ko-KR" sz="1800" dirty="0"/>
          </a:p>
          <a:p>
            <a:pPr lvl="2"/>
            <a:r>
              <a:rPr lang="en-US" altLang="ko-KR" sz="1800" dirty="0"/>
              <a:t>KT </a:t>
            </a:r>
            <a:r>
              <a:rPr lang="ko-KR" altLang="en-US" sz="1800" dirty="0" err="1"/>
              <a:t>기가지니</a:t>
            </a:r>
            <a:endParaRPr lang="en-US" altLang="ko-KR" sz="1800" dirty="0"/>
          </a:p>
          <a:p>
            <a:pPr lvl="2"/>
            <a:r>
              <a:rPr lang="ko-KR" altLang="en-US" sz="1800" dirty="0"/>
              <a:t>네이버 </a:t>
            </a:r>
            <a:r>
              <a:rPr lang="ko-KR" altLang="en-US" sz="1800" dirty="0" err="1"/>
              <a:t>클로바</a:t>
            </a:r>
            <a:endParaRPr lang="en-US" altLang="ko-KR" sz="1800" dirty="0"/>
          </a:p>
          <a:p>
            <a:pPr lvl="2"/>
            <a:r>
              <a:rPr lang="ko-KR" altLang="en-US" sz="1800" dirty="0"/>
              <a:t>카카오 </a:t>
            </a:r>
            <a:r>
              <a:rPr lang="ko-KR" altLang="en-US" sz="1800" dirty="0" err="1"/>
              <a:t>카카오</a:t>
            </a:r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6131DF-E530-9CA1-8E3C-22F5B333EE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C90DE3-F325-A286-157E-DCDB2443A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161" y="2852936"/>
            <a:ext cx="4663239" cy="26682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119636-46FB-2DC7-8DB0-DEE6B6D6CD07}"/>
              </a:ext>
            </a:extLst>
          </p:cNvPr>
          <p:cNvSpPr txBox="1"/>
          <p:nvPr/>
        </p:nvSpPr>
        <p:spPr>
          <a:xfrm>
            <a:off x="4708654" y="6112672"/>
            <a:ext cx="40249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그림 출처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https://news.samsungdisplay.com/32419&gt;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6175590"/>
      </p:ext>
    </p:extLst>
  </p:cSld>
  <p:clrMapOvr>
    <a:masterClrMapping/>
  </p:clrMapOvr>
  <p:transition>
    <p:diamond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143F2-5109-BFF0-7572-9CD5CC21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기술과 서비스의 각축장</a:t>
            </a:r>
            <a:r>
              <a:rPr lang="en-US" altLang="ko-KR" dirty="0"/>
              <a:t>, </a:t>
            </a:r>
            <a:r>
              <a:rPr lang="ko-KR" altLang="en-US" dirty="0"/>
              <a:t>음성인식 시장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E57010-B8FF-9493-61CE-86F9D2C61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음성인식 시장의 확장</a:t>
            </a:r>
            <a:endParaRPr lang="en-US" altLang="ko-KR" dirty="0"/>
          </a:p>
          <a:p>
            <a:pPr lvl="1"/>
            <a:r>
              <a:rPr lang="ko-KR" altLang="en-US" sz="1800" dirty="0"/>
              <a:t>글로벌 음성 </a:t>
            </a:r>
            <a:r>
              <a:rPr lang="en-US" altLang="ko-KR" sz="1800" dirty="0"/>
              <a:t>AI </a:t>
            </a:r>
            <a:r>
              <a:rPr lang="ko-KR" altLang="en-US" sz="1800" dirty="0"/>
              <a:t>시장</a:t>
            </a:r>
            <a:endParaRPr lang="en-US" altLang="ko-KR" sz="1800" dirty="0"/>
          </a:p>
          <a:p>
            <a:pPr lvl="2"/>
            <a:r>
              <a:rPr lang="ko-KR" altLang="en-US" sz="1800" dirty="0"/>
              <a:t>애플 시리</a:t>
            </a:r>
            <a:endParaRPr lang="en-US" altLang="ko-KR" sz="1800" dirty="0"/>
          </a:p>
          <a:p>
            <a:pPr lvl="2"/>
            <a:r>
              <a:rPr lang="ko-KR" altLang="en-US" sz="1800" dirty="0"/>
              <a:t>아마존 </a:t>
            </a:r>
            <a:r>
              <a:rPr lang="ko-KR" altLang="en-US" sz="1800" dirty="0" err="1"/>
              <a:t>알렉사</a:t>
            </a:r>
            <a:endParaRPr lang="en-US" altLang="ko-KR" sz="1800" dirty="0"/>
          </a:p>
          <a:p>
            <a:pPr lvl="2"/>
            <a:r>
              <a:rPr lang="ko-KR" altLang="en-US" sz="1800" dirty="0"/>
              <a:t>구글 </a:t>
            </a:r>
            <a:r>
              <a:rPr lang="ko-KR" altLang="en-US" sz="1800" dirty="0" err="1"/>
              <a:t>어시스턴스</a:t>
            </a:r>
            <a:endParaRPr lang="en-US" altLang="ko-KR" sz="1800" dirty="0"/>
          </a:p>
          <a:p>
            <a:pPr lvl="2"/>
            <a:r>
              <a:rPr lang="ko-KR" altLang="en-US" sz="1800" dirty="0" err="1"/>
              <a:t>바이두</a:t>
            </a:r>
            <a:r>
              <a:rPr lang="ko-KR" altLang="en-US" sz="1800" dirty="0"/>
              <a:t> 두어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6131DF-E530-9CA1-8E3C-22F5B333EE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</a:t>
            </a:fld>
            <a:endParaRPr lang="en-US" altLang="ko-K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119636-46FB-2DC7-8DB0-DEE6B6D6CD07}"/>
              </a:ext>
            </a:extLst>
          </p:cNvPr>
          <p:cNvSpPr txBox="1"/>
          <p:nvPr/>
        </p:nvSpPr>
        <p:spPr>
          <a:xfrm>
            <a:off x="4708654" y="6112672"/>
            <a:ext cx="40249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그림 출처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https://news.samsungdisplay.com/32419&gt;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FA5FF08-3C6E-093D-00E8-973CF2CBE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87" y="2708920"/>
            <a:ext cx="5466531" cy="335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68619"/>
      </p:ext>
    </p:extLst>
  </p:cSld>
  <p:clrMapOvr>
    <a:masterClrMapping/>
  </p:clrMapOvr>
  <p:transition>
    <p:diamond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143F2-5109-BFF0-7572-9CD5CC21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기술과 서비스의 각축장</a:t>
            </a:r>
            <a:r>
              <a:rPr lang="en-US" altLang="ko-KR" dirty="0"/>
              <a:t>, </a:t>
            </a:r>
            <a:r>
              <a:rPr lang="ko-KR" altLang="en-US" dirty="0"/>
              <a:t>음성인식 시장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E57010-B8FF-9493-61CE-86F9D2C61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음성인식기술로 작동되는 기계</a:t>
            </a:r>
            <a:endParaRPr lang="en-US" altLang="ko-KR" dirty="0"/>
          </a:p>
          <a:p>
            <a:pPr lvl="1"/>
            <a:r>
              <a:rPr lang="ko-KR" altLang="en-US" dirty="0"/>
              <a:t>사람의 음성인식 방법과 완전히 다른 과정</a:t>
            </a:r>
            <a:endParaRPr lang="en-US" altLang="ko-KR" dirty="0"/>
          </a:p>
          <a:p>
            <a:pPr lvl="1"/>
            <a:r>
              <a:rPr lang="ko-KR" altLang="en-US" dirty="0"/>
              <a:t>음성인식 분야의 대표 주자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메타플랫폼의 데이터</a:t>
            </a:r>
            <a:r>
              <a:rPr lang="en-US" altLang="ko-KR" dirty="0">
                <a:sym typeface="Wingdings" panose="05000000000000000000" pitchFamily="2" charset="2"/>
              </a:rPr>
              <a:t>-</a:t>
            </a:r>
            <a:r>
              <a:rPr lang="ko-KR" altLang="en-US" dirty="0">
                <a:sym typeface="Wingdings" panose="05000000000000000000" pitchFamily="2" charset="2"/>
              </a:rPr>
              <a:t>투</a:t>
            </a:r>
            <a:r>
              <a:rPr lang="en-US" altLang="ko-KR" dirty="0">
                <a:sym typeface="Wingdings" panose="05000000000000000000" pitchFamily="2" charset="2"/>
              </a:rPr>
              <a:t>-</a:t>
            </a:r>
            <a:r>
              <a:rPr lang="ko-KR" altLang="en-US" dirty="0">
                <a:sym typeface="Wingdings" panose="05000000000000000000" pitchFamily="2" charset="2"/>
              </a:rPr>
              <a:t>백</a:t>
            </a:r>
            <a:r>
              <a:rPr lang="en-US" altLang="ko-KR" dirty="0">
                <a:sym typeface="Wingdings" panose="05000000000000000000" pitchFamily="2" charset="2"/>
              </a:rPr>
              <a:t>(Data2vec)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기계번역은 빠르게 개선되고 있으나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일상적인 번역은 한국어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영어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중국어</a:t>
            </a:r>
            <a:r>
              <a:rPr lang="en-US" altLang="ko-KR" dirty="0">
                <a:sym typeface="Wingdings" panose="05000000000000000000" pitchFamily="2" charset="2"/>
              </a:rPr>
              <a:t>,</a:t>
            </a:r>
            <a:r>
              <a:rPr lang="ko-KR" altLang="en-US" dirty="0">
                <a:sym typeface="Wingdings" panose="05000000000000000000" pitchFamily="2" charset="2"/>
              </a:rPr>
              <a:t> 스페인어 등에 불과</a:t>
            </a:r>
            <a:endParaRPr lang="en-US" altLang="ko-KR" dirty="0"/>
          </a:p>
          <a:p>
            <a:pPr lvl="1"/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6131DF-E530-9CA1-8E3C-22F5B333EE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7</a:t>
            </a:fld>
            <a:endParaRPr lang="en-US" altLang="ko-K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119636-46FB-2DC7-8DB0-DEE6B6D6CD07}"/>
              </a:ext>
            </a:extLst>
          </p:cNvPr>
          <p:cNvSpPr txBox="1"/>
          <p:nvPr/>
        </p:nvSpPr>
        <p:spPr>
          <a:xfrm>
            <a:off x="2559541" y="6199199"/>
            <a:ext cx="40249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그림 출처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https://news.samsungdisplay.com/32419&gt;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8C0F22-021F-CA3E-275E-06E04B9DB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252" y="3185795"/>
            <a:ext cx="4793719" cy="292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246338"/>
      </p:ext>
    </p:extLst>
  </p:cSld>
  <p:clrMapOvr>
    <a:masterClrMapping/>
  </p:clrMapOvr>
  <p:transition>
    <p:diamond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143F2-5109-BFF0-7572-9CD5CC21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기술과 서비스의 각축장</a:t>
            </a:r>
            <a:r>
              <a:rPr lang="en-US" altLang="ko-KR" dirty="0"/>
              <a:t>, </a:t>
            </a:r>
            <a:r>
              <a:rPr lang="ko-KR" altLang="en-US" dirty="0"/>
              <a:t>음성인식 시장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E57010-B8FF-9493-61CE-86F9D2C61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음성인식 시장의 확장</a:t>
            </a:r>
            <a:endParaRPr lang="en-US" altLang="ko-KR" dirty="0"/>
          </a:p>
          <a:p>
            <a:pPr lvl="1"/>
            <a:r>
              <a:rPr lang="en-US" altLang="ko-KR" dirty="0"/>
              <a:t>KT+</a:t>
            </a:r>
            <a:r>
              <a:rPr lang="ko-KR" altLang="en-US" dirty="0" err="1"/>
              <a:t>웹케시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음성인식 </a:t>
            </a:r>
            <a:r>
              <a:rPr lang="en-US" altLang="ko-KR" dirty="0">
                <a:sym typeface="Wingdings" panose="05000000000000000000" pitchFamily="2" charset="2"/>
              </a:rPr>
              <a:t>AI </a:t>
            </a:r>
            <a:r>
              <a:rPr lang="ko-KR" altLang="en-US" dirty="0">
                <a:sym typeface="Wingdings" panose="05000000000000000000" pitchFamily="2" charset="2"/>
              </a:rPr>
              <a:t>비서 </a:t>
            </a:r>
            <a:r>
              <a:rPr lang="en-US" altLang="ko-KR" dirty="0">
                <a:sym typeface="Wingdings" panose="05000000000000000000" pitchFamily="2" charset="2"/>
              </a:rPr>
              <a:t>“</a:t>
            </a:r>
            <a:r>
              <a:rPr lang="ko-KR" altLang="en-US" dirty="0" err="1">
                <a:sym typeface="Wingdings" panose="05000000000000000000" pitchFamily="2" charset="2"/>
              </a:rPr>
              <a:t>에스크아바타</a:t>
            </a:r>
            <a:r>
              <a:rPr lang="en-US" altLang="ko-KR" dirty="0">
                <a:sym typeface="Wingdings" panose="05000000000000000000" pitchFamily="2" charset="2"/>
              </a:rPr>
              <a:t>“ </a:t>
            </a:r>
            <a:r>
              <a:rPr lang="ko-KR" altLang="en-US" dirty="0">
                <a:sym typeface="Wingdings" panose="05000000000000000000" pitchFamily="2" charset="2"/>
              </a:rPr>
              <a:t>출시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sz="1800" dirty="0">
                <a:sym typeface="Wingdings" panose="05000000000000000000" pitchFamily="2" charset="2"/>
              </a:rPr>
              <a:t>은행업무</a:t>
            </a:r>
            <a:r>
              <a:rPr lang="en-US" altLang="ko-KR" sz="1800" dirty="0"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sym typeface="Wingdings" panose="05000000000000000000" pitchFamily="2" charset="2"/>
              </a:rPr>
              <a:t>매출매입</a:t>
            </a:r>
            <a:r>
              <a:rPr lang="en-US" altLang="ko-KR" sz="1800" dirty="0"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sym typeface="Wingdings" panose="05000000000000000000" pitchFamily="2" charset="2"/>
              </a:rPr>
              <a:t>세금계산서</a:t>
            </a:r>
            <a:r>
              <a:rPr lang="en-US" altLang="ko-KR" sz="1800" dirty="0"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sym typeface="Wingdings" panose="05000000000000000000" pitchFamily="2" charset="2"/>
              </a:rPr>
              <a:t>현금영수증 증 </a:t>
            </a:r>
            <a:r>
              <a:rPr lang="en-US" altLang="ko-KR" sz="1800" dirty="0">
                <a:sym typeface="Wingdings" panose="05000000000000000000" pitchFamily="2" charset="2"/>
              </a:rPr>
              <a:t>10</a:t>
            </a:r>
            <a:r>
              <a:rPr lang="ko-KR" altLang="en-US" sz="1800" dirty="0">
                <a:sym typeface="Wingdings" panose="05000000000000000000" pitchFamily="2" charset="2"/>
              </a:rPr>
              <a:t>개 카테고리 음성 질의응답</a:t>
            </a:r>
            <a:endParaRPr lang="en-US" altLang="ko-KR" sz="1800" dirty="0">
              <a:sym typeface="Wingdings" panose="05000000000000000000" pitchFamily="2" charset="2"/>
            </a:endParaRPr>
          </a:p>
          <a:p>
            <a:pPr lvl="1"/>
            <a:r>
              <a:rPr lang="ko-KR" altLang="en-US" sz="1800" dirty="0" err="1">
                <a:sym typeface="Wingdings" panose="05000000000000000000" pitchFamily="2" charset="2"/>
              </a:rPr>
              <a:t>코어에이아이</a:t>
            </a:r>
            <a:r>
              <a:rPr lang="ko-KR" altLang="en-US" sz="1800" dirty="0">
                <a:sym typeface="Wingdings" panose="05000000000000000000" pitchFamily="2" charset="2"/>
              </a:rPr>
              <a:t> </a:t>
            </a:r>
            <a:r>
              <a:rPr lang="en-US" altLang="ko-KR" sz="1800" dirty="0">
                <a:sym typeface="Wingdings" panose="05000000000000000000" pitchFamily="2" charset="2"/>
              </a:rPr>
              <a:t> AI </a:t>
            </a:r>
            <a:r>
              <a:rPr lang="ko-KR" altLang="en-US" sz="1800" dirty="0">
                <a:sym typeface="Wingdings" panose="05000000000000000000" pitchFamily="2" charset="2"/>
              </a:rPr>
              <a:t>비서 </a:t>
            </a:r>
            <a:r>
              <a:rPr lang="en-US" altLang="ko-KR" sz="1800" dirty="0">
                <a:sym typeface="Wingdings" panose="05000000000000000000" pitchFamily="2" charset="2"/>
              </a:rPr>
              <a:t>“</a:t>
            </a:r>
            <a:r>
              <a:rPr lang="ko-KR" altLang="en-US" sz="1800" dirty="0" err="1">
                <a:sym typeface="Wingdings" panose="05000000000000000000" pitchFamily="2" charset="2"/>
              </a:rPr>
              <a:t>뱅크어시스트</a:t>
            </a:r>
            <a:r>
              <a:rPr lang="en-US" altLang="ko-KR" sz="1800" dirty="0">
                <a:sym typeface="Wingdings" panose="05000000000000000000" pitchFamily="2" charset="2"/>
              </a:rPr>
              <a:t>“ </a:t>
            </a:r>
            <a:r>
              <a:rPr lang="ko-KR" altLang="en-US" sz="1800" dirty="0">
                <a:sym typeface="Wingdings" panose="05000000000000000000" pitchFamily="2" charset="2"/>
              </a:rPr>
              <a:t>출시</a:t>
            </a:r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6131DF-E530-9CA1-8E3C-22F5B333EE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8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7026D35-63D7-72C7-E1ED-BCEDD84A3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363" y="3119005"/>
            <a:ext cx="3091446" cy="29031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A8261F-509F-D61E-6C2C-12FAB91B40E7}"/>
              </a:ext>
            </a:extLst>
          </p:cNvPr>
          <p:cNvSpPr txBox="1"/>
          <p:nvPr/>
        </p:nvSpPr>
        <p:spPr>
          <a:xfrm>
            <a:off x="3201725" y="6176337"/>
            <a:ext cx="2762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그림 출처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동아일보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2021.10.05&gt;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1157500"/>
      </p:ext>
    </p:extLst>
  </p:cSld>
  <p:clrMapOvr>
    <a:masterClrMapping/>
  </p:clrMapOvr>
  <p:transition>
    <p:diamond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E39E3-7EA0-B6BB-4DC4-30B9FEDA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구글 </a:t>
            </a:r>
            <a:r>
              <a:rPr lang="en-US" altLang="ko-KR" dirty="0"/>
              <a:t>speech</a:t>
            </a:r>
            <a:r>
              <a:rPr lang="ko-KR" altLang="en-US" dirty="0"/>
              <a:t>를 이용한 음성인식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80E74D-AF4D-D52C-2FE3-240B6A64D2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EE32A9-5258-4995-5A9C-97C66B935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936" y="1363950"/>
            <a:ext cx="1291163" cy="119552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F89AB70-EE86-F882-1CD5-6579A3FA6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230" y="1283017"/>
            <a:ext cx="978834" cy="11955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FCD4882-A5CE-B620-85AF-187BDB78A38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19672" y="4678821"/>
            <a:ext cx="1196427" cy="1187841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AA0D7773-5CD0-3D0C-9F4D-0D403F670C1E}"/>
              </a:ext>
            </a:extLst>
          </p:cNvPr>
          <p:cNvSpPr/>
          <p:nvPr/>
        </p:nvSpPr>
        <p:spPr>
          <a:xfrm>
            <a:off x="3311860" y="1444882"/>
            <a:ext cx="2520280" cy="1033655"/>
          </a:xfrm>
          <a:prstGeom prst="rightArrow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google-cloud-speech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F9F9056A-F9D2-2BDB-0A5F-042350F2A20B}"/>
              </a:ext>
            </a:extLst>
          </p:cNvPr>
          <p:cNvSpPr/>
          <p:nvPr/>
        </p:nvSpPr>
        <p:spPr>
          <a:xfrm rot="5400000">
            <a:off x="6364969" y="3178079"/>
            <a:ext cx="1584176" cy="1033655"/>
          </a:xfrm>
          <a:prstGeom prst="rightArrow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A5CCB6-2607-658A-07C5-640AC4A8F6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1816" y="4771600"/>
            <a:ext cx="1935662" cy="1002285"/>
          </a:xfrm>
          <a:prstGeom prst="rect">
            <a:avLst/>
          </a:prstGeom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FFFA3DC2-EA88-3970-86F6-D4766CD69EAA}"/>
              </a:ext>
            </a:extLst>
          </p:cNvPr>
          <p:cNvSpPr/>
          <p:nvPr/>
        </p:nvSpPr>
        <p:spPr>
          <a:xfrm rot="5400000">
            <a:off x="4035868" y="4193922"/>
            <a:ext cx="1008112" cy="2096089"/>
          </a:xfrm>
          <a:prstGeom prst="downArrow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FC6418-5A03-9F78-9218-6125C04CE35E}"/>
              </a:ext>
            </a:extLst>
          </p:cNvPr>
          <p:cNvSpPr txBox="1"/>
          <p:nvPr/>
        </p:nvSpPr>
        <p:spPr>
          <a:xfrm>
            <a:off x="4211960" y="5072689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mpg321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D29D5B-45A6-BDF5-E2CF-08F2FC18813B}"/>
              </a:ext>
            </a:extLst>
          </p:cNvPr>
          <p:cNvSpPr txBox="1"/>
          <p:nvPr/>
        </p:nvSpPr>
        <p:spPr>
          <a:xfrm>
            <a:off x="6552418" y="3356352"/>
            <a:ext cx="12092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gTTS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1073572"/>
      </p:ext>
    </p:extLst>
  </p:cSld>
  <p:clrMapOvr>
    <a:masterClrMapping/>
  </p:clrMapOvr>
  <p:transition>
    <p:diamond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917C7-D039-F89B-D133-03AD6BA5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플랫폼 무료 사용 등록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C69FF-7B2B-63DA-1502-C17CB2597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</a:t>
            </a:r>
            <a:r>
              <a:rPr lang="ko-KR" altLang="en-US" dirty="0"/>
              <a:t>플랫폼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FE7B5F-07A1-59BE-D3C9-BA221D4DF9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10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A74ACFF-D629-5864-AA0B-8F1300FE6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700809"/>
            <a:ext cx="4032447" cy="20162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5B3DE28-F9F9-BD78-6811-48520159B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207" y="1666936"/>
            <a:ext cx="4248083" cy="205009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32F74C5-B053-1ABE-221B-D8EC14758804}"/>
              </a:ext>
            </a:extLst>
          </p:cNvPr>
          <p:cNvSpPr/>
          <p:nvPr/>
        </p:nvSpPr>
        <p:spPr>
          <a:xfrm>
            <a:off x="5292080" y="2132856"/>
            <a:ext cx="1584176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08B957-C070-57C6-6ED7-06F69B86E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3791125"/>
            <a:ext cx="2227412" cy="267468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5FB635-AABF-BD1A-2622-AC49E23EA7D6}"/>
              </a:ext>
            </a:extLst>
          </p:cNvPr>
          <p:cNvSpPr/>
          <p:nvPr/>
        </p:nvSpPr>
        <p:spPr>
          <a:xfrm>
            <a:off x="645146" y="4471418"/>
            <a:ext cx="1766614" cy="3759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941EC61-767E-86CF-D791-DAA378D74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2202" y="3791123"/>
            <a:ext cx="2240952" cy="267468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FCD18A5-BFE2-1408-D393-FA07A8177B19}"/>
              </a:ext>
            </a:extLst>
          </p:cNvPr>
          <p:cNvSpPr/>
          <p:nvPr/>
        </p:nvSpPr>
        <p:spPr>
          <a:xfrm>
            <a:off x="3038176" y="4682458"/>
            <a:ext cx="2109888" cy="50860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831658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917C7-D039-F89B-D133-03AD6BA5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플랫폼 무료 사용 등록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C69FF-7B2B-63DA-1502-C17CB2597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</a:t>
            </a:r>
            <a:r>
              <a:rPr lang="ko-KR" altLang="en-US" dirty="0"/>
              <a:t>플랫폼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FE7B5F-07A1-59BE-D3C9-BA221D4DF9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11</a:t>
            </a:fld>
            <a:endParaRPr lang="en-US" altLang="ko-KR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F0076AD-649E-5750-7ADD-47DC856AD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556792"/>
            <a:ext cx="5472608" cy="48550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BB00501D-04BB-0AFC-E256-DB2AE1D8FD08}"/>
              </a:ext>
            </a:extLst>
          </p:cNvPr>
          <p:cNvSpPr/>
          <p:nvPr/>
        </p:nvSpPr>
        <p:spPr>
          <a:xfrm>
            <a:off x="1763688" y="3174697"/>
            <a:ext cx="2736304" cy="50860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BF637D-3FE7-4805-587C-8E18B15B7239}"/>
              </a:ext>
            </a:extLst>
          </p:cNvPr>
          <p:cNvSpPr/>
          <p:nvPr/>
        </p:nvSpPr>
        <p:spPr>
          <a:xfrm>
            <a:off x="1763688" y="3827764"/>
            <a:ext cx="288032" cy="16174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6E564BD-DBF9-0861-BB9C-037838D543F2}"/>
              </a:ext>
            </a:extLst>
          </p:cNvPr>
          <p:cNvSpPr/>
          <p:nvPr/>
        </p:nvSpPr>
        <p:spPr>
          <a:xfrm>
            <a:off x="1793505" y="6133052"/>
            <a:ext cx="432048" cy="30511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870957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917C7-D039-F89B-D133-03AD6BA5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플랫폼 무료 사용 등록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C69FF-7B2B-63DA-1502-C17CB2597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</a:t>
            </a:r>
            <a:r>
              <a:rPr lang="ko-KR" altLang="en-US" dirty="0"/>
              <a:t>플랫폼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FE7B5F-07A1-59BE-D3C9-BA221D4DF9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12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B60EC9-865D-9163-612C-A3F0B29CE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277" y="1465101"/>
            <a:ext cx="3039905" cy="495476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633CEAF-35B5-0684-7EC9-7DAD53C0E9FA}"/>
              </a:ext>
            </a:extLst>
          </p:cNvPr>
          <p:cNvSpPr/>
          <p:nvPr/>
        </p:nvSpPr>
        <p:spPr>
          <a:xfrm>
            <a:off x="1604549" y="4993493"/>
            <a:ext cx="2543048" cy="1540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B836BB2-6F77-F515-EEC9-0B3A5E9B2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465101"/>
            <a:ext cx="3220391" cy="49642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C784686-3BFB-FF33-830B-3F8A50B5863A}"/>
              </a:ext>
            </a:extLst>
          </p:cNvPr>
          <p:cNvSpPr/>
          <p:nvPr/>
        </p:nvSpPr>
        <p:spPr>
          <a:xfrm>
            <a:off x="4874637" y="1457799"/>
            <a:ext cx="3205786" cy="94340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C9BBB3-1823-A032-E1E6-06E699ADB146}"/>
              </a:ext>
            </a:extLst>
          </p:cNvPr>
          <p:cNvSpPr/>
          <p:nvPr/>
        </p:nvSpPr>
        <p:spPr>
          <a:xfrm>
            <a:off x="4881534" y="3280513"/>
            <a:ext cx="3205786" cy="207301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0B704E-2094-00E6-7AC2-66616FC1B6D1}"/>
              </a:ext>
            </a:extLst>
          </p:cNvPr>
          <p:cNvSpPr/>
          <p:nvPr/>
        </p:nvSpPr>
        <p:spPr>
          <a:xfrm>
            <a:off x="4874637" y="6145621"/>
            <a:ext cx="425088" cy="28376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06380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917C7-D039-F89B-D133-03AD6BA5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플랫폼 무료 사용 등록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C69FF-7B2B-63DA-1502-C17CB2597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</a:t>
            </a:r>
            <a:r>
              <a:rPr lang="ko-KR" altLang="en-US" dirty="0"/>
              <a:t>플랫폼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FE7B5F-07A1-59BE-D3C9-BA221D4DF9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13</a:t>
            </a:fld>
            <a:endParaRPr lang="en-US" altLang="ko-KR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56A0A00-1408-60BF-29CD-9162601E6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743" y="1628800"/>
            <a:ext cx="4378384" cy="44290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D07C6D5-B5A0-DFAD-DB04-2FD41F7D02DF}"/>
              </a:ext>
            </a:extLst>
          </p:cNvPr>
          <p:cNvSpPr/>
          <p:nvPr/>
        </p:nvSpPr>
        <p:spPr>
          <a:xfrm>
            <a:off x="2994639" y="2420281"/>
            <a:ext cx="3168352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512031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917C7-D039-F89B-D133-03AD6BA5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플랫폼 무료 사용 등록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C69FF-7B2B-63DA-1502-C17CB2597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</a:t>
            </a:r>
            <a:r>
              <a:rPr lang="ko-KR" altLang="en-US" dirty="0"/>
              <a:t>플랫폼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FE7B5F-07A1-59BE-D3C9-BA221D4DF9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14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C84C6E-8783-8FB3-4952-BD96A8FF9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556792"/>
            <a:ext cx="2774662" cy="32678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84C91A-71E3-3717-0780-11049B34613C}"/>
              </a:ext>
            </a:extLst>
          </p:cNvPr>
          <p:cNvSpPr/>
          <p:nvPr/>
        </p:nvSpPr>
        <p:spPr>
          <a:xfrm>
            <a:off x="358924" y="2974680"/>
            <a:ext cx="2556892" cy="59407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BC632C-ABD3-147A-9A2E-DF460E1A7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736" y="1556792"/>
            <a:ext cx="2682037" cy="32678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B1097E5-5B44-D066-D6CC-4BFB529A5F1B}"/>
              </a:ext>
            </a:extLst>
          </p:cNvPr>
          <p:cNvSpPr/>
          <p:nvPr/>
        </p:nvSpPr>
        <p:spPr>
          <a:xfrm>
            <a:off x="3203848" y="3165878"/>
            <a:ext cx="2376264" cy="69517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6C2595C-4BFC-4094-544C-5D7A6FFA7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335" y="1531964"/>
            <a:ext cx="3269406" cy="32989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6E8775F-9C70-B48E-D56D-B18FAAAFDC3F}"/>
              </a:ext>
            </a:extLst>
          </p:cNvPr>
          <p:cNvSpPr/>
          <p:nvPr/>
        </p:nvSpPr>
        <p:spPr>
          <a:xfrm>
            <a:off x="6039354" y="3861048"/>
            <a:ext cx="2853126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865088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917C7-D039-F89B-D133-03AD6BA5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플랫폼 무료 사용 등록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C69FF-7B2B-63DA-1502-C17CB2597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</a:t>
            </a:r>
            <a:r>
              <a:rPr lang="ko-KR" altLang="en-US" dirty="0"/>
              <a:t>플랫폼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FE7B5F-07A1-59BE-D3C9-BA221D4DF9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C261AC-6787-1ABC-4D5E-491BE81F5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72" y="1556792"/>
            <a:ext cx="8374280" cy="46085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E9CBEFD-E4E9-7A3A-7603-6BA181AE360F}"/>
              </a:ext>
            </a:extLst>
          </p:cNvPr>
          <p:cNvSpPr/>
          <p:nvPr/>
        </p:nvSpPr>
        <p:spPr>
          <a:xfrm>
            <a:off x="8070574" y="5780130"/>
            <a:ext cx="641551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750413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플랫폼에 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생성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658E50-AA5F-94FC-EAFE-B5A1022CC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28" y="1484784"/>
            <a:ext cx="7668344" cy="47619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B2C7AB1-5AB1-8E87-0BA2-E6159143989E}"/>
              </a:ext>
            </a:extLst>
          </p:cNvPr>
          <p:cNvSpPr/>
          <p:nvPr/>
        </p:nvSpPr>
        <p:spPr>
          <a:xfrm>
            <a:off x="827584" y="4293096"/>
            <a:ext cx="1872208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AC5AD5C-7218-4F91-4A7A-A7A55A8C0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48" y="2097758"/>
            <a:ext cx="1614219" cy="43906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B73975E-1AA7-86D4-B605-BBE0714284F7}"/>
              </a:ext>
            </a:extLst>
          </p:cNvPr>
          <p:cNvSpPr/>
          <p:nvPr/>
        </p:nvSpPr>
        <p:spPr>
          <a:xfrm>
            <a:off x="2789548" y="5740374"/>
            <a:ext cx="1614219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959323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플랫폼에 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생성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17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1D5AC70-9ED4-7130-E99F-3172B08B0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41" y="1484784"/>
            <a:ext cx="7830318" cy="48958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CFBB14-5EA7-3ACD-9071-643D58E19979}"/>
              </a:ext>
            </a:extLst>
          </p:cNvPr>
          <p:cNvSpPr/>
          <p:nvPr/>
        </p:nvSpPr>
        <p:spPr>
          <a:xfrm>
            <a:off x="1873018" y="2175047"/>
            <a:ext cx="1164502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988640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플랫폼에 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생성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18</a:t>
            </a:fld>
            <a:endParaRPr lang="en-US" altLang="ko-KR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2BF476C-2488-5E6F-A6A3-0C8EF328A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628800"/>
            <a:ext cx="4320480" cy="32403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67350D0-EB38-1C9D-9FDB-B331DDAD7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940" y="1628800"/>
            <a:ext cx="3780952" cy="25619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1DAC2E9-94E1-0808-7780-3FBFDA48AFAA}"/>
              </a:ext>
            </a:extLst>
          </p:cNvPr>
          <p:cNvSpPr/>
          <p:nvPr/>
        </p:nvSpPr>
        <p:spPr>
          <a:xfrm>
            <a:off x="467544" y="3155898"/>
            <a:ext cx="1440160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4881D5-0400-66EB-B9C3-7160F5BD1532}"/>
              </a:ext>
            </a:extLst>
          </p:cNvPr>
          <p:cNvSpPr/>
          <p:nvPr/>
        </p:nvSpPr>
        <p:spPr>
          <a:xfrm>
            <a:off x="5148064" y="2132856"/>
            <a:ext cx="2664296" cy="5760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400257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플랫폼에 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생성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19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3BA5342-A49E-231B-69E8-C894D425D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9" y="1628800"/>
            <a:ext cx="4932040" cy="38456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28E1483-DE70-E02D-AE58-A9508AA52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442" y="1043534"/>
            <a:ext cx="3171381" cy="563128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A84A8C-2199-0EEA-8DB0-9BBDA6636228}"/>
              </a:ext>
            </a:extLst>
          </p:cNvPr>
          <p:cNvSpPr/>
          <p:nvPr/>
        </p:nvSpPr>
        <p:spPr>
          <a:xfrm>
            <a:off x="609878" y="3933056"/>
            <a:ext cx="2089913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860DB1-F998-6FA7-0258-FFA7E80FE367}"/>
              </a:ext>
            </a:extLst>
          </p:cNvPr>
          <p:cNvSpPr/>
          <p:nvPr/>
        </p:nvSpPr>
        <p:spPr>
          <a:xfrm>
            <a:off x="5478077" y="6237312"/>
            <a:ext cx="1902236" cy="3878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571287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플랫폼에 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생성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20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D75EF49-8294-1141-8DC5-2D58BCADE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72" y="1484784"/>
            <a:ext cx="7879256" cy="48958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6DD9E3F-2F65-BC4F-DCED-F5A268DA72FF}"/>
              </a:ext>
            </a:extLst>
          </p:cNvPr>
          <p:cNvSpPr/>
          <p:nvPr/>
        </p:nvSpPr>
        <p:spPr>
          <a:xfrm>
            <a:off x="632785" y="3175776"/>
            <a:ext cx="3949153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469336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프로젝트에 </a:t>
            </a:r>
            <a:r>
              <a:rPr lang="en-US" altLang="ko-KR" dirty="0"/>
              <a:t>STT API </a:t>
            </a:r>
            <a:r>
              <a:rPr lang="ko-KR" altLang="en-US" dirty="0"/>
              <a:t>사용설정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Speech-to-Text API </a:t>
            </a:r>
            <a:r>
              <a:rPr lang="ko-KR" altLang="en-US" dirty="0"/>
              <a:t>사용 설정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21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D75EF49-8294-1141-8DC5-2D58BCADE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72" y="1484784"/>
            <a:ext cx="7879256" cy="48958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6DD9E3F-2F65-BC4F-DCED-F5A268DA72FF}"/>
              </a:ext>
            </a:extLst>
          </p:cNvPr>
          <p:cNvSpPr/>
          <p:nvPr/>
        </p:nvSpPr>
        <p:spPr>
          <a:xfrm>
            <a:off x="648767" y="1772816"/>
            <a:ext cx="394842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AEFF381-8252-9EF8-87C8-10B65E429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90" y="1738131"/>
            <a:ext cx="699268" cy="63779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D1C86F6-D172-B698-3759-29853D6FB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31" y="2119916"/>
            <a:ext cx="3339859" cy="340725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A890D2-953B-D56C-63DE-744DD02CCB62}"/>
              </a:ext>
            </a:extLst>
          </p:cNvPr>
          <p:cNvSpPr/>
          <p:nvPr/>
        </p:nvSpPr>
        <p:spPr>
          <a:xfrm>
            <a:off x="622847" y="1731510"/>
            <a:ext cx="564777" cy="38840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B6E316-511B-4EEB-6AAE-4F1CE664181B}"/>
              </a:ext>
            </a:extLst>
          </p:cNvPr>
          <p:cNvSpPr/>
          <p:nvPr/>
        </p:nvSpPr>
        <p:spPr>
          <a:xfrm>
            <a:off x="632372" y="3635349"/>
            <a:ext cx="1851396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F13DEF-7B27-9367-044A-D90FFB10E5BA}"/>
              </a:ext>
            </a:extLst>
          </p:cNvPr>
          <p:cNvSpPr/>
          <p:nvPr/>
        </p:nvSpPr>
        <p:spPr>
          <a:xfrm>
            <a:off x="2627784" y="3961283"/>
            <a:ext cx="1377106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485640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프로젝트에 </a:t>
            </a:r>
            <a:r>
              <a:rPr lang="en-US" altLang="ko-KR" dirty="0"/>
              <a:t>STT API </a:t>
            </a:r>
            <a:r>
              <a:rPr lang="ko-KR" altLang="en-US" dirty="0"/>
              <a:t>사용설정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Speech-to-Text API </a:t>
            </a:r>
            <a:r>
              <a:rPr lang="ko-KR" altLang="en-US" dirty="0"/>
              <a:t>사용 설정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22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E35542D-A5E6-05DD-7E4E-A36FB4209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88" y="1638302"/>
            <a:ext cx="7993248" cy="46085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1CA2BC9-049C-29D9-57FC-14E2598FC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19" y="2033592"/>
            <a:ext cx="7975580" cy="421322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C2DDF7E-C7CB-7D33-72CA-615978D34B84}"/>
              </a:ext>
            </a:extLst>
          </p:cNvPr>
          <p:cNvSpPr/>
          <p:nvPr/>
        </p:nvSpPr>
        <p:spPr>
          <a:xfrm>
            <a:off x="755576" y="3098777"/>
            <a:ext cx="1365342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EE0F5E-09C8-B206-39B7-844CD5E39892}"/>
              </a:ext>
            </a:extLst>
          </p:cNvPr>
          <p:cNvSpPr/>
          <p:nvPr/>
        </p:nvSpPr>
        <p:spPr>
          <a:xfrm>
            <a:off x="2843808" y="5601712"/>
            <a:ext cx="1944216" cy="6451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543895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프로젝트에 </a:t>
            </a:r>
            <a:r>
              <a:rPr lang="en-US" altLang="ko-KR" dirty="0"/>
              <a:t>STT API </a:t>
            </a:r>
            <a:r>
              <a:rPr lang="ko-KR" altLang="en-US" dirty="0"/>
              <a:t>사용설정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Speech-to-Text API </a:t>
            </a:r>
            <a:r>
              <a:rPr lang="ko-KR" altLang="en-US" dirty="0"/>
              <a:t>사용 설정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F9BAC4F-D628-B4F8-8CA7-EDCBE8B79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90" y="1628800"/>
            <a:ext cx="7152220" cy="44242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34FDDC7-FCDA-BF3F-187A-21B009287E2E}"/>
              </a:ext>
            </a:extLst>
          </p:cNvPr>
          <p:cNvSpPr/>
          <p:nvPr/>
        </p:nvSpPr>
        <p:spPr>
          <a:xfrm>
            <a:off x="2247866" y="3655227"/>
            <a:ext cx="501246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303737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프로젝트에 </a:t>
            </a:r>
            <a:r>
              <a:rPr lang="en-US" altLang="ko-KR" dirty="0"/>
              <a:t>STT API </a:t>
            </a:r>
            <a:r>
              <a:rPr lang="ko-KR" altLang="en-US" dirty="0"/>
              <a:t>사용설정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Speech-to-Text API </a:t>
            </a:r>
            <a:r>
              <a:rPr lang="ko-KR" altLang="en-US" dirty="0"/>
              <a:t>사용 설정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24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252E946-AD4F-5269-A37F-C17CF91A4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501220"/>
            <a:ext cx="4380952" cy="18476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FA43D3E-942C-0395-B88B-7FEBB08D7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3742180"/>
            <a:ext cx="5295238" cy="19619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34FDDC7-FCDA-BF3F-187A-21B009287E2E}"/>
              </a:ext>
            </a:extLst>
          </p:cNvPr>
          <p:cNvSpPr/>
          <p:nvPr/>
        </p:nvSpPr>
        <p:spPr>
          <a:xfrm>
            <a:off x="3851920" y="2883540"/>
            <a:ext cx="1080120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08AA837-CF21-8147-B207-587E7291153A}"/>
              </a:ext>
            </a:extLst>
          </p:cNvPr>
          <p:cNvSpPr/>
          <p:nvPr/>
        </p:nvSpPr>
        <p:spPr>
          <a:xfrm>
            <a:off x="4811266" y="5248804"/>
            <a:ext cx="1080120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53119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프로젝트에 </a:t>
            </a:r>
            <a:r>
              <a:rPr lang="en-US" altLang="ko-KR" dirty="0"/>
              <a:t>STT API </a:t>
            </a:r>
            <a:r>
              <a:rPr lang="ko-KR" altLang="en-US" dirty="0"/>
              <a:t>사용설정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Speech-to-Text API </a:t>
            </a:r>
            <a:r>
              <a:rPr lang="ko-KR" altLang="en-US" dirty="0"/>
              <a:t>사용 설정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AB8BC68-CB60-74C6-6D70-955068397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628800"/>
            <a:ext cx="3888432" cy="23983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94935943"/>
      </p:ext>
    </p:extLst>
  </p:cSld>
  <p:clrMapOvr>
    <a:masterClrMapping/>
  </p:clrMapOvr>
  <p:transition>
    <p:diamond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프로젝트에 </a:t>
            </a:r>
            <a:r>
              <a:rPr lang="en-US" altLang="ko-KR" dirty="0"/>
              <a:t>STT API </a:t>
            </a:r>
            <a:r>
              <a:rPr lang="ko-KR" altLang="en-US" dirty="0"/>
              <a:t>사용설정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Speech-to-Text API </a:t>
            </a:r>
            <a:r>
              <a:rPr lang="ko-KR" altLang="en-US" dirty="0"/>
              <a:t>사용 설정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26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03CF8F-9DA5-E285-7AA8-0728C6909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43" y="1408251"/>
            <a:ext cx="3841427" cy="51426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8B3F013-430F-72EF-C99A-972F43687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765" y="1411302"/>
            <a:ext cx="4013635" cy="44921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75896760"/>
      </p:ext>
    </p:extLst>
  </p:cSld>
  <p:clrMapOvr>
    <a:masterClrMapping/>
  </p:clrMapOvr>
  <p:transition>
    <p:diamond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프로젝트에 </a:t>
            </a:r>
            <a:r>
              <a:rPr lang="en-US" altLang="ko-KR" dirty="0"/>
              <a:t>STT API </a:t>
            </a:r>
            <a:r>
              <a:rPr lang="ko-KR" altLang="en-US" dirty="0"/>
              <a:t>사용설정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Speech-to-Text API </a:t>
            </a:r>
            <a:r>
              <a:rPr lang="ko-KR" altLang="en-US" dirty="0"/>
              <a:t>사용 설정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27</a:t>
            </a:fld>
            <a:endParaRPr lang="en-US" altLang="ko-KR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554F33E-C4FF-55D5-88FB-5E1192FD6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84784"/>
            <a:ext cx="5482086" cy="50076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B02682-153A-5A1F-6B37-B3E11647F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860" y="2057882"/>
            <a:ext cx="3487240" cy="331533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34443692"/>
      </p:ext>
    </p:extLst>
  </p:cSld>
  <p:clrMapOvr>
    <a:masterClrMapping/>
  </p:clrMapOvr>
  <p:transition>
    <p:diamond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프로젝트에 </a:t>
            </a:r>
            <a:r>
              <a:rPr lang="en-US" altLang="ko-KR" dirty="0"/>
              <a:t>STT API </a:t>
            </a:r>
            <a:r>
              <a:rPr lang="ko-KR" altLang="en-US" dirty="0"/>
              <a:t>사용설정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Speech-to-Text API </a:t>
            </a:r>
            <a:r>
              <a:rPr lang="ko-KR" altLang="en-US" dirty="0"/>
              <a:t>사용 설정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C089AB-EE6A-EC8A-37A6-5D5E42B6B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72816"/>
            <a:ext cx="5614792" cy="436510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8A73C70-A425-AFFB-320B-A22677139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1767111"/>
            <a:ext cx="4350435" cy="310204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ABC12F3-556F-D0C7-8E23-E1E2AD471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67111"/>
            <a:ext cx="4365993" cy="45811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10025142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프로젝트에 </a:t>
            </a:r>
            <a:r>
              <a:rPr lang="en-US" altLang="ko-KR" dirty="0"/>
              <a:t>STT API </a:t>
            </a:r>
            <a:r>
              <a:rPr lang="ko-KR" altLang="en-US" dirty="0"/>
              <a:t>사용설정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Speech-to-Text API </a:t>
            </a:r>
            <a:r>
              <a:rPr lang="ko-KR" altLang="en-US" dirty="0"/>
              <a:t>사용 설정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29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E2C738-981C-52D9-7E68-19C9566A3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84784"/>
            <a:ext cx="4468651" cy="49440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FE16E7A-B3DE-83B3-FCDC-2B153FD1A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44" y="1484784"/>
            <a:ext cx="6934156" cy="414550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7159841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프로젝트에 </a:t>
            </a:r>
            <a:r>
              <a:rPr lang="en-US" altLang="ko-KR" dirty="0"/>
              <a:t>STT API </a:t>
            </a:r>
            <a:r>
              <a:rPr lang="ko-KR" altLang="en-US" dirty="0"/>
              <a:t>사용설정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Speech-to-Text API </a:t>
            </a:r>
            <a:r>
              <a:rPr lang="ko-KR" altLang="en-US" dirty="0"/>
              <a:t>인증정보 생성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30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67EF751-9EC6-2FC5-DF91-DE2B82092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930" y="1700808"/>
            <a:ext cx="7094364" cy="446449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5AB70F3-8D26-0926-5E6D-D384AA9A794D}"/>
              </a:ext>
            </a:extLst>
          </p:cNvPr>
          <p:cNvSpPr/>
          <p:nvPr/>
        </p:nvSpPr>
        <p:spPr>
          <a:xfrm>
            <a:off x="1050136" y="3232815"/>
            <a:ext cx="1145599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D5DF331-5839-3CF4-22C7-4517C0093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052" y="2286038"/>
            <a:ext cx="5112747" cy="379488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AEE043-816E-C158-60F5-2C72C14C4708}"/>
              </a:ext>
            </a:extLst>
          </p:cNvPr>
          <p:cNvSpPr/>
          <p:nvPr/>
        </p:nvSpPr>
        <p:spPr>
          <a:xfrm>
            <a:off x="4214826" y="2286038"/>
            <a:ext cx="1293278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B6C6078-AD95-C1B3-4EA4-0DD19A008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26" y="2586905"/>
            <a:ext cx="3763318" cy="18777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BDE2E98A-2D87-958C-0E88-CC7B39A1BAEA}"/>
              </a:ext>
            </a:extLst>
          </p:cNvPr>
          <p:cNvSpPr/>
          <p:nvPr/>
        </p:nvSpPr>
        <p:spPr>
          <a:xfrm>
            <a:off x="4214825" y="3429000"/>
            <a:ext cx="3701973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191969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프로젝트에 </a:t>
            </a:r>
            <a:r>
              <a:rPr lang="en-US" altLang="ko-KR" dirty="0"/>
              <a:t>STT API </a:t>
            </a:r>
            <a:r>
              <a:rPr lang="ko-KR" altLang="en-US" dirty="0"/>
              <a:t>사용설정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Speech-to-Text API </a:t>
            </a:r>
            <a:r>
              <a:rPr lang="ko-KR" altLang="en-US" dirty="0"/>
              <a:t>인증정보 생성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C8F778-E40E-2281-4C7E-867335A03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72831"/>
            <a:ext cx="3813290" cy="391233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5CB11A0-A1C7-1316-12DD-AA961DCA3314}"/>
              </a:ext>
            </a:extLst>
          </p:cNvPr>
          <p:cNvSpPr/>
          <p:nvPr/>
        </p:nvSpPr>
        <p:spPr>
          <a:xfrm>
            <a:off x="683568" y="2254559"/>
            <a:ext cx="1293278" cy="2731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975429D-829F-CB9B-9E74-F416A9AED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858" y="1455586"/>
            <a:ext cx="3879198" cy="392167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CC8EF30E-1B06-686A-0213-81D809627502}"/>
              </a:ext>
            </a:extLst>
          </p:cNvPr>
          <p:cNvSpPr/>
          <p:nvPr/>
        </p:nvSpPr>
        <p:spPr>
          <a:xfrm>
            <a:off x="4932040" y="3180642"/>
            <a:ext cx="1368152" cy="39237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D67D253-D72C-8E67-961C-C276715EF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753" y="2629106"/>
            <a:ext cx="2947500" cy="26721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8AFE61-E8A8-A5B6-28D8-8EAD303A440C}"/>
              </a:ext>
            </a:extLst>
          </p:cNvPr>
          <p:cNvSpPr/>
          <p:nvPr/>
        </p:nvSpPr>
        <p:spPr>
          <a:xfrm>
            <a:off x="5977753" y="3841715"/>
            <a:ext cx="1258543" cy="2654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F03A097-8688-5152-3E07-899691045F01}"/>
              </a:ext>
            </a:extLst>
          </p:cNvPr>
          <p:cNvSpPr/>
          <p:nvPr/>
        </p:nvSpPr>
        <p:spPr>
          <a:xfrm>
            <a:off x="7246912" y="3573015"/>
            <a:ext cx="1258543" cy="2654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CCA481-CA0F-2286-0149-CB1CDB9798A2}"/>
              </a:ext>
            </a:extLst>
          </p:cNvPr>
          <p:cNvSpPr txBox="1"/>
          <p:nvPr/>
        </p:nvSpPr>
        <p:spPr>
          <a:xfrm>
            <a:off x="4914604" y="3262116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소유자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AD92CE-77A1-7771-E295-6704A271506D}"/>
              </a:ext>
            </a:extLst>
          </p:cNvPr>
          <p:cNvSpPr/>
          <p:nvPr/>
        </p:nvSpPr>
        <p:spPr>
          <a:xfrm>
            <a:off x="4825625" y="4185046"/>
            <a:ext cx="602931" cy="2654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831519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  <p:bldP spid="19" grpId="0" animBg="1"/>
      <p:bldP spid="20" grpId="0" animBg="1"/>
      <p:bldP spid="23" grpId="0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프로젝트에 </a:t>
            </a:r>
            <a:r>
              <a:rPr lang="en-US" altLang="ko-KR" dirty="0"/>
              <a:t>STT API </a:t>
            </a:r>
            <a:r>
              <a:rPr lang="ko-KR" altLang="en-US" dirty="0"/>
              <a:t>사용설정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Speech-to-Text API </a:t>
            </a:r>
            <a:r>
              <a:rPr lang="ko-KR" altLang="en-US" dirty="0"/>
              <a:t>인증정보 생성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32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94963FD-EF7C-97D7-A00C-08EE4A74B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668350"/>
            <a:ext cx="5841193" cy="417875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6826B8B-B5DC-F319-C047-548FE2A8FE44}"/>
              </a:ext>
            </a:extLst>
          </p:cNvPr>
          <p:cNvSpPr/>
          <p:nvPr/>
        </p:nvSpPr>
        <p:spPr>
          <a:xfrm>
            <a:off x="539552" y="5445224"/>
            <a:ext cx="602931" cy="2654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247906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프로젝트에 </a:t>
            </a:r>
            <a:r>
              <a:rPr lang="en-US" altLang="ko-KR" dirty="0"/>
              <a:t>STT API </a:t>
            </a:r>
            <a:r>
              <a:rPr lang="ko-KR" altLang="en-US" dirty="0"/>
              <a:t>사용설정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Speech-to-Text API </a:t>
            </a:r>
            <a:r>
              <a:rPr lang="ko-KR" altLang="en-US" dirty="0"/>
              <a:t>인증정보 생성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38BD4A-7CA1-8596-0EC8-708F74D46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700808"/>
            <a:ext cx="7056784" cy="44416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7520420-7B30-CC94-E6D6-26E34842F124}"/>
              </a:ext>
            </a:extLst>
          </p:cNvPr>
          <p:cNvSpPr/>
          <p:nvPr/>
        </p:nvSpPr>
        <p:spPr>
          <a:xfrm>
            <a:off x="3059832" y="5517232"/>
            <a:ext cx="4896544" cy="35969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241463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프로젝트에 </a:t>
            </a:r>
            <a:r>
              <a:rPr lang="en-US" altLang="ko-KR" dirty="0"/>
              <a:t>STT API </a:t>
            </a:r>
            <a:r>
              <a:rPr lang="ko-KR" altLang="en-US" dirty="0"/>
              <a:t>사용설정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Speech-to-Text API </a:t>
            </a:r>
            <a:r>
              <a:rPr lang="ko-KR" altLang="en-US" dirty="0"/>
              <a:t>키 생성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34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84B340-EE98-B2EC-B004-E2506932C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628800"/>
            <a:ext cx="7488832" cy="46362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363B825-BA6F-FE48-6BC7-87E433F58759}"/>
              </a:ext>
            </a:extLst>
          </p:cNvPr>
          <p:cNvSpPr/>
          <p:nvPr/>
        </p:nvSpPr>
        <p:spPr>
          <a:xfrm>
            <a:off x="3966119" y="2617035"/>
            <a:ext cx="550000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0E0E4D0-8ED3-34AC-13AC-E3A58F686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2922308"/>
            <a:ext cx="5400600" cy="326878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3306D5-91E1-B3BB-81E2-AEDE642D685E}"/>
              </a:ext>
            </a:extLst>
          </p:cNvPr>
          <p:cNvSpPr/>
          <p:nvPr/>
        </p:nvSpPr>
        <p:spPr>
          <a:xfrm>
            <a:off x="2915816" y="4556700"/>
            <a:ext cx="550000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76681AC-85BD-3060-EA22-1BAF97F4B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595" y="4876436"/>
            <a:ext cx="934524" cy="58131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B617143-2F37-1609-3F6F-4746BD2654C5}"/>
              </a:ext>
            </a:extLst>
          </p:cNvPr>
          <p:cNvSpPr/>
          <p:nvPr/>
        </p:nvSpPr>
        <p:spPr>
          <a:xfrm>
            <a:off x="3031594" y="4923369"/>
            <a:ext cx="934523" cy="23382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5347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프로젝트에 </a:t>
            </a:r>
            <a:r>
              <a:rPr lang="en-US" altLang="ko-KR" dirty="0"/>
              <a:t>STT API </a:t>
            </a:r>
            <a:r>
              <a:rPr lang="ko-KR" altLang="en-US" dirty="0"/>
              <a:t>사용설정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Cloud Speech-to-Text API </a:t>
            </a:r>
            <a:r>
              <a:rPr lang="ko-KR" altLang="en-US" dirty="0"/>
              <a:t>키 생성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95876E-2049-0197-0D82-167AEB71E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41343"/>
            <a:ext cx="4500966" cy="285034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B42D7ED-5576-41B2-F370-298A310D5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408563"/>
            <a:ext cx="6011520" cy="164749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15E5869-E8DE-B640-C7B6-DB423B7E2B77}"/>
              </a:ext>
            </a:extLst>
          </p:cNvPr>
          <p:cNvSpPr txBox="1"/>
          <p:nvPr/>
        </p:nvSpPr>
        <p:spPr>
          <a:xfrm>
            <a:off x="6413432" y="5375632"/>
            <a:ext cx="2494451" cy="5847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컴</a:t>
            </a:r>
            <a:r>
              <a:rPr lang="ko-KR" altLang="en-US" b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퓨터에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저장된 비공개 키를 작업 폴더로 복사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646C036-DF16-E3E1-481F-0DB80D61B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17" y="5665103"/>
            <a:ext cx="3009524" cy="8666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74402227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A95D-8A85-873B-EA31-0DB5C7C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 Cloud </a:t>
            </a:r>
            <a:r>
              <a:rPr lang="ko-KR" altLang="en-US" dirty="0"/>
              <a:t>프로젝트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F889-D0BA-32AD-F1FB-24B18DFC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구글 </a:t>
            </a:r>
            <a:r>
              <a:rPr lang="en-US" altLang="ko-KR" dirty="0"/>
              <a:t>Cloud</a:t>
            </a:r>
            <a:r>
              <a:rPr lang="ko-KR" altLang="en-US"/>
              <a:t>에 접속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3513D-1B91-8B7E-415C-7281300DC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36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389DA54-6E30-3A82-8E42-CF8C84DBF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621358"/>
            <a:ext cx="6516216" cy="42509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E8EF7AE-9A92-E236-D819-B990E69A7665}"/>
              </a:ext>
            </a:extLst>
          </p:cNvPr>
          <p:cNvSpPr/>
          <p:nvPr/>
        </p:nvSpPr>
        <p:spPr>
          <a:xfrm>
            <a:off x="1547664" y="3429000"/>
            <a:ext cx="504056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C057B7E-B8E2-6845-BBEC-5CC398925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2835190"/>
            <a:ext cx="6228184" cy="35735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60328016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044B4-16F0-6707-E56F-92922ED7B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34AB2-DA1D-5A41-CB1A-134055D47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ch13 </a:t>
            </a:r>
            <a:r>
              <a:rPr lang="ko-KR" altLang="en-US" dirty="0"/>
              <a:t>폴더에 파일 복사</a:t>
            </a:r>
            <a:endParaRPr lang="en-US" altLang="ko-KR" dirty="0"/>
          </a:p>
          <a:p>
            <a:pPr lvl="1"/>
            <a:r>
              <a:rPr lang="en-US" altLang="ko-KR" dirty="0"/>
              <a:t>microphoneStream.py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지난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주 만든 음성입력 클래스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ivory-___.</a:t>
            </a:r>
            <a:r>
              <a:rPr lang="en-US" altLang="ko-KR" dirty="0" err="1">
                <a:sym typeface="Wingdings" panose="05000000000000000000" pitchFamily="2" charset="2"/>
              </a:rPr>
              <a:t>json</a:t>
            </a:r>
            <a:r>
              <a:rPr lang="en-US" altLang="ko-KR" dirty="0">
                <a:sym typeface="Wingdings" panose="05000000000000000000" pitchFamily="2" charset="2"/>
              </a:rPr>
              <a:t>  </a:t>
            </a:r>
            <a:r>
              <a:rPr lang="ko-KR" altLang="en-US" dirty="0">
                <a:sym typeface="Wingdings" panose="05000000000000000000" pitchFamily="2" charset="2"/>
              </a:rPr>
              <a:t>구글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클라우드 플랫폼에서 제공한 비공개 키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6EC0AA-20AB-56F6-57BE-64530BCCBA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37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851CEE5-260E-5DA2-7879-C1DD0E70A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226" y="2492896"/>
            <a:ext cx="5597548" cy="363018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5365D81-0B68-6893-C9E5-4464A5ED80EB}"/>
              </a:ext>
            </a:extLst>
          </p:cNvPr>
          <p:cNvSpPr/>
          <p:nvPr/>
        </p:nvSpPr>
        <p:spPr>
          <a:xfrm>
            <a:off x="3347864" y="4437112"/>
            <a:ext cx="3744416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03722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044B4-16F0-6707-E56F-92922ED7B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구글 음성인식 라이브러리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34AB2-DA1D-5A41-CB1A-134055D47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구글 클라우드 음성인식 모듈 설치</a:t>
            </a:r>
            <a:endParaRPr lang="en-US" altLang="ko-KR" dirty="0"/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pip3  </a:t>
            </a:r>
            <a:r>
              <a:rPr lang="ko-KR" altLang="en-US" dirty="0" err="1">
                <a:sym typeface="Wingdings" panose="05000000000000000000" pitchFamily="2" charset="2"/>
              </a:rPr>
              <a:t>파이선</a:t>
            </a:r>
            <a:r>
              <a:rPr lang="en-US" altLang="ko-KR" dirty="0">
                <a:sym typeface="Wingdings" panose="05000000000000000000" pitchFamily="2" charset="2"/>
              </a:rPr>
              <a:t> 3.x</a:t>
            </a:r>
            <a:r>
              <a:rPr lang="ko-KR" altLang="en-US" dirty="0">
                <a:sym typeface="Wingdings" panose="05000000000000000000" pitchFamily="2" charset="2"/>
              </a:rPr>
              <a:t> 용 패키지 설치 프로그램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google-auth  </a:t>
            </a:r>
            <a:r>
              <a:rPr lang="en-US" altLang="ko-KR" sz="1800" dirty="0">
                <a:sym typeface="Wingdings" panose="05000000000000000000" pitchFamily="2" charset="2"/>
              </a:rPr>
              <a:t>Google authentication library for python, API </a:t>
            </a:r>
            <a:r>
              <a:rPr lang="ko-KR" altLang="en-US" sz="1800" dirty="0">
                <a:sym typeface="Wingdings" panose="05000000000000000000" pitchFamily="2" charset="2"/>
              </a:rPr>
              <a:t>인증기능</a:t>
            </a:r>
            <a:endParaRPr lang="en-US" altLang="ko-KR" sz="1800" dirty="0">
              <a:sym typeface="Wingdings" panose="05000000000000000000" pitchFamily="2" charset="2"/>
            </a:endParaRPr>
          </a:p>
          <a:p>
            <a:pPr lvl="1"/>
            <a:r>
              <a:rPr lang="en-US" altLang="ko-KR" sz="1800" dirty="0">
                <a:sym typeface="Wingdings" panose="05000000000000000000" pitchFamily="2" charset="2"/>
              </a:rPr>
              <a:t>google-</a:t>
            </a:r>
            <a:r>
              <a:rPr lang="en-US" altLang="ko-KR" sz="1800" dirty="0" err="1">
                <a:sym typeface="Wingdings" panose="05000000000000000000" pitchFamily="2" charset="2"/>
              </a:rPr>
              <a:t>api</a:t>
            </a:r>
            <a:r>
              <a:rPr lang="en-US" altLang="ko-KR" sz="1800" dirty="0">
                <a:sym typeface="Wingdings" panose="05000000000000000000" pitchFamily="2" charset="2"/>
              </a:rPr>
              <a:t>-python-client</a:t>
            </a:r>
            <a:r>
              <a:rPr lang="ko-KR" altLang="en-US" sz="1800" dirty="0">
                <a:sym typeface="Wingdings" panose="05000000000000000000" pitchFamily="2" charset="2"/>
              </a:rPr>
              <a:t> </a:t>
            </a:r>
            <a:r>
              <a:rPr lang="en-US" altLang="ko-KR" sz="1800" dirty="0">
                <a:sym typeface="Wingdings" panose="05000000000000000000" pitchFamily="2" charset="2"/>
              </a:rPr>
              <a:t></a:t>
            </a:r>
            <a:r>
              <a:rPr lang="ko-KR" altLang="en-US" sz="1800" dirty="0">
                <a:sym typeface="Wingdings" panose="05000000000000000000" pitchFamily="2" charset="2"/>
              </a:rPr>
              <a:t> </a:t>
            </a:r>
            <a:r>
              <a:rPr lang="en-US" altLang="ko-KR" sz="1800" dirty="0">
                <a:sym typeface="Wingdings" panose="05000000000000000000" pitchFamily="2" charset="2"/>
              </a:rPr>
              <a:t>Google</a:t>
            </a:r>
            <a:r>
              <a:rPr lang="ko-KR" altLang="en-US" sz="1800" dirty="0">
                <a:sym typeface="Wingdings" panose="05000000000000000000" pitchFamily="2" charset="2"/>
              </a:rPr>
              <a:t> </a:t>
            </a:r>
            <a:r>
              <a:rPr lang="en-US" altLang="ko-KR" sz="1800" dirty="0">
                <a:sym typeface="Wingdings" panose="05000000000000000000" pitchFamily="2" charset="2"/>
              </a:rPr>
              <a:t>API</a:t>
            </a:r>
            <a:r>
              <a:rPr lang="ko-KR" altLang="en-US" sz="1800" dirty="0">
                <a:sym typeface="Wingdings" panose="05000000000000000000" pitchFamily="2" charset="2"/>
              </a:rPr>
              <a:t>의 </a:t>
            </a:r>
            <a:r>
              <a:rPr lang="ko-KR" altLang="en-US" sz="1800" dirty="0" err="1">
                <a:sym typeface="Wingdings" panose="05000000000000000000" pitchFamily="2" charset="2"/>
              </a:rPr>
              <a:t>파이선</a:t>
            </a:r>
            <a:r>
              <a:rPr lang="ko-KR" altLang="en-US" sz="1800" dirty="0">
                <a:sym typeface="Wingdings" panose="05000000000000000000" pitchFamily="2" charset="2"/>
              </a:rPr>
              <a:t> 클라이언트 라이브러리</a:t>
            </a:r>
            <a:endParaRPr lang="en-US" altLang="ko-KR" sz="1800" dirty="0">
              <a:sym typeface="Wingdings" panose="05000000000000000000" pitchFamily="2" charset="2"/>
            </a:endParaRPr>
          </a:p>
          <a:p>
            <a:pPr lvl="1"/>
            <a:r>
              <a:rPr lang="en-US" altLang="ko-KR" sz="1800" dirty="0" err="1">
                <a:sym typeface="Wingdings" panose="05000000000000000000" pitchFamily="2" charset="2"/>
              </a:rPr>
              <a:t>google.cloud.speech</a:t>
            </a:r>
            <a:r>
              <a:rPr lang="en-US" altLang="ko-KR" sz="1800" dirty="0">
                <a:sym typeface="Wingdings" panose="05000000000000000000" pitchFamily="2" charset="2"/>
              </a:rPr>
              <a:t>  </a:t>
            </a:r>
            <a:r>
              <a:rPr lang="ko-KR" altLang="en-US" sz="1800" dirty="0">
                <a:sym typeface="Wingdings" panose="05000000000000000000" pitchFamily="2" charset="2"/>
              </a:rPr>
              <a:t>구글</a:t>
            </a:r>
            <a:r>
              <a:rPr lang="en-US" altLang="ko-KR" sz="1800" dirty="0"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sym typeface="Wingdings" panose="05000000000000000000" pitchFamily="2" charset="2"/>
              </a:rPr>
              <a:t>음성인식 모듈</a:t>
            </a:r>
            <a:r>
              <a:rPr lang="en-US" altLang="ko-KR" sz="1800" dirty="0"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sym typeface="Wingdings" panose="05000000000000000000" pitchFamily="2" charset="2"/>
              </a:rPr>
              <a:t>음성을</a:t>
            </a:r>
            <a:r>
              <a:rPr lang="en-US" altLang="ko-KR" sz="1800" dirty="0"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sym typeface="Wingdings" panose="05000000000000000000" pitchFamily="2" charset="2"/>
              </a:rPr>
              <a:t>문자로 변환</a:t>
            </a:r>
            <a:endParaRPr lang="en-US" altLang="ko-KR" sz="1800" dirty="0">
              <a:sym typeface="Wingdings" panose="05000000000000000000" pitchFamily="2" charset="2"/>
            </a:endParaRPr>
          </a:p>
          <a:p>
            <a:pPr lvl="1"/>
            <a:r>
              <a:rPr lang="en-US" altLang="ko-KR" sz="1800" dirty="0" err="1">
                <a:sym typeface="Wingdings" panose="05000000000000000000" pitchFamily="2" charset="2"/>
              </a:rPr>
              <a:t>gTTS</a:t>
            </a:r>
            <a:r>
              <a:rPr lang="en-US" altLang="ko-KR" sz="1800" dirty="0">
                <a:sym typeface="Wingdings" panose="05000000000000000000" pitchFamily="2" charset="2"/>
              </a:rPr>
              <a:t>  google text to speech, </a:t>
            </a:r>
            <a:r>
              <a:rPr lang="ko-KR" altLang="en-US" sz="1800" dirty="0">
                <a:sym typeface="Wingdings" panose="05000000000000000000" pitchFamily="2" charset="2"/>
              </a:rPr>
              <a:t>문자를</a:t>
            </a:r>
            <a:r>
              <a:rPr lang="en-US" altLang="ko-KR" sz="1800" dirty="0"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sym typeface="Wingdings" panose="05000000000000000000" pitchFamily="2" charset="2"/>
              </a:rPr>
              <a:t>음성으로 변환</a:t>
            </a:r>
            <a:endParaRPr lang="en-US" altLang="ko-KR" sz="1800" dirty="0">
              <a:sym typeface="Wingdings" panose="05000000000000000000" pitchFamily="2" charset="2"/>
            </a:endParaRPr>
          </a:p>
          <a:p>
            <a:pPr lvl="1"/>
            <a:r>
              <a:rPr lang="en-US" altLang="ko-KR" sz="1800" dirty="0">
                <a:sym typeface="Wingdings" panose="05000000000000000000" pitchFamily="2" charset="2"/>
              </a:rPr>
              <a:t>mpg321  mp3 </a:t>
            </a:r>
            <a:r>
              <a:rPr lang="ko-KR" altLang="en-US" sz="1800" dirty="0">
                <a:sym typeface="Wingdings" panose="05000000000000000000" pitchFamily="2" charset="2"/>
              </a:rPr>
              <a:t>재생 프로그램</a:t>
            </a:r>
            <a:endParaRPr lang="en-US" altLang="ko-KR" sz="1800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6EC0AA-20AB-56F6-57BE-64530BCCBA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8651249"/>
      </p:ext>
    </p:extLst>
  </p:cSld>
  <p:clrMapOvr>
    <a:masterClrMapping/>
  </p:clrMapOvr>
  <p:transition>
    <p:diamond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8DF3E-0FAB-1C8A-9A8F-BEE8BA6EC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FB37FC-7A69-7006-3F6D-182D0E5D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구글 음성인식 라이브러리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A35382-4E3F-C8CB-BC5D-FC74BA09B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구글 클라우드 음성인식 모듈 설치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9A18EE-E7C4-6254-F8F5-55EF7AF75F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39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10EE3F-828C-EA08-E356-3A9AEE188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30" y="1557530"/>
            <a:ext cx="8542857" cy="61904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2A92924-DDDA-853F-AA16-57A50EA89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30" y="2287098"/>
            <a:ext cx="8561905" cy="58095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004C163-23B0-A94B-8D16-DF8FF2555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30" y="3000212"/>
            <a:ext cx="8495238" cy="7238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544B7F5-0EC2-7814-7344-0E87EE0B3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30" y="3920734"/>
            <a:ext cx="8514286" cy="7238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8C6505C-12A9-A413-2E5E-6F6FBB7F3D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030" y="4788375"/>
            <a:ext cx="8495238" cy="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27432"/>
      </p:ext>
    </p:extLst>
  </p:cSld>
  <p:clrMapOvr>
    <a:masterClrMapping/>
  </p:clrMapOvr>
  <p:transition>
    <p:diamond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BBEC4-298A-67BE-67CA-6CE84611B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구글</a:t>
            </a:r>
            <a:r>
              <a:rPr lang="en-US" altLang="ko-KR" dirty="0"/>
              <a:t> </a:t>
            </a:r>
            <a:r>
              <a:rPr lang="ko-KR" altLang="en-US" dirty="0"/>
              <a:t>스피치 실행 결과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1E47169-9A1B-C9C4-BDC2-3392355CE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음성 입력 처리 결과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안녕하세요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F9D2A5-7952-4ACD-16F1-7ACC73508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40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293BBDC-DBCC-8E83-976C-3401537A1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813325"/>
            <a:ext cx="8928100" cy="32313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252E824-6380-04B3-ACA0-7C8F03859C2C}"/>
              </a:ext>
            </a:extLst>
          </p:cNvPr>
          <p:cNvSpPr/>
          <p:nvPr/>
        </p:nvSpPr>
        <p:spPr>
          <a:xfrm>
            <a:off x="2195736" y="2204864"/>
            <a:ext cx="6624736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B4D9C8-B9F0-51B5-64F3-84FB8A497C35}"/>
              </a:ext>
            </a:extLst>
          </p:cNvPr>
          <p:cNvSpPr/>
          <p:nvPr/>
        </p:nvSpPr>
        <p:spPr>
          <a:xfrm>
            <a:off x="5940152" y="2961858"/>
            <a:ext cx="1654224" cy="41450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필사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筆寫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434180F-EB75-4948-2AD5-4D9155F51AC1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5508104" y="2420888"/>
            <a:ext cx="1259160" cy="54097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0FC7583-7E84-5800-D893-36B61F898467}"/>
              </a:ext>
            </a:extLst>
          </p:cNvPr>
          <p:cNvSpPr/>
          <p:nvPr/>
        </p:nvSpPr>
        <p:spPr>
          <a:xfrm>
            <a:off x="1979712" y="2439347"/>
            <a:ext cx="1368152" cy="27555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F1CC1B-0BC6-07BC-478A-0EF3AD9894E2}"/>
              </a:ext>
            </a:extLst>
          </p:cNvPr>
          <p:cNvSpPr/>
          <p:nvPr/>
        </p:nvSpPr>
        <p:spPr>
          <a:xfrm>
            <a:off x="3491880" y="3014499"/>
            <a:ext cx="936104" cy="41450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</a:t>
            </a:r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DEEBF37-7B47-B8AF-386F-89B94F12435A}"/>
              </a:ext>
            </a:extLst>
          </p:cNvPr>
          <p:cNvCxnSpPr>
            <a:cxnSpLocks/>
            <a:stCxn id="15" idx="3"/>
            <a:endCxn id="16" idx="0"/>
          </p:cNvCxnSpPr>
          <p:nvPr/>
        </p:nvCxnSpPr>
        <p:spPr>
          <a:xfrm>
            <a:off x="3347864" y="2577124"/>
            <a:ext cx="612068" cy="43737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334883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5" grpId="0" animBg="1"/>
      <p:bldP spid="1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38B64-33CE-7660-F9CC-53890254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/>
              <a:t>영어 음성 인식하기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4AD4B-A4B0-BC06-1D6C-3468B001C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41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051C4E2-F869-EF75-2985-10E90754E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72" y="1124744"/>
            <a:ext cx="8676456" cy="49392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99322841"/>
      </p:ext>
    </p:extLst>
  </p:cSld>
  <p:clrMapOvr>
    <a:masterClrMapping/>
  </p:clrMapOvr>
  <p:transition>
    <p:diamond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38B64-33CE-7660-F9CC-53890254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/>
              <a:t>영어 음성 인식하기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4AD4B-A4B0-BC06-1D6C-3468B001C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42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00D44A-DD01-6217-4FC8-93A95AB3F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95" y="1052736"/>
            <a:ext cx="8821610" cy="41764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02751515"/>
      </p:ext>
    </p:extLst>
  </p:cSld>
  <p:clrMapOvr>
    <a:masterClrMapping/>
  </p:clrMapOvr>
  <p:transition>
    <p:diamond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38B64-33CE-7660-F9CC-53890254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/>
              <a:t>영어 음성 인식하기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4AD4B-A4B0-BC06-1D6C-3468B001C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43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47B073A-D85B-A091-8825-5DF87D788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591450"/>
            <a:ext cx="6192688" cy="36751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649649F-2CDB-F092-BC62-1F5C5160963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300192" y="3284984"/>
            <a:ext cx="79208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65BEFE2-0FC1-BECE-7BD7-8FEE840AF956}"/>
              </a:ext>
            </a:extLst>
          </p:cNvPr>
          <p:cNvSpPr txBox="1"/>
          <p:nvPr/>
        </p:nvSpPr>
        <p:spPr>
          <a:xfrm>
            <a:off x="7092280" y="2992596"/>
            <a:ext cx="1895071" cy="5847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한글로 아무것이나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말해본 것임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F55331D-5C21-F05D-ACA9-51038E8EE4A3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586056" y="4441468"/>
            <a:ext cx="79208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8FD0B0E-5B55-384F-0305-B24820CBADC8}"/>
              </a:ext>
            </a:extLst>
          </p:cNvPr>
          <p:cNvSpPr txBox="1"/>
          <p:nvPr/>
        </p:nvSpPr>
        <p:spPr>
          <a:xfrm>
            <a:off x="4378144" y="4149080"/>
            <a:ext cx="2854692" cy="5847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‘exit’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혹은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‘quit’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입력하면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실행 종료</a:t>
            </a:r>
          </a:p>
        </p:txBody>
      </p:sp>
    </p:spTree>
    <p:extLst>
      <p:ext uri="{BB962C8B-B14F-4D97-AF65-F5344CB8AC3E}">
        <p14:creationId xmlns:p14="http://schemas.microsoft.com/office/powerpoint/2010/main" val="748788199"/>
      </p:ext>
    </p:extLst>
  </p:cSld>
  <p:clrMapOvr>
    <a:masterClrMapping/>
  </p:clrMapOvr>
  <p:transition>
    <p:diamond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38B64-33CE-7660-F9CC-53890254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2] </a:t>
            </a:r>
            <a:r>
              <a:rPr lang="ko-KR" altLang="en-US" dirty="0"/>
              <a:t>한국어 음성 인식하기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4AD4B-A4B0-BC06-1D6C-3468B001C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44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65C523-264F-7684-EF80-2F568CA4A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84" y="1052736"/>
            <a:ext cx="8744832" cy="53285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36535894"/>
      </p:ext>
    </p:extLst>
  </p:cSld>
  <p:clrMapOvr>
    <a:masterClrMapping/>
  </p:clrMapOvr>
  <p:transition>
    <p:diamond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38B64-33CE-7660-F9CC-53890254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2] </a:t>
            </a:r>
            <a:r>
              <a:rPr lang="ko-KR" altLang="en-US" dirty="0"/>
              <a:t>한국어 음성 인식하기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4AD4B-A4B0-BC06-1D6C-3468B001C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BA39BF-A2BA-EE69-940D-AB621FA42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76" y="1052736"/>
            <a:ext cx="8847048" cy="489654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0299803-9EFA-B5CC-51E0-93DCFBC634EA}"/>
              </a:ext>
            </a:extLst>
          </p:cNvPr>
          <p:cNvSpPr/>
          <p:nvPr/>
        </p:nvSpPr>
        <p:spPr>
          <a:xfrm>
            <a:off x="539552" y="1052736"/>
            <a:ext cx="7920880" cy="151216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317671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38B64-33CE-7660-F9CC-53890254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2] </a:t>
            </a:r>
            <a:r>
              <a:rPr lang="ko-KR" altLang="en-US" dirty="0"/>
              <a:t>한국어 음성 인식하기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E9B4DFB-FAC6-9F38-1105-2D2D8490E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4931171"/>
            <a:ext cx="8950325" cy="1631554"/>
          </a:xfrm>
        </p:spPr>
        <p:txBody>
          <a:bodyPr/>
          <a:lstStyle/>
          <a:p>
            <a:r>
              <a:rPr lang="ko-KR" altLang="en-US" dirty="0"/>
              <a:t>한글 인식 프로그램의 문제점</a:t>
            </a:r>
            <a:endParaRPr lang="en-US" altLang="ko-KR" dirty="0"/>
          </a:p>
          <a:p>
            <a:pPr lvl="1"/>
            <a:r>
              <a:rPr lang="ko-KR" altLang="en-US" dirty="0"/>
              <a:t>인식에 소요되는 시간이 너무 길어 실제 응용에 사용하기 힘듦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4AD4B-A4B0-BC06-1D6C-3468B001C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46</a:t>
            </a:fld>
            <a:endParaRPr lang="en-US" altLang="ko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8B4271-F5C4-A17C-4F15-99D75DDAF5B2}"/>
              </a:ext>
            </a:extLst>
          </p:cNvPr>
          <p:cNvSpPr txBox="1"/>
          <p:nvPr/>
        </p:nvSpPr>
        <p:spPr>
          <a:xfrm>
            <a:off x="4378144" y="4149080"/>
            <a:ext cx="3793539" cy="5847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종료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’, ‘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중지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혹은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그만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입력하면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실행 종료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A1343FC-2A42-12D6-0869-EAF1DB117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28" y="1259377"/>
            <a:ext cx="8257143" cy="2400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7EB1446-B308-0AB9-12BC-8F912AC9D97A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059832" y="3212976"/>
            <a:ext cx="1318312" cy="12284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207532"/>
      </p:ext>
    </p:extLst>
  </p:cSld>
  <p:clrMapOvr>
    <a:masterClrMapping/>
  </p:clrMapOvr>
  <p:transition>
    <p:diamond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38B64-33CE-7660-F9CC-53890254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</a:t>
            </a:r>
            <a:r>
              <a:rPr lang="ko-KR" altLang="en-US" dirty="0"/>
              <a:t>한국어 읽고 말하기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4AD4B-A4B0-BC06-1D6C-3468B001C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47</a:t>
            </a:fld>
            <a:endParaRPr lang="en-US" altLang="ko-KR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B0DF1FA-9C50-B002-99EC-0049BF0F8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8" y="1124744"/>
            <a:ext cx="9038564" cy="46085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0712ED-2FB9-2319-E086-1413603F8C7C}"/>
              </a:ext>
            </a:extLst>
          </p:cNvPr>
          <p:cNvSpPr/>
          <p:nvPr/>
        </p:nvSpPr>
        <p:spPr>
          <a:xfrm>
            <a:off x="539552" y="2204864"/>
            <a:ext cx="7920880" cy="2060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7110191-45A6-7F3B-0683-09F4D5028A0A}"/>
              </a:ext>
            </a:extLst>
          </p:cNvPr>
          <p:cNvSpPr/>
          <p:nvPr/>
        </p:nvSpPr>
        <p:spPr>
          <a:xfrm>
            <a:off x="539552" y="3866017"/>
            <a:ext cx="7920880" cy="172322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397321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38B64-33CE-7660-F9CC-53890254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</a:t>
            </a:r>
            <a:r>
              <a:rPr lang="ko-KR" altLang="en-US" dirty="0"/>
              <a:t>한국어 읽고 말하기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4AD4B-A4B0-BC06-1D6C-3468B001C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48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FA65C21-72AA-C9EF-AD7A-E168FC1D8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4" y="980728"/>
            <a:ext cx="8966232" cy="54726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3BDF2E8-F170-0A93-B2EA-839469DC09B9}"/>
              </a:ext>
            </a:extLst>
          </p:cNvPr>
          <p:cNvSpPr/>
          <p:nvPr/>
        </p:nvSpPr>
        <p:spPr>
          <a:xfrm>
            <a:off x="539552" y="5189444"/>
            <a:ext cx="7920880" cy="3600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772625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38B64-33CE-7660-F9CC-53890254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</a:t>
            </a:r>
            <a:r>
              <a:rPr lang="ko-KR" altLang="en-US" dirty="0"/>
              <a:t>한국어 읽고 말하기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4AD4B-A4B0-BC06-1D6C-3468B001C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30420A-E42C-4C35-3B19-9CCC62413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4" y="1124744"/>
            <a:ext cx="8915536" cy="331237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845277"/>
      </p:ext>
    </p:extLst>
  </p:cSld>
  <p:clrMapOvr>
    <a:masterClrMapping/>
  </p:clrMapOvr>
  <p:transition>
    <p:diamond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38B64-33CE-7660-F9CC-53890254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</a:t>
            </a:r>
            <a:r>
              <a:rPr lang="ko-KR" altLang="en-US" dirty="0"/>
              <a:t>한국어 읽고 말하기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4AD4B-A4B0-BC06-1D6C-3468B001C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50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C5B20F-AF99-ECF2-5689-684864C6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24744"/>
            <a:ext cx="6390476" cy="37809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2E7442E-A6D1-D8D9-ED26-9C5298209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663" y="4221088"/>
            <a:ext cx="7352381" cy="22095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0175E9A-5778-6B34-2866-A74023AB5F4D}"/>
              </a:ext>
            </a:extLst>
          </p:cNvPr>
          <p:cNvSpPr/>
          <p:nvPr/>
        </p:nvSpPr>
        <p:spPr>
          <a:xfrm>
            <a:off x="2925755" y="3115089"/>
            <a:ext cx="936104" cy="8502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778085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38B64-33CE-7660-F9CC-53890254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4AD4B-A4B0-BC06-1D6C-3468B001C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51</a:t>
            </a:fld>
            <a:endParaRPr lang="en-US" altLang="ko-KR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09B4DA7-7131-BDBD-763E-539E1694C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644476"/>
              </p:ext>
            </p:extLst>
          </p:nvPr>
        </p:nvGraphicFramePr>
        <p:xfrm>
          <a:off x="137189" y="1484784"/>
          <a:ext cx="8898860" cy="34563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8507">
                  <a:extLst>
                    <a:ext uri="{9D8B030D-6E8A-4147-A177-3AD203B41FA5}">
                      <a16:colId xmlns:a16="http://schemas.microsoft.com/office/drawing/2014/main" val="196071716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76786193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24816624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6034136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59248814"/>
                    </a:ext>
                  </a:extLst>
                </a:gridCol>
                <a:gridCol w="1799753">
                  <a:extLst>
                    <a:ext uri="{9D8B030D-6E8A-4147-A177-3AD203B41FA5}">
                      <a16:colId xmlns:a16="http://schemas.microsoft.com/office/drawing/2014/main" val="1228865244"/>
                    </a:ext>
                  </a:extLst>
                </a:gridCol>
              </a:tblGrid>
              <a:tr h="2304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657867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alternative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709129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authentication (auth)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import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593566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break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linear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228120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chunh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listen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280754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client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organization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771919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cloud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platform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666711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confidence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446713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(config)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recognition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61336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console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request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511738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response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643048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credential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741072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define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speech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396625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encode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stream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970098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environment (environ)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transcript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865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32103"/>
      </p:ext>
    </p:extLst>
  </p:cSld>
  <p:clrMapOvr>
    <a:masterClrMapping/>
  </p:clrMapOvr>
  <p:transition>
    <p:diamond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525DE-2246-6C96-1D87-29B42CBD2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FC201-C967-D242-9110-18B43383C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04DEFF-7908-2ED3-C86D-362FFB4A0A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52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F6B461E-392F-CC18-C273-3C65C39B9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608947"/>
              </p:ext>
            </p:extLst>
          </p:nvPr>
        </p:nvGraphicFramePr>
        <p:xfrm>
          <a:off x="755576" y="1628800"/>
          <a:ext cx="7632848" cy="27431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883756270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2476274440"/>
                    </a:ext>
                  </a:extLst>
                </a:gridCol>
              </a:tblGrid>
              <a:tr h="3047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92727"/>
                  </a:ext>
                </a:extLst>
              </a:tr>
              <a:tr h="3047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182184"/>
                  </a:ext>
                </a:extLst>
              </a:tr>
              <a:tr h="3047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Speech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779959"/>
                  </a:ext>
                </a:extLst>
              </a:tr>
              <a:tr h="3047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gTTS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405394"/>
                  </a:ext>
                </a:extLst>
              </a:tr>
              <a:tr h="3047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library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959022"/>
                  </a:ext>
                </a:extLst>
              </a:tr>
              <a:tr h="3047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machine learning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432252"/>
                  </a:ext>
                </a:extLst>
              </a:tr>
              <a:tr h="3047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mpg321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988046"/>
                  </a:ext>
                </a:extLst>
              </a:tr>
              <a:tr h="3047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915742"/>
                  </a:ext>
                </a:extLst>
              </a:tr>
              <a:tr h="3047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voice recognition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721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222878"/>
      </p:ext>
    </p:extLst>
  </p:cSld>
  <p:clrMapOvr>
    <a:masterClrMapping/>
  </p:clrMapOvr>
  <p:transition>
    <p:diamond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5DB94-80DB-4181-EC88-E586933D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도전과제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ACD2C9-9181-3FCC-E0EE-3D1E9BF77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도전과제</a:t>
            </a:r>
            <a:endParaRPr lang="en-US" altLang="ko-KR" dirty="0"/>
          </a:p>
          <a:p>
            <a:pPr lvl="1"/>
            <a:r>
              <a:rPr lang="ko-KR" altLang="en-US" dirty="0"/>
              <a:t>글자 읽어주는 프로그램 작성</a:t>
            </a:r>
            <a:endParaRPr lang="en-US" altLang="ko-KR" dirty="0"/>
          </a:p>
          <a:p>
            <a:pPr lvl="2"/>
            <a:r>
              <a:rPr lang="en-US" altLang="ko-KR" sz="1800" dirty="0" err="1"/>
              <a:t>gTTS</a:t>
            </a:r>
            <a:r>
              <a:rPr lang="en-US" altLang="ko-KR" sz="1800" dirty="0"/>
              <a:t> </a:t>
            </a:r>
            <a:r>
              <a:rPr lang="ko-KR" altLang="en-US" sz="1800" dirty="0"/>
              <a:t>이용</a:t>
            </a:r>
            <a:endParaRPr lang="en-US" altLang="ko-KR" sz="1800" dirty="0"/>
          </a:p>
          <a:p>
            <a:pPr lvl="2"/>
            <a:r>
              <a:rPr lang="ko-KR" altLang="en-US" sz="1800" dirty="0"/>
              <a:t>글자는 키보드로 입력하고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엔터를</a:t>
            </a:r>
            <a:r>
              <a:rPr lang="ko-KR" altLang="en-US" sz="1800" dirty="0"/>
              <a:t> 누르면 음성 출력 시작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B75E5-CF9B-C501-369F-7BE5D8E8C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426209"/>
      </p:ext>
    </p:extLst>
  </p:cSld>
  <p:clrMapOvr>
    <a:masterClrMapping/>
  </p:clrMapOvr>
  <p:transition>
    <p:diamond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</a:t>
            </a:r>
            <a:r>
              <a:rPr lang="en-US" altLang="ko-KR"/>
              <a:t>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54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diamond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43704</TotalTime>
  <Words>1011</Words>
  <Application>Microsoft Office PowerPoint</Application>
  <PresentationFormat>화면 슬라이드 쇼(4:3)</PresentationFormat>
  <Paragraphs>269</Paragraphs>
  <Slides>54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4" baseType="lpstr">
      <vt:lpstr>HY견고딕</vt:lpstr>
      <vt:lpstr>Whitney</vt:lpstr>
      <vt:lpstr>굴림</vt:lpstr>
      <vt:lpstr>맑은 고딕</vt:lpstr>
      <vt:lpstr>휴먼엑스포</vt:lpstr>
      <vt:lpstr>휴먼편지체</vt:lpstr>
      <vt:lpstr>Arial</vt:lpstr>
      <vt:lpstr>Times New Roman</vt:lpstr>
      <vt:lpstr>Wingdings</vt:lpstr>
      <vt:lpstr>기본 디자인</vt:lpstr>
      <vt:lpstr>13강. 음성인식 (Google Speech)</vt:lpstr>
      <vt:lpstr>PowerPoint 프레젠테이션</vt:lpstr>
      <vt:lpstr>생각 더하기</vt:lpstr>
      <vt:lpstr>학습목표</vt:lpstr>
      <vt:lpstr>기술과 서비스의 각축장, 음성인식 시장(1)</vt:lpstr>
      <vt:lpstr>기술과 서비스의 각축장, 음성인식 시장(2)</vt:lpstr>
      <vt:lpstr>기술과 서비스의 각축장, 음성인식 시장(3)</vt:lpstr>
      <vt:lpstr>기술과 서비스의 각축장, 음성인식 시장</vt:lpstr>
      <vt:lpstr>구글 speech를 이용한 음성인식</vt:lpstr>
      <vt:lpstr>Google Cloud 플랫폼 무료 사용 등록</vt:lpstr>
      <vt:lpstr>Google Cloud 플랫폼 무료 사용 등록</vt:lpstr>
      <vt:lpstr>Google Cloud 플랫폼 무료 사용 등록</vt:lpstr>
      <vt:lpstr>Google Cloud 플랫폼 무료 사용 등록</vt:lpstr>
      <vt:lpstr>Google Cloud 플랫폼 무료 사용 등록</vt:lpstr>
      <vt:lpstr>Google Cloud 플랫폼 무료 사용 등록</vt:lpstr>
      <vt:lpstr>Google Cloud 플랫폼에 프로젝트 생성</vt:lpstr>
      <vt:lpstr>Google Cloud 플랫폼에 프로젝트 생성</vt:lpstr>
      <vt:lpstr>Google Cloud 플랫폼에 프로젝트 생성</vt:lpstr>
      <vt:lpstr>Google Cloud 플랫폼에 프로젝트 생성</vt:lpstr>
      <vt:lpstr>Google Cloud 플랫폼에 프로젝트 생성</vt:lpstr>
      <vt:lpstr>Google Cloud 프로젝트에 STT API 사용설정</vt:lpstr>
      <vt:lpstr>Google Cloud 프로젝트에 STT API 사용설정</vt:lpstr>
      <vt:lpstr>Google Cloud 프로젝트에 STT API 사용설정</vt:lpstr>
      <vt:lpstr>Google Cloud 프로젝트에 STT API 사용설정</vt:lpstr>
      <vt:lpstr>Google Cloud 프로젝트에 STT API 사용설정</vt:lpstr>
      <vt:lpstr>Google Cloud 프로젝트에 STT API 사용설정</vt:lpstr>
      <vt:lpstr>Google Cloud 프로젝트에 STT API 사용설정</vt:lpstr>
      <vt:lpstr>Google Cloud 프로젝트에 STT API 사용설정</vt:lpstr>
      <vt:lpstr>Google Cloud 프로젝트에 STT API 사용설정</vt:lpstr>
      <vt:lpstr>Google Cloud 프로젝트에 STT API 사용설정</vt:lpstr>
      <vt:lpstr>Google Cloud 프로젝트에 STT API 사용설정</vt:lpstr>
      <vt:lpstr>Google Cloud 프로젝트에 STT API 사용설정</vt:lpstr>
      <vt:lpstr>Google Cloud 프로젝트에 STT API 사용설정</vt:lpstr>
      <vt:lpstr>Google Cloud 프로젝트에 STT API 사용설정</vt:lpstr>
      <vt:lpstr>Google Cloud 프로젝트에 STT API 사용설정</vt:lpstr>
      <vt:lpstr>Google Cloud 프로젝트 확인</vt:lpstr>
      <vt:lpstr>파일 준비</vt:lpstr>
      <vt:lpstr>구글 음성인식 라이브러리 설치</vt:lpstr>
      <vt:lpstr>구글 음성인식 라이브러리 설치</vt:lpstr>
      <vt:lpstr>구글 스피치 실행 결과</vt:lpstr>
      <vt:lpstr>[실습1] 영어 음성 인식하기</vt:lpstr>
      <vt:lpstr>[실습1] 영어 음성 인식하기</vt:lpstr>
      <vt:lpstr>[실습1] 영어 음성 인식하기</vt:lpstr>
      <vt:lpstr>[실습2] 한국어 음성 인식하기</vt:lpstr>
      <vt:lpstr>[실습2] 한국어 음성 인식하기</vt:lpstr>
      <vt:lpstr>[실습2] 한국어 음성 인식하기</vt:lpstr>
      <vt:lpstr>[실습3] 한국어 읽고 말하기</vt:lpstr>
      <vt:lpstr>[실습3] 한국어 읽고 말하기</vt:lpstr>
      <vt:lpstr>[실습3] 한국어 읽고 말하기</vt:lpstr>
      <vt:lpstr>[실습3] 한국어 읽고 말하기</vt:lpstr>
      <vt:lpstr>단어</vt:lpstr>
      <vt:lpstr>용어</vt:lpstr>
      <vt:lpstr>도전과제</vt:lpstr>
      <vt:lpstr>질의 응답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김형래</cp:lastModifiedBy>
  <cp:revision>565</cp:revision>
  <dcterms:created xsi:type="dcterms:W3CDTF">2003-05-07T20:17:23Z</dcterms:created>
  <dcterms:modified xsi:type="dcterms:W3CDTF">2025-11-13T05:50:31Z</dcterms:modified>
</cp:coreProperties>
</file>