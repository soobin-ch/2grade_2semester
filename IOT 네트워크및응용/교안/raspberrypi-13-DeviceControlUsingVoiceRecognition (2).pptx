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632" r:id="rId2"/>
    <p:sldId id="648" r:id="rId3"/>
    <p:sldId id="1147" r:id="rId4"/>
    <p:sldId id="1148" r:id="rId5"/>
    <p:sldId id="1194" r:id="rId6"/>
    <p:sldId id="1233" r:id="rId7"/>
    <p:sldId id="1232" r:id="rId8"/>
    <p:sldId id="1234" r:id="rId9"/>
    <p:sldId id="1235" r:id="rId10"/>
    <p:sldId id="1236" r:id="rId11"/>
    <p:sldId id="1237" r:id="rId12"/>
    <p:sldId id="1238" r:id="rId13"/>
    <p:sldId id="1239" r:id="rId14"/>
    <p:sldId id="1240" r:id="rId15"/>
    <p:sldId id="1254" r:id="rId16"/>
    <p:sldId id="1241" r:id="rId17"/>
    <p:sldId id="1242" r:id="rId18"/>
    <p:sldId id="1243" r:id="rId19"/>
    <p:sldId id="1244" r:id="rId20"/>
    <p:sldId id="1245" r:id="rId21"/>
    <p:sldId id="1246" r:id="rId22"/>
    <p:sldId id="1247" r:id="rId23"/>
    <p:sldId id="1248" r:id="rId24"/>
    <p:sldId id="1249" r:id="rId25"/>
    <p:sldId id="1250" r:id="rId26"/>
    <p:sldId id="1251" r:id="rId27"/>
    <p:sldId id="1252" r:id="rId28"/>
    <p:sldId id="1253" r:id="rId29"/>
    <p:sldId id="1569" r:id="rId30"/>
    <p:sldId id="1231" r:id="rId31"/>
    <p:sldId id="1192" r:id="rId32"/>
    <p:sldId id="703" r:id="rId33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9900FF"/>
    <a:srgbClr val="6699FF"/>
    <a:srgbClr val="CC9900"/>
    <a:srgbClr val="FFCC99"/>
    <a:srgbClr val="0000FF"/>
    <a:srgbClr val="CCFF99"/>
    <a:srgbClr val="85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3" autoAdjust="0"/>
    <p:restoredTop sz="94637" autoAdjust="0"/>
  </p:normalViewPr>
  <p:slideViewPr>
    <p:cSldViewPr>
      <p:cViewPr varScale="1">
        <p:scale>
          <a:sx n="81" d="100"/>
          <a:sy n="81" d="100"/>
        </p:scale>
        <p:origin x="102" y="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70C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1E76F2-4EE6-1383-F068-4A6354B8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588789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14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>
                <a:solidFill>
                  <a:srgbClr val="FFFF00"/>
                </a:solidFill>
              </a:rPr>
              <a:t>음성인식 장치제어</a:t>
            </a:r>
            <a:br>
              <a:rPr lang="en-US" altLang="ko-KR" sz="4000" dirty="0">
                <a:solidFill>
                  <a:srgbClr val="FFFF00"/>
                </a:solidFill>
              </a:rPr>
            </a:br>
            <a:r>
              <a:rPr lang="en-US" altLang="ko-KR" sz="4000" dirty="0">
                <a:solidFill>
                  <a:srgbClr val="FFFF00"/>
                </a:solidFill>
              </a:rPr>
              <a:t>(Google</a:t>
            </a:r>
            <a:r>
              <a:rPr lang="ko-KR" altLang="en-US" sz="4000" dirty="0">
                <a:solidFill>
                  <a:srgbClr val="FFFF00"/>
                </a:solidFill>
              </a:rPr>
              <a:t> </a:t>
            </a:r>
            <a:r>
              <a:rPr lang="en-US" altLang="ko-KR" sz="4000" dirty="0">
                <a:solidFill>
                  <a:srgbClr val="FFFF00"/>
                </a:solidFill>
              </a:rPr>
              <a:t>Speech)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853A74-9345-525D-2097-35D55143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1" y="47475"/>
            <a:ext cx="5184578" cy="6763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C624DE-169D-A01A-4F7D-1A9CF1C1FD04}"/>
              </a:ext>
            </a:extLst>
          </p:cNvPr>
          <p:cNvSpPr txBox="1"/>
          <p:nvPr/>
        </p:nvSpPr>
        <p:spPr>
          <a:xfrm>
            <a:off x="1187641" y="3068960"/>
            <a:ext cx="6768736" cy="73584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당신은 당신의 일을 찾았습니까</a:t>
            </a:r>
            <a:r>
              <a:rPr lang="en-US" altLang="ko-KR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?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조나단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</a:t>
            </a:r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윈터스의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나는 성공을 마냥 기다릴 수 없었기 때문에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20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성공하지 않고 진행했습니다</a:t>
            </a:r>
            <a:r>
              <a:rPr lang="en-US" altLang="ko-KR" sz="2000" b="0" i="0" dirty="0">
                <a:solidFill>
                  <a:srgbClr val="181818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 err="1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조너선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ko-KR" altLang="en-US" sz="2000" b="1" dirty="0" err="1">
                <a:solidFill>
                  <a:srgbClr val="800000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윈터스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(Jonathan Winters)</a:t>
            </a: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endParaRPr lang="en-US" altLang="ko-KR" sz="24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400" b="0" i="1" dirty="0">
                <a:solidFill>
                  <a:srgbClr val="31708F"/>
                </a:solidFill>
                <a:effectLst/>
                <a:latin typeface="Whitney"/>
              </a:rPr>
              <a:t>“I Couldn’t wait for success, so I went ahead without it.”</a:t>
            </a:r>
            <a:endParaRPr lang="en-US" altLang="ko-KR" sz="20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508104" y="4140396"/>
            <a:ext cx="3527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&lt;Jonathan Harshman Winters III</a:t>
            </a:r>
            <a:r>
              <a:rPr lang="en-US" altLang="ko-KR" sz="1200" i="0" dirty="0">
                <a:solidFill>
                  <a:srgbClr val="373A3C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(1925~2013)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미국의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희극영화배우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개구장이 스머프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개구장이 스머프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2&gt;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파파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스머프 목소리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C27D86-49DE-FB4D-E789-A6078B69B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483" y="1557338"/>
            <a:ext cx="3237186" cy="241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음성인식을 이용하여 장치를 제어할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다수의 장치 제어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143F2-5109-BFF0-7572-9CD5CC21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57010-B8FF-9493-61CE-86F9D2C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내용 </a:t>
            </a:r>
            <a:endParaRPr lang="en-US" altLang="ko-KR" dirty="0"/>
          </a:p>
          <a:p>
            <a:pPr lvl="1"/>
            <a:r>
              <a:rPr lang="ko-KR" altLang="en-US" dirty="0"/>
              <a:t>음성인식 마이크에 음성명령을 내림</a:t>
            </a:r>
            <a:endParaRPr lang="en-US" altLang="ko-KR" dirty="0"/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불 켜</a:t>
            </a:r>
            <a:r>
              <a:rPr lang="en-US" altLang="ko-KR" dirty="0"/>
              <a:t>” </a:t>
            </a:r>
            <a:r>
              <a:rPr lang="en-US" altLang="ko-KR" dirty="0">
                <a:sym typeface="Wingdings" panose="05000000000000000000" pitchFamily="2" charset="2"/>
              </a:rPr>
              <a:t> LED On, “</a:t>
            </a:r>
            <a:r>
              <a:rPr lang="ko-KR" altLang="en-US" dirty="0">
                <a:sym typeface="Wingdings" panose="05000000000000000000" pitchFamily="2" charset="2"/>
              </a:rPr>
              <a:t>불을 켭니다</a:t>
            </a:r>
            <a:r>
              <a:rPr lang="en-US" altLang="ko-KR" dirty="0">
                <a:sym typeface="Wingdings" panose="05000000000000000000" pitchFamily="2" charset="2"/>
              </a:rPr>
              <a:t>“ </a:t>
            </a:r>
            <a:r>
              <a:rPr lang="ko-KR" altLang="en-US" dirty="0">
                <a:sym typeface="Wingdings" panose="05000000000000000000" pitchFamily="2" charset="2"/>
              </a:rPr>
              <a:t>음성 메시지 출력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불 꺼</a:t>
            </a:r>
            <a:r>
              <a:rPr lang="en-US" altLang="ko-KR" dirty="0"/>
              <a:t>” </a:t>
            </a:r>
            <a:r>
              <a:rPr lang="en-US" altLang="ko-KR" dirty="0">
                <a:sym typeface="Wingdings" panose="05000000000000000000" pitchFamily="2" charset="2"/>
              </a:rPr>
              <a:t> LED Off, “</a:t>
            </a:r>
            <a:r>
              <a:rPr lang="ko-KR" altLang="en-US" dirty="0">
                <a:sym typeface="Wingdings" panose="05000000000000000000" pitchFamily="2" charset="2"/>
              </a:rPr>
              <a:t>불을 끕니다</a:t>
            </a:r>
            <a:r>
              <a:rPr lang="en-US" altLang="ko-KR" dirty="0">
                <a:sym typeface="Wingdings" panose="05000000000000000000" pitchFamily="2" charset="2"/>
              </a:rPr>
              <a:t>“ </a:t>
            </a:r>
            <a:r>
              <a:rPr lang="ko-KR" altLang="en-US" dirty="0">
                <a:sym typeface="Wingdings" panose="05000000000000000000" pitchFamily="2" charset="2"/>
              </a:rPr>
              <a:t>음성 메시지 출력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실습회로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131DF-E530-9CA1-8E3C-22F5B333E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</a:t>
            </a:fld>
            <a:endParaRPr lang="en-US" altLang="ko-KR"/>
          </a:p>
        </p:txBody>
      </p:sp>
      <p:pic>
        <p:nvPicPr>
          <p:cNvPr id="22" name="그림 21" descr="전자제품, 텍스트, 회로, 전자 공학이(가) 표시된 사진&#10;&#10;자동 생성된 설명">
            <a:extLst>
              <a:ext uri="{FF2B5EF4-FFF2-40B4-BE49-F238E27FC236}">
                <a16:creationId xmlns:a16="http://schemas.microsoft.com/office/drawing/2014/main" id="{7BE0B181-6702-8F49-56DD-F6AB33D402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56618"/>
            <a:ext cx="4911609" cy="2879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6AA167-BDB5-C521-3B1F-3BE033D2B16D}"/>
              </a:ext>
            </a:extLst>
          </p:cNvPr>
          <p:cNvSpPr txBox="1"/>
          <p:nvPr/>
        </p:nvSpPr>
        <p:spPr>
          <a:xfrm>
            <a:off x="4773055" y="4183091"/>
            <a:ext cx="461986" cy="276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2AF43B-FD9B-0775-4D5B-2611E490F63D}"/>
              </a:ext>
            </a:extLst>
          </p:cNvPr>
          <p:cNvSpPr txBox="1"/>
          <p:nvPr/>
        </p:nvSpPr>
        <p:spPr>
          <a:xfrm>
            <a:off x="4773055" y="4765775"/>
            <a:ext cx="989373" cy="276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저항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(220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)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60C26-3799-17D7-E91B-F1367F488BF1}"/>
              </a:ext>
            </a:extLst>
          </p:cNvPr>
          <p:cNvSpPr txBox="1"/>
          <p:nvPr/>
        </p:nvSpPr>
        <p:spPr>
          <a:xfrm>
            <a:off x="4048991" y="5157192"/>
            <a:ext cx="534121" cy="276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GND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FAE9D9-67A5-F28B-A9B8-22B77BD94AEF}"/>
              </a:ext>
            </a:extLst>
          </p:cNvPr>
          <p:cNvSpPr txBox="1"/>
          <p:nvPr/>
        </p:nvSpPr>
        <p:spPr>
          <a:xfrm>
            <a:off x="4243008" y="3538647"/>
            <a:ext cx="396000" cy="2769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#24</a:t>
            </a:r>
            <a:endParaRPr lang="ko-KR" altLang="en-US" sz="12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175590"/>
      </p:ext>
    </p:extLst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B9FFC-09D7-EA3C-45E4-609AB0AF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폴더 및 필요한 파일 준비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4AED3-CB25-91B6-B16C-3E3E19DD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폴더 생성</a:t>
            </a:r>
            <a:endParaRPr lang="en-US" altLang="ko-KR" dirty="0"/>
          </a:p>
          <a:p>
            <a:pPr lvl="1"/>
            <a:r>
              <a:rPr lang="en-US" altLang="ko-KR" dirty="0"/>
              <a:t>works/ch13</a:t>
            </a:r>
          </a:p>
          <a:p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복사</a:t>
            </a:r>
            <a:endParaRPr lang="en-US" altLang="ko-KR" dirty="0"/>
          </a:p>
          <a:p>
            <a:pPr lvl="1"/>
            <a:r>
              <a:rPr lang="en-US" altLang="ko-KR" dirty="0" err="1"/>
              <a:t>MicrophoneStream</a:t>
            </a:r>
            <a:r>
              <a:rPr lang="en-US" altLang="ko-KR" dirty="0"/>
              <a:t> </a:t>
            </a:r>
            <a:r>
              <a:rPr lang="ko-KR" altLang="en-US" dirty="0"/>
              <a:t>클래스 및 비공개 인증키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3DA529-EF9F-1173-B238-4C63EBD33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B746AB-48A9-C9E2-9353-20CDA9F4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852936"/>
            <a:ext cx="4608512" cy="34476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F18325-89AE-04C1-8C7F-990486969CB3}"/>
              </a:ext>
            </a:extLst>
          </p:cNvPr>
          <p:cNvSpPr/>
          <p:nvPr/>
        </p:nvSpPr>
        <p:spPr>
          <a:xfrm>
            <a:off x="4139952" y="5229200"/>
            <a:ext cx="1224136" cy="7920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14969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46BFB-CA7B-E524-A767-D5E6CA6D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</a:t>
            </a:r>
            <a:r>
              <a:rPr lang="ko-KR" altLang="en-US" dirty="0"/>
              <a:t>안내문구 준비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A3F3C-55CC-1232-6DAA-F6F7EF724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98D7B6-F254-CE02-E864-7A86FC12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18" y="1052736"/>
            <a:ext cx="7403163" cy="2664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01C8B5-2254-5161-7E0C-E36B5F63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8" y="3812198"/>
            <a:ext cx="3572211" cy="2664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61EA4DD-709A-1791-F562-649D0991CB1F}"/>
              </a:ext>
            </a:extLst>
          </p:cNvPr>
          <p:cNvSpPr/>
          <p:nvPr/>
        </p:nvSpPr>
        <p:spPr>
          <a:xfrm>
            <a:off x="2771800" y="5229200"/>
            <a:ext cx="1008112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02476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음성인식으로 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8D66B6-5675-8FD6-7F7B-F2EF713F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8913367" cy="52660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0478F4D-A771-EAB2-2ECD-0DC41C1B5B97}"/>
              </a:ext>
            </a:extLst>
          </p:cNvPr>
          <p:cNvSpPr/>
          <p:nvPr/>
        </p:nvSpPr>
        <p:spPr>
          <a:xfrm>
            <a:off x="539552" y="3501008"/>
            <a:ext cx="7920880" cy="12961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7448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음성인식으로 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5D74EF-5FBF-9C68-4147-950832DC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5" y="1034225"/>
            <a:ext cx="8640960" cy="53213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4B82E49-F5E6-754B-C2A2-2D32103C72E3}"/>
              </a:ext>
            </a:extLst>
          </p:cNvPr>
          <p:cNvSpPr/>
          <p:nvPr/>
        </p:nvSpPr>
        <p:spPr>
          <a:xfrm>
            <a:off x="522135" y="3501008"/>
            <a:ext cx="7920880" cy="5760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7458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76D9F-FBA5-B7DB-379D-84A19140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2] </a:t>
            </a:r>
            <a:r>
              <a:rPr lang="ko-KR" altLang="en-US" dirty="0"/>
              <a:t>음성인식으로 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F026BAD-CE02-16F1-7A8E-735DBB82E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001043"/>
            <a:ext cx="8950325" cy="5581650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실행 결과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불 켜</a:t>
            </a:r>
            <a:r>
              <a:rPr lang="en-US" altLang="ko-KR" dirty="0"/>
              <a:t>” </a:t>
            </a:r>
            <a:r>
              <a:rPr lang="ko-KR" altLang="en-US" dirty="0"/>
              <a:t>명령을 내리면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불을 켭니다</a:t>
            </a:r>
            <a:r>
              <a:rPr lang="en-US" altLang="ko-KR" dirty="0"/>
              <a:t>.”</a:t>
            </a:r>
            <a:r>
              <a:rPr lang="ko-KR" altLang="en-US" dirty="0"/>
              <a:t>라고 응답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불 꺼</a:t>
            </a:r>
            <a:r>
              <a:rPr lang="en-US" altLang="ko-KR" dirty="0"/>
              <a:t>” </a:t>
            </a:r>
            <a:r>
              <a:rPr lang="ko-KR" altLang="en-US" dirty="0"/>
              <a:t>명령을 내리면</a:t>
            </a:r>
            <a:r>
              <a:rPr lang="en-US" altLang="ko-KR" dirty="0"/>
              <a:t>, “</a:t>
            </a:r>
            <a:r>
              <a:rPr lang="ko-KR" altLang="en-US" dirty="0"/>
              <a:t>불을 끕니다</a:t>
            </a:r>
            <a:r>
              <a:rPr lang="en-US" altLang="ko-KR" dirty="0"/>
              <a:t>.”</a:t>
            </a:r>
            <a:r>
              <a:rPr lang="ko-KR" altLang="en-US" dirty="0"/>
              <a:t>라고 응답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C4C1F-B72E-E066-C9D7-2567EA32E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1DAA77-5C89-C20D-6EA3-72171129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8928100" cy="19790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644CDE-E01F-3601-5E88-AEEEB738A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5" y="4437112"/>
            <a:ext cx="6202659" cy="19992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24C6372-EB90-B4DD-37B4-909C1C3D2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30" y="4555927"/>
            <a:ext cx="5697325" cy="200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6564764"/>
      </p:ext>
    </p:extLst>
  </p:cSld>
  <p:clrMapOvr>
    <a:masterClrMapping/>
  </p:clrMapOvr>
  <p:transition>
    <p:diamond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DC47E15-0A1A-8B78-B0A8-7453A3F57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9" y="1029000"/>
            <a:ext cx="8104762" cy="48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D8EC07-6CA5-ECA5-844C-CB8BA71E4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3] </a:t>
            </a:r>
            <a:r>
              <a:rPr lang="ko-KR" altLang="en-US" dirty="0"/>
              <a:t>음성인식으로 하나의 </a:t>
            </a:r>
            <a:r>
              <a:rPr lang="en-US" altLang="ko-KR" dirty="0"/>
              <a:t>LED </a:t>
            </a:r>
            <a:r>
              <a:rPr lang="ko-KR" altLang="en-US" dirty="0"/>
              <a:t>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08FC7-6D39-6E1C-A288-C55679DA9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784C6-1438-7B79-FE06-4626808EA1B7}"/>
              </a:ext>
            </a:extLst>
          </p:cNvPr>
          <p:cNvSpPr txBox="1"/>
          <p:nvPr/>
        </p:nvSpPr>
        <p:spPr>
          <a:xfrm>
            <a:off x="899592" y="5949280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코드 생략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9CAEFC-659A-3087-DF7F-DC8B7307957C}"/>
              </a:ext>
            </a:extLst>
          </p:cNvPr>
          <p:cNvSpPr/>
          <p:nvPr/>
        </p:nvSpPr>
        <p:spPr>
          <a:xfrm>
            <a:off x="971599" y="2132856"/>
            <a:ext cx="741682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625B68-C6EA-447C-9348-891CC568A2C7}"/>
              </a:ext>
            </a:extLst>
          </p:cNvPr>
          <p:cNvSpPr/>
          <p:nvPr/>
        </p:nvSpPr>
        <p:spPr>
          <a:xfrm>
            <a:off x="971599" y="3333684"/>
            <a:ext cx="7416825" cy="50889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EEED46-CA21-BA8D-7118-0F0EA5D74BC7}"/>
              </a:ext>
            </a:extLst>
          </p:cNvPr>
          <p:cNvSpPr/>
          <p:nvPr/>
        </p:nvSpPr>
        <p:spPr>
          <a:xfrm>
            <a:off x="986609" y="4614713"/>
            <a:ext cx="741682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8A16E1-F191-BC72-34BC-2E6E735A080B}"/>
              </a:ext>
            </a:extLst>
          </p:cNvPr>
          <p:cNvSpPr/>
          <p:nvPr/>
        </p:nvSpPr>
        <p:spPr>
          <a:xfrm>
            <a:off x="977278" y="5119436"/>
            <a:ext cx="7416825" cy="21602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959E6-29C0-D49C-34E7-2318DA9136BE}"/>
              </a:ext>
            </a:extLst>
          </p:cNvPr>
          <p:cNvSpPr txBox="1"/>
          <p:nvPr/>
        </p:nvSpPr>
        <p:spPr>
          <a:xfrm>
            <a:off x="3131840" y="5957603"/>
            <a:ext cx="2704587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LED On/Off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 확인</a:t>
            </a:r>
          </a:p>
        </p:txBody>
      </p:sp>
    </p:spTree>
    <p:extLst>
      <p:ext uri="{BB962C8B-B14F-4D97-AF65-F5344CB8AC3E}">
        <p14:creationId xmlns:p14="http://schemas.microsoft.com/office/powerpoint/2010/main" val="211137644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56BB9-95F6-58CC-BB50-FD0C713A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음성 인식으로 여러 개의 장치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A27E8-D567-DAB4-57E7-65732FB2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명령의 종류</a:t>
            </a:r>
            <a:endParaRPr lang="en-US" altLang="ko-KR" dirty="0"/>
          </a:p>
          <a:p>
            <a:pPr lvl="1"/>
            <a:r>
              <a:rPr lang="ko-KR" altLang="en-US" dirty="0"/>
              <a:t>안방 켜 </a:t>
            </a:r>
            <a:r>
              <a:rPr lang="en-US" altLang="ko-KR" dirty="0"/>
              <a:t>/ </a:t>
            </a:r>
            <a:r>
              <a:rPr lang="ko-KR" altLang="en-US" dirty="0"/>
              <a:t>꺼 </a:t>
            </a: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LED On/Off </a:t>
            </a:r>
            <a:r>
              <a:rPr lang="ko-KR" altLang="en-US" dirty="0">
                <a:sym typeface="Wingdings" panose="05000000000000000000" pitchFamily="2" charset="2"/>
              </a:rPr>
              <a:t>동작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거실 켜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꺼 </a:t>
            </a:r>
            <a:r>
              <a:rPr lang="en-US" altLang="ko-KR" dirty="0">
                <a:sym typeface="Wingdings" panose="05000000000000000000" pitchFamily="2" charset="2"/>
              </a:rPr>
              <a:t> 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LED On/Off </a:t>
            </a:r>
            <a:r>
              <a:rPr lang="ko-KR" altLang="en-US" dirty="0">
                <a:sym typeface="Wingdings" panose="05000000000000000000" pitchFamily="2" charset="2"/>
              </a:rPr>
              <a:t>동작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주방 켜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꺼 </a:t>
            </a:r>
            <a:r>
              <a:rPr lang="en-US" altLang="ko-KR" dirty="0">
                <a:sym typeface="Wingdings" panose="05000000000000000000" pitchFamily="2" charset="2"/>
              </a:rPr>
              <a:t> 3</a:t>
            </a:r>
            <a:r>
              <a:rPr lang="en-US" altLang="ko-KR" baseline="30000" dirty="0">
                <a:sym typeface="Wingdings" panose="05000000000000000000" pitchFamily="2" charset="2"/>
              </a:rPr>
              <a:t>rd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LED On/Off </a:t>
            </a:r>
            <a:r>
              <a:rPr lang="ko-KR" altLang="en-US" dirty="0">
                <a:sym typeface="Wingdings" panose="05000000000000000000" pitchFamily="2" charset="2"/>
              </a:rPr>
              <a:t>동작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선풍기 켜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모터 </a:t>
            </a:r>
            <a:r>
              <a:rPr lang="en-US" altLang="ko-KR" dirty="0">
                <a:sym typeface="Wingdings" panose="05000000000000000000" pitchFamily="2" charset="2"/>
              </a:rPr>
              <a:t>On/Off </a:t>
            </a:r>
            <a:r>
              <a:rPr lang="ko-KR" altLang="en-US" dirty="0">
                <a:sym typeface="Wingdings" panose="05000000000000000000" pitchFamily="2" charset="2"/>
              </a:rPr>
              <a:t>동작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54228-FA88-89BC-0B5C-5663DB575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7754859"/>
      </p:ext>
    </p:extLst>
  </p:cSld>
  <p:clrMapOvr>
    <a:masterClrMapping/>
  </p:clrMapOvr>
  <p:transition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56BB9-95F6-58CC-BB50-FD0C713A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음성 인식으로 여러 개의 장치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A27E8-D567-DAB4-57E7-65732FB2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실습회로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</a:pPr>
            <a:r>
              <a:rPr lang="en-US" altLang="ko-KR" dirty="0">
                <a:sym typeface="Wingdings" panose="05000000000000000000" pitchFamily="2" charset="2"/>
              </a:rPr>
              <a:t>LED </a:t>
            </a:r>
            <a:r>
              <a:rPr lang="ko-KR" altLang="en-US" dirty="0">
                <a:sym typeface="Wingdings" panose="05000000000000000000" pitchFamily="2" charset="2"/>
              </a:rPr>
              <a:t>결선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</a:pP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en-US" altLang="ko-KR" dirty="0">
                <a:sym typeface="Wingdings" panose="05000000000000000000" pitchFamily="2" charset="2"/>
              </a:rPr>
              <a:t> LED  GPIO24, 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LED  GPIO23, 3</a:t>
            </a:r>
            <a:r>
              <a:rPr lang="en-US" altLang="ko-KR" baseline="30000" dirty="0">
                <a:sym typeface="Wingdings" panose="05000000000000000000" pitchFamily="2" charset="2"/>
              </a:rPr>
              <a:t>rd</a:t>
            </a:r>
            <a:r>
              <a:rPr lang="en-US" altLang="ko-KR" dirty="0">
                <a:sym typeface="Wingdings" panose="05000000000000000000" pitchFamily="2" charset="2"/>
              </a:rPr>
              <a:t> LED  GPIO18</a:t>
            </a:r>
          </a:p>
          <a:p>
            <a:pPr lvl="1">
              <a:lnSpc>
                <a:spcPct val="100000"/>
              </a:lnSpc>
            </a:pPr>
            <a:r>
              <a:rPr lang="en-US" altLang="ko-KR" dirty="0"/>
              <a:t>Motor Driver(L9110S) </a:t>
            </a:r>
            <a:r>
              <a:rPr lang="ko-KR" altLang="en-US" dirty="0"/>
              <a:t>결선</a:t>
            </a:r>
            <a:endParaRPr lang="en-US" altLang="ko-KR" dirty="0"/>
          </a:p>
          <a:p>
            <a:pPr lvl="2">
              <a:lnSpc>
                <a:spcPct val="100000"/>
              </a:lnSpc>
            </a:pPr>
            <a:r>
              <a:rPr lang="en-US" altLang="ko-KR" dirty="0"/>
              <a:t>B-IA </a:t>
            </a:r>
            <a:r>
              <a:rPr lang="en-US" altLang="ko-KR" dirty="0">
                <a:sym typeface="Wingdings" panose="05000000000000000000" pitchFamily="2" charset="2"/>
              </a:rPr>
              <a:t> GPIO12, B-IB  GND</a:t>
            </a:r>
          </a:p>
          <a:p>
            <a:pPr lvl="2">
              <a:lnSpc>
                <a:spcPct val="100000"/>
              </a:lnSpc>
            </a:pPr>
            <a:r>
              <a:rPr lang="en-US" altLang="ko-KR" dirty="0">
                <a:sym typeface="Wingdings" panose="05000000000000000000" pitchFamily="2" charset="2"/>
              </a:rPr>
              <a:t>VCC  5V, GND  GND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54228-FA88-89BC-0B5C-5663DB575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pic>
        <p:nvPicPr>
          <p:cNvPr id="6" name="그림 5" descr="텍스트, 회로, 평면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790973-B20C-B686-0F1F-614D738E3A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39" y="3409285"/>
            <a:ext cx="6142522" cy="302021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B26E295-26B5-6E57-A032-513A91FE34B0}"/>
              </a:ext>
            </a:extLst>
          </p:cNvPr>
          <p:cNvSpPr txBox="1"/>
          <p:nvPr/>
        </p:nvSpPr>
        <p:spPr>
          <a:xfrm>
            <a:off x="3530258" y="5157192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C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#12</a:t>
            </a:r>
            <a:endParaRPr lang="ko-KR" altLang="en-US" sz="1400" b="1" dirty="0">
              <a:solidFill>
                <a:srgbClr val="CC66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653A47-E219-9ECA-E130-1BF34B971A56}"/>
              </a:ext>
            </a:extLst>
          </p:cNvPr>
          <p:cNvSpPr txBox="1"/>
          <p:nvPr/>
        </p:nvSpPr>
        <p:spPr>
          <a:xfrm>
            <a:off x="3999526" y="3481371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#24</a:t>
            </a:r>
            <a:endParaRPr lang="ko-KR" altLang="en-US" sz="1400" b="1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37349-F717-B6C7-E8B6-411581245037}"/>
              </a:ext>
            </a:extLst>
          </p:cNvPr>
          <p:cNvSpPr txBox="1"/>
          <p:nvPr/>
        </p:nvSpPr>
        <p:spPr>
          <a:xfrm>
            <a:off x="4461806" y="3438807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#23</a:t>
            </a:r>
            <a:endParaRPr lang="ko-KR" altLang="en-US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EC2999-39C8-34CA-4243-6AD9D122078B}"/>
              </a:ext>
            </a:extLst>
          </p:cNvPr>
          <p:cNvSpPr txBox="1"/>
          <p:nvPr/>
        </p:nvSpPr>
        <p:spPr>
          <a:xfrm>
            <a:off x="4915436" y="3404242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#18</a:t>
            </a:r>
            <a:endParaRPr lang="ko-KR" altLang="en-US" sz="1400" b="1" dirty="0">
              <a:solidFill>
                <a:srgbClr val="00B05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165519"/>
      </p:ext>
    </p:extLst>
  </p:cSld>
  <p:clrMapOvr>
    <a:masterClrMapping/>
  </p:clrMapOvr>
  <p:transition>
    <p:diamond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C4E4B-FF4F-C4A3-4D53-E75D1A9C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Switch-Case</a:t>
            </a:r>
            <a:r>
              <a:rPr lang="ko-KR" altLang="en-US" dirty="0"/>
              <a:t>문 대체 코드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15B59-9481-AAFE-2653-3B25D107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181F11-A931-06AE-4893-2989D953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7571"/>
            <a:ext cx="6480274" cy="52135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9E1C4E-1919-7C96-F96A-B14F4524F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95" y="3717032"/>
            <a:ext cx="5333905" cy="25505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59835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C4E4B-FF4F-C4A3-4D53-E75D1A9C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Switch-Case</a:t>
            </a:r>
            <a:r>
              <a:rPr lang="ko-KR" altLang="en-US" dirty="0"/>
              <a:t>문 대체 코드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15B59-9481-AAFE-2653-3B25D107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B12064-1AC8-0EF6-0C6A-ED637F57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0" y="5157192"/>
            <a:ext cx="3314286" cy="8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E86C33-F191-C039-EDC3-CF0033573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0" y="1151473"/>
            <a:ext cx="3371429" cy="91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0C91788-88A3-C41C-0E68-1627DC631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50" y="2537507"/>
            <a:ext cx="3409524" cy="8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EA974CE-F768-596F-736D-833CDC76D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50" y="3837826"/>
            <a:ext cx="3352381" cy="8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66638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D4334-0F49-9E31-E552-29496250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실습</a:t>
            </a:r>
            <a:r>
              <a:rPr lang="en-US" altLang="ko-KR" dirty="0"/>
              <a:t>4</a:t>
            </a:r>
            <a:r>
              <a:rPr lang="ko-KR" altLang="en-US" dirty="0"/>
              <a:t>의 결과 테스트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오류발생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9C664-A6BA-BB42-6C29-F3D561FF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7BA34B-8177-8649-434A-270F22E7A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33" y="1129000"/>
            <a:ext cx="8533333" cy="46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6777525"/>
      </p:ext>
    </p:extLst>
  </p:cSld>
  <p:clrMapOvr>
    <a:masterClrMapping/>
  </p:clrMapOvr>
  <p:transition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D4334-0F49-9E31-E552-29496250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실습</a:t>
            </a:r>
            <a:r>
              <a:rPr lang="en-US" altLang="ko-KR" dirty="0"/>
              <a:t>4</a:t>
            </a:r>
            <a:r>
              <a:rPr lang="ko-KR" altLang="en-US" dirty="0"/>
              <a:t>의 결과 테스트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오류발생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9C664-A6BA-BB42-6C29-F3D561FF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DC5D63-28BF-DDB3-824B-86ECE9449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980728"/>
            <a:ext cx="7344818" cy="51767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5135558"/>
      </p:ext>
    </p:extLst>
  </p:cSld>
  <p:clrMapOvr>
    <a:masterClrMapping/>
  </p:clrMapOvr>
  <p:transition>
    <p:diamond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D4334-0F49-9E31-E552-29496250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실습</a:t>
            </a:r>
            <a:r>
              <a:rPr lang="en-US" altLang="ko-KR" dirty="0"/>
              <a:t>4</a:t>
            </a:r>
            <a:r>
              <a:rPr lang="ko-KR" altLang="en-US" dirty="0"/>
              <a:t>의 결과 테스트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오류발생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9C664-A6BA-BB42-6C29-F3D561FF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DB8807-6ED3-B807-183C-5F089790A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959197"/>
            <a:ext cx="7560840" cy="55241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5C4563-2C04-A442-DAFE-6BBF91D56BB3}"/>
              </a:ext>
            </a:extLst>
          </p:cNvPr>
          <p:cNvSpPr txBox="1"/>
          <p:nvPr/>
        </p:nvSpPr>
        <p:spPr>
          <a:xfrm>
            <a:off x="6372200" y="6144799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코드 생략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601931"/>
      </p:ext>
    </p:extLst>
  </p:cSld>
  <p:clrMapOvr>
    <a:masterClrMapping/>
  </p:clrMapOvr>
  <p:transition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D4334-0F49-9E31-E552-294962507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</a:t>
            </a:r>
            <a:r>
              <a:rPr lang="ko-KR" altLang="en-US" dirty="0"/>
              <a:t>실습</a:t>
            </a:r>
            <a:r>
              <a:rPr lang="en-US" altLang="ko-KR" dirty="0"/>
              <a:t>4</a:t>
            </a:r>
            <a:r>
              <a:rPr lang="ko-KR" altLang="en-US" dirty="0"/>
              <a:t>의 결과 테스트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오류발생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29C664-A6BA-BB42-6C29-F3D561FF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B56ACD-8A9F-4152-0E6F-4DEBC9CA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4039454" cy="11055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65B4A4-C9FB-FFEF-506D-8C7DE105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49" y="2357886"/>
            <a:ext cx="4039454" cy="12818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E274BC-CA0B-5AE4-EFFD-55C3263242EF}"/>
              </a:ext>
            </a:extLst>
          </p:cNvPr>
          <p:cNvSpPr txBox="1"/>
          <p:nvPr/>
        </p:nvSpPr>
        <p:spPr>
          <a:xfrm>
            <a:off x="323528" y="6093296"/>
            <a:ext cx="71737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스피커 출력음을 인식하기도하고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인식속도가 매우 늦어 한계를 느끼기도 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5F73E2-61BF-DA74-47CF-38AA5E404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7" y="3767346"/>
            <a:ext cx="6757787" cy="9577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305794-E43B-FC8E-D20C-43CFCBF97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7" y="4843738"/>
            <a:ext cx="6757787" cy="11748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6137320"/>
      </p:ext>
    </p:extLst>
  </p:cSld>
  <p:clrMapOvr>
    <a:masterClrMapping/>
  </p:clrMapOvr>
  <p:transition>
    <p:diamond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9E19FB-D0A4-3202-425B-06722D20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9" y="1052736"/>
            <a:ext cx="8852422" cy="54006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7224186"/>
      </p:ext>
    </p:extLst>
  </p:cSld>
  <p:clrMapOvr>
    <a:masterClrMapping/>
  </p:clrMapOvr>
  <p:transition>
    <p:diamond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D576C-7937-458A-59CC-377BE4737FFA}"/>
              </a:ext>
            </a:extLst>
          </p:cNvPr>
          <p:cNvSpPr txBox="1"/>
          <p:nvPr/>
        </p:nvSpPr>
        <p:spPr>
          <a:xfrm>
            <a:off x="3647708" y="6415095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코드 생략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0633D8-04CE-C15B-4383-A845AB29D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27" y="887694"/>
            <a:ext cx="7551344" cy="55527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99248497"/>
      </p:ext>
    </p:extLst>
  </p:cSld>
  <p:clrMapOvr>
    <a:masterClrMapping/>
  </p:clrMapOvr>
  <p:transition>
    <p:diamond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ko-KR" altLang="en-US" dirty="0"/>
              <a:t>코드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94D3FE-EDB6-B2D0-EA71-5104B7AEE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80621"/>
            <a:ext cx="4968552" cy="2491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0DDE3B-341A-7759-A7B6-AD44FDD2A3B9}"/>
              </a:ext>
            </a:extLst>
          </p:cNvPr>
          <p:cNvSpPr txBox="1"/>
          <p:nvPr/>
        </p:nvSpPr>
        <p:spPr>
          <a:xfrm>
            <a:off x="251520" y="4509120"/>
            <a:ext cx="5176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스피커 출력을 제거하여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안정성은 조금 높아졌음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속도 문제는 여전함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9821744"/>
      </p:ext>
    </p:extLst>
  </p:cSld>
  <p:clrMapOvr>
    <a:masterClrMapping/>
  </p:clrMapOvr>
  <p:transition>
    <p:diamond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7] </a:t>
            </a:r>
            <a:r>
              <a:rPr lang="ko-KR" altLang="en-US" dirty="0"/>
              <a:t>회로 동작 테스트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A61DD3-5EF7-32BE-A101-32290793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565" y="2420888"/>
            <a:ext cx="3363535" cy="27434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00349B-0C13-0E37-4734-0C4411EE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3" y="1124744"/>
            <a:ext cx="5090798" cy="43204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446635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</a:t>
            </a:r>
            <a:r>
              <a:rPr lang="ko-KR" altLang="en-US" dirty="0"/>
              <a:t>음성인식으로 다중 장치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B56202-8791-4731-B563-567B32B9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8" y="1011231"/>
            <a:ext cx="8808483" cy="54189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8122913"/>
      </p:ext>
    </p:extLst>
  </p:cSld>
  <p:clrMapOvr>
    <a:masterClrMapping/>
  </p:clrMapOvr>
  <p:transition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</a:t>
            </a:r>
            <a:r>
              <a:rPr lang="ko-KR" altLang="en-US" dirty="0"/>
              <a:t>음성인식으로 다중 장치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E0B229-8024-E2AF-95AF-1E2EA58C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6" y="988013"/>
            <a:ext cx="8185528" cy="54726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B026F-C7C0-5DC2-CA2E-1B3FB93AE986}"/>
              </a:ext>
            </a:extLst>
          </p:cNvPr>
          <p:cNvSpPr txBox="1"/>
          <p:nvPr/>
        </p:nvSpPr>
        <p:spPr>
          <a:xfrm>
            <a:off x="3647708" y="6415095"/>
            <a:ext cx="1848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 코드 생략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205724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DE9D7-C932-0A56-3CB4-264C0587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</a:t>
            </a:r>
            <a:r>
              <a:rPr lang="ko-KR" altLang="en-US" dirty="0"/>
              <a:t>음성인식으로 다중 장치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11962-6526-03C4-D483-CFADFBE9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F2D619-5FD2-B642-C34B-B4FEBDB2B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268760"/>
            <a:ext cx="5892899" cy="28803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9A22C3-9C2F-793C-C683-605083D70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3096946"/>
            <a:ext cx="4696342" cy="31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3593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32B88-86F9-3AFB-CFFD-E9EEC11C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도전과제</a:t>
            </a:r>
            <a:r>
              <a:rPr lang="en-US" altLang="ko-KR" dirty="0"/>
              <a:t>] </a:t>
            </a:r>
            <a:r>
              <a:rPr lang="ko-KR" altLang="en-US" dirty="0"/>
              <a:t>영문을 이용한 장치제어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132C2-EF59-A9D9-A987-B7962E25D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장의 </a:t>
            </a:r>
            <a:r>
              <a:rPr lang="en-US" altLang="ko-KR" dirty="0"/>
              <a:t>“_01_RecognizeEnglish.py”</a:t>
            </a:r>
            <a:r>
              <a:rPr lang="ko-KR" altLang="en-US" dirty="0"/>
              <a:t>의 실행결과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251B2-9CA7-6511-8511-4295BE3EB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27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BB6DAC-EE6E-A9D2-F105-7EF9CA8E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700808"/>
            <a:ext cx="3672408" cy="26304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C338024-BA7E-CE0F-8406-E8A314458333}"/>
              </a:ext>
            </a:extLst>
          </p:cNvPr>
          <p:cNvCxnSpPr/>
          <p:nvPr/>
        </p:nvCxnSpPr>
        <p:spPr>
          <a:xfrm>
            <a:off x="2339752" y="3602833"/>
            <a:ext cx="244827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C03447-91D9-387D-5247-9C13F3A32B33}"/>
              </a:ext>
            </a:extLst>
          </p:cNvPr>
          <p:cNvSpPr/>
          <p:nvPr/>
        </p:nvSpPr>
        <p:spPr>
          <a:xfrm>
            <a:off x="2195736" y="1700808"/>
            <a:ext cx="1152128" cy="2880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457B1B-2655-0963-1052-B9789DE62208}"/>
              </a:ext>
            </a:extLst>
          </p:cNvPr>
          <p:cNvSpPr/>
          <p:nvPr/>
        </p:nvSpPr>
        <p:spPr>
          <a:xfrm>
            <a:off x="3436640" y="1700470"/>
            <a:ext cx="1783432" cy="2880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594849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32B88-86F9-3AFB-CFFD-E9EEC11C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도전과제</a:t>
            </a:r>
            <a:r>
              <a:rPr lang="en-US" altLang="ko-KR" dirty="0"/>
              <a:t>1] </a:t>
            </a:r>
            <a:r>
              <a:rPr lang="ko-KR" altLang="en-US" dirty="0"/>
              <a:t>영문을 이용한 장치제어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132C2-EF59-A9D9-A987-B7962E25D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_08_ControlMultiDevices.py</a:t>
            </a:r>
            <a:r>
              <a:rPr lang="ko-KR" altLang="en-US" dirty="0"/>
              <a:t> 일부 수정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251B2-9CA7-6511-8511-4295BE3EB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EC6A76C-8D2E-15A3-E5F9-121D5EDAE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5190476" cy="11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E6FC55-6240-7640-D86A-60936D359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942342"/>
            <a:ext cx="6552381" cy="5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0D0EDE-6CC2-D456-AC35-BFBC39103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037120"/>
            <a:ext cx="7495238" cy="6857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509A619-40C1-DD28-C7A3-CA7EC2B74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255" y="3664258"/>
            <a:ext cx="2140866" cy="2733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388653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B66D8-FB60-1FBD-8A2A-9BE242FA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도전과제</a:t>
            </a:r>
            <a:r>
              <a:rPr lang="en-US" altLang="ko-KR" dirty="0"/>
              <a:t>2] </a:t>
            </a:r>
            <a:r>
              <a:rPr lang="ko-KR" altLang="en-US" dirty="0"/>
              <a:t>음성인식 이용 프로젝트 검색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B267C-D976-F4BC-E999-EDE1A6640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음성인식 이용 프로젝트 검색</a:t>
            </a:r>
            <a:endParaRPr lang="en-US" altLang="ko-KR" dirty="0"/>
          </a:p>
          <a:p>
            <a:pPr lvl="1"/>
            <a:r>
              <a:rPr lang="ko-KR" altLang="en-US" dirty="0"/>
              <a:t>자유양식으로 </a:t>
            </a:r>
            <a:r>
              <a:rPr lang="en-US" altLang="ko-KR" dirty="0"/>
              <a:t>A4 </a:t>
            </a:r>
            <a:r>
              <a:rPr lang="ko-KR" altLang="en-US" dirty="0"/>
              <a:t>용지 </a:t>
            </a:r>
            <a:r>
              <a:rPr lang="en-US" altLang="ko-KR" dirty="0"/>
              <a:t>1</a:t>
            </a:r>
            <a:r>
              <a:rPr lang="ko-KR" altLang="en-US" dirty="0"/>
              <a:t>매 정도로 요약하여 제출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BEB0E8-7B3C-925B-E1CD-0E4378965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174684"/>
      </p:ext>
    </p:extLst>
  </p:cSld>
  <p:clrMapOvr>
    <a:masterClrMapping/>
  </p:clrMapOvr>
  <p:transition>
    <p:diamond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7435442-F82B-CE7B-39CC-4C887EEE7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277864"/>
              </p:ext>
            </p:extLst>
          </p:nvPr>
        </p:nvGraphicFramePr>
        <p:xfrm>
          <a:off x="251520" y="1340768"/>
          <a:ext cx="8640960" cy="4176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38951583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71550507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8031304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48445148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632384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68683951"/>
                    </a:ext>
                  </a:extLst>
                </a:gridCol>
              </a:tblGrid>
              <a:tr h="2983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15056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417034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alternate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9585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break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8195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chunk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70067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22499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recognition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486014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939088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continue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820481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credential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sleep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90014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326697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stream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739942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environment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transcript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701312"/>
                  </a:ext>
                </a:extLst>
              </a:tr>
              <a:tr h="298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exist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054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32103"/>
      </p:ext>
    </p:extLst>
  </p:cSld>
  <p:clrMapOvr>
    <a:masterClrMapping/>
  </p:clrMapOvr>
  <p:transition>
    <p:diamond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F011DF-E920-1CA7-2CD9-C7EFD426D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73433"/>
              </p:ext>
            </p:extLst>
          </p:nvPr>
        </p:nvGraphicFramePr>
        <p:xfrm>
          <a:off x="827584" y="1772816"/>
          <a:ext cx="7488832" cy="2016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3645844630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764427367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559396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google.cloud.speech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59315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281816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mpg321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88694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RPi.GPIO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236448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switch ~ case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21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38545</TotalTime>
  <Words>656</Words>
  <Application>Microsoft Office PowerPoint</Application>
  <PresentationFormat>화면 슬라이드 쇼(4:3)</PresentationFormat>
  <Paragraphs>170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HY견고딕</vt:lpstr>
      <vt:lpstr>Whitney</vt:lpstr>
      <vt:lpstr>굴림</vt:lpstr>
      <vt:lpstr>맑은 고딕</vt:lpstr>
      <vt:lpstr>휴먼엑스포</vt:lpstr>
      <vt:lpstr>휴먼편지체</vt:lpstr>
      <vt:lpstr>Arial</vt:lpstr>
      <vt:lpstr>Oswald Light</vt:lpstr>
      <vt:lpstr>Times New Roman</vt:lpstr>
      <vt:lpstr>Wingdings</vt:lpstr>
      <vt:lpstr>기본 디자인</vt:lpstr>
      <vt:lpstr>14강. 음성인식 장치제어 (Google Speech)</vt:lpstr>
      <vt:lpstr>PowerPoint 프레젠테이션</vt:lpstr>
      <vt:lpstr>생각 더하기</vt:lpstr>
      <vt:lpstr>학습목표</vt:lpstr>
      <vt:lpstr>하나의 LED 제어</vt:lpstr>
      <vt:lpstr>실습 폴더 및 필요한 파일 준비 </vt:lpstr>
      <vt:lpstr>[실습1] 안내문구 준비</vt:lpstr>
      <vt:lpstr>[실습2] 음성인식으로 하나의 LED 제어</vt:lpstr>
      <vt:lpstr>[실습2] 음성인식으로 하나의 LED 제어</vt:lpstr>
      <vt:lpstr>[실습2] 음성인식으로 하나의 LED 제어</vt:lpstr>
      <vt:lpstr>[실습3] 음성인식으로 하나의 LED 제어</vt:lpstr>
      <vt:lpstr>음성 인식으로 여러 개의 장치 제어</vt:lpstr>
      <vt:lpstr>음성 인식으로 여러 개의 장치 제어</vt:lpstr>
      <vt:lpstr>[실습4] Switch-Case문 대체 코드 </vt:lpstr>
      <vt:lpstr>[실습4] Switch-Case문 대체 코드 </vt:lpstr>
      <vt:lpstr>[실습5] 실습4의 결과 테스트  오류발생</vt:lpstr>
      <vt:lpstr>[실습5] 실습4의 결과 테스트  오류발생</vt:lpstr>
      <vt:lpstr>[실습5] 실습4의 결과 테스트  오류발생</vt:lpstr>
      <vt:lpstr>[실습5] 실습4의 결과 테스트  오류발생</vt:lpstr>
      <vt:lpstr>[실습 6] 코드 수정</vt:lpstr>
      <vt:lpstr>[실습 6] 코드 수정</vt:lpstr>
      <vt:lpstr>[실습 6] 코드 수정</vt:lpstr>
      <vt:lpstr>[실습 7] 회로 동작 테스트</vt:lpstr>
      <vt:lpstr>[실습 8] 음성인식으로 다중 장치 제어</vt:lpstr>
      <vt:lpstr>[실습 8] 음성인식으로 다중 장치 제어</vt:lpstr>
      <vt:lpstr>[실습 8] 음성인식으로 다중 장치 제어</vt:lpstr>
      <vt:lpstr>[도전과제] 영문을 이용한 장치제어</vt:lpstr>
      <vt:lpstr>[도전과제1] 영문을 이용한 장치제어</vt:lpstr>
      <vt:lpstr>[도전과제2] 음성인식 이용 프로젝트 검색</vt:lpstr>
      <vt:lpstr>단어</vt:lpstr>
      <vt:lpstr>용어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566</cp:revision>
  <dcterms:created xsi:type="dcterms:W3CDTF">2003-05-07T20:17:23Z</dcterms:created>
  <dcterms:modified xsi:type="dcterms:W3CDTF">2025-11-25T07:42:01Z</dcterms:modified>
</cp:coreProperties>
</file>