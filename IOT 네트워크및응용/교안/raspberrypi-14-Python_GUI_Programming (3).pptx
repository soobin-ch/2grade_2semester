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7"/>
  </p:notesMasterIdLst>
  <p:handoutMasterIdLst>
    <p:handoutMasterId r:id="rId78"/>
  </p:handoutMasterIdLst>
  <p:sldIdLst>
    <p:sldId id="632" r:id="rId2"/>
    <p:sldId id="648" r:id="rId3"/>
    <p:sldId id="1147" r:id="rId4"/>
    <p:sldId id="1148" r:id="rId5"/>
    <p:sldId id="1246" r:id="rId6"/>
    <p:sldId id="1247" r:id="rId7"/>
    <p:sldId id="1248" r:id="rId8"/>
    <p:sldId id="1249" r:id="rId9"/>
    <p:sldId id="1250" r:id="rId10"/>
    <p:sldId id="1236" r:id="rId11"/>
    <p:sldId id="1237" r:id="rId12"/>
    <p:sldId id="1238" r:id="rId13"/>
    <p:sldId id="1239" r:id="rId14"/>
    <p:sldId id="1232" r:id="rId15"/>
    <p:sldId id="1233" r:id="rId16"/>
    <p:sldId id="1234" r:id="rId17"/>
    <p:sldId id="1235" r:id="rId18"/>
    <p:sldId id="1240" r:id="rId19"/>
    <p:sldId id="1241" r:id="rId20"/>
    <p:sldId id="1242" r:id="rId21"/>
    <p:sldId id="1243" r:id="rId22"/>
    <p:sldId id="1244" r:id="rId23"/>
    <p:sldId id="1245" r:id="rId24"/>
    <p:sldId id="1251" r:id="rId25"/>
    <p:sldId id="1252" r:id="rId26"/>
    <p:sldId id="1253" r:id="rId27"/>
    <p:sldId id="1254" r:id="rId28"/>
    <p:sldId id="1255" r:id="rId29"/>
    <p:sldId id="1256" r:id="rId30"/>
    <p:sldId id="1257" r:id="rId31"/>
    <p:sldId id="1258" r:id="rId32"/>
    <p:sldId id="1259" r:id="rId33"/>
    <p:sldId id="1260" r:id="rId34"/>
    <p:sldId id="1261" r:id="rId35"/>
    <p:sldId id="1262" r:id="rId36"/>
    <p:sldId id="1263" r:id="rId37"/>
    <p:sldId id="1264" r:id="rId38"/>
    <p:sldId id="1265" r:id="rId39"/>
    <p:sldId id="1266" r:id="rId40"/>
    <p:sldId id="1267" r:id="rId41"/>
    <p:sldId id="1268" r:id="rId42"/>
    <p:sldId id="1269" r:id="rId43"/>
    <p:sldId id="1270" r:id="rId44"/>
    <p:sldId id="1271" r:id="rId45"/>
    <p:sldId id="1272" r:id="rId46"/>
    <p:sldId id="1273" r:id="rId47"/>
    <p:sldId id="1274" r:id="rId48"/>
    <p:sldId id="1275" r:id="rId49"/>
    <p:sldId id="1276" r:id="rId50"/>
    <p:sldId id="1277" r:id="rId51"/>
    <p:sldId id="1278" r:id="rId52"/>
    <p:sldId id="1279" r:id="rId53"/>
    <p:sldId id="1280" r:id="rId54"/>
    <p:sldId id="1281" r:id="rId55"/>
    <p:sldId id="1282" r:id="rId56"/>
    <p:sldId id="1298" r:id="rId57"/>
    <p:sldId id="1294" r:id="rId58"/>
    <p:sldId id="1295" r:id="rId59"/>
    <p:sldId id="1297" r:id="rId60"/>
    <p:sldId id="1296" r:id="rId61"/>
    <p:sldId id="1283" r:id="rId62"/>
    <p:sldId id="1284" r:id="rId63"/>
    <p:sldId id="1285" r:id="rId64"/>
    <p:sldId id="1286" r:id="rId65"/>
    <p:sldId id="1287" r:id="rId66"/>
    <p:sldId id="1288" r:id="rId67"/>
    <p:sldId id="1289" r:id="rId68"/>
    <p:sldId id="1290" r:id="rId69"/>
    <p:sldId id="1291" r:id="rId70"/>
    <p:sldId id="1292" r:id="rId71"/>
    <p:sldId id="1293" r:id="rId72"/>
    <p:sldId id="1231" r:id="rId73"/>
    <p:sldId id="1192" r:id="rId74"/>
    <p:sldId id="703" r:id="rId75"/>
    <p:sldId id="1299" r:id="rId76"/>
  </p:sldIdLst>
  <p:sldSz cx="9144000" cy="6858000" type="screen4x3"/>
  <p:notesSz cx="6797675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견고딕" panose="02030600000101010101" pitchFamily="18" charset="-127"/>
        <a:ea typeface="HY견고딕" panose="02030600000101010101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6600"/>
    <a:srgbClr val="9900FF"/>
    <a:srgbClr val="6699FF"/>
    <a:srgbClr val="CC9900"/>
    <a:srgbClr val="FFCC99"/>
    <a:srgbClr val="0000FF"/>
    <a:srgbClr val="CCFF99"/>
    <a:srgbClr val="858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33" autoAdjust="0"/>
    <p:restoredTop sz="94637" autoAdjust="0"/>
  </p:normalViewPr>
  <p:slideViewPr>
    <p:cSldViewPr>
      <p:cViewPr varScale="1">
        <p:scale>
          <a:sx n="90" d="100"/>
          <a:sy n="90" d="100"/>
        </p:scale>
        <p:origin x="108" y="2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fld id="{6E18D26C-3B1C-4A75-AF3E-A957EA2050B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6093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5"/>
            <a:ext cx="498475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fld id="{A47F0F6E-AF40-4620-A1A6-208690352297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69759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7F0F6E-AF40-4620-A1A6-208690352297}" type="slidenum">
              <a:rPr lang="en-US" altLang="ko-KR" smtClean="0"/>
              <a:pPr/>
              <a:t>14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52472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3D10D-3988-8C28-C518-0DAEED4E2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14B81A-0BBC-7216-BFE3-3EA08C416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E02B8E-6D48-27BD-495C-A5DF64EA6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01F9B9-983C-0193-B874-497F6A141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7F0F6E-AF40-4620-A1A6-208690352297}" type="slidenum">
              <a:rPr lang="en-US" altLang="ko-KR" smtClean="0"/>
              <a:pPr/>
              <a:t>15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22609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8FC20-B030-04C3-192C-A45901A50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4ACC5D-C55F-CC6F-488A-1AE4D389BE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9F927C-72CB-8BBD-4397-EB1D11E65B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8474B6-B5AE-39A8-90E0-6C3EC25CF2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7F0F6E-AF40-4620-A1A6-208690352297}" type="slidenum">
              <a:rPr lang="en-US" altLang="ko-KR" smtClean="0"/>
              <a:pPr/>
              <a:t>16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91669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ED3CF-307D-A532-3DF5-AF5C67F9F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3E09D4-937F-0C13-6850-51917C172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334AD0-1452-34DA-8616-4BDEAD41D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07DE68-8203-7F51-916A-8A6CE6E8A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7F0F6E-AF40-4620-A1A6-208690352297}" type="slidenum">
              <a:rPr lang="en-US" altLang="ko-KR" smtClean="0"/>
              <a:pPr/>
              <a:t>17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685128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7F0F6E-AF40-4620-A1A6-208690352297}" type="slidenum">
              <a:rPr lang="en-US" altLang="ko-KR" smtClean="0"/>
              <a:pPr/>
              <a:t>48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47915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7F0F6E-AF40-4620-A1A6-208690352297}" type="slidenum">
              <a:rPr lang="en-US" altLang="ko-KR" smtClean="0"/>
              <a:pPr/>
              <a:t>65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55726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B1205-8AFC-1E7A-7FB0-3E0C62549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94F20B-A65E-A3B9-F295-503DB87EC5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893D26-1AA6-A519-9331-5741D20DA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41AD45-37E5-459E-99EA-9EAC7546D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7F0F6E-AF40-4620-A1A6-208690352297}" type="slidenum">
              <a:rPr lang="en-US" altLang="ko-KR" smtClean="0"/>
              <a:pPr/>
              <a:t>66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25017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D2438-9C44-FCCE-1D36-96404717D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1D889F-0FC3-966C-07E0-0B69E2DA51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078FE5-B880-8BE5-1C15-8B14BB7BC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322BD8-5D14-E949-2203-8559631053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7F0F6E-AF40-4620-A1A6-208690352297}" type="slidenum">
              <a:rPr lang="en-US" altLang="ko-KR" smtClean="0"/>
              <a:pPr/>
              <a:t>67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13094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1EC24-2F28-B511-F781-5309A4CE4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5208F32-0F71-DD61-50AF-930E608FD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6EE146-0FC8-7BC7-6559-C950AA886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AA0A25-5286-3EDE-84D7-CA683227A8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7F0F6E-AF40-4620-A1A6-208690352297}" type="slidenum">
              <a:rPr lang="en-US" altLang="ko-KR" smtClean="0"/>
              <a:pPr/>
              <a:t>68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662674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E486A-D9E2-7BC2-F3E8-1F64310E4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970041-A530-881D-67A2-BF5696F25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A282C9-712A-F02A-A1EF-906F99616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75E756-ED00-6B8E-79F4-EC1198C496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7F0F6E-AF40-4620-A1A6-208690352297}" type="slidenum">
              <a:rPr lang="en-US" altLang="ko-KR" smtClean="0"/>
              <a:pPr/>
              <a:t>69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656630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E6FE6-CFCF-71DA-C24F-EBBCB3E9D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8C4210-2A56-6D9E-3ECA-7760C6C84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F1B934-9BF1-E82E-3364-0A23110B1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30E47D-C27D-CB59-43DA-4EEF686083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7F0F6E-AF40-4620-A1A6-208690352297}" type="slidenum">
              <a:rPr lang="en-US" altLang="ko-KR" smtClean="0"/>
              <a:pPr/>
              <a:t>70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08567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BE3D2A-221C-4236-B09B-111D309BF24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08520258"/>
      </p:ext>
    </p:extLst>
  </p:cSld>
  <p:clrMapOvr>
    <a:masterClrMapping/>
  </p:clrMapOvr>
  <p:transition>
    <p:diamond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>
                  <a:lumMod val="50000"/>
                </a:schemeClr>
              </a:buClr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540000" indent="-180000">
              <a:buClr>
                <a:schemeClr val="accent6">
                  <a:lumMod val="50000"/>
                </a:schemeClr>
              </a:buClr>
              <a:defRPr b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792000" indent="-144000"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b="1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fld id="{0662DF40-CD95-4196-B16C-EF23877BEF64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30270425"/>
      </p:ext>
    </p:extLst>
  </p:cSld>
  <p:clrMapOvr>
    <a:masterClrMapping/>
  </p:clrMapOvr>
  <p:transition>
    <p:diamond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A90645-18CC-4080-AA78-8345F84AA3F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792483"/>
      </p:ext>
    </p:extLst>
  </p:cSld>
  <p:clrMapOvr>
    <a:masterClrMapping/>
  </p:clrMapOvr>
  <p:transition>
    <p:diamond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D180CC-85CA-4A26-A6C0-DE61C9CE90F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48083975"/>
      </p:ext>
    </p:extLst>
  </p:cSld>
  <p:clrMapOvr>
    <a:masterClrMapping/>
  </p:clrMapOvr>
  <p:transition>
    <p:diamond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28EFD3-9F17-4F2E-A4A6-06CB9F2FD85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24396524"/>
      </p:ext>
    </p:extLst>
  </p:cSld>
  <p:clrMapOvr>
    <a:masterClrMapping/>
  </p:clrMapOvr>
  <p:transition>
    <p:diamond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18258E-745D-49A3-B42E-85584AAF848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9147816"/>
      </p:ext>
    </p:extLst>
  </p:cSld>
  <p:clrMapOvr>
    <a:masterClrMapping/>
  </p:clrMapOvr>
  <p:transition>
    <p:diamond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B21161-BD0B-43AB-A0F1-8EAE020023E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7936474"/>
      </p:ext>
    </p:extLst>
  </p:cSld>
  <p:clrMapOvr>
    <a:masterClrMapping/>
  </p:clrMapOvr>
  <p:transition>
    <p:diamond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C2CC99-8F12-4602-A805-6D054ED5A58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18920583"/>
      </p:ext>
    </p:extLst>
  </p:cSld>
  <p:clrMapOvr>
    <a:masterClrMapping/>
  </p:clrMapOvr>
  <p:transition>
    <p:diamond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20EE68-4FFD-4146-8152-D379E891418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57287805"/>
      </p:ext>
    </p:extLst>
  </p:cSld>
  <p:clrMapOvr>
    <a:masterClrMapping/>
  </p:clrMapOvr>
  <p:transition>
    <p:diamond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9A198F-69FF-49CD-AE6F-66B8F34D0E9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0332559"/>
      </p:ext>
    </p:extLst>
  </p:cSld>
  <p:clrMapOvr>
    <a:masterClrMapping/>
  </p:clrMapOvr>
  <p:transition>
    <p:diamond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88913"/>
            <a:ext cx="2236787" cy="63738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7950" y="188913"/>
            <a:ext cx="6561138" cy="63738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C26BED-B130-401B-B39F-2F6B8067329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76354483"/>
      </p:ext>
    </p:extLst>
  </p:cSld>
  <p:clrMapOvr>
    <a:masterClrMapping/>
  </p:clrMapOvr>
  <p:transition>
    <p:diamond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50" y="188913"/>
            <a:ext cx="8928100" cy="5461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차트 개체 틀 3"/>
          <p:cNvSpPr>
            <a:spLocks noGrp="1"/>
          </p:cNvSpPr>
          <p:nvPr>
            <p:ph type="chart"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44DB92-B6B2-4C58-9652-839AF8C5938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06087093"/>
      </p:ext>
    </p:extLst>
  </p:cSld>
  <p:clrMapOvr>
    <a:masterClrMapping/>
  </p:clrMapOvr>
  <p:transition>
    <p:diamond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6500813"/>
            <a:ext cx="723265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14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5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87313"/>
            <a:ext cx="89281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981075"/>
            <a:ext cx="8950325" cy="558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53200"/>
            <a:ext cx="533400" cy="315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accent6">
                    <a:lumMod val="75000"/>
                  </a:schemeClr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defRPr>
            </a:lvl1pPr>
          </a:lstStyle>
          <a:p>
            <a:fld id="{3F8E1CEE-8D81-4355-9B98-CFF96B1FE2F4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sp>
        <p:nvSpPr>
          <p:cNvPr id="9" name="Text Box 16"/>
          <p:cNvSpPr txBox="1">
            <a:spLocks noChangeArrowheads="1"/>
          </p:cNvSpPr>
          <p:nvPr userDrawn="1"/>
        </p:nvSpPr>
        <p:spPr bwMode="auto">
          <a:xfrm>
            <a:off x="34925" y="6562725"/>
            <a:ext cx="4779963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eaLnBrk="1" latinLnBrk="1" hangingPunct="1">
              <a:spcBef>
                <a:spcPct val="50000"/>
              </a:spcBef>
              <a:defRPr/>
            </a:pPr>
            <a:r>
              <a:rPr lang="ko-KR" altLang="en-US" sz="1100" b="1" dirty="0">
                <a:solidFill>
                  <a:srgbClr val="CC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꿈    은 이루어진다 </a:t>
            </a:r>
            <a:r>
              <a:rPr lang="en-US" altLang="ko-KR" sz="1100" b="1" dirty="0">
                <a:solidFill>
                  <a:srgbClr val="CC33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608763"/>
            <a:ext cx="971550" cy="220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포인트가 5개인 별 10"/>
          <p:cNvSpPr/>
          <p:nvPr userDrawn="1"/>
        </p:nvSpPr>
        <p:spPr>
          <a:xfrm>
            <a:off x="265113" y="6515100"/>
            <a:ext cx="214312" cy="269875"/>
          </a:xfrm>
          <a:prstGeom prst="star5">
            <a:avLst/>
          </a:prstGeom>
          <a:solidFill>
            <a:srgbClr val="FFFF0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diamond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66"/>
        </a:buClr>
        <a:buFont typeface="Wingdings" panose="05000000000000000000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8080"/>
        </a:buClr>
        <a:buFont typeface="Wingdings" panose="05000000000000000000" pitchFamily="2" charset="2"/>
        <a:buChar char="§"/>
        <a:defRPr kumimoji="1" sz="2000">
          <a:solidFill>
            <a:srgbClr val="005250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000">
          <a:solidFill>
            <a:srgbClr val="777777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49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1BE838-21C4-44E0-A59C-8FA45DC8143D}" type="slidenum">
              <a:rPr lang="en-US" altLang="ko-KR" smtClean="0"/>
              <a:pPr/>
              <a:t>1</a:t>
            </a:fld>
            <a:endParaRPr lang="en-US" altLang="ko-KR" dirty="0"/>
          </a:p>
        </p:txBody>
      </p:sp>
      <p:sp>
        <p:nvSpPr>
          <p:cNvPr id="12" name="직사각형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A9E1727-98BA-0AD5-DAB5-37935C044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6712"/>
            <a:ext cx="9144000" cy="5184576"/>
          </a:xfrm>
          <a:prstGeom prst="rect">
            <a:avLst/>
          </a:prstGeom>
        </p:spPr>
      </p:pic>
      <p:sp>
        <p:nvSpPr>
          <p:cNvPr id="10" name="제목 9"/>
          <p:cNvSpPr>
            <a:spLocks noGrp="1"/>
          </p:cNvSpPr>
          <p:nvPr>
            <p:ph type="ctrTitle"/>
          </p:nvPr>
        </p:nvSpPr>
        <p:spPr>
          <a:xfrm>
            <a:off x="490984" y="588789"/>
            <a:ext cx="8043416" cy="1616075"/>
          </a:xfrm>
        </p:spPr>
        <p:txBody>
          <a:bodyPr>
            <a:scene3d>
              <a:camera prst="orthographicFront"/>
              <a:lightRig rig="threePt" dir="t"/>
            </a:scene3d>
            <a:sp3d extrusionH="6350" contourW="6350"/>
          </a:bodyPr>
          <a:lstStyle/>
          <a:p>
            <a:pPr algn="ctr">
              <a:defRPr/>
            </a:pPr>
            <a:r>
              <a:rPr lang="en-US" altLang="ko-KR" sz="4000" dirty="0">
                <a:solidFill>
                  <a:srgbClr val="FFFF00"/>
                </a:solidFill>
              </a:rPr>
              <a:t>14</a:t>
            </a:r>
            <a:r>
              <a:rPr lang="ko-KR" altLang="en-US" sz="4000" dirty="0">
                <a:solidFill>
                  <a:srgbClr val="FFFF00"/>
                </a:solidFill>
              </a:rPr>
              <a:t>강</a:t>
            </a:r>
            <a:r>
              <a:rPr lang="en-US" altLang="ko-KR" sz="4000" dirty="0">
                <a:solidFill>
                  <a:srgbClr val="FFFF00"/>
                </a:solidFill>
              </a:rPr>
              <a:t>. Python</a:t>
            </a:r>
            <a:r>
              <a:rPr lang="ko-KR" altLang="en-US" sz="4000" dirty="0">
                <a:solidFill>
                  <a:srgbClr val="FFFF00"/>
                </a:solidFill>
              </a:rPr>
              <a:t> </a:t>
            </a:r>
            <a:r>
              <a:rPr lang="en-US" altLang="ko-KR" sz="4000" dirty="0">
                <a:solidFill>
                  <a:srgbClr val="FFFF00"/>
                </a:solidFill>
              </a:rPr>
              <a:t>GUI </a:t>
            </a:r>
            <a:r>
              <a:rPr lang="ko-KR" altLang="en-US" sz="4000" dirty="0">
                <a:solidFill>
                  <a:srgbClr val="FFFF00"/>
                </a:solidFill>
              </a:rPr>
              <a:t>프로그래밍</a:t>
            </a: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60488" y="5445224"/>
            <a:ext cx="6400800" cy="503460"/>
          </a:xfrm>
        </p:spPr>
        <p:txBody>
          <a:bodyPr>
            <a:scene3d>
              <a:camera prst="orthographicFront"/>
              <a:lightRig rig="threePt" dir="t"/>
            </a:scene3d>
            <a:sp3d extrusionH="6350" contourW="6350"/>
          </a:bodyPr>
          <a:lstStyle/>
          <a:p>
            <a:pPr eaLnBrk="1" hangingPunct="1">
              <a:defRPr/>
            </a:pP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두원공과대학교 컴퓨터공학과 </a:t>
            </a:r>
            <a:r>
              <a:rPr lang="en-US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학년</a:t>
            </a:r>
          </a:p>
        </p:txBody>
      </p:sp>
    </p:spTree>
  </p:cSld>
  <p:clrMapOvr>
    <a:masterClrMapping/>
  </p:clrMapOvr>
  <p:transition>
    <p:diamond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053847-62A1-4E89-8DAA-4521CF1C0422}" type="slidenum">
              <a:rPr lang="en-US" altLang="ko-KR" smtClean="0"/>
              <a:pPr/>
              <a:t>2</a:t>
            </a:fld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C1CFBD8-781C-B3D5-71BB-31A4CAAF7AF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95AB9A4-A8BA-E4F5-2E7D-C57AE0EAD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-14292"/>
            <a:ext cx="5472608" cy="688658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C624DE-169D-A01A-4F7D-1A9CF1C1FD04}"/>
              </a:ext>
            </a:extLst>
          </p:cNvPr>
          <p:cNvSpPr txBox="1"/>
          <p:nvPr/>
        </p:nvSpPr>
        <p:spPr>
          <a:xfrm>
            <a:off x="1043608" y="2204864"/>
            <a:ext cx="7056784" cy="1474506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200" b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당신은 안된다는 생각의 </a:t>
            </a:r>
            <a:r>
              <a:rPr lang="ko-KR" altLang="en-US" sz="3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유리컵 안에 </a:t>
            </a:r>
            <a:endParaRPr lang="en-US" altLang="ko-KR" sz="3200" b="1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당신을 가두고 있지는 않습니까</a:t>
            </a:r>
            <a:r>
              <a:rPr lang="en-US" altLang="ko-KR" sz="32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?</a:t>
            </a:r>
            <a:endParaRPr lang="ko-KR" alt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837AAA-9225-BF7A-E059-120515509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생각 더하기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D299EF-1918-3AF4-E997-ADA91BD428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89726EAC-9563-E113-C8EF-5A4608B19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1052736"/>
            <a:ext cx="8997950" cy="43180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19050">
            <a:solidFill>
              <a:srgbClr val="339966"/>
            </a:solidFill>
            <a:round/>
            <a:headEnd/>
            <a:tailEnd/>
          </a:ln>
        </p:spPr>
        <p:txBody>
          <a:bodyPr wrap="none" anchor="ctr"/>
          <a:lstStyle/>
          <a:p>
            <a:pPr algn="just"/>
            <a:r>
              <a:rPr lang="ko-KR" altLang="en-US" sz="2400" dirty="0">
                <a:solidFill>
                  <a:srgbClr val="339966"/>
                </a:solidFill>
                <a:latin typeface="+mn-ea"/>
                <a:ea typeface="+mn-ea"/>
              </a:rPr>
              <a:t>넬슨</a:t>
            </a:r>
            <a:r>
              <a:rPr lang="en-US" altLang="ko-KR" sz="2400" dirty="0">
                <a:solidFill>
                  <a:srgbClr val="339966"/>
                </a:solidFill>
                <a:latin typeface="+mn-ea"/>
                <a:ea typeface="+mn-ea"/>
              </a:rPr>
              <a:t> </a:t>
            </a:r>
            <a:r>
              <a:rPr lang="ko-KR" altLang="en-US" sz="2400" dirty="0" err="1">
                <a:solidFill>
                  <a:srgbClr val="339966"/>
                </a:solidFill>
                <a:latin typeface="+mn-ea"/>
                <a:ea typeface="+mn-ea"/>
              </a:rPr>
              <a:t>만델라의</a:t>
            </a:r>
            <a:r>
              <a:rPr lang="ko-KR" altLang="en-US" sz="2400" dirty="0">
                <a:solidFill>
                  <a:srgbClr val="339966"/>
                </a:solidFill>
                <a:latin typeface="+mn-ea"/>
                <a:ea typeface="+mn-ea"/>
              </a:rPr>
              <a:t> 명언</a:t>
            </a:r>
            <a:endParaRPr lang="en-US" altLang="ko-KR" sz="2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8C88A8E1-671F-10F7-DF36-A829A93D7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6" y="1484536"/>
            <a:ext cx="8997950" cy="4891087"/>
          </a:xfrm>
          <a:prstGeom prst="rect">
            <a:avLst/>
          </a:prstGeom>
          <a:solidFill>
            <a:schemeClr val="bg1"/>
          </a:solidFill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anchor="ctr"/>
          <a:lstStyle/>
          <a:p>
            <a:pPr algn="l">
              <a:lnSpc>
                <a:spcPct val="150000"/>
              </a:lnSpc>
            </a:pPr>
            <a:endParaRPr lang="en-US" altLang="ko-KR" sz="2000" b="1" i="0" dirty="0">
              <a:solidFill>
                <a:srgbClr val="000000"/>
              </a:solidFill>
              <a:effectLst/>
              <a:latin typeface="Oswald Light" panose="020B0604020202020204" pitchFamily="2" charset="0"/>
            </a:endParaRPr>
          </a:p>
        </p:txBody>
      </p:sp>
      <p:pic>
        <p:nvPicPr>
          <p:cNvPr id="7" name="Picture 10" descr="mouse">
            <a:extLst>
              <a:ext uri="{FF2B5EF4-FFF2-40B4-BE49-F238E27FC236}">
                <a16:creationId xmlns:a16="http://schemas.microsoft.com/office/drawing/2014/main" id="{1CBFBD61-7228-2393-82AD-793AFFAC1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9813" y="11255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541CC0-CBFF-6EBE-8827-6D15109E1EE1}"/>
              </a:ext>
            </a:extLst>
          </p:cNvPr>
          <p:cNvSpPr txBox="1"/>
          <p:nvPr/>
        </p:nvSpPr>
        <p:spPr>
          <a:xfrm>
            <a:off x="5507561" y="4413051"/>
            <a:ext cx="35279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&lt;Nelson Rolihlahla Mandela (1918-2013)&gt;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남아프리카공화국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최초의 흑인 대통령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아프리카민족회의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(ANC)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지도자로 </a:t>
            </a:r>
            <a:r>
              <a:rPr lang="ko-KR" alt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반아파르트헤이트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인종차별반대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운동 전개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1993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년 노벨 평화상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B125153-8F04-27DC-07C6-933EE2CC3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50" y="1533380"/>
            <a:ext cx="4791992" cy="47759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D611634-B438-6AD5-171B-1CE4422331C6}"/>
              </a:ext>
            </a:extLst>
          </p:cNvPr>
          <p:cNvSpPr txBox="1"/>
          <p:nvPr/>
        </p:nvSpPr>
        <p:spPr>
          <a:xfrm>
            <a:off x="251520" y="4228849"/>
            <a:ext cx="2585964" cy="6540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무엇이든 끝나기 전까지는</a:t>
            </a:r>
            <a:endParaRPr lang="en-US" altLang="ko-KR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en-US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불가능해 보인다</a:t>
            </a:r>
            <a:r>
              <a:rPr lang="en-US" altLang="ko-KR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9B6525B-6474-B370-D7E3-800FFB9438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2956" y="1557338"/>
            <a:ext cx="3009524" cy="27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428073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C69D1-562B-4BA3-B970-F557F7173233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313" y="4643438"/>
            <a:ext cx="389255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/>
              <a:t>본 강의를 이수하면 </a:t>
            </a:r>
            <a:r>
              <a:rPr lang="en-US" altLang="ko-KR" dirty="0"/>
              <a:t>GUI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구현할 수 있다</a:t>
            </a:r>
            <a:r>
              <a:rPr lang="en-US" altLang="ko-KR" dirty="0"/>
              <a:t>.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그래픽 윈도우 시스템 개요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 err="1"/>
              <a:t>Tkinter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/>
              <a:t>Qt/PySide2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/>
              <a:t>Qt Designer</a:t>
            </a:r>
          </a:p>
        </p:txBody>
      </p:sp>
    </p:spTree>
    <p:extLst>
      <p:ext uri="{BB962C8B-B14F-4D97-AF65-F5344CB8AC3E}">
        <p14:creationId xmlns:p14="http://schemas.microsoft.com/office/powerpoint/2010/main" val="24918452"/>
      </p:ext>
    </p:extLst>
  </p:cSld>
  <p:clrMapOvr>
    <a:masterClrMapping/>
  </p:clrMapOvr>
  <p:transition>
    <p:diamond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55947B-CFE2-9F34-9F04-AE1980EA7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그래픽 윈도우 시스템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748764-33E3-972D-5A8F-A5D72BD6D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GUI</a:t>
            </a:r>
            <a:r>
              <a:rPr lang="en-US" altLang="ko-KR" baseline="30000" dirty="0" err="1"/>
              <a:t>Graphic</a:t>
            </a:r>
            <a:r>
              <a:rPr lang="ko-KR" altLang="en-US" baseline="30000" dirty="0"/>
              <a:t> </a:t>
            </a:r>
            <a:r>
              <a:rPr lang="en-US" altLang="ko-KR" baseline="30000" dirty="0"/>
              <a:t>User</a:t>
            </a:r>
            <a:r>
              <a:rPr lang="ko-KR" altLang="en-US" baseline="30000" dirty="0"/>
              <a:t> </a:t>
            </a:r>
            <a:r>
              <a:rPr lang="en-US" altLang="ko-KR" baseline="30000" dirty="0"/>
              <a:t>Interface</a:t>
            </a:r>
          </a:p>
          <a:p>
            <a:pPr lvl="1"/>
            <a:r>
              <a:rPr lang="ko-KR" altLang="en-US" dirty="0"/>
              <a:t>사용자가 그래픽 화면 요소</a:t>
            </a:r>
            <a:r>
              <a:rPr lang="en-US" altLang="ko-KR" dirty="0"/>
              <a:t>(</a:t>
            </a:r>
            <a:r>
              <a:rPr lang="ko-KR" altLang="en-US" dirty="0"/>
              <a:t>버튼</a:t>
            </a:r>
            <a:r>
              <a:rPr lang="en-US" altLang="ko-KR" dirty="0"/>
              <a:t>, </a:t>
            </a:r>
            <a:r>
              <a:rPr lang="ko-KR" altLang="en-US" dirty="0"/>
              <a:t>메뉴</a:t>
            </a:r>
            <a:r>
              <a:rPr lang="en-US" altLang="ko-KR" dirty="0"/>
              <a:t>, </a:t>
            </a:r>
            <a:r>
              <a:rPr lang="ko-KR" altLang="en-US" dirty="0" err="1"/>
              <a:t>입력창</a:t>
            </a:r>
            <a:r>
              <a:rPr lang="en-US" altLang="ko-KR" dirty="0"/>
              <a:t>, </a:t>
            </a:r>
            <a:r>
              <a:rPr lang="ko-KR" altLang="en-US" dirty="0"/>
              <a:t>이미지 등</a:t>
            </a:r>
            <a:r>
              <a:rPr lang="en-US" altLang="ko-KR" dirty="0"/>
              <a:t>)</a:t>
            </a:r>
            <a:r>
              <a:rPr lang="ko-KR" altLang="en-US" dirty="0"/>
              <a:t>와 마우스</a:t>
            </a:r>
            <a:r>
              <a:rPr lang="en-US" altLang="ko-KR" dirty="0"/>
              <a:t>/</a:t>
            </a:r>
            <a:r>
              <a:rPr lang="ko-KR" altLang="en-US" dirty="0"/>
              <a:t>터치로 상호작용하며 프로그램을 사용하는 인터페이스</a:t>
            </a:r>
            <a:endParaRPr lang="en-US" altLang="ko-KR" dirty="0"/>
          </a:p>
          <a:p>
            <a:pPr lvl="1"/>
            <a:r>
              <a:rPr lang="ko-KR" altLang="en-US" dirty="0"/>
              <a:t>그래픽</a:t>
            </a:r>
            <a:r>
              <a:rPr lang="en-US" altLang="ko-KR" dirty="0"/>
              <a:t> </a:t>
            </a:r>
            <a:r>
              <a:rPr lang="ko-KR" altLang="en-US" dirty="0"/>
              <a:t>윈도우 시스템 </a:t>
            </a:r>
            <a:r>
              <a:rPr lang="en-US" altLang="ko-KR" dirty="0">
                <a:sym typeface="Wingdings" panose="05000000000000000000" pitchFamily="2" charset="2"/>
              </a:rPr>
              <a:t> GUI</a:t>
            </a:r>
            <a:r>
              <a:rPr lang="ko-KR" altLang="en-US" dirty="0">
                <a:sym typeface="Wingdings" panose="05000000000000000000" pitchFamily="2" charset="2"/>
              </a:rPr>
              <a:t>를 가능하게 해주는 시스템 소프트웨어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C04141-106C-21A1-024E-4AEEEC0C8D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</a:t>
            </a:fld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BF1AC-8984-542C-3885-0BB4F99ABF3F}"/>
              </a:ext>
            </a:extLst>
          </p:cNvPr>
          <p:cNvSpPr txBox="1"/>
          <p:nvPr/>
        </p:nvSpPr>
        <p:spPr>
          <a:xfrm>
            <a:off x="3625266" y="6093296"/>
            <a:ext cx="18934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그래픽 윈도우 시스템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11A9FFC-6B65-6A40-5C18-CD7500775799}"/>
              </a:ext>
            </a:extLst>
          </p:cNvPr>
          <p:cNvGrpSpPr/>
          <p:nvPr/>
        </p:nvGrpSpPr>
        <p:grpSpPr>
          <a:xfrm>
            <a:off x="2659023" y="2995743"/>
            <a:ext cx="3825951" cy="2881182"/>
            <a:chOff x="1106089" y="2852936"/>
            <a:chExt cx="3825951" cy="2881182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D702990-1C06-01AC-409F-C7FF9C40DC84}"/>
                </a:ext>
              </a:extLst>
            </p:cNvPr>
            <p:cNvSpPr/>
            <p:nvPr/>
          </p:nvSpPr>
          <p:spPr>
            <a:xfrm>
              <a:off x="1106089" y="2852936"/>
              <a:ext cx="3825951" cy="288032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GUI</a:t>
              </a:r>
              <a:r>
                <a:rPr lang="ko-KR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응용 프로그램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1756001-A4CF-478C-ABF2-3C9C025F316B}"/>
                </a:ext>
              </a:extLst>
            </p:cNvPr>
            <p:cNvSpPr/>
            <p:nvPr/>
          </p:nvSpPr>
          <p:spPr>
            <a:xfrm>
              <a:off x="1106089" y="4754250"/>
              <a:ext cx="3825951" cy="49111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디바이스</a:t>
              </a:r>
              <a:r>
                <a:rPr lang="en-US" altLang="ko-KR" sz="14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4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드라이버</a:t>
              </a:r>
              <a:r>
                <a:rPr lang="en-US" altLang="ko-KR" sz="14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53C066A-0FE0-04A7-00E2-34F600D285A3}"/>
                </a:ext>
              </a:extLst>
            </p:cNvPr>
            <p:cNvSpPr/>
            <p:nvPr/>
          </p:nvSpPr>
          <p:spPr>
            <a:xfrm>
              <a:off x="1106089" y="4266361"/>
              <a:ext cx="3825951" cy="49111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커널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BE5FC5E-4378-E165-1DF9-B61DD1B62C2F}"/>
                </a:ext>
              </a:extLst>
            </p:cNvPr>
            <p:cNvSpPr/>
            <p:nvPr/>
          </p:nvSpPr>
          <p:spPr>
            <a:xfrm>
              <a:off x="1106091" y="3780838"/>
              <a:ext cx="3249885" cy="49111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그래픽</a:t>
              </a:r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윈도우</a:t>
              </a:r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라이브러리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08CE2E3-F408-C7E4-922D-01493D6CBB0E}"/>
                </a:ext>
              </a:extLst>
            </p:cNvPr>
            <p:cNvSpPr/>
            <p:nvPr/>
          </p:nvSpPr>
          <p:spPr>
            <a:xfrm>
              <a:off x="1106091" y="3296559"/>
              <a:ext cx="2745830" cy="49111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툴킷</a:t>
              </a:r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(toolkit) </a:t>
              </a:r>
              <a:r>
                <a:rPr lang="en-US" altLang="ko-KR" sz="1400" b="1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 </a:t>
              </a:r>
              <a:r>
                <a:rPr lang="ko-KR" altLang="en-US" sz="1400" b="1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컨트롤</a:t>
              </a:r>
              <a:r>
                <a:rPr lang="en-US" altLang="ko-KR" sz="1400" b="1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/</a:t>
              </a:r>
              <a:r>
                <a:rPr lang="ko-KR" altLang="en-US" sz="1400" b="1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Wingdings" panose="05000000000000000000" pitchFamily="2" charset="2"/>
                </a:rPr>
                <a:t>위젯</a:t>
              </a:r>
              <a:endParaRPr lang="ko-KR" altLang="en-US" sz="14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F95DBE1-6ADE-7CEA-7F73-73DCDD766E2D}"/>
                </a:ext>
              </a:extLst>
            </p:cNvPr>
            <p:cNvSpPr/>
            <p:nvPr/>
          </p:nvSpPr>
          <p:spPr>
            <a:xfrm>
              <a:off x="1106091" y="5242139"/>
              <a:ext cx="1911610" cy="491117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디스플레이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E18CB08-FE43-DA2E-790E-AEEAFA21C850}"/>
                </a:ext>
              </a:extLst>
            </p:cNvPr>
            <p:cNvSpPr/>
            <p:nvPr/>
          </p:nvSpPr>
          <p:spPr>
            <a:xfrm>
              <a:off x="3020430" y="5243001"/>
              <a:ext cx="1911610" cy="491117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입력장치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5244585"/>
      </p:ext>
    </p:extLst>
  </p:cSld>
  <p:clrMapOvr>
    <a:masterClrMapping/>
  </p:clrMapOvr>
  <p:transition>
    <p:diamond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EDF67C9-07EA-43AE-3F8A-5C676BF154DA}"/>
              </a:ext>
            </a:extLst>
          </p:cNvPr>
          <p:cNvCxnSpPr/>
          <p:nvPr/>
        </p:nvCxnSpPr>
        <p:spPr>
          <a:xfrm>
            <a:off x="827584" y="4500774"/>
            <a:ext cx="511256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BA728662-4FB4-968F-0B39-2F5A0F9AC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X </a:t>
            </a:r>
            <a:r>
              <a:rPr lang="ko-KR" altLang="en-US" dirty="0"/>
              <a:t>윈도우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199A10-DA6D-2EB9-5E75-FFAE6986A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X </a:t>
            </a:r>
            <a:r>
              <a:rPr lang="ko-KR" altLang="en-US" dirty="0"/>
              <a:t>윈도우</a:t>
            </a:r>
            <a:endParaRPr lang="en-US" altLang="ko-KR" dirty="0"/>
          </a:p>
          <a:p>
            <a:pPr lvl="1"/>
            <a:r>
              <a:rPr lang="en-US" altLang="ko-KR" dirty="0"/>
              <a:t>UNIX </a:t>
            </a:r>
            <a:r>
              <a:rPr lang="ko-KR" altLang="en-US" dirty="0"/>
              <a:t>및 </a:t>
            </a:r>
            <a:r>
              <a:rPr lang="en-US" altLang="ko-KR" dirty="0"/>
              <a:t>Linux</a:t>
            </a:r>
            <a:r>
              <a:rPr lang="ko-KR" altLang="en-US" dirty="0"/>
              <a:t>에서 주로 사용하는 그래픽 윈도우 시스템</a:t>
            </a:r>
            <a:endParaRPr lang="en-US" altLang="ko-KR" dirty="0"/>
          </a:p>
          <a:p>
            <a:pPr lvl="1"/>
            <a:r>
              <a:rPr lang="en-US" altLang="ko-KR" dirty="0"/>
              <a:t>1980</a:t>
            </a:r>
            <a:r>
              <a:rPr lang="ko-KR" altLang="en-US" dirty="0"/>
              <a:t>년대 중반</a:t>
            </a:r>
            <a:r>
              <a:rPr lang="en-US" altLang="ko-KR" dirty="0"/>
              <a:t>, MIT</a:t>
            </a:r>
            <a:r>
              <a:rPr lang="ko-KR" altLang="en-US" dirty="0"/>
              <a:t>에서 유닉스 워크스테이션용 </a:t>
            </a:r>
            <a:r>
              <a:rPr lang="en-US" altLang="ko-KR" dirty="0"/>
              <a:t>GUI </a:t>
            </a:r>
            <a:r>
              <a:rPr lang="ko-KR" altLang="en-US" dirty="0"/>
              <a:t>용도로 개발</a:t>
            </a:r>
            <a:endParaRPr lang="en-US" altLang="ko-KR" dirty="0"/>
          </a:p>
          <a:p>
            <a:pPr lvl="1"/>
            <a:r>
              <a:rPr lang="en-US" altLang="ko-KR" dirty="0"/>
              <a:t>XFree86(X</a:t>
            </a:r>
            <a:r>
              <a:rPr lang="ko-KR" altLang="en-US" dirty="0"/>
              <a:t>윈도우 </a:t>
            </a:r>
            <a:r>
              <a:rPr lang="en-US" altLang="ko-KR" dirty="0"/>
              <a:t>PC</a:t>
            </a:r>
            <a:r>
              <a:rPr lang="ko-KR" altLang="en-US" dirty="0"/>
              <a:t>이식 프로젝트</a:t>
            </a:r>
            <a:r>
              <a:rPr lang="en-US" altLang="ko-KR" dirty="0"/>
              <a:t>)</a:t>
            </a:r>
            <a:r>
              <a:rPr lang="ko-KR" altLang="en-US" dirty="0"/>
              <a:t>을 리눅스에서 채택</a:t>
            </a:r>
            <a:r>
              <a:rPr lang="en-US" altLang="ko-KR" dirty="0"/>
              <a:t>, </a:t>
            </a:r>
            <a:r>
              <a:rPr lang="ko-KR" altLang="en-US" dirty="0"/>
              <a:t>급격한 개선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85456D-6B95-4840-F08E-C7E8188246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6</a:t>
            </a:fld>
            <a:endParaRPr lang="en-US" altLang="ko-KR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07D4812-06D4-4F44-12DE-4F2649669742}"/>
              </a:ext>
            </a:extLst>
          </p:cNvPr>
          <p:cNvSpPr/>
          <p:nvPr/>
        </p:nvSpPr>
        <p:spPr>
          <a:xfrm>
            <a:off x="1458416" y="5876925"/>
            <a:ext cx="3827313" cy="440328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하드웨어</a:t>
            </a:r>
            <a:endParaRPr lang="en-US" altLang="ko-KR" sz="1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키보드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마우스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터미널</a:t>
            </a:r>
            <a:r>
              <a:rPr lang="en-US" altLang="ko-KR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…)</a:t>
            </a:r>
            <a:endParaRPr lang="ko-KR" altLang="en-US" sz="14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F060D9E-B368-31F2-8088-78284A6B0C93}"/>
              </a:ext>
            </a:extLst>
          </p:cNvPr>
          <p:cNvGrpSpPr/>
          <p:nvPr/>
        </p:nvGrpSpPr>
        <p:grpSpPr>
          <a:xfrm>
            <a:off x="1459779" y="2757778"/>
            <a:ext cx="3825951" cy="1557615"/>
            <a:chOff x="2659023" y="2995743"/>
            <a:chExt cx="3825951" cy="1571576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A7DA82A-01AF-49F6-1D07-6FED1D19A872}"/>
                </a:ext>
              </a:extLst>
            </p:cNvPr>
            <p:cNvSpPr/>
            <p:nvPr/>
          </p:nvSpPr>
          <p:spPr>
            <a:xfrm>
              <a:off x="2659023" y="2995743"/>
              <a:ext cx="3825951" cy="156820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X </a:t>
              </a:r>
              <a:r>
                <a:rPr lang="ko-KR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클라이언트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1FFB7D5-94DB-9EAC-759C-145792B503B9}"/>
                </a:ext>
              </a:extLst>
            </p:cNvPr>
            <p:cNvSpPr/>
            <p:nvPr/>
          </p:nvSpPr>
          <p:spPr>
            <a:xfrm>
              <a:off x="2659023" y="4162063"/>
              <a:ext cx="3825951" cy="40525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Xlib</a:t>
              </a:r>
              <a:endPara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41CF1C2-D146-B19E-C784-21456B32B899}"/>
                </a:ext>
              </a:extLst>
            </p:cNvPr>
            <p:cNvSpPr/>
            <p:nvPr/>
          </p:nvSpPr>
          <p:spPr>
            <a:xfrm>
              <a:off x="2659025" y="3361809"/>
              <a:ext cx="2745830" cy="79954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ko-KR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윈도우 매니저</a:t>
              </a:r>
              <a:endParaRPr lang="ko-KR" altLang="en-US" sz="14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1DB240F-051C-7097-7638-E3D37D352372}"/>
                </a:ext>
              </a:extLst>
            </p:cNvPr>
            <p:cNvSpPr/>
            <p:nvPr/>
          </p:nvSpPr>
          <p:spPr>
            <a:xfrm>
              <a:off x="3563888" y="3749743"/>
              <a:ext cx="2016224" cy="405256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툴킷</a:t>
              </a:r>
              <a:r>
                <a:rPr lang="ko-KR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en-US" altLang="ko-KR" sz="1400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Xt</a:t>
              </a:r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/GTK+/Qt)</a:t>
              </a:r>
              <a:endPara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C9DBC2D-94B5-9EC3-EF57-B92E111B7813}"/>
              </a:ext>
            </a:extLst>
          </p:cNvPr>
          <p:cNvGrpSpPr/>
          <p:nvPr/>
        </p:nvGrpSpPr>
        <p:grpSpPr>
          <a:xfrm>
            <a:off x="1464760" y="4695346"/>
            <a:ext cx="3819607" cy="798736"/>
            <a:chOff x="2664004" y="4724403"/>
            <a:chExt cx="3819607" cy="805895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D02453F-A70E-27F0-D522-439120C0F625}"/>
                </a:ext>
              </a:extLst>
            </p:cNvPr>
            <p:cNvSpPr/>
            <p:nvPr/>
          </p:nvSpPr>
          <p:spPr>
            <a:xfrm>
              <a:off x="2664005" y="5125042"/>
              <a:ext cx="3819606" cy="40525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커널 </a:t>
              </a:r>
              <a:r>
                <a:rPr lang="en-US" altLang="ko-KR" sz="14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4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디바이스 드라이버 포함</a:t>
              </a:r>
              <a:r>
                <a:rPr lang="en-US" altLang="ko-KR" sz="14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14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845BE0F-7F0C-4818-15FD-130F06CECCF0}"/>
                </a:ext>
              </a:extLst>
            </p:cNvPr>
            <p:cNvSpPr/>
            <p:nvPr/>
          </p:nvSpPr>
          <p:spPr>
            <a:xfrm>
              <a:off x="2664004" y="4724403"/>
              <a:ext cx="3819606" cy="405256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X </a:t>
              </a:r>
              <a:r>
                <a:rPr lang="ko-KR" altLang="en-US" sz="14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서버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0BE40E46-EE64-26C4-A2E0-5F8AE6E6A468}"/>
              </a:ext>
            </a:extLst>
          </p:cNvPr>
          <p:cNvSpPr txBox="1"/>
          <p:nvPr/>
        </p:nvSpPr>
        <p:spPr>
          <a:xfrm>
            <a:off x="3627789" y="6337322"/>
            <a:ext cx="18870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&lt;X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윈도우 시스템 구조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11856C71-1DFE-7F7D-343A-D559B8FCEAB8}"/>
              </a:ext>
            </a:extLst>
          </p:cNvPr>
          <p:cNvCxnSpPr>
            <a:stCxn id="8" idx="2"/>
            <a:endCxn id="15" idx="0"/>
          </p:cNvCxnSpPr>
          <p:nvPr/>
        </p:nvCxnSpPr>
        <p:spPr>
          <a:xfrm>
            <a:off x="3372755" y="4315393"/>
            <a:ext cx="1808" cy="379953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4E4E99E-EDFD-6F8B-6678-A1EC4FBBBEA8}"/>
              </a:ext>
            </a:extLst>
          </p:cNvPr>
          <p:cNvCxnSpPr>
            <a:cxnSpLocks/>
            <a:stCxn id="14" idx="2"/>
            <a:endCxn id="11" idx="0"/>
          </p:cNvCxnSpPr>
          <p:nvPr/>
        </p:nvCxnSpPr>
        <p:spPr>
          <a:xfrm flipH="1">
            <a:off x="3372073" y="5494082"/>
            <a:ext cx="2491" cy="382843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FF9D029-6B46-E8E5-5E73-99BF44ACF6D1}"/>
              </a:ext>
            </a:extLst>
          </p:cNvPr>
          <p:cNvSpPr txBox="1"/>
          <p:nvPr/>
        </p:nvSpPr>
        <p:spPr>
          <a:xfrm>
            <a:off x="5917928" y="435679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572A5C-3437-23CA-E74D-2A0269BE5123}"/>
              </a:ext>
            </a:extLst>
          </p:cNvPr>
          <p:cNvSpPr txBox="1"/>
          <p:nvPr/>
        </p:nvSpPr>
        <p:spPr>
          <a:xfrm>
            <a:off x="5412546" y="2740641"/>
            <a:ext cx="27526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윈도우를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GUI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사용하는 프로그램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8D0C21-19AE-19CE-15F6-151B18598CCE}"/>
              </a:ext>
            </a:extLst>
          </p:cNvPr>
          <p:cNvSpPr txBox="1"/>
          <p:nvPr/>
        </p:nvSpPr>
        <p:spPr>
          <a:xfrm>
            <a:off x="7778289" y="-821766"/>
            <a:ext cx="27526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윈도우를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GUI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사용하는 프로그램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DFE55DF-3EEE-CF32-9B13-BD41BE8E35C0}"/>
              </a:ext>
            </a:extLst>
          </p:cNvPr>
          <p:cNvSpPr txBox="1"/>
          <p:nvPr/>
        </p:nvSpPr>
        <p:spPr>
          <a:xfrm>
            <a:off x="5412546" y="3151803"/>
            <a:ext cx="35189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디스플레이에서 워크스페이스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윈도우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740CAF-02D9-B70E-B712-EC197DC0815D}"/>
              </a:ext>
            </a:extLst>
          </p:cNvPr>
          <p:cNvSpPr txBox="1"/>
          <p:nvPr/>
        </p:nvSpPr>
        <p:spPr>
          <a:xfrm>
            <a:off x="5412546" y="3562965"/>
            <a:ext cx="35766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클라이언트가 사용하는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GUI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그래픽 라이브러리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CF49DD-789D-7742-7051-0F9D51709080}"/>
              </a:ext>
            </a:extLst>
          </p:cNvPr>
          <p:cNvSpPr txBox="1"/>
          <p:nvPr/>
        </p:nvSpPr>
        <p:spPr>
          <a:xfrm>
            <a:off x="5412546" y="3974126"/>
            <a:ext cx="30893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Gui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스크롤바 등 고급 위젯을 제공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9B0FC8-7B7A-0DC6-2EA4-B74281CEC3A0}"/>
              </a:ext>
            </a:extLst>
          </p:cNvPr>
          <p:cNvSpPr txBox="1"/>
          <p:nvPr/>
        </p:nvSpPr>
        <p:spPr>
          <a:xfrm>
            <a:off x="5412547" y="4803285"/>
            <a:ext cx="3518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커널과 통신하며 클라이언트로부터의 그래픽 처리 요청을 실제로 처리하는 프로그램</a:t>
            </a:r>
          </a:p>
        </p:txBody>
      </p:sp>
    </p:spTree>
    <p:extLst>
      <p:ext uri="{BB962C8B-B14F-4D97-AF65-F5344CB8AC3E}">
        <p14:creationId xmlns:p14="http://schemas.microsoft.com/office/powerpoint/2010/main" val="560170245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  <p:bldP spid="31" grpId="0"/>
      <p:bldP spid="32" grpId="0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A0DAFC-2929-2962-FDA3-4B22CB4C9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X </a:t>
            </a:r>
            <a:r>
              <a:rPr lang="ko-KR" altLang="en-US" dirty="0"/>
              <a:t>윈도우의 특징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7F3C42-E549-FCAB-5DD7-01FE88786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X </a:t>
            </a:r>
            <a:r>
              <a:rPr lang="ko-KR" altLang="en-US" dirty="0"/>
              <a:t>윈도우의 특징</a:t>
            </a:r>
            <a:endParaRPr lang="en-US" altLang="ko-KR" dirty="0"/>
          </a:p>
          <a:p>
            <a:pPr lvl="1"/>
            <a:r>
              <a:rPr lang="ko-KR" altLang="en-US" dirty="0"/>
              <a:t>오픈소스 그래픽 라이브러리 및 사용자 환경</a:t>
            </a:r>
            <a:endParaRPr lang="en-US" altLang="ko-KR" dirty="0"/>
          </a:p>
          <a:p>
            <a:pPr lvl="1"/>
            <a:r>
              <a:rPr lang="ko-KR" altLang="en-US" dirty="0"/>
              <a:t>서버</a:t>
            </a:r>
            <a:r>
              <a:rPr lang="en-US" altLang="ko-KR" dirty="0"/>
              <a:t>-</a:t>
            </a:r>
            <a:r>
              <a:rPr lang="ko-KR" altLang="en-US" dirty="0"/>
              <a:t>클라이언트 구조로 설계</a:t>
            </a:r>
            <a:endParaRPr lang="en-US" altLang="ko-KR" dirty="0"/>
          </a:p>
          <a:p>
            <a:pPr lvl="2"/>
            <a:r>
              <a:rPr lang="en-US" altLang="ko-KR" dirty="0"/>
              <a:t>X </a:t>
            </a:r>
            <a:r>
              <a:rPr lang="ko-KR" altLang="en-US" dirty="0"/>
              <a:t>프로토콜이라는 네트워크 프로토콜을 사용</a:t>
            </a:r>
            <a:endParaRPr lang="en-US" altLang="ko-KR" dirty="0"/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네트워크 투명성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장치 독립성 제공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 err="1">
                <a:sym typeface="Wingdings" panose="05000000000000000000" pitchFamily="2" charset="2"/>
              </a:rPr>
              <a:t>모듈성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확장성 제고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단점</a:t>
            </a:r>
            <a:r>
              <a:rPr lang="en-US" altLang="ko-KR" dirty="0">
                <a:sym typeface="Wingdings" panose="05000000000000000000" pitchFamily="2" charset="2"/>
              </a:rPr>
              <a:t>) </a:t>
            </a:r>
            <a:r>
              <a:rPr lang="ko-KR" altLang="en-US" dirty="0">
                <a:sym typeface="Wingdings" panose="05000000000000000000" pitchFamily="2" charset="2"/>
              </a:rPr>
              <a:t>소스코드가 복잡하고 무겁고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느림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소스코드가 너무 오래 됨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표준 </a:t>
            </a:r>
            <a:r>
              <a:rPr lang="ko-KR" altLang="en-US" dirty="0" err="1">
                <a:sym typeface="Wingdings" panose="05000000000000000000" pitchFamily="2" charset="2"/>
              </a:rPr>
              <a:t>툴킷이</a:t>
            </a:r>
            <a:r>
              <a:rPr lang="ko-KR" altLang="en-US" dirty="0">
                <a:sym typeface="Wingdings" panose="05000000000000000000" pitchFamily="2" charset="2"/>
              </a:rPr>
              <a:t> 없음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9BEFE9-030C-F4B7-7ACA-8ED8DA606B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7</a:t>
            </a:fld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EDC2340-357E-E62E-DF49-5E6CC13EA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333" y="4509120"/>
            <a:ext cx="2259334" cy="196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42275"/>
      </p:ext>
    </p:extLst>
  </p:cSld>
  <p:clrMapOvr>
    <a:masterClrMapping/>
  </p:clrMapOvr>
  <p:transition>
    <p:diamond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953B7B-B66B-2D80-E399-4118DF00F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Tkinter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E32F55-9C86-B637-3644-5E5036EEC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Tkinter</a:t>
            </a:r>
            <a:endParaRPr lang="en-US" altLang="ko-KR" dirty="0"/>
          </a:p>
          <a:p>
            <a:pPr lvl="1"/>
            <a:r>
              <a:rPr lang="ko-KR" altLang="en-US" dirty="0"/>
              <a:t>파이썬</a:t>
            </a:r>
            <a:r>
              <a:rPr lang="en-US" altLang="ko-KR" dirty="0"/>
              <a:t> </a:t>
            </a:r>
            <a:r>
              <a:rPr lang="ko-KR" altLang="en-US" dirty="0"/>
              <a:t>표준 </a:t>
            </a:r>
            <a:r>
              <a:rPr lang="en-US" altLang="ko-KR" dirty="0"/>
              <a:t>GUI </a:t>
            </a:r>
            <a:r>
              <a:rPr lang="ko-KR" altLang="en-US" dirty="0"/>
              <a:t>라이브러리</a:t>
            </a:r>
            <a:endParaRPr lang="en-US" altLang="ko-KR" dirty="0"/>
          </a:p>
          <a:p>
            <a:pPr lvl="1"/>
            <a:r>
              <a:rPr lang="ko-KR" altLang="en-US" dirty="0"/>
              <a:t>추가 설치 없이 사용 가능</a:t>
            </a:r>
            <a:endParaRPr lang="en-US" altLang="ko-KR" dirty="0"/>
          </a:p>
          <a:p>
            <a:pPr lvl="1"/>
            <a:r>
              <a:rPr lang="en-US" altLang="ko-KR" dirty="0" err="1"/>
              <a:t>Tcl</a:t>
            </a:r>
            <a:r>
              <a:rPr lang="en-US" altLang="ko-KR" dirty="0"/>
              <a:t>/</a:t>
            </a:r>
            <a:r>
              <a:rPr lang="ko-KR" altLang="en-US" dirty="0"/>
              <a:t>싸</a:t>
            </a:r>
            <a:r>
              <a:rPr lang="en-US" altLang="ko-KR" dirty="0"/>
              <a:t> </a:t>
            </a:r>
            <a:r>
              <a:rPr lang="ko-KR" altLang="en-US" dirty="0" err="1"/>
              <a:t>툴킷의</a:t>
            </a:r>
            <a:r>
              <a:rPr lang="en-US" altLang="ko-KR" dirty="0"/>
              <a:t> </a:t>
            </a:r>
            <a:r>
              <a:rPr lang="ko-KR" altLang="en-US" dirty="0"/>
              <a:t>파이썬 바인딩</a:t>
            </a:r>
            <a:endParaRPr lang="en-US" altLang="ko-KR" dirty="0"/>
          </a:p>
          <a:p>
            <a:pPr lvl="1"/>
            <a:r>
              <a:rPr lang="ko-KR" altLang="en-US" dirty="0"/>
              <a:t>가볍고 배우기 쉬우며</a:t>
            </a:r>
            <a:r>
              <a:rPr lang="en-US" altLang="ko-KR" dirty="0"/>
              <a:t>, </a:t>
            </a:r>
            <a:r>
              <a:rPr lang="ko-KR" altLang="en-US" dirty="0"/>
              <a:t>데스크 탑</a:t>
            </a:r>
            <a:r>
              <a:rPr lang="en-US" altLang="ko-KR" dirty="0"/>
              <a:t>/</a:t>
            </a:r>
            <a:r>
              <a:rPr lang="ko-KR" altLang="en-US" dirty="0"/>
              <a:t>프로토타이핑에 적합</a:t>
            </a:r>
            <a:endParaRPr lang="en-US" altLang="ko-KR" dirty="0"/>
          </a:p>
          <a:p>
            <a:r>
              <a:rPr lang="en-US" altLang="ko-KR" dirty="0" err="1"/>
              <a:t>Tkinter</a:t>
            </a:r>
            <a:r>
              <a:rPr lang="en-US" altLang="ko-KR" dirty="0"/>
              <a:t> </a:t>
            </a:r>
            <a:r>
              <a:rPr lang="ko-KR" altLang="en-US" dirty="0"/>
              <a:t>활용에서</a:t>
            </a:r>
            <a:r>
              <a:rPr lang="en-US" altLang="ko-KR" dirty="0"/>
              <a:t> </a:t>
            </a:r>
            <a:r>
              <a:rPr lang="ko-KR" altLang="en-US" dirty="0" err="1"/>
              <a:t>알아야할</a:t>
            </a:r>
            <a:r>
              <a:rPr lang="ko-KR" altLang="en-US" dirty="0"/>
              <a:t> 내용</a:t>
            </a:r>
            <a:endParaRPr lang="en-US" altLang="ko-KR" dirty="0"/>
          </a:p>
          <a:p>
            <a:pPr lvl="1"/>
            <a:r>
              <a:rPr lang="ko-KR" altLang="en-US" dirty="0"/>
              <a:t>전용변수 </a:t>
            </a:r>
            <a:r>
              <a:rPr lang="en-US" altLang="ko-KR" dirty="0"/>
              <a:t>: </a:t>
            </a:r>
            <a:r>
              <a:rPr lang="en-US" altLang="ko-KR" dirty="0" err="1"/>
              <a:t>StringVar</a:t>
            </a:r>
            <a:r>
              <a:rPr lang="en-US" altLang="ko-KR" dirty="0"/>
              <a:t>, </a:t>
            </a:r>
            <a:r>
              <a:rPr lang="en-US" altLang="ko-KR" dirty="0" err="1"/>
              <a:t>IntVar</a:t>
            </a:r>
            <a:r>
              <a:rPr lang="en-US" altLang="ko-KR" dirty="0"/>
              <a:t>, </a:t>
            </a:r>
            <a:r>
              <a:rPr lang="en-US" altLang="ko-KR" dirty="0" err="1"/>
              <a:t>DoubleVar</a:t>
            </a:r>
            <a:r>
              <a:rPr lang="en-US" altLang="ko-KR" dirty="0"/>
              <a:t>, </a:t>
            </a:r>
            <a:r>
              <a:rPr lang="en-US" altLang="ko-KR" dirty="0" err="1"/>
              <a:t>BooleanVar</a:t>
            </a:r>
            <a:endParaRPr lang="en-US" altLang="ko-KR" dirty="0"/>
          </a:p>
          <a:p>
            <a:pPr lvl="1"/>
            <a:r>
              <a:rPr lang="ko-KR" altLang="en-US" dirty="0"/>
              <a:t>변수 변경</a:t>
            </a:r>
            <a:r>
              <a:rPr lang="en-US" altLang="ko-KR" dirty="0"/>
              <a:t> </a:t>
            </a:r>
            <a:r>
              <a:rPr lang="ko-KR" altLang="en-US" dirty="0"/>
              <a:t>감시 </a:t>
            </a:r>
            <a:r>
              <a:rPr lang="en-US" altLang="ko-KR" dirty="0"/>
              <a:t>: </a:t>
            </a:r>
            <a:r>
              <a:rPr lang="en-US" altLang="ko-KR" dirty="0" err="1"/>
              <a:t>var.trace_add</a:t>
            </a:r>
            <a:r>
              <a:rPr lang="en-US" altLang="ko-KR" dirty="0"/>
              <a:t>(“write”, callback)</a:t>
            </a:r>
          </a:p>
          <a:p>
            <a:pPr lvl="1"/>
            <a:r>
              <a:rPr lang="ko-KR" altLang="en-US" dirty="0"/>
              <a:t>이벤트 </a:t>
            </a:r>
            <a:r>
              <a:rPr lang="en-US" altLang="ko-KR" dirty="0"/>
              <a:t>: Button(root, text=“</a:t>
            </a:r>
            <a:r>
              <a:rPr lang="ko-KR" altLang="en-US" dirty="0"/>
              <a:t>클릭</a:t>
            </a:r>
            <a:r>
              <a:rPr lang="en-US" altLang="ko-KR" dirty="0"/>
              <a:t>“, command=callback)</a:t>
            </a:r>
          </a:p>
          <a:p>
            <a:pPr lvl="1"/>
            <a:r>
              <a:rPr lang="ko-KR" altLang="en-US" dirty="0"/>
              <a:t>계층구조</a:t>
            </a:r>
            <a:r>
              <a:rPr lang="en-US" altLang="ko-KR" dirty="0"/>
              <a:t> : </a:t>
            </a:r>
            <a:r>
              <a:rPr lang="ko-KR" altLang="en-US" dirty="0"/>
              <a:t>모든 위젯은 부모 안에 생성</a:t>
            </a:r>
            <a:endParaRPr lang="en-US" altLang="ko-KR" dirty="0"/>
          </a:p>
          <a:p>
            <a:pPr lvl="1"/>
            <a:r>
              <a:rPr lang="en-US" altLang="ko-KR" dirty="0"/>
              <a:t>GUI </a:t>
            </a:r>
            <a:r>
              <a:rPr lang="ko-KR" altLang="en-US" dirty="0"/>
              <a:t>실행 루프 </a:t>
            </a:r>
            <a:r>
              <a:rPr lang="en-US" altLang="ko-KR" dirty="0"/>
              <a:t>: </a:t>
            </a:r>
            <a:r>
              <a:rPr lang="en-US" altLang="ko-KR" dirty="0" err="1"/>
              <a:t>root.mainloop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0E31BE-D788-42D9-1D88-A94509A253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8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96397974"/>
      </p:ext>
    </p:extLst>
  </p:cSld>
  <p:clrMapOvr>
    <a:masterClrMapping/>
  </p:clrMapOvr>
  <p:transition>
    <p:diamond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8E67F-1D61-2CF2-4690-7F0D77FC6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10A6C0-CCEB-182D-1D9B-F99B74AFE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Tkinter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92942A-C80B-E0DB-E042-8DFF377B7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장점</a:t>
            </a:r>
            <a:endParaRPr lang="en-US" altLang="ko-KR" dirty="0"/>
          </a:p>
          <a:p>
            <a:pPr lvl="1"/>
            <a:r>
              <a:rPr lang="ko-KR" altLang="en-US" dirty="0"/>
              <a:t>표준 라이브러리 </a:t>
            </a:r>
            <a:r>
              <a:rPr lang="en-US" altLang="ko-KR" dirty="0"/>
              <a:t>(</a:t>
            </a:r>
            <a:r>
              <a:rPr lang="ko-KR" altLang="en-US" dirty="0"/>
              <a:t>설치 필요 없음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쉽고 빠른 </a:t>
            </a:r>
            <a:r>
              <a:rPr lang="en-US" altLang="ko-KR" dirty="0"/>
              <a:t>GUI </a:t>
            </a:r>
            <a:r>
              <a:rPr lang="ko-KR" altLang="en-US" dirty="0"/>
              <a:t>개발</a:t>
            </a:r>
            <a:endParaRPr lang="en-US" altLang="ko-KR" dirty="0"/>
          </a:p>
          <a:p>
            <a:pPr lvl="1"/>
            <a:r>
              <a:rPr lang="ko-KR" altLang="en-US" dirty="0"/>
              <a:t>다양한 </a:t>
            </a:r>
            <a:r>
              <a:rPr lang="en-US" altLang="ko-KR" dirty="0"/>
              <a:t>OS</a:t>
            </a:r>
            <a:r>
              <a:rPr lang="ko-KR" altLang="en-US" dirty="0"/>
              <a:t>에서 동작</a:t>
            </a:r>
            <a:endParaRPr lang="en-US" altLang="ko-KR" dirty="0"/>
          </a:p>
          <a:p>
            <a:pPr lvl="1"/>
            <a:r>
              <a:rPr lang="ko-KR" altLang="en-US" dirty="0"/>
              <a:t>간단한 원격 </a:t>
            </a:r>
            <a:r>
              <a:rPr lang="en-US" altLang="ko-KR" dirty="0"/>
              <a:t>GUI(X11 Forwarding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와도 호환 가능</a:t>
            </a:r>
          </a:p>
          <a:p>
            <a:r>
              <a:rPr lang="ko-KR" altLang="en-US" dirty="0"/>
              <a:t>단점</a:t>
            </a:r>
            <a:endParaRPr lang="en-US" altLang="ko-KR" dirty="0"/>
          </a:p>
          <a:p>
            <a:pPr lvl="1"/>
            <a:r>
              <a:rPr lang="ko-KR" altLang="en-US" dirty="0"/>
              <a:t>고급 디자인</a:t>
            </a:r>
            <a:r>
              <a:rPr lang="en-US" altLang="ko-KR" dirty="0"/>
              <a:t>/</a:t>
            </a:r>
            <a:r>
              <a:rPr lang="ko-KR" altLang="en-US" dirty="0"/>
              <a:t>애니메이션에는 한계</a:t>
            </a:r>
            <a:endParaRPr lang="en-US" altLang="ko-KR" dirty="0"/>
          </a:p>
          <a:p>
            <a:pPr lvl="1"/>
            <a:r>
              <a:rPr lang="ko-KR" altLang="en-US" dirty="0"/>
              <a:t>모바일 </a:t>
            </a:r>
            <a:r>
              <a:rPr lang="en-US" altLang="ko-KR" dirty="0"/>
              <a:t>GUI </a:t>
            </a:r>
            <a:r>
              <a:rPr lang="ko-KR" altLang="en-US" dirty="0"/>
              <a:t>지원 </a:t>
            </a:r>
            <a:r>
              <a:rPr lang="en-US" altLang="ko-KR" dirty="0"/>
              <a:t>X</a:t>
            </a:r>
          </a:p>
          <a:p>
            <a:pPr lvl="1"/>
            <a:r>
              <a:rPr lang="ko-KR" altLang="en-US" dirty="0"/>
              <a:t>복잡 </a:t>
            </a:r>
            <a:r>
              <a:rPr lang="en-US" altLang="ko-KR" dirty="0"/>
              <a:t>UI</a:t>
            </a:r>
            <a:r>
              <a:rPr lang="ko-KR" altLang="en-US" dirty="0"/>
              <a:t>는 다른 프레임워크</a:t>
            </a:r>
            <a:r>
              <a:rPr lang="en-US" altLang="ko-KR" dirty="0"/>
              <a:t>(PySide6/Qt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가 유리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DF4E9C-58BB-0298-5B31-45B6E302BC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9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10452932"/>
      </p:ext>
    </p:extLst>
  </p:cSld>
  <p:clrMapOvr>
    <a:masterClrMapping/>
  </p:clrMapOvr>
  <p:transition>
    <p:diamond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0B2B51-CAAB-5B4C-E2D8-00C8C4739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1-1] Tk - </a:t>
            </a:r>
            <a:r>
              <a:rPr lang="ko-KR" altLang="en-US" dirty="0"/>
              <a:t>위젯 생성 실습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F6E108-5EDF-1F76-469F-C211538DE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화면에 새로운 창을 생성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데스크탑 중앙에 생성됨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F326C9-7F8E-4F09-7E61-8ACD6F862D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10</a:t>
            </a:fld>
            <a:endParaRPr lang="en-US" altLang="ko-KR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7759C86-DFA8-DB8D-EE80-B04456DE9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851" y="3790730"/>
            <a:ext cx="4680520" cy="27291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E3F381A-6F93-195B-B7EE-00FD7C2E192A}"/>
              </a:ext>
            </a:extLst>
          </p:cNvPr>
          <p:cNvSpPr/>
          <p:nvPr/>
        </p:nvSpPr>
        <p:spPr>
          <a:xfrm>
            <a:off x="4283968" y="4941168"/>
            <a:ext cx="576064" cy="64807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9346536-366A-E59F-6248-AF03945E9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44" y="1518499"/>
            <a:ext cx="7019048" cy="2200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19933547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4E74C-4F68-1CE1-5CE8-82BE901CA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2BFC2-790E-A3E7-D7A6-9FD75C018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1-2] Tk - </a:t>
            </a:r>
            <a:r>
              <a:rPr lang="ko-KR" altLang="en-US" dirty="0"/>
              <a:t>위젯 생성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EDDE36-9EE8-3E75-2D4F-4DCCB1FF7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화면에 새로운 창을 생성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크기와 위치 지정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C91950-5C6D-4480-DEF6-D7348CB34C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11</a:t>
            </a:fld>
            <a:endParaRPr lang="en-US" altLang="ko-KR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BEE9AA5-5220-10EF-5EE7-0FBF2757F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986" y="4224432"/>
            <a:ext cx="2594028" cy="229756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5AE86FA-0CE2-2269-A5B8-268880564608}"/>
              </a:ext>
            </a:extLst>
          </p:cNvPr>
          <p:cNvCxnSpPr/>
          <p:nvPr/>
        </p:nvCxnSpPr>
        <p:spPr>
          <a:xfrm>
            <a:off x="3274986" y="4943726"/>
            <a:ext cx="864966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A2C1760-0659-875B-09ED-15A967904A1E}"/>
              </a:ext>
            </a:extLst>
          </p:cNvPr>
          <p:cNvCxnSpPr>
            <a:cxnSpLocks/>
          </p:cNvCxnSpPr>
          <p:nvPr/>
        </p:nvCxnSpPr>
        <p:spPr>
          <a:xfrm>
            <a:off x="4128377" y="4365104"/>
            <a:ext cx="0" cy="607425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1122C8D7-CBE6-2286-F135-FBFF0D49AA53}"/>
              </a:ext>
            </a:extLst>
          </p:cNvPr>
          <p:cNvCxnSpPr>
            <a:cxnSpLocks/>
          </p:cNvCxnSpPr>
          <p:nvPr/>
        </p:nvCxnSpPr>
        <p:spPr>
          <a:xfrm>
            <a:off x="4110292" y="5157192"/>
            <a:ext cx="1325804" cy="0"/>
          </a:xfrm>
          <a:prstGeom prst="straightConnector1">
            <a:avLst/>
          </a:prstGeom>
          <a:ln w="38100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E22F71C7-1F35-A516-C431-F252CCCC74EC}"/>
              </a:ext>
            </a:extLst>
          </p:cNvPr>
          <p:cNvCxnSpPr>
            <a:cxnSpLocks/>
          </p:cNvCxnSpPr>
          <p:nvPr/>
        </p:nvCxnSpPr>
        <p:spPr>
          <a:xfrm>
            <a:off x="4355976" y="5058670"/>
            <a:ext cx="0" cy="1296000"/>
          </a:xfrm>
          <a:prstGeom prst="straightConnector1">
            <a:avLst/>
          </a:prstGeom>
          <a:ln w="3810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E9CA2EB-A709-50F6-DCF3-6ACDBEB0A60A}"/>
              </a:ext>
            </a:extLst>
          </p:cNvPr>
          <p:cNvSpPr txBox="1"/>
          <p:nvPr/>
        </p:nvSpPr>
        <p:spPr>
          <a:xfrm>
            <a:off x="3287736" y="4943726"/>
            <a:ext cx="7024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14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좌표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B777EC-614B-2665-6D9C-C2C8A8049C41}"/>
              </a:ext>
            </a:extLst>
          </p:cNvPr>
          <p:cNvSpPr txBox="1"/>
          <p:nvPr/>
        </p:nvSpPr>
        <p:spPr>
          <a:xfrm>
            <a:off x="4139952" y="4482061"/>
            <a:ext cx="7024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FFC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 </a:t>
            </a:r>
            <a:r>
              <a:rPr lang="ko-KR" altLang="en-US" sz="1400" b="1" dirty="0">
                <a:solidFill>
                  <a:srgbClr val="FFC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좌표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B34492-7CA6-0ACF-3B8D-8FB44A65DA50}"/>
              </a:ext>
            </a:extLst>
          </p:cNvPr>
          <p:cNvSpPr txBox="1"/>
          <p:nvPr/>
        </p:nvSpPr>
        <p:spPr>
          <a:xfrm>
            <a:off x="4737577" y="5122467"/>
            <a:ext cx="6671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width</a:t>
            </a:r>
            <a:endParaRPr lang="ko-KR" altLang="en-US" sz="14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E9EA2D-E548-965A-7BA0-D7AD95EF2931}"/>
              </a:ext>
            </a:extLst>
          </p:cNvPr>
          <p:cNvSpPr txBox="1"/>
          <p:nvPr/>
        </p:nvSpPr>
        <p:spPr>
          <a:xfrm>
            <a:off x="4338269" y="5822233"/>
            <a:ext cx="7328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FFC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height</a:t>
            </a:r>
            <a:endParaRPr lang="ko-KR" altLang="en-US" sz="1400" b="1" dirty="0">
              <a:solidFill>
                <a:srgbClr val="FFC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2AD1650-4CA7-CF5E-8377-13E3A0B7C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98" y="1437400"/>
            <a:ext cx="7542556" cy="271203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63496482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0429B-44BC-96CC-4B7F-64254AA07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303E0F-D7BF-FE3B-591F-6A2F4A5C2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1-3] Tk - </a:t>
            </a:r>
            <a:r>
              <a:rPr lang="ko-KR" altLang="en-US" dirty="0"/>
              <a:t>자식</a:t>
            </a:r>
            <a:r>
              <a:rPr lang="en-US" altLang="ko-KR" dirty="0"/>
              <a:t> </a:t>
            </a:r>
            <a:r>
              <a:rPr lang="ko-KR" altLang="en-US" dirty="0"/>
              <a:t>위젯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06AA47-312D-D431-F8B0-64D850B0B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생성된 윈도우의 자식 위젯으로 </a:t>
            </a:r>
            <a:r>
              <a:rPr lang="en-US" altLang="ko-KR" dirty="0"/>
              <a:t>Label </a:t>
            </a:r>
            <a:r>
              <a:rPr lang="ko-KR" altLang="en-US" dirty="0"/>
              <a:t>생성</a:t>
            </a:r>
            <a:endParaRPr lang="en-US" altLang="ko-KR" dirty="0"/>
          </a:p>
          <a:p>
            <a:pPr lvl="1"/>
            <a:r>
              <a:rPr lang="en-US" altLang="ko-KR" dirty="0"/>
              <a:t>pack( )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자동설정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글자의 크기에 맞춤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9278B5-3181-F852-2676-CC2C8144AB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12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D49FF4D-3B8B-960D-8E97-427ED14DD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143" y="2024238"/>
            <a:ext cx="7085714" cy="280952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72FEFD4-591D-2C9D-5D4F-409227539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919" y="5099734"/>
            <a:ext cx="1440162" cy="119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353385"/>
      </p:ext>
    </p:extLst>
  </p:cSld>
  <p:clrMapOvr>
    <a:masterClrMapping/>
  </p:clrMapOvr>
  <p:transition>
    <p:diamond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D7B53-82FD-679F-5E9A-CE3373967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C9ACC36C-C59A-0F9D-F5F3-0397F8CC6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3002" y="4742135"/>
            <a:ext cx="1916726" cy="174859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9695CFF-CDC3-AA80-36BB-3B0ABB199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1-4] Tk - </a:t>
            </a:r>
            <a:r>
              <a:rPr lang="ko-KR" altLang="en-US" dirty="0"/>
              <a:t>자식</a:t>
            </a:r>
            <a:r>
              <a:rPr lang="en-US" altLang="ko-KR" dirty="0"/>
              <a:t> </a:t>
            </a:r>
            <a:r>
              <a:rPr lang="ko-KR" altLang="en-US" dirty="0"/>
              <a:t>위젯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29F523-1B94-03B3-25C4-2B460B0CC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생성된 윈도우의 지식 위젯으로 </a:t>
            </a:r>
            <a:r>
              <a:rPr lang="en-US" altLang="ko-KR" dirty="0"/>
              <a:t>Label </a:t>
            </a:r>
            <a:r>
              <a:rPr lang="ko-KR" altLang="en-US" dirty="0"/>
              <a:t>생성</a:t>
            </a:r>
            <a:endParaRPr lang="en-US" altLang="ko-KR" dirty="0"/>
          </a:p>
          <a:p>
            <a:pPr lvl="1"/>
            <a:r>
              <a:rPr lang="en-US" altLang="ko-KR" dirty="0"/>
              <a:t>pack(</a:t>
            </a:r>
            <a:r>
              <a:rPr lang="en-US" altLang="ko-KR" dirty="0" err="1"/>
              <a:t>padx</a:t>
            </a:r>
            <a:r>
              <a:rPr lang="en-US" altLang="ko-KR" dirty="0"/>
              <a:t>=20, </a:t>
            </a:r>
            <a:r>
              <a:rPr lang="en-US" altLang="ko-KR" dirty="0" err="1"/>
              <a:t>pady</a:t>
            </a:r>
            <a:r>
              <a:rPr lang="en-US" altLang="ko-KR" dirty="0"/>
              <a:t>=20)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여백 지정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D67C95-B910-7FFC-5222-ADE8118BB5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13</a:t>
            </a:fld>
            <a:endParaRPr lang="en-US" altLang="ko-KR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4DDF1DBA-F454-74B5-7F4E-74CDB5A8D7DC}"/>
              </a:ext>
            </a:extLst>
          </p:cNvPr>
          <p:cNvCxnSpPr/>
          <p:nvPr/>
        </p:nvCxnSpPr>
        <p:spPr>
          <a:xfrm>
            <a:off x="3779912" y="5733256"/>
            <a:ext cx="36000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53BEDB2-5BCA-DCAD-9A64-E9FBD18A146F}"/>
              </a:ext>
            </a:extLst>
          </p:cNvPr>
          <p:cNvCxnSpPr>
            <a:cxnSpLocks/>
          </p:cNvCxnSpPr>
          <p:nvPr/>
        </p:nvCxnSpPr>
        <p:spPr>
          <a:xfrm flipV="1">
            <a:off x="4357201" y="5876925"/>
            <a:ext cx="0" cy="36000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B70B4B5-A6CF-83B7-EF56-950BB64DE2D5}"/>
              </a:ext>
            </a:extLst>
          </p:cNvPr>
          <p:cNvSpPr txBox="1"/>
          <p:nvPr/>
        </p:nvSpPr>
        <p:spPr>
          <a:xfrm>
            <a:off x="4333452" y="6204216"/>
            <a:ext cx="6009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srgbClr val="FFC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pady</a:t>
            </a:r>
            <a:endParaRPr lang="ko-KR" altLang="en-US" sz="1400" b="1" dirty="0">
              <a:solidFill>
                <a:srgbClr val="FFC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A5EBD53-5A5F-A5D2-2627-9DA67EC9BD17}"/>
              </a:ext>
            </a:extLst>
          </p:cNvPr>
          <p:cNvCxnSpPr>
            <a:cxnSpLocks/>
          </p:cNvCxnSpPr>
          <p:nvPr/>
        </p:nvCxnSpPr>
        <p:spPr>
          <a:xfrm>
            <a:off x="4355976" y="5301208"/>
            <a:ext cx="0" cy="360000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1944FB20-2260-6328-3288-A55199F7F3BF}"/>
              </a:ext>
            </a:extLst>
          </p:cNvPr>
          <p:cNvCxnSpPr>
            <a:cxnSpLocks/>
          </p:cNvCxnSpPr>
          <p:nvPr/>
        </p:nvCxnSpPr>
        <p:spPr>
          <a:xfrm flipH="1">
            <a:off x="4934386" y="5738973"/>
            <a:ext cx="36000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4125200-9C39-FC4C-0158-6BC316BFB5DC}"/>
              </a:ext>
            </a:extLst>
          </p:cNvPr>
          <p:cNvSpPr txBox="1"/>
          <p:nvPr/>
        </p:nvSpPr>
        <p:spPr>
          <a:xfrm>
            <a:off x="5297639" y="5569148"/>
            <a:ext cx="6009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err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padx</a:t>
            </a:r>
            <a:endParaRPr lang="ko-KR" altLang="en-US" sz="1400" b="1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69F7C16-F4D6-9961-F808-E29AA56C2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427" y="1961402"/>
            <a:ext cx="7057143" cy="280952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61217516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896706-633A-3809-D3EC-A62C722C5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Tkinter</a:t>
            </a:r>
            <a:r>
              <a:rPr lang="ko-KR" altLang="en-US" dirty="0"/>
              <a:t> 위젯</a:t>
            </a: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65CF32B0-F389-938C-77FB-5924A7A06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위젯</a:t>
            </a:r>
            <a:r>
              <a:rPr lang="en-US" altLang="ko-KR" dirty="0"/>
              <a:t>(Widget)</a:t>
            </a:r>
          </a:p>
          <a:p>
            <a:pPr lvl="1"/>
            <a:r>
              <a:rPr lang="ko-KR" altLang="en-US" dirty="0"/>
              <a:t>그래픽</a:t>
            </a:r>
            <a:r>
              <a:rPr lang="en-US" altLang="ko-KR" dirty="0"/>
              <a:t> </a:t>
            </a:r>
            <a:r>
              <a:rPr lang="ko-KR" altLang="en-US" dirty="0"/>
              <a:t>화면에 나타낼 수 있는 그래픽 </a:t>
            </a:r>
            <a:r>
              <a:rPr lang="ko-KR" altLang="en-US" dirty="0" err="1"/>
              <a:t>콤포넌트</a:t>
            </a:r>
            <a:endParaRPr lang="en-US" altLang="ko-KR" dirty="0"/>
          </a:p>
          <a:p>
            <a:pPr lvl="1"/>
            <a:r>
              <a:rPr lang="ko-KR" altLang="en-US" dirty="0"/>
              <a:t>버튼</a:t>
            </a:r>
            <a:r>
              <a:rPr lang="en-US" altLang="ko-KR" dirty="0"/>
              <a:t>, </a:t>
            </a:r>
            <a:r>
              <a:rPr lang="ko-KR" altLang="en-US" dirty="0"/>
              <a:t>글자</a:t>
            </a:r>
            <a:r>
              <a:rPr lang="en-US" altLang="ko-KR" dirty="0"/>
              <a:t>, </a:t>
            </a:r>
            <a:r>
              <a:rPr lang="ko-KR" altLang="en-US" dirty="0"/>
              <a:t>체크박스</a:t>
            </a:r>
            <a:r>
              <a:rPr lang="en-US" altLang="ko-KR" dirty="0"/>
              <a:t>, </a:t>
            </a:r>
            <a:r>
              <a:rPr lang="ko-KR" altLang="en-US" dirty="0"/>
              <a:t>탭</a:t>
            </a:r>
            <a:r>
              <a:rPr lang="en-US" altLang="ko-KR" dirty="0"/>
              <a:t>, </a:t>
            </a:r>
            <a:r>
              <a:rPr lang="ko-KR" altLang="en-US" dirty="0"/>
              <a:t>이미지 등</a:t>
            </a:r>
            <a:endParaRPr lang="en-US" altLang="ko-KR" dirty="0"/>
          </a:p>
          <a:p>
            <a:pPr lvl="1"/>
            <a:r>
              <a:rPr lang="en-US" altLang="ko-KR" dirty="0" err="1"/>
              <a:t>Tkinter</a:t>
            </a:r>
            <a:r>
              <a:rPr lang="ko-KR" altLang="en-US" dirty="0"/>
              <a:t>에서는 위젯을 생성하고 배치하고 이벤트와 연결하여 상호작용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F518B7-4163-6302-B34F-02E8781DBD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14</a:t>
            </a:fld>
            <a:endParaRPr lang="en-US" altLang="ko-KR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DA54391-E5FD-4E69-3E4A-2C1C2DEF6D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269856"/>
              </p:ext>
            </p:extLst>
          </p:nvPr>
        </p:nvGraphicFramePr>
        <p:xfrm>
          <a:off x="448172" y="2843212"/>
          <a:ext cx="8352928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756562808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473076699"/>
                    </a:ext>
                  </a:extLst>
                </a:gridCol>
                <a:gridCol w="5184576">
                  <a:extLst>
                    <a:ext uri="{9D8B030D-6E8A-4147-A177-3AD203B41FA5}">
                      <a16:colId xmlns:a16="http://schemas.microsoft.com/office/drawing/2014/main" val="27592730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595197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 입출력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Label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또는 이미지를 출력 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불가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6344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Entry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 줄 텍스트 입력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88449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여러 줄 텍스트 입력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9442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Message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여러 줄 텍스트 출력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 줄 바꿈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), Label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보다 긴 문장에 적합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021760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Button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클릭 이벤트를 처리하는 일반 버튼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037309"/>
                  </a:ext>
                </a:extLst>
              </a:tr>
              <a:tr h="2425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Checkbutton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체크박스 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다중선택 가능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821041"/>
                  </a:ext>
                </a:extLst>
              </a:tr>
              <a:tr h="1498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Radiobutton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라디오 버튼 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단일 선택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98919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Menubutton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클릭시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메뉴를 보여주는 버튼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326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6911084"/>
      </p:ext>
    </p:extLst>
  </p:cSld>
  <p:clrMapOvr>
    <a:masterClrMapping/>
  </p:clrMapOvr>
  <p:transition>
    <p:diamond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5CDE5-9F27-F61C-D5B4-075D0CC52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818D4B-790E-D61D-D29E-849565713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Tkinter</a:t>
            </a:r>
            <a:r>
              <a:rPr lang="ko-KR" altLang="en-US" dirty="0"/>
              <a:t> 위젯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D0E73C-981A-F195-8590-C51C629C80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15</a:t>
            </a:fld>
            <a:endParaRPr lang="en-US" altLang="ko-KR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CF6CF9B-F2EE-4509-FC88-8D752AF9A5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931199"/>
              </p:ext>
            </p:extLst>
          </p:nvPr>
        </p:nvGraphicFramePr>
        <p:xfrm>
          <a:off x="395536" y="1196752"/>
          <a:ext cx="8352928" cy="527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756562808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473076699"/>
                    </a:ext>
                  </a:extLst>
                </a:gridCol>
                <a:gridCol w="5184576">
                  <a:extLst>
                    <a:ext uri="{9D8B030D-6E8A-4147-A177-3AD203B41FA5}">
                      <a16:colId xmlns:a16="http://schemas.microsoft.com/office/drawing/2014/main" val="2759273013"/>
                    </a:ext>
                  </a:extLst>
                </a:gridCol>
              </a:tblGrid>
              <a:tr h="1700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595197"/>
                  </a:ext>
                </a:extLst>
              </a:tr>
              <a:tr h="170014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선택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Listbox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여러 항목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 선택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634445"/>
                  </a:ext>
                </a:extLst>
              </a:tr>
              <a:tr h="170014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OptionMenu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드롭다운 선택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(Menu + Button)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884490"/>
                  </a:ext>
                </a:extLst>
              </a:tr>
              <a:tr h="31527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Combobox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Entry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드롭다운 선택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입력도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944217"/>
                  </a:ext>
                </a:extLst>
              </a:tr>
              <a:tr h="153711">
                <a:tc rowSpan="4"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컨테니어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및 배치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Frame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다른 위젯을 담는 컨테이너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037309"/>
                  </a:ext>
                </a:extLst>
              </a:tr>
              <a:tr h="153711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LabelFrame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테두리 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제목이 있는 프레임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821041"/>
                  </a:ext>
                </a:extLst>
              </a:tr>
              <a:tr h="153711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PanedWindow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창을 여러 영역으로 분할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크기 조절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98919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Toplevel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새로운 창</a:t>
                      </a:r>
                      <a:r>
                        <a:rPr lang="en-US" altLang="ko-KR" sz="160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(window) </a:t>
                      </a:r>
                      <a:r>
                        <a:rPr lang="ko-KR" altLang="en-US" sz="160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326551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Menu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메뉴바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팝업메뉴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서브메뉴 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901513"/>
                  </a:ext>
                </a:extLst>
              </a:tr>
              <a:tr h="251460">
                <a:tc rowSpan="4"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스크롤 및 값 조절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Scrollbar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다른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위젯의 스크롤 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71876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Scale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슬라이더로 값을 조절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812168"/>
                  </a:ext>
                </a:extLst>
              </a:tr>
              <a:tr h="16764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Spinbox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↑↓ 버튼으로 숫자 혹은 값 조절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518987"/>
                  </a:ext>
                </a:extLst>
              </a:tr>
              <a:tr h="12573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Progressbar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 진행 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645787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캔버스 및 이미지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그래픽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Canvas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도형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이미지 등을 직접 그림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25097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PhotoImage</a:t>
                      </a:r>
                      <a:endParaRPr lang="en-US" altLang="ko-KR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BitmapImage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이미지 객체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위젯은 아니나 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Label, Canvas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등에 사용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777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5085367"/>
      </p:ext>
    </p:extLst>
  </p:cSld>
  <p:clrMapOvr>
    <a:masterClrMapping/>
  </p:clrMapOvr>
  <p:transition>
    <p:diamond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D377A-58BC-CF3C-A15A-D446710CF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95137A-9CF2-9F83-2344-C1896AF99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Tkinter</a:t>
            </a:r>
            <a:r>
              <a:rPr lang="ko-KR" altLang="en-US" dirty="0"/>
              <a:t> 위젯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61C9FF-7FC3-3445-EE02-F2000723A2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16</a:t>
            </a:fld>
            <a:endParaRPr lang="en-US" altLang="ko-KR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1AB4E16C-48B0-8725-C943-EB4508920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589059"/>
              </p:ext>
            </p:extLst>
          </p:nvPr>
        </p:nvGraphicFramePr>
        <p:xfrm>
          <a:off x="395536" y="1196752"/>
          <a:ext cx="8352928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756562808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1473076699"/>
                    </a:ext>
                  </a:extLst>
                </a:gridCol>
                <a:gridCol w="4968552">
                  <a:extLst>
                    <a:ext uri="{9D8B030D-6E8A-4147-A177-3AD203B41FA5}">
                      <a16:colId xmlns:a16="http://schemas.microsoft.com/office/drawing/2014/main" val="2759273013"/>
                    </a:ext>
                  </a:extLst>
                </a:gridCol>
              </a:tblGrid>
              <a:tr h="1700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595197"/>
                  </a:ext>
                </a:extLst>
              </a:tr>
              <a:tr h="170014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대화상자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알림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tkinter.messagebox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알림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경고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634445"/>
                  </a:ext>
                </a:extLst>
              </a:tr>
              <a:tr h="170014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tkinter.filedialog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열기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884490"/>
                  </a:ext>
                </a:extLst>
              </a:tr>
              <a:tr h="1676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tkinter.colorchooser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색깔 선택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944217"/>
                  </a:ext>
                </a:extLst>
              </a:tr>
              <a:tr h="1676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tkinter.simpledialog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입력 대화상자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260396"/>
                  </a:ext>
                </a:extLst>
              </a:tr>
              <a:tr h="153711">
                <a:tc rowSpan="7"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테마 적용 위젯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ttk.Button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ttk.Label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ttk.Entry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테마가 적용된 버전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037309"/>
                  </a:ext>
                </a:extLst>
              </a:tr>
              <a:tr h="153711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ttk.Checkbutton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ttk.Radiobutton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테마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적용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체크박스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라디오버튼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821041"/>
                  </a:ext>
                </a:extLst>
              </a:tr>
              <a:tr h="153711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ttk.Combobox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드롭다운 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98919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ttk.Treeview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계층 목록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326551"/>
                  </a:ext>
                </a:extLst>
              </a:tr>
              <a:tr h="2514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ttk.Notebook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탭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(Tab UI)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495785"/>
                  </a:ext>
                </a:extLst>
              </a:tr>
              <a:tr h="1676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ttk.Progressbar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5379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ttk.Separator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032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8696886"/>
      </p:ext>
    </p:extLst>
  </p:cSld>
  <p:clrMapOvr>
    <a:masterClrMapping/>
  </p:clrMapOvr>
  <p:transition>
    <p:diamond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076D0-0840-C485-9BBE-CABBBB651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B20058-DD9E-589C-620C-94A5FAB3E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Tkinter</a:t>
            </a:r>
            <a:r>
              <a:rPr lang="ko-KR" altLang="en-US" dirty="0"/>
              <a:t> 위젯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B8CDDB-6D04-B051-E948-B6E63806EA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17</a:t>
            </a:fld>
            <a:endParaRPr lang="en-US" altLang="ko-KR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7E70AE9B-2825-9928-122F-B1333C2CBF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286044"/>
              </p:ext>
            </p:extLst>
          </p:nvPr>
        </p:nvGraphicFramePr>
        <p:xfrm>
          <a:off x="395536" y="1196752"/>
          <a:ext cx="8352928" cy="2736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756562808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1473076699"/>
                    </a:ext>
                  </a:extLst>
                </a:gridCol>
                <a:gridCol w="4968552">
                  <a:extLst>
                    <a:ext uri="{9D8B030D-6E8A-4147-A177-3AD203B41FA5}">
                      <a16:colId xmlns:a16="http://schemas.microsoft.com/office/drawing/2014/main" val="2759273013"/>
                    </a:ext>
                  </a:extLst>
                </a:gridCol>
              </a:tblGrid>
              <a:tr h="4630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595197"/>
                  </a:ext>
                </a:extLst>
              </a:tr>
              <a:tr h="7998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 형태 데이터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Treeview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탐색기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폴더 구소 등 계층적 데이터 </a:t>
                      </a:r>
                      <a:r>
                        <a:rPr lang="ko-KR" altLang="en-US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표사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634445"/>
                  </a:ext>
                </a:extLst>
              </a:tr>
              <a:tr h="463067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배치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(layout)</a:t>
                      </a:r>
                    </a:p>
                    <a:p>
                      <a:pPr latinLnBrk="1"/>
                      <a:endParaRPr lang="en-US" altLang="ko-KR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위젯은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아니나 필수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pack()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정렬 배치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037309"/>
                  </a:ext>
                </a:extLst>
              </a:tr>
              <a:tr h="463067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grid()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열 기준 배치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821041"/>
                  </a:ext>
                </a:extLst>
              </a:tr>
              <a:tr h="547261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place()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절대 좌표 배치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989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1952573"/>
      </p:ext>
    </p:extLst>
  </p:cSld>
  <p:clrMapOvr>
    <a:masterClrMapping/>
  </p:clrMapOvr>
  <p:transition>
    <p:diamond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458421-983F-5CC4-7BC9-99264D755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 2] Tk - Label (</a:t>
            </a:r>
            <a:r>
              <a:rPr lang="ko-KR" altLang="en-US" dirty="0"/>
              <a:t>자식 위젯</a:t>
            </a:r>
            <a:r>
              <a:rPr lang="en-US" altLang="ko-KR" dirty="0"/>
              <a:t>) </a:t>
            </a:r>
            <a:r>
              <a:rPr lang="ko-KR" altLang="en-US" dirty="0"/>
              <a:t>생성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76A8B9-FE7D-760A-1EB1-22C277A6E8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18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A93F23D-76A3-6BC8-2B09-548E2FEAF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" y="1052736"/>
            <a:ext cx="6552381" cy="461904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3D69443-F60A-24BC-D35C-0F2F0D3F1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901" y="1052736"/>
            <a:ext cx="2232149" cy="241174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DB9AB2A-C4CD-8894-4C05-9F0B5762B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2124" y="3680606"/>
            <a:ext cx="2232150" cy="104108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67018351"/>
      </p:ext>
    </p:extLst>
  </p:cSld>
  <p:clrMapOvr>
    <a:masterClrMapping/>
  </p:clrMapOvr>
  <p:transition>
    <p:diamond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4CFEB-5656-05AC-1B35-4934BA545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D9A36F-7081-810D-4937-C37B9D300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 3] Tk - </a:t>
            </a:r>
            <a:r>
              <a:rPr lang="ko-KR" altLang="en-US" dirty="0"/>
              <a:t>현재 날씨 정보 표시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52030504-76A0-3C7B-990B-5950B0539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기상청 날씨정보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sz="1600" dirty="0">
                <a:solidFill>
                  <a:srgbClr val="0070C0"/>
                </a:solidFill>
                <a:sym typeface="Wingdings" panose="05000000000000000000" pitchFamily="2" charset="2"/>
              </a:rPr>
              <a:t>https://www.weather.go.kr/w/weather/land/city-obs.do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EB79E5-56FB-F8CF-2166-9ADE946410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19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6150976-7EA7-BC46-7A8E-9142E933B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904" y="1527619"/>
            <a:ext cx="4852192" cy="496855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4553E32A-921D-ED83-37A2-20A2EB2AB5B8}"/>
              </a:ext>
            </a:extLst>
          </p:cNvPr>
          <p:cNvSpPr/>
          <p:nvPr/>
        </p:nvSpPr>
        <p:spPr>
          <a:xfrm>
            <a:off x="4572000" y="2852936"/>
            <a:ext cx="360040" cy="43204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1701278-6B67-FD24-6642-A7437B94225E}"/>
              </a:ext>
            </a:extLst>
          </p:cNvPr>
          <p:cNvSpPr/>
          <p:nvPr/>
        </p:nvSpPr>
        <p:spPr>
          <a:xfrm>
            <a:off x="2627784" y="5947930"/>
            <a:ext cx="360040" cy="21737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F78A80E-0589-D5F0-D0F1-4C6C99A39347}"/>
              </a:ext>
            </a:extLst>
          </p:cNvPr>
          <p:cNvSpPr/>
          <p:nvPr/>
        </p:nvSpPr>
        <p:spPr>
          <a:xfrm>
            <a:off x="3923928" y="5956176"/>
            <a:ext cx="360040" cy="21737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5203005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3E64F-59FD-4DFF-E431-D182968DE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3598FE-1DEC-5DCD-6363-D72D5161D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 3] Tk - </a:t>
            </a:r>
            <a:r>
              <a:rPr lang="ko-KR" altLang="en-US" dirty="0"/>
              <a:t>현재 날씨 정보 표시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D002CE8-7C5F-A84B-E348-EAE07F0B7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결과 페이지 </a:t>
            </a:r>
            <a:r>
              <a:rPr lang="ko-KR" altLang="en-US" dirty="0" err="1"/>
              <a:t>우클릭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소스보기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B98ED8-D6B0-5D9C-FBD7-D405406588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20</a:t>
            </a:fld>
            <a:endParaRPr lang="en-US" altLang="ko-KR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5B0659C-2A98-B81E-FD36-69905B7E6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19" y="1844824"/>
            <a:ext cx="8545233" cy="237626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CF967B1C-DDCE-2707-118B-EF8F00DF7757}"/>
              </a:ext>
            </a:extLst>
          </p:cNvPr>
          <p:cNvSpPr/>
          <p:nvPr/>
        </p:nvSpPr>
        <p:spPr>
          <a:xfrm>
            <a:off x="7645194" y="1951857"/>
            <a:ext cx="360040" cy="21737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966287A-D938-291F-90C2-EEE131376DA7}"/>
              </a:ext>
            </a:extLst>
          </p:cNvPr>
          <p:cNvSpPr/>
          <p:nvPr/>
        </p:nvSpPr>
        <p:spPr>
          <a:xfrm>
            <a:off x="778726" y="2060544"/>
            <a:ext cx="360040" cy="21737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40700A-48C5-5C16-B898-D3E02A19A72B}"/>
              </a:ext>
            </a:extLst>
          </p:cNvPr>
          <p:cNvSpPr/>
          <p:nvPr/>
        </p:nvSpPr>
        <p:spPr>
          <a:xfrm>
            <a:off x="778726" y="2636912"/>
            <a:ext cx="360040" cy="21737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229291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AA79F-26BA-96CD-6F55-51E967B0E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1359C7-4CB0-FEFC-CD0D-EDAB2E9D0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 3] Tk - </a:t>
            </a:r>
            <a:r>
              <a:rPr lang="ko-KR" altLang="en-US" dirty="0"/>
              <a:t>현재 날씨 정보 표시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B2256D-3221-F664-AA76-6810C1AFB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21</a:t>
            </a:fld>
            <a:endParaRPr lang="en-US" altLang="ko-KR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A566E6A-5FB3-D415-0CFC-D553E9210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05" y="1017316"/>
            <a:ext cx="8676190" cy="537142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82911956"/>
      </p:ext>
    </p:extLst>
  </p:cSld>
  <p:clrMapOvr>
    <a:masterClrMapping/>
  </p:clrMapOvr>
  <p:transition>
    <p:diamond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B04B8-841F-514E-D498-6654FA292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958D1-633B-D7B5-D0A4-A5F06C6B8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 3] Tk - </a:t>
            </a:r>
            <a:r>
              <a:rPr lang="ko-KR" altLang="en-US" dirty="0"/>
              <a:t>현재 날씨 정보 표시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30448F-E87B-AA54-026A-5EECFF6DB4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22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3351AB4-A7DB-29CE-3F29-EE94FA76B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64" y="758775"/>
            <a:ext cx="8914286" cy="595238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07983006"/>
      </p:ext>
    </p:extLst>
  </p:cSld>
  <p:clrMapOvr>
    <a:masterClrMapping/>
  </p:clrMapOvr>
  <p:transition>
    <p:diamond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70F76-D989-7891-518C-2A2AE80AA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5C02E6-E3F0-CD83-4A9D-9A092FEC2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 3] Tk - </a:t>
            </a:r>
            <a:r>
              <a:rPr lang="ko-KR" altLang="en-US" dirty="0"/>
              <a:t>현재 날씨 정보 표시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17D877-DF82-6BC5-7615-D84C6DBAA9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23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D96DDEA-AD8F-F15F-0283-5EC7B293A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523478"/>
            <a:ext cx="2593473" cy="226556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C29A7B3-1DF2-B4BA-6269-04328418B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716" y="1523478"/>
            <a:ext cx="2578567" cy="226556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28DFEFD-4C29-BEDE-88CF-7FC7F9CDA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8890" y="2751768"/>
            <a:ext cx="626010" cy="186312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9AEAE90-3C5B-E4BE-5C41-0AB480588D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7438" y="1523478"/>
            <a:ext cx="2563662" cy="223575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5B5750CF-0E28-E0A0-B53C-B35238009A24}"/>
              </a:ext>
            </a:extLst>
          </p:cNvPr>
          <p:cNvSpPr/>
          <p:nvPr/>
        </p:nvSpPr>
        <p:spPr>
          <a:xfrm>
            <a:off x="971600" y="2924944"/>
            <a:ext cx="1008112" cy="43204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D3D0892-CF6E-7E3B-C388-2DB6FEEC83EF}"/>
              </a:ext>
            </a:extLst>
          </p:cNvPr>
          <p:cNvSpPr/>
          <p:nvPr/>
        </p:nvSpPr>
        <p:spPr>
          <a:xfrm>
            <a:off x="4908889" y="3062839"/>
            <a:ext cx="607197" cy="36616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075574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4" grpId="0" animBg="1"/>
      <p:bldP spid="14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0529B0-1B89-812E-4AA0-B34A06988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8D97D3-2007-1084-6B7E-5A6A54D67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971550"/>
            <a:ext cx="8950325" cy="5581650"/>
          </a:xfrm>
        </p:spPr>
        <p:txBody>
          <a:bodyPr/>
          <a:lstStyle/>
          <a:p>
            <a:r>
              <a:rPr lang="en-US" altLang="ko-KR" dirty="0"/>
              <a:t>Qt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</a:p>
          <a:p>
            <a:pPr lvl="1"/>
            <a:r>
              <a:rPr kumimoji="0" lang="ko-KR" altLang="ko-KR" dirty="0">
                <a:latin typeface="Arial" panose="020B0604020202020204" pitchFamily="34" charset="0"/>
              </a:rPr>
              <a:t>크로스 플랫폼 GUI/애플리케이션 프레임워크</a:t>
            </a:r>
            <a:endParaRPr kumimoji="0" lang="en-US" altLang="ko-KR" dirty="0">
              <a:latin typeface="Arial" panose="020B0604020202020204" pitchFamily="34" charset="0"/>
            </a:endParaRPr>
          </a:p>
          <a:p>
            <a:pPr lvl="1"/>
            <a:r>
              <a:rPr kumimoji="0" lang="ko-KR" altLang="ko-KR" dirty="0">
                <a:latin typeface="Arial" panose="020B0604020202020204" pitchFamily="34" charset="0"/>
              </a:rPr>
              <a:t>C++로 시작했지만, </a:t>
            </a:r>
            <a:r>
              <a:rPr kumimoji="0" lang="ko-KR" altLang="ko-KR" dirty="0" err="1">
                <a:latin typeface="Arial" panose="020B0604020202020204" pitchFamily="34" charset="0"/>
              </a:rPr>
              <a:t>Python</a:t>
            </a:r>
            <a:r>
              <a:rPr kumimoji="0" lang="ko-KR" altLang="ko-KR" dirty="0">
                <a:latin typeface="Arial" panose="020B0604020202020204" pitchFamily="34" charset="0"/>
              </a:rPr>
              <a:t>, </a:t>
            </a:r>
            <a:r>
              <a:rPr kumimoji="0" lang="ko-KR" altLang="ko-KR" dirty="0" err="1">
                <a:latin typeface="Arial" panose="020B0604020202020204" pitchFamily="34" charset="0"/>
              </a:rPr>
              <a:t>Rust</a:t>
            </a:r>
            <a:r>
              <a:rPr kumimoji="0" lang="ko-KR" altLang="ko-KR" dirty="0">
                <a:latin typeface="Arial" panose="020B0604020202020204" pitchFamily="34" charset="0"/>
              </a:rPr>
              <a:t>, </a:t>
            </a:r>
            <a:r>
              <a:rPr kumimoji="0" lang="ko-KR" altLang="ko-KR" dirty="0" err="1">
                <a:latin typeface="Arial" panose="020B0604020202020204" pitchFamily="34" charset="0"/>
              </a:rPr>
              <a:t>Go</a:t>
            </a:r>
            <a:r>
              <a:rPr kumimoji="0" lang="ko-KR" altLang="ko-KR" dirty="0">
                <a:latin typeface="Arial" panose="020B0604020202020204" pitchFamily="34" charset="0"/>
              </a:rPr>
              <a:t> 등 다양한 언어 바인딩 제공</a:t>
            </a:r>
            <a:endParaRPr kumimoji="0" lang="en-US" altLang="ko-KR" dirty="0">
              <a:latin typeface="Arial" panose="020B0604020202020204" pitchFamily="34" charset="0"/>
            </a:endParaRPr>
          </a:p>
          <a:p>
            <a:pPr lvl="1"/>
            <a:r>
              <a:rPr kumimoji="0" lang="ko-KR" altLang="ko-KR" dirty="0">
                <a:latin typeface="Arial" panose="020B0604020202020204" pitchFamily="34" charset="0"/>
              </a:rPr>
              <a:t>데스크탑 앱뿐 아니라 임베디드, 모바일, 3D, 네트워크, 멀티미디어</a:t>
            </a:r>
            <a:r>
              <a:rPr kumimoji="0" lang="en-US" altLang="ko-KR" dirty="0">
                <a:latin typeface="Arial" panose="020B0604020202020204" pitchFamily="34" charset="0"/>
              </a:rPr>
              <a:t> </a:t>
            </a:r>
            <a:r>
              <a:rPr kumimoji="0" lang="ko-KR" altLang="ko-KR" dirty="0">
                <a:latin typeface="Arial" panose="020B0604020202020204" pitchFamily="34" charset="0"/>
              </a:rPr>
              <a:t>지원</a:t>
            </a:r>
            <a:endParaRPr kumimoji="0" lang="en-US" altLang="ko-KR" dirty="0">
              <a:latin typeface="Arial" panose="020B0604020202020204" pitchFamily="34" charset="0"/>
            </a:endParaRPr>
          </a:p>
          <a:p>
            <a:pPr lvl="1"/>
            <a:r>
              <a:rPr kumimoji="0" lang="ko-KR" altLang="ko-KR" dirty="0">
                <a:latin typeface="Arial" panose="020B0604020202020204" pitchFamily="34" charset="0"/>
              </a:rPr>
              <a:t>완성도 높은 </a:t>
            </a:r>
            <a:r>
              <a:rPr kumimoji="0" lang="ko-KR" altLang="ko-KR" dirty="0" err="1">
                <a:latin typeface="Arial" panose="020B0604020202020204" pitchFamily="34" charset="0"/>
              </a:rPr>
              <a:t>UI가</a:t>
            </a:r>
            <a:r>
              <a:rPr kumimoji="0" lang="ko-KR" altLang="ko-KR" dirty="0">
                <a:latin typeface="Arial" panose="020B0604020202020204" pitchFamily="34" charset="0"/>
              </a:rPr>
              <a:t> 가능하고 상용/오픈소스 라이선스 체계 제공</a:t>
            </a:r>
          </a:p>
          <a:p>
            <a:r>
              <a:rPr lang="ko-KR" altLang="en-US" dirty="0" err="1"/>
              <a:t>파이썬용</a:t>
            </a:r>
            <a:r>
              <a:rPr lang="ko-KR" altLang="en-US" dirty="0"/>
              <a:t> 라이브러리</a:t>
            </a:r>
            <a:endParaRPr lang="en-US" altLang="ko-KR" dirty="0"/>
          </a:p>
          <a:p>
            <a:pPr lvl="1"/>
            <a:r>
              <a:rPr lang="en-US" altLang="ko-KR" dirty="0"/>
              <a:t>PySide2(</a:t>
            </a:r>
            <a:r>
              <a:rPr lang="ko-KR" altLang="en-US" dirty="0"/>
              <a:t>공식 바인딩</a:t>
            </a:r>
            <a:r>
              <a:rPr lang="en-US" altLang="ko-KR" dirty="0"/>
              <a:t>, LGPL) : </a:t>
            </a:r>
            <a:r>
              <a:rPr lang="ko-KR" altLang="en-US" dirty="0"/>
              <a:t>상업용 무료 배포 가능</a:t>
            </a:r>
            <a:r>
              <a:rPr lang="en-US" altLang="ko-KR" dirty="0"/>
              <a:t>, </a:t>
            </a:r>
            <a:r>
              <a:rPr lang="ko-KR" altLang="en-US" dirty="0"/>
              <a:t>공식 지원</a:t>
            </a:r>
            <a:endParaRPr lang="en-US" altLang="ko-KR" dirty="0"/>
          </a:p>
          <a:p>
            <a:pPr lvl="1"/>
            <a:r>
              <a:rPr lang="en-US" altLang="ko-KR" dirty="0"/>
              <a:t>PyQt6 / PyQt5 : </a:t>
            </a:r>
            <a:r>
              <a:rPr lang="ko-KR" altLang="en-US" dirty="0"/>
              <a:t>기능은</a:t>
            </a:r>
            <a:r>
              <a:rPr lang="en-US" altLang="ko-KR" dirty="0"/>
              <a:t> </a:t>
            </a:r>
            <a:r>
              <a:rPr lang="ko-KR" altLang="en-US" dirty="0"/>
              <a:t>강력</a:t>
            </a:r>
            <a:r>
              <a:rPr lang="en-US" altLang="ko-KR" dirty="0"/>
              <a:t>, GPL </a:t>
            </a:r>
            <a:r>
              <a:rPr lang="ko-KR" altLang="en-US" dirty="0"/>
              <a:t>또는 유료 라이선스 필요</a:t>
            </a:r>
            <a:endParaRPr lang="en-US" altLang="ko-KR" dirty="0"/>
          </a:p>
          <a:p>
            <a:r>
              <a:rPr lang="en-US" altLang="ko-KR" dirty="0"/>
              <a:t>Qt</a:t>
            </a:r>
            <a:r>
              <a:rPr lang="ko-KR" altLang="en-US" dirty="0"/>
              <a:t>의 핵심 구조</a:t>
            </a:r>
            <a:endParaRPr lang="en-US" altLang="ko-KR" dirty="0"/>
          </a:p>
          <a:p>
            <a:pPr lvl="1"/>
            <a:r>
              <a:rPr lang="en-US" altLang="ko-KR" dirty="0" err="1"/>
              <a:t>App→Qt</a:t>
            </a:r>
            <a:r>
              <a:rPr lang="en-US" altLang="ko-KR" dirty="0"/>
              <a:t> Widgets or</a:t>
            </a:r>
            <a:r>
              <a:rPr lang="ko-KR" altLang="en-US" dirty="0"/>
              <a:t> </a:t>
            </a:r>
            <a:r>
              <a:rPr lang="en-US" altLang="ko-KR" dirty="0"/>
              <a:t>QML/</a:t>
            </a:r>
            <a:r>
              <a:rPr lang="en-US" altLang="ko-KR" dirty="0" err="1"/>
              <a:t>QtQuick→Window</a:t>
            </a:r>
            <a:r>
              <a:rPr lang="en-US" altLang="ko-KR" dirty="0"/>
              <a:t>/System </a:t>
            </a:r>
            <a:r>
              <a:rPr lang="ko-KR" altLang="en-US" dirty="0"/>
              <a:t>렌더링→ </a:t>
            </a:r>
            <a:r>
              <a:rPr lang="en-US" altLang="ko-KR" dirty="0"/>
              <a:t>OS</a:t>
            </a:r>
          </a:p>
          <a:p>
            <a:pPr lvl="2"/>
            <a:r>
              <a:rPr lang="en-US" altLang="ko-KR" dirty="0"/>
              <a:t>Widgets</a:t>
            </a:r>
            <a:r>
              <a:rPr lang="ko-KR" altLang="en-US" dirty="0"/>
              <a:t> 방식 </a:t>
            </a:r>
            <a:r>
              <a:rPr lang="en-US" altLang="ko-KR" dirty="0"/>
              <a:t>: </a:t>
            </a:r>
            <a:r>
              <a:rPr lang="ko-KR" altLang="en-US" dirty="0"/>
              <a:t>전통</a:t>
            </a:r>
            <a:r>
              <a:rPr lang="en-US" altLang="ko-KR" dirty="0"/>
              <a:t> GUI </a:t>
            </a:r>
            <a:r>
              <a:rPr lang="ko-KR" altLang="en-US" dirty="0"/>
              <a:t>컴포넌트 기반</a:t>
            </a:r>
            <a:r>
              <a:rPr lang="en-US" altLang="ko-KR" dirty="0"/>
              <a:t>(</a:t>
            </a:r>
            <a:r>
              <a:rPr lang="en-US" altLang="ko-KR" dirty="0" err="1"/>
              <a:t>QPushButton</a:t>
            </a:r>
            <a:r>
              <a:rPr lang="en-US" altLang="ko-KR" dirty="0"/>
              <a:t>, </a:t>
            </a:r>
            <a:r>
              <a:rPr lang="en-US" altLang="ko-KR" dirty="0" err="1"/>
              <a:t>QLabel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) </a:t>
            </a:r>
          </a:p>
          <a:p>
            <a:pPr lvl="2"/>
            <a:r>
              <a:rPr lang="en-US" altLang="ko-KR" dirty="0"/>
              <a:t>QML(Qt Quick) </a:t>
            </a:r>
            <a:r>
              <a:rPr lang="ko-KR" altLang="en-US" dirty="0"/>
              <a:t>방식 </a:t>
            </a:r>
            <a:r>
              <a:rPr lang="en-US" altLang="ko-KR" dirty="0"/>
              <a:t>: </a:t>
            </a:r>
            <a:r>
              <a:rPr lang="ko-KR" altLang="en-US" dirty="0"/>
              <a:t>선언형 </a:t>
            </a:r>
            <a:r>
              <a:rPr lang="en-US" altLang="ko-KR" dirty="0"/>
              <a:t>UI + </a:t>
            </a:r>
            <a:r>
              <a:rPr lang="ko-KR" altLang="en-US" dirty="0"/>
              <a:t>애니메이션</a:t>
            </a:r>
            <a:r>
              <a:rPr lang="en-US" altLang="ko-KR" dirty="0"/>
              <a:t>/</a:t>
            </a:r>
            <a:r>
              <a:rPr lang="ko-KR" altLang="en-US" dirty="0"/>
              <a:t>모던 </a:t>
            </a:r>
            <a:r>
              <a:rPr lang="en-US" altLang="ko-KR" dirty="0"/>
              <a:t>UI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66C94D-B4AE-3DEB-6CE0-613337460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53439575"/>
      </p:ext>
    </p:extLst>
  </p:cSld>
  <p:clrMapOvr>
    <a:masterClrMapping/>
  </p:clrMapOvr>
  <p:transition>
    <p:diamond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3463FA-7E40-8AB0-BAE9-19BC1CE9C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Qt </a:t>
            </a:r>
            <a:r>
              <a:rPr lang="ko-KR" altLang="en-US" dirty="0"/>
              <a:t>주요 특징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457ED2-6EC6-DADE-E965-5F198DA15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Qt </a:t>
            </a:r>
            <a:r>
              <a:rPr lang="ko-KR" altLang="en-US" dirty="0"/>
              <a:t>특징</a:t>
            </a:r>
            <a:endParaRPr lang="en-US" altLang="ko-KR" dirty="0"/>
          </a:p>
          <a:p>
            <a:pPr lvl="1"/>
            <a:r>
              <a:rPr lang="ko-KR" altLang="en-US" dirty="0"/>
              <a:t>크로스</a:t>
            </a:r>
            <a:r>
              <a:rPr lang="en-US" altLang="ko-KR" dirty="0"/>
              <a:t> </a:t>
            </a:r>
            <a:r>
              <a:rPr lang="ko-KR" altLang="en-US" dirty="0"/>
              <a:t>플랫폼 </a:t>
            </a:r>
            <a:r>
              <a:rPr lang="en-US" altLang="ko-KR" dirty="0"/>
              <a:t>: Windows, macOS, Linux, iOS, Android, Embedded </a:t>
            </a:r>
            <a:r>
              <a:rPr lang="ko-KR" altLang="en-US" dirty="0"/>
              <a:t>등 까지 동일 코드로 빌드 가능</a:t>
            </a:r>
            <a:endParaRPr lang="en-US" altLang="ko-KR" dirty="0"/>
          </a:p>
          <a:p>
            <a:pPr lvl="1"/>
            <a:r>
              <a:rPr lang="ko-KR" altLang="en-US" dirty="0"/>
              <a:t>풍부한 </a:t>
            </a:r>
            <a:r>
              <a:rPr lang="en-US" altLang="ko-KR" dirty="0"/>
              <a:t>UI </a:t>
            </a:r>
            <a:r>
              <a:rPr lang="ko-KR" altLang="en-US" dirty="0"/>
              <a:t>컴포넌트 </a:t>
            </a:r>
            <a:r>
              <a:rPr lang="en-US" altLang="ko-KR" dirty="0"/>
              <a:t>: </a:t>
            </a:r>
            <a:r>
              <a:rPr lang="ko-KR" altLang="en-US" dirty="0"/>
              <a:t>버튼</a:t>
            </a:r>
            <a:r>
              <a:rPr lang="en-US" altLang="ko-KR" dirty="0"/>
              <a:t>, </a:t>
            </a:r>
            <a:r>
              <a:rPr lang="ko-KR" altLang="en-US" dirty="0"/>
              <a:t>리스트</a:t>
            </a:r>
            <a:r>
              <a:rPr lang="en-US" altLang="ko-KR" dirty="0"/>
              <a:t>, </a:t>
            </a:r>
            <a:r>
              <a:rPr lang="ko-KR" altLang="en-US" dirty="0"/>
              <a:t>테이블</a:t>
            </a:r>
            <a:r>
              <a:rPr lang="en-US" altLang="ko-KR" dirty="0"/>
              <a:t>, </a:t>
            </a:r>
            <a:r>
              <a:rPr lang="ko-KR" altLang="en-US" dirty="0"/>
              <a:t>트리</a:t>
            </a:r>
            <a:r>
              <a:rPr lang="en-US" altLang="ko-KR" dirty="0"/>
              <a:t>, </a:t>
            </a:r>
            <a:r>
              <a:rPr lang="ko-KR" altLang="en-US" dirty="0"/>
              <a:t>탭</a:t>
            </a:r>
            <a:r>
              <a:rPr lang="en-US" altLang="ko-KR" dirty="0"/>
              <a:t>, </a:t>
            </a:r>
            <a:r>
              <a:rPr lang="ko-KR" altLang="en-US" dirty="0"/>
              <a:t>슬라이더</a:t>
            </a:r>
            <a:r>
              <a:rPr lang="en-US" altLang="ko-KR" dirty="0"/>
              <a:t>, </a:t>
            </a:r>
            <a:r>
              <a:rPr lang="ko-KR" altLang="en-US" dirty="0" err="1"/>
              <a:t>챠트</a:t>
            </a:r>
            <a:r>
              <a:rPr lang="en-US" altLang="ko-KR" dirty="0"/>
              <a:t>, </a:t>
            </a:r>
            <a:r>
              <a:rPr lang="ko-KR" altLang="en-US" dirty="0"/>
              <a:t>다이얼</a:t>
            </a:r>
            <a:r>
              <a:rPr lang="en-US" altLang="ko-KR" dirty="0"/>
              <a:t>, Progress bar </a:t>
            </a:r>
            <a:r>
              <a:rPr lang="ko-KR" altLang="en-US" dirty="0"/>
              <a:t>등 완비</a:t>
            </a:r>
            <a:endParaRPr lang="en-US" altLang="ko-KR" dirty="0"/>
          </a:p>
          <a:p>
            <a:pPr lvl="1"/>
            <a:r>
              <a:rPr lang="ko-KR" altLang="en-US" dirty="0"/>
              <a:t>테마 </a:t>
            </a:r>
            <a:r>
              <a:rPr lang="en-US" altLang="ko-KR" dirty="0"/>
              <a:t>&amp; </a:t>
            </a:r>
            <a:r>
              <a:rPr lang="ko-KR" altLang="en-US" dirty="0"/>
              <a:t>스타일 강력 </a:t>
            </a:r>
            <a:r>
              <a:rPr lang="en-US" altLang="ko-KR" dirty="0"/>
              <a:t>: CSS </a:t>
            </a:r>
            <a:r>
              <a:rPr lang="ko-KR" altLang="en-US" dirty="0"/>
              <a:t>유사 문법</a:t>
            </a:r>
            <a:r>
              <a:rPr lang="en-US" altLang="ko-KR" dirty="0"/>
              <a:t>(Qt Style Sheet)</a:t>
            </a:r>
            <a:r>
              <a:rPr lang="ko-KR" altLang="en-US" dirty="0"/>
              <a:t>으로 디자인 가능</a:t>
            </a:r>
            <a:r>
              <a:rPr lang="en-US" altLang="ko-KR" dirty="0"/>
              <a:t>, QS </a:t>
            </a:r>
            <a:r>
              <a:rPr lang="ko-KR" altLang="en-US" dirty="0"/>
              <a:t>네이티브 스타일</a:t>
            </a:r>
            <a:r>
              <a:rPr lang="en-US" altLang="ko-KR" dirty="0"/>
              <a:t>/</a:t>
            </a:r>
            <a:r>
              <a:rPr lang="ko-KR" altLang="en-US" dirty="0" err="1"/>
              <a:t>다크</a:t>
            </a:r>
            <a:r>
              <a:rPr lang="ko-KR" altLang="en-US" dirty="0"/>
              <a:t> 모드</a:t>
            </a:r>
            <a:r>
              <a:rPr lang="en-US" altLang="ko-KR" dirty="0"/>
              <a:t>/</a:t>
            </a:r>
            <a:r>
              <a:rPr lang="ko-KR" altLang="en-US" dirty="0"/>
              <a:t>커스텀 테마 지원 </a:t>
            </a:r>
            <a:endParaRPr lang="en-US" altLang="ko-KR" dirty="0"/>
          </a:p>
          <a:p>
            <a:pPr lvl="1"/>
            <a:r>
              <a:rPr lang="ko-KR" altLang="en-US" dirty="0"/>
              <a:t>다양한 확장 기능 </a:t>
            </a:r>
            <a:r>
              <a:rPr lang="en-US" altLang="ko-KR" dirty="0"/>
              <a:t>: </a:t>
            </a:r>
            <a:r>
              <a:rPr lang="ko-KR" altLang="en-US" dirty="0"/>
              <a:t>네트워크</a:t>
            </a:r>
            <a:r>
              <a:rPr lang="en-US" altLang="ko-KR" dirty="0"/>
              <a:t>, </a:t>
            </a:r>
            <a:r>
              <a:rPr lang="ko-KR" altLang="en-US" dirty="0"/>
              <a:t>데이터베이스</a:t>
            </a:r>
            <a:r>
              <a:rPr lang="en-US" altLang="ko-KR" dirty="0"/>
              <a:t>, </a:t>
            </a:r>
            <a:r>
              <a:rPr lang="ko-KR" altLang="en-US" dirty="0"/>
              <a:t>멀티미디어</a:t>
            </a:r>
            <a:r>
              <a:rPr lang="en-US" altLang="ko-KR" dirty="0"/>
              <a:t>, </a:t>
            </a:r>
            <a:r>
              <a:rPr lang="ko-KR" altLang="en-US" dirty="0" err="1"/>
              <a:t>스레딩</a:t>
            </a:r>
            <a:r>
              <a:rPr lang="en-US" altLang="ko-KR" dirty="0"/>
              <a:t>/</a:t>
            </a:r>
            <a:r>
              <a:rPr lang="ko-KR" altLang="en-US" dirty="0"/>
              <a:t>병렬처리</a:t>
            </a:r>
            <a:r>
              <a:rPr lang="en-US" altLang="ko-KR" dirty="0"/>
              <a:t>, </a:t>
            </a:r>
            <a:r>
              <a:rPr lang="ko-KR" altLang="en-US" dirty="0"/>
              <a:t>시그널</a:t>
            </a:r>
            <a:r>
              <a:rPr lang="en-US" altLang="ko-KR" dirty="0"/>
              <a:t>/</a:t>
            </a:r>
            <a:r>
              <a:rPr lang="ko-KR" altLang="en-US" dirty="0"/>
              <a:t>슬롯</a:t>
            </a:r>
            <a:r>
              <a:rPr lang="en-US" altLang="ko-KR" dirty="0"/>
              <a:t>(</a:t>
            </a:r>
            <a:r>
              <a:rPr lang="ko-KR" altLang="en-US" dirty="0"/>
              <a:t>안정적인 이벤트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E977F9-DC5A-9D0C-CBED-4C8763F2E4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69106675"/>
      </p:ext>
    </p:extLst>
  </p:cSld>
  <p:clrMapOvr>
    <a:masterClrMapping/>
  </p:clrMapOvr>
  <p:transition>
    <p:diamond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6EEE1-2FD9-62B9-5E84-A6152E9C8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601F8-6000-0B7E-CBFE-6DE7107DA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Qt </a:t>
            </a:r>
            <a:r>
              <a:rPr lang="ko-KR" altLang="en-US" dirty="0"/>
              <a:t>주요 특징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D7D9E2-5F48-DBAE-E9F1-694331811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Qt</a:t>
            </a:r>
            <a:r>
              <a:rPr lang="ko-KR" altLang="en-US" dirty="0"/>
              <a:t>의 장점</a:t>
            </a:r>
            <a:endParaRPr lang="en-US" altLang="ko-KR" dirty="0"/>
          </a:p>
          <a:p>
            <a:pPr lvl="1"/>
            <a:r>
              <a:rPr lang="ko-KR" altLang="en-US" dirty="0"/>
              <a:t>높은 </a:t>
            </a:r>
            <a:r>
              <a:rPr lang="en-US" altLang="ko-KR" dirty="0"/>
              <a:t>UI </a:t>
            </a:r>
            <a:r>
              <a:rPr lang="ko-KR" altLang="en-US" dirty="0"/>
              <a:t>완성도</a:t>
            </a:r>
            <a:endParaRPr lang="en-US" altLang="ko-KR" dirty="0"/>
          </a:p>
          <a:p>
            <a:pPr lvl="1"/>
            <a:r>
              <a:rPr lang="ko-KR" altLang="en-US" dirty="0"/>
              <a:t>대규모 앱 구조 설계에 강함</a:t>
            </a:r>
            <a:endParaRPr lang="en-US" altLang="ko-KR" dirty="0"/>
          </a:p>
          <a:p>
            <a:pPr lvl="1"/>
            <a:r>
              <a:rPr lang="ko-KR" altLang="en-US" dirty="0"/>
              <a:t>디자이너 </a:t>
            </a:r>
            <a:r>
              <a:rPr lang="en-US" altLang="ko-KR" dirty="0"/>
              <a:t>+ </a:t>
            </a:r>
            <a:r>
              <a:rPr lang="ko-KR" altLang="en-US" dirty="0"/>
              <a:t>코드 분리 개발 가능</a:t>
            </a:r>
            <a:endParaRPr lang="en-US" altLang="ko-KR" dirty="0"/>
          </a:p>
          <a:p>
            <a:pPr lvl="1"/>
            <a:r>
              <a:rPr lang="ko-KR" altLang="en-US" dirty="0"/>
              <a:t>임베디드</a:t>
            </a:r>
            <a:r>
              <a:rPr lang="en-US" altLang="ko-KR" dirty="0"/>
              <a:t>/</a:t>
            </a:r>
            <a:r>
              <a:rPr lang="ko-KR" altLang="en-US" dirty="0"/>
              <a:t>카메라</a:t>
            </a:r>
            <a:r>
              <a:rPr lang="en-US" altLang="ko-KR" dirty="0"/>
              <a:t>/</a:t>
            </a:r>
            <a:r>
              <a:rPr lang="ko-KR" altLang="en-US" dirty="0"/>
              <a:t>센서</a:t>
            </a:r>
            <a:r>
              <a:rPr lang="en-US" altLang="ko-KR" dirty="0"/>
              <a:t>/</a:t>
            </a:r>
            <a:r>
              <a:rPr lang="ko-KR" altLang="en-US" dirty="0"/>
              <a:t>네트워크</a:t>
            </a:r>
            <a:r>
              <a:rPr lang="en-US" altLang="ko-KR" dirty="0"/>
              <a:t>/DB</a:t>
            </a:r>
            <a:r>
              <a:rPr lang="ko-KR" altLang="en-US" dirty="0"/>
              <a:t>까지 통합 지원</a:t>
            </a:r>
            <a:endParaRPr lang="en-US" altLang="ko-KR" dirty="0"/>
          </a:p>
          <a:p>
            <a:pPr lvl="1"/>
            <a:r>
              <a:rPr lang="ko-KR" altLang="en-US" dirty="0" err="1"/>
              <a:t>스레딩</a:t>
            </a:r>
            <a:r>
              <a:rPr lang="ko-KR" altLang="en-US" dirty="0"/>
              <a:t> 구조가 체계적</a:t>
            </a:r>
            <a:endParaRPr lang="en-US" altLang="ko-KR" dirty="0"/>
          </a:p>
          <a:p>
            <a:pPr lvl="1"/>
            <a:r>
              <a:rPr lang="ko-KR" altLang="en-US" dirty="0"/>
              <a:t>원격</a:t>
            </a:r>
            <a:r>
              <a:rPr lang="en-US" altLang="ko-KR" dirty="0"/>
              <a:t>/</a:t>
            </a:r>
            <a:r>
              <a:rPr lang="ko-KR" altLang="en-US" dirty="0"/>
              <a:t>하이브리드 </a:t>
            </a:r>
            <a:r>
              <a:rPr lang="en-US" altLang="ko-KR" dirty="0"/>
              <a:t>UI </a:t>
            </a:r>
            <a:r>
              <a:rPr lang="ko-KR" altLang="en-US" dirty="0"/>
              <a:t>가능</a:t>
            </a:r>
            <a:r>
              <a:rPr lang="en-US" altLang="ko-KR" dirty="0"/>
              <a:t>(QML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Qt</a:t>
            </a:r>
            <a:r>
              <a:rPr lang="ko-KR" altLang="en-US" dirty="0"/>
              <a:t>의 단점</a:t>
            </a:r>
            <a:endParaRPr lang="en-US" altLang="ko-KR" dirty="0"/>
          </a:p>
          <a:p>
            <a:pPr lvl="1"/>
            <a:r>
              <a:rPr lang="ko-KR" altLang="en-US" dirty="0" err="1"/>
              <a:t>러닝커브가</a:t>
            </a:r>
            <a:r>
              <a:rPr lang="ko-KR" altLang="en-US" dirty="0"/>
              <a:t> </a:t>
            </a:r>
            <a:r>
              <a:rPr lang="en-US" altLang="ko-KR" dirty="0" err="1"/>
              <a:t>Tkinter</a:t>
            </a:r>
            <a:r>
              <a:rPr lang="ko-KR" altLang="en-US" dirty="0"/>
              <a:t>보다 높음</a:t>
            </a:r>
            <a:endParaRPr lang="en-US" altLang="ko-KR" dirty="0"/>
          </a:p>
          <a:p>
            <a:pPr lvl="1"/>
            <a:r>
              <a:rPr lang="ko-KR" altLang="en-US" dirty="0"/>
              <a:t>프로그램 크기가 커질 수 있음 </a:t>
            </a:r>
            <a:r>
              <a:rPr lang="en-US" altLang="ko-KR" dirty="0"/>
              <a:t>(</a:t>
            </a:r>
            <a:r>
              <a:rPr lang="ko-KR" altLang="en-US" dirty="0"/>
              <a:t>경량 앱은 과함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(</a:t>
            </a:r>
            <a:r>
              <a:rPr lang="en-US" altLang="ko-KR" dirty="0" err="1"/>
              <a:t>PyQt</a:t>
            </a:r>
            <a:r>
              <a:rPr lang="ko-KR" altLang="en-US" dirty="0"/>
              <a:t>의 경우</a:t>
            </a:r>
            <a:r>
              <a:rPr lang="en-US" altLang="ko-KR" dirty="0"/>
              <a:t>) </a:t>
            </a:r>
            <a:r>
              <a:rPr lang="ko-KR" altLang="en-US" dirty="0"/>
              <a:t>라이선스 고려 필요</a:t>
            </a:r>
            <a:endParaRPr lang="en-US" altLang="ko-KR" dirty="0"/>
          </a:p>
          <a:p>
            <a:pPr lvl="1"/>
            <a:r>
              <a:rPr lang="ko-KR" altLang="en-US" dirty="0"/>
              <a:t>실행파일 </a:t>
            </a:r>
            <a:r>
              <a:rPr lang="ko-KR" altLang="en-US" dirty="0" err="1"/>
              <a:t>배포시</a:t>
            </a:r>
            <a:r>
              <a:rPr lang="ko-KR" altLang="en-US" dirty="0"/>
              <a:t> 번들 크기 증가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2909F0-8637-8C07-4DEE-333CE59658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61625307"/>
      </p:ext>
    </p:extLst>
  </p:cSld>
  <p:clrMapOvr>
    <a:masterClrMapping/>
  </p:clrMapOvr>
  <p:transition>
    <p:diamond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1A43B-6F04-FF34-C085-01973A9D5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406CAF-7A55-FE01-1732-315C5A2AA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Qt </a:t>
            </a:r>
            <a:r>
              <a:rPr lang="ko-KR" altLang="en-US" dirty="0"/>
              <a:t>라이브러리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D19C95-33A1-52BA-BD1C-6F6675E7C0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27</a:t>
            </a:fld>
            <a:endParaRPr lang="en-US" altLang="ko-KR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6AEF346-37ED-6FC2-61E0-D76337616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64232"/>
              </p:ext>
            </p:extLst>
          </p:nvPr>
        </p:nvGraphicFramePr>
        <p:xfrm>
          <a:off x="395536" y="1196752"/>
          <a:ext cx="8352928" cy="4968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2756562808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1473076699"/>
                    </a:ext>
                  </a:extLst>
                </a:gridCol>
                <a:gridCol w="4824536">
                  <a:extLst>
                    <a:ext uri="{9D8B030D-6E8A-4147-A177-3AD203B41FA5}">
                      <a16:colId xmlns:a16="http://schemas.microsoft.com/office/drawing/2014/main" val="2759273013"/>
                    </a:ext>
                  </a:extLst>
                </a:gridCol>
              </a:tblGrid>
              <a:tr h="3989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595197"/>
                  </a:ext>
                </a:extLst>
              </a:tr>
              <a:tr h="398935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QtWidgets</a:t>
                      </a:r>
                      <a:endParaRPr lang="ko-KR" altLang="en-US" sz="1600" dirty="0">
                        <a:solidFill>
                          <a:srgbClr val="C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전통적 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GUI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위젯 기반 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탭 등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634445"/>
                  </a:ext>
                </a:extLst>
              </a:tr>
              <a:tr h="398935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QtQuick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(QML)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선언형 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UI,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애니메이션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모던 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UI(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모바일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 중심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884490"/>
                  </a:ext>
                </a:extLst>
              </a:tr>
              <a:tr h="689069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Core (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핵심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>
                          <a:solidFill>
                            <a:srgbClr val="C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QtCore</a:t>
                      </a:r>
                      <a:endParaRPr lang="ko-KR" altLang="en-US" sz="1600" dirty="0">
                        <a:solidFill>
                          <a:srgbClr val="C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루프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디렉토리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스레드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자료구조 등 비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-UI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핵심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037309"/>
                  </a:ext>
                </a:extLst>
              </a:tr>
              <a:tr h="3989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QtGui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2D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그래픽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폰트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이미지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색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아이콘 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039176"/>
                  </a:ext>
                </a:extLst>
              </a:tr>
              <a:tr h="3989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QtWidgets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데스크탑 위젯 컴포넌트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807806"/>
                  </a:ext>
                </a:extLst>
              </a:tr>
              <a:tr h="689069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Data/</a:t>
                      </a:r>
                    </a:p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Storage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QtSql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SQLite, MySQL, PostgreSQL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 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드라이버 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SQL API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804944"/>
                  </a:ext>
                </a:extLst>
              </a:tr>
              <a:tr h="3989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QtNetwork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HTTP, TCP/UDP, WebSocket, SSL,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다운로드 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51875"/>
                  </a:ext>
                </a:extLst>
              </a:tr>
              <a:tr h="398935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Multimedia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QtMultimedia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카메라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오디오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비디오 재생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캡처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396292"/>
                  </a:ext>
                </a:extLst>
              </a:tr>
              <a:tr h="3989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QtMultimediaWidgets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비디오 플레이어 등 멀티미디어용 위젯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399393"/>
                  </a:ext>
                </a:extLst>
              </a:tr>
              <a:tr h="3989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QtWebSockets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WebSocket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124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0752867"/>
      </p:ext>
    </p:extLst>
  </p:cSld>
  <p:clrMapOvr>
    <a:masterClrMapping/>
  </p:clrMapOvr>
  <p:transition>
    <p:diamond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BE142-F559-4854-329F-2A7B03098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333FF2-3EC5-8C6D-8A5C-22A91A254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Qt </a:t>
            </a:r>
            <a:r>
              <a:rPr lang="ko-KR" altLang="en-US" dirty="0"/>
              <a:t>라이브러리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5C8B7F-1D18-9E45-BF09-475D06ECB0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28</a:t>
            </a:fld>
            <a:endParaRPr lang="en-US" altLang="ko-KR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7E9C201-E230-268E-14DB-9947F087D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220981"/>
              </p:ext>
            </p:extLst>
          </p:nvPr>
        </p:nvGraphicFramePr>
        <p:xfrm>
          <a:off x="107950" y="1027896"/>
          <a:ext cx="8928100" cy="542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706">
                  <a:extLst>
                    <a:ext uri="{9D8B030D-6E8A-4147-A177-3AD203B41FA5}">
                      <a16:colId xmlns:a16="http://schemas.microsoft.com/office/drawing/2014/main" val="2756562808"/>
                    </a:ext>
                  </a:extLst>
                </a:gridCol>
                <a:gridCol w="2634546">
                  <a:extLst>
                    <a:ext uri="{9D8B030D-6E8A-4147-A177-3AD203B41FA5}">
                      <a16:colId xmlns:a16="http://schemas.microsoft.com/office/drawing/2014/main" val="1473076699"/>
                    </a:ext>
                  </a:extLst>
                </a:gridCol>
                <a:gridCol w="4925848">
                  <a:extLst>
                    <a:ext uri="{9D8B030D-6E8A-4147-A177-3AD203B41FA5}">
                      <a16:colId xmlns:a16="http://schemas.microsoft.com/office/drawing/2014/main" val="2759273013"/>
                    </a:ext>
                  </a:extLst>
                </a:gridCol>
              </a:tblGrid>
              <a:tr h="2976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595197"/>
                  </a:ext>
                </a:extLst>
              </a:tr>
              <a:tr h="514120"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Web/ Document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QtWebEngine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Chromium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웹 렌더링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브라우저 엔진 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HTML UI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가능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634445"/>
                  </a:ext>
                </a:extLst>
              </a:tr>
              <a:tr h="297648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QtPrintSupport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프린트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PDF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내보내기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884490"/>
                  </a:ext>
                </a:extLst>
              </a:tr>
              <a:tr h="297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QtPdf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/ </a:t>
                      </a:r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QtPdfWidgets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PDF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렌더링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뷰어 위젯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335907"/>
                  </a:ext>
                </a:extLst>
              </a:tr>
              <a:tr h="297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QtTextToSpeech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TTS(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음성 합성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757767"/>
                  </a:ext>
                </a:extLst>
              </a:tr>
              <a:tr h="514120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3D / Visualization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Qt3DCore / Qt3DRender / Qt3DInput / Qt3DExtras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3D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그래픽 엔진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037309"/>
                  </a:ext>
                </a:extLst>
              </a:tr>
              <a:tr h="297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QtCharts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차트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그래프 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라인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파이 등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039176"/>
                  </a:ext>
                </a:extLst>
              </a:tr>
              <a:tr h="3235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QtDataVisualization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3D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시각화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서페이스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3D, </a:t>
                      </a:r>
                      <a:r>
                        <a:rPr lang="ko-KR" altLang="en-US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스캐터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3D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807806"/>
                  </a:ext>
                </a:extLst>
              </a:tr>
              <a:tr h="323541">
                <a:tc rowSpan="6"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Other 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QtConcurrent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고수준 동시 실행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병렬 작업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804944"/>
                  </a:ext>
                </a:extLst>
              </a:tr>
              <a:tr h="297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QtBluetooth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블루투스 통신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989305"/>
                  </a:ext>
                </a:extLst>
              </a:tr>
              <a:tr h="297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QtPositioning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GPS/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 좌표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507546"/>
                  </a:ext>
                </a:extLst>
              </a:tr>
              <a:tr h="297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QtSensors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가속도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자이로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기압 등 센서 인터페이스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3363212"/>
                  </a:ext>
                </a:extLst>
              </a:tr>
              <a:tr h="5141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QtShell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쉘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터미널 관련 기능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환경변수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프로세스 실행 보조 등</a:t>
                      </a:r>
                      <a:r>
                        <a:rPr lang="en-US" altLang="ko-KR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17797"/>
                  </a:ext>
                </a:extLst>
              </a:tr>
              <a:tr h="297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QtTest</a:t>
                      </a:r>
                      <a:endParaRPr lang="ko-KR" altLang="en-US" sz="1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유닛테스트</a:t>
                      </a:r>
                      <a:r>
                        <a:rPr lang="ko-KR" altLang="en-US" sz="16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프레임워크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51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4192223"/>
      </p:ext>
    </p:extLst>
  </p:cSld>
  <p:clrMapOvr>
    <a:masterClrMapping/>
  </p:clrMapOvr>
  <p:transition>
    <p:diamond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A8DC56-5A4A-991D-2D89-B93F6A4AC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QtCore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6388C-09C7-0324-0F68-EA033685C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QtCore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UI</a:t>
            </a:r>
            <a:r>
              <a:rPr lang="ko-KR" altLang="en-US" dirty="0"/>
              <a:t>와 관계없는 핵심 기반 기능을 제공하는 모듈</a:t>
            </a:r>
            <a:endParaRPr lang="en-US" altLang="ko-KR" dirty="0"/>
          </a:p>
          <a:p>
            <a:pPr lvl="1"/>
            <a:r>
              <a:rPr kumimoji="0" lang="ko-KR" altLang="ko-KR" sz="1800" dirty="0">
                <a:latin typeface="Arial" panose="020B0604020202020204" pitchFamily="34" charset="0"/>
              </a:rPr>
              <a:t>애플리케이션 이벤트 루프</a:t>
            </a:r>
            <a:r>
              <a:rPr kumimoji="0" lang="en-US" altLang="ko-KR" sz="1800" dirty="0">
                <a:latin typeface="Arial" panose="020B0604020202020204" pitchFamily="34" charset="0"/>
              </a:rPr>
              <a:t> </a:t>
            </a:r>
            <a:r>
              <a:rPr kumimoji="0" lang="en-US" altLang="ko-KR" sz="1800" dirty="0"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ko-KR" altLang="ko-KR" sz="1800" b="0" dirty="0" err="1">
                <a:latin typeface="Arial Unicode MS"/>
              </a:rPr>
              <a:t>QCoreApplication</a:t>
            </a:r>
            <a:r>
              <a:rPr kumimoji="0" lang="ko-KR" altLang="ko-KR" sz="1800" b="0" dirty="0"/>
              <a:t>, </a:t>
            </a:r>
            <a:r>
              <a:rPr kumimoji="0" lang="ko-KR" altLang="ko-KR" sz="1800" b="0" dirty="0" err="1">
                <a:latin typeface="Arial Unicode MS"/>
              </a:rPr>
              <a:t>QEventLoop</a:t>
            </a:r>
            <a:endParaRPr kumimoji="0" lang="en-US" altLang="ko-KR" sz="1800" b="0" dirty="0">
              <a:latin typeface="Arial Unicode MS"/>
            </a:endParaRPr>
          </a:p>
          <a:p>
            <a:pPr lvl="1"/>
            <a:r>
              <a:rPr kumimoji="0" lang="ko-KR" altLang="ko-KR" sz="1800" dirty="0">
                <a:latin typeface="Arial" panose="020B0604020202020204" pitchFamily="34" charset="0"/>
              </a:rPr>
              <a:t>시그널–슬롯 기반 이벤트 시스템</a:t>
            </a:r>
            <a:r>
              <a:rPr kumimoji="0" lang="en-US" altLang="ko-KR" sz="1800" dirty="0">
                <a:latin typeface="Arial" panose="020B0604020202020204" pitchFamily="34" charset="0"/>
              </a:rPr>
              <a:t> </a:t>
            </a:r>
            <a:r>
              <a:rPr kumimoji="0" lang="en-US" altLang="ko-KR" sz="1800" dirty="0"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ko-KR" altLang="ko-KR" sz="1800" b="0" dirty="0">
                <a:latin typeface="Arial" panose="020B0604020202020204" pitchFamily="34" charset="0"/>
              </a:rPr>
              <a:t>객체 간 안전한 </a:t>
            </a:r>
            <a:r>
              <a:rPr kumimoji="0" lang="ko-KR" altLang="ko-KR" sz="1800" b="0" dirty="0" err="1">
                <a:latin typeface="Arial" panose="020B0604020202020204" pitchFamily="34" charset="0"/>
              </a:rPr>
              <a:t>콜백</a:t>
            </a:r>
            <a:r>
              <a:rPr kumimoji="0" lang="ko-KR" altLang="ko-KR" sz="1800" b="0" dirty="0">
                <a:latin typeface="Arial" panose="020B0604020202020204" pitchFamily="34" charset="0"/>
              </a:rPr>
              <a:t> 구조</a:t>
            </a:r>
            <a:endParaRPr kumimoji="0" lang="en-US" altLang="ko-KR" sz="1800" b="0" dirty="0">
              <a:latin typeface="Arial" panose="020B0604020202020204" pitchFamily="34" charset="0"/>
            </a:endParaRPr>
          </a:p>
          <a:p>
            <a:pPr lvl="1"/>
            <a:r>
              <a:rPr kumimoji="0" lang="ko-KR" altLang="ko-KR" sz="1800" dirty="0" err="1">
                <a:latin typeface="Arial" panose="020B0604020202020204" pitchFamily="34" charset="0"/>
              </a:rPr>
              <a:t>스레딩</a:t>
            </a:r>
            <a:r>
              <a:rPr kumimoji="0" lang="ko-KR" altLang="ko-KR" sz="1800" dirty="0">
                <a:latin typeface="Arial" panose="020B0604020202020204" pitchFamily="34" charset="0"/>
              </a:rPr>
              <a:t> 및 동시 처리 </a:t>
            </a:r>
            <a:r>
              <a:rPr kumimoji="0" lang="en-US" altLang="ko-KR" sz="1800" dirty="0"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ko-KR" altLang="ko-KR" sz="1800" b="0" dirty="0" err="1">
                <a:latin typeface="Arial Unicode MS"/>
              </a:rPr>
              <a:t>QThread</a:t>
            </a:r>
            <a:r>
              <a:rPr kumimoji="0" lang="ko-KR" altLang="ko-KR" sz="1800" b="0" dirty="0"/>
              <a:t>, </a:t>
            </a:r>
            <a:r>
              <a:rPr kumimoji="0" lang="ko-KR" altLang="ko-KR" sz="1800" b="0" dirty="0" err="1">
                <a:latin typeface="Arial Unicode MS"/>
              </a:rPr>
              <a:t>QtConcurrent</a:t>
            </a:r>
            <a:r>
              <a:rPr kumimoji="0" lang="ko-KR" altLang="ko-KR" sz="1800" b="0" dirty="0"/>
              <a:t>, </a:t>
            </a:r>
            <a:r>
              <a:rPr kumimoji="0" lang="ko-KR" altLang="ko-KR" sz="1800" b="0" dirty="0" err="1">
                <a:latin typeface="Arial Unicode MS"/>
              </a:rPr>
              <a:t>QRunnable</a:t>
            </a:r>
            <a:r>
              <a:rPr kumimoji="0" lang="ko-KR" altLang="ko-KR" sz="1800" b="0" dirty="0"/>
              <a:t>, </a:t>
            </a:r>
            <a:r>
              <a:rPr kumimoji="0" lang="ko-KR" altLang="ko-KR" sz="1800" b="0" dirty="0" err="1">
                <a:latin typeface="Arial Unicode MS"/>
              </a:rPr>
              <a:t>QThreadPool</a:t>
            </a:r>
            <a:endParaRPr kumimoji="0" lang="en-US" altLang="ko-KR" sz="1800" b="0" dirty="0">
              <a:latin typeface="Arial Unicode MS"/>
            </a:endParaRPr>
          </a:p>
          <a:p>
            <a:pPr lvl="1"/>
            <a:r>
              <a:rPr kumimoji="0" lang="ko-KR" altLang="ko-KR" sz="1800" dirty="0">
                <a:latin typeface="Arial" panose="020B0604020202020204" pitchFamily="34" charset="0"/>
              </a:rPr>
              <a:t>파일/디렉토리/IO 유틸리티</a:t>
            </a:r>
            <a:r>
              <a:rPr kumimoji="0" lang="ko-KR" altLang="ko-KR" sz="1800" b="0" dirty="0">
                <a:latin typeface="Arial" panose="020B0604020202020204" pitchFamily="34" charset="0"/>
              </a:rPr>
              <a:t> </a:t>
            </a:r>
            <a:r>
              <a:rPr kumimoji="0" lang="en-US" altLang="ko-KR" sz="1800" b="0" dirty="0"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ko-KR" altLang="ko-KR" sz="1800" b="0" dirty="0" err="1">
                <a:latin typeface="Arial Unicode MS"/>
              </a:rPr>
              <a:t>QFile</a:t>
            </a:r>
            <a:r>
              <a:rPr kumimoji="0" lang="ko-KR" altLang="ko-KR" sz="1800" b="0" dirty="0"/>
              <a:t>, </a:t>
            </a:r>
            <a:r>
              <a:rPr kumimoji="0" lang="ko-KR" altLang="ko-KR" sz="1800" b="0" dirty="0" err="1">
                <a:latin typeface="Arial Unicode MS"/>
              </a:rPr>
              <a:t>QDir</a:t>
            </a:r>
            <a:r>
              <a:rPr kumimoji="0" lang="ko-KR" altLang="ko-KR" sz="1800" b="0" dirty="0"/>
              <a:t>, </a:t>
            </a:r>
            <a:r>
              <a:rPr kumimoji="0" lang="ko-KR" altLang="ko-KR" sz="1800" b="0" dirty="0" err="1">
                <a:latin typeface="Arial Unicode MS"/>
              </a:rPr>
              <a:t>QStandardPaths</a:t>
            </a:r>
            <a:endParaRPr kumimoji="0" lang="en-US" altLang="ko-KR" sz="1800" b="0" dirty="0">
              <a:latin typeface="Arial Unicode MS"/>
            </a:endParaRPr>
          </a:p>
          <a:p>
            <a:pPr lvl="1"/>
            <a:r>
              <a:rPr kumimoji="0" lang="ko-KR" altLang="ko-KR" sz="1800" dirty="0">
                <a:latin typeface="Arial" panose="020B0604020202020204" pitchFamily="34" charset="0"/>
              </a:rPr>
              <a:t>타이머 및 주기 실행</a:t>
            </a:r>
            <a:r>
              <a:rPr kumimoji="0" lang="en-US" altLang="ko-KR" sz="1800" dirty="0">
                <a:latin typeface="Arial" panose="020B0604020202020204" pitchFamily="34" charset="0"/>
              </a:rPr>
              <a:t> </a:t>
            </a:r>
            <a:r>
              <a:rPr kumimoji="0" lang="en-US" altLang="ko-KR" sz="1800" dirty="0"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ko-KR" altLang="ko-KR" sz="1800" b="0" dirty="0" err="1">
                <a:latin typeface="Arial Unicode MS"/>
              </a:rPr>
              <a:t>Q</a:t>
            </a:r>
            <a:r>
              <a:rPr kumimoji="0" lang="en-US" altLang="ko-KR" sz="1800" b="0" dirty="0">
                <a:latin typeface="Arial Unicode MS"/>
              </a:rPr>
              <a:t>t</a:t>
            </a:r>
            <a:r>
              <a:rPr kumimoji="0" lang="ko-KR" altLang="ko-KR" sz="1800" b="0" dirty="0" err="1">
                <a:latin typeface="Arial Unicode MS"/>
              </a:rPr>
              <a:t>imer</a:t>
            </a:r>
            <a:endParaRPr kumimoji="0" lang="en-US" altLang="ko-KR" sz="1800" b="0" dirty="0">
              <a:latin typeface="Arial Unicode MS"/>
            </a:endParaRPr>
          </a:p>
          <a:p>
            <a:pPr lvl="1"/>
            <a:r>
              <a:rPr kumimoji="0" lang="ko-KR" altLang="ko-KR" sz="1800" dirty="0">
                <a:latin typeface="Arial" panose="020B0604020202020204" pitchFamily="34" charset="0"/>
              </a:rPr>
              <a:t>데이터 컨테이너 및 </a:t>
            </a:r>
            <a:r>
              <a:rPr kumimoji="0" lang="ko-KR" altLang="ko-KR" sz="1800" dirty="0" err="1">
                <a:latin typeface="Arial" panose="020B0604020202020204" pitchFamily="34" charset="0"/>
              </a:rPr>
              <a:t>유틸</a:t>
            </a:r>
            <a:r>
              <a:rPr kumimoji="0" lang="en-US" altLang="ko-KR" sz="1800" dirty="0">
                <a:latin typeface="Arial" panose="020B0604020202020204" pitchFamily="34" charset="0"/>
              </a:rPr>
              <a:t> </a:t>
            </a:r>
            <a:r>
              <a:rPr kumimoji="0" lang="en-US" altLang="ko-KR" sz="1800" dirty="0"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ko-KR" altLang="ko-KR" sz="1800" b="0" dirty="0" err="1">
                <a:latin typeface="Arial Unicode MS"/>
              </a:rPr>
              <a:t>QStringList</a:t>
            </a:r>
            <a:r>
              <a:rPr kumimoji="0" lang="ko-KR" altLang="ko-KR" sz="1800" b="0" dirty="0"/>
              <a:t>, </a:t>
            </a:r>
            <a:r>
              <a:rPr kumimoji="0" lang="ko-KR" altLang="ko-KR" sz="1800" b="0" dirty="0" err="1">
                <a:latin typeface="Arial Unicode MS"/>
              </a:rPr>
              <a:t>QVariant</a:t>
            </a:r>
            <a:r>
              <a:rPr kumimoji="0" lang="ko-KR" altLang="ko-KR" sz="1800" b="0" dirty="0"/>
              <a:t>, </a:t>
            </a:r>
            <a:r>
              <a:rPr kumimoji="0" lang="ko-KR" altLang="ko-KR" sz="1800" b="0" dirty="0" err="1">
                <a:latin typeface="Arial Unicode MS"/>
              </a:rPr>
              <a:t>QByteArray</a:t>
            </a:r>
            <a:r>
              <a:rPr kumimoji="0" lang="en-US" altLang="ko-KR" sz="1800" b="0" dirty="0">
                <a:latin typeface="Arial Unicode MS"/>
              </a:rPr>
              <a:t>, </a:t>
            </a:r>
            <a:r>
              <a:rPr kumimoji="0" lang="ko-KR" altLang="ko-KR" sz="1800" b="0" dirty="0" err="1">
                <a:latin typeface="Arial Unicode MS"/>
              </a:rPr>
              <a:t>QJsonDocument</a:t>
            </a:r>
            <a:r>
              <a:rPr kumimoji="0" lang="ko-KR" altLang="ko-KR" sz="1800" b="0" dirty="0"/>
              <a:t>, </a:t>
            </a:r>
            <a:r>
              <a:rPr kumimoji="0" lang="ko-KR" altLang="ko-KR" sz="1800" b="0" dirty="0" err="1">
                <a:latin typeface="Arial Unicode MS"/>
              </a:rPr>
              <a:t>QJsonObject</a:t>
            </a:r>
            <a:r>
              <a:rPr kumimoji="0" lang="ko-KR" altLang="ko-KR" sz="1800" b="0" dirty="0"/>
              <a:t>, </a:t>
            </a:r>
            <a:r>
              <a:rPr kumimoji="0" lang="ko-KR" altLang="ko-KR" sz="1800" b="0" dirty="0" err="1">
                <a:latin typeface="Arial Unicode MS"/>
              </a:rPr>
              <a:t>QJsonArray</a:t>
            </a:r>
            <a:r>
              <a:rPr kumimoji="0" lang="en-US" altLang="ko-KR" sz="1800" b="0" dirty="0">
                <a:latin typeface="Arial Unicode MS"/>
              </a:rPr>
              <a:t>, </a:t>
            </a:r>
            <a:r>
              <a:rPr kumimoji="0" lang="ko-KR" altLang="ko-KR" sz="1800" b="0" dirty="0" err="1">
                <a:latin typeface="Arial Unicode MS"/>
              </a:rPr>
              <a:t>QSettings</a:t>
            </a:r>
            <a:r>
              <a:rPr kumimoji="0" lang="ko-KR" altLang="ko-KR" sz="1800" b="0" dirty="0"/>
              <a:t> (INI/레지스트리 저장)</a:t>
            </a:r>
            <a:endParaRPr kumimoji="0" lang="en-US" altLang="ko-KR" sz="1800" b="0" dirty="0">
              <a:latin typeface="Arial" panose="020B0604020202020204" pitchFamily="34" charset="0"/>
            </a:endParaRPr>
          </a:p>
          <a:p>
            <a:pPr lvl="1"/>
            <a:r>
              <a:rPr kumimoji="0" lang="ko-KR" altLang="ko-KR" sz="1800" dirty="0">
                <a:latin typeface="Arial" panose="020B0604020202020204" pitchFamily="34" charset="0"/>
              </a:rPr>
              <a:t>날짜/시간 처리</a:t>
            </a:r>
            <a:r>
              <a:rPr kumimoji="0" lang="en-US" altLang="ko-KR" sz="1800" dirty="0">
                <a:latin typeface="Arial" panose="020B0604020202020204" pitchFamily="34" charset="0"/>
              </a:rPr>
              <a:t> </a:t>
            </a:r>
            <a:r>
              <a:rPr kumimoji="0" lang="en-US" altLang="ko-KR" sz="1800" dirty="0"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ko-KR" altLang="ko-KR" sz="1800" b="0" dirty="0" err="1">
                <a:latin typeface="Arial Unicode MS"/>
              </a:rPr>
              <a:t>QDate</a:t>
            </a:r>
            <a:r>
              <a:rPr kumimoji="0" lang="ko-KR" altLang="ko-KR" sz="1800" b="0" dirty="0"/>
              <a:t>, </a:t>
            </a:r>
            <a:r>
              <a:rPr kumimoji="0" lang="ko-KR" altLang="ko-KR" sz="1800" b="0" dirty="0" err="1">
                <a:latin typeface="Arial Unicode MS"/>
              </a:rPr>
              <a:t>QTime</a:t>
            </a:r>
            <a:r>
              <a:rPr kumimoji="0" lang="ko-KR" altLang="ko-KR" sz="1800" b="0" dirty="0"/>
              <a:t>, </a:t>
            </a:r>
            <a:r>
              <a:rPr kumimoji="0" lang="ko-KR" altLang="ko-KR" sz="1800" b="0" dirty="0" err="1">
                <a:latin typeface="Arial Unicode MS"/>
              </a:rPr>
              <a:t>QDateTime</a:t>
            </a:r>
            <a:endParaRPr kumimoji="0" lang="en-US" altLang="ko-KR" sz="1800" b="0" dirty="0">
              <a:latin typeface="Arial Unicode MS"/>
            </a:endParaRPr>
          </a:p>
          <a:p>
            <a:pPr lvl="1"/>
            <a:r>
              <a:rPr kumimoji="0" lang="ko-KR" altLang="ko-KR" sz="1800" dirty="0">
                <a:latin typeface="Arial" panose="020B0604020202020204" pitchFamily="34" charset="0"/>
              </a:rPr>
              <a:t>프로세스 실행 및 외부 프로그램 호출</a:t>
            </a:r>
            <a:r>
              <a:rPr kumimoji="0" lang="ko-KR" altLang="ko-KR" sz="1800" b="0" dirty="0">
                <a:latin typeface="Arial" panose="020B0604020202020204" pitchFamily="34" charset="0"/>
              </a:rPr>
              <a:t> </a:t>
            </a:r>
            <a:r>
              <a:rPr kumimoji="0" lang="en-US" altLang="ko-KR" sz="1800" b="0" dirty="0"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ko-KR" altLang="ko-KR" sz="1800" b="0" dirty="0" err="1">
                <a:latin typeface="Arial Unicode MS"/>
              </a:rPr>
              <a:t>Q</a:t>
            </a:r>
            <a:r>
              <a:rPr kumimoji="0" lang="en-US" altLang="ko-KR" sz="1800" b="0" dirty="0">
                <a:latin typeface="Arial Unicode MS"/>
              </a:rPr>
              <a:t>p</a:t>
            </a:r>
            <a:r>
              <a:rPr kumimoji="0" lang="ko-KR" altLang="ko-KR" sz="1800" b="0" dirty="0" err="1">
                <a:latin typeface="Arial Unicode MS"/>
              </a:rPr>
              <a:t>rocess</a:t>
            </a:r>
            <a:endParaRPr kumimoji="0" lang="en-US" altLang="ko-KR" sz="1800" b="0" dirty="0">
              <a:latin typeface="Arial Unicode MS"/>
            </a:endParaRPr>
          </a:p>
          <a:p>
            <a:pPr lvl="1"/>
            <a:r>
              <a:rPr kumimoji="0" lang="ko-KR" altLang="ko-KR" sz="1800" dirty="0">
                <a:latin typeface="Arial" panose="020B0604020202020204" pitchFamily="34" charset="0"/>
              </a:rPr>
              <a:t>객체 모델 시스템</a:t>
            </a:r>
            <a:r>
              <a:rPr kumimoji="0" lang="ko-KR" altLang="ko-KR" sz="1800" b="0" dirty="0">
                <a:latin typeface="Arial" panose="020B0604020202020204" pitchFamily="34" charset="0"/>
              </a:rPr>
              <a:t> </a:t>
            </a:r>
            <a:r>
              <a:rPr kumimoji="0" lang="en-US" altLang="ko-KR" sz="1800" b="0" dirty="0"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ko-KR" altLang="ko-KR" sz="1800" b="0" dirty="0" err="1">
                <a:latin typeface="Arial Unicode MS"/>
              </a:rPr>
              <a:t>QObject</a:t>
            </a:r>
            <a:r>
              <a:rPr kumimoji="0" lang="ko-KR" altLang="ko-KR" sz="1800" b="0" dirty="0"/>
              <a:t>, </a:t>
            </a:r>
            <a:r>
              <a:rPr kumimoji="0" lang="ko-KR" altLang="ko-KR" sz="1800" b="0" dirty="0" err="1">
                <a:latin typeface="Arial Unicode MS"/>
              </a:rPr>
              <a:t>QMetaObject</a:t>
            </a:r>
            <a:endParaRPr kumimoji="0" lang="en-US" altLang="ko-KR" sz="1800" b="0" dirty="0">
              <a:latin typeface="Arial Unicode MS"/>
            </a:endParaRPr>
          </a:p>
          <a:p>
            <a:pPr lvl="1"/>
            <a:r>
              <a:rPr kumimoji="0" lang="ko-KR" altLang="ko-KR" sz="1800" dirty="0">
                <a:latin typeface="Arial" panose="020B0604020202020204" pitchFamily="34" charset="0"/>
              </a:rPr>
              <a:t>환경 정보</a:t>
            </a:r>
            <a:r>
              <a:rPr kumimoji="0" lang="ko-KR" altLang="ko-KR" sz="1800" b="0" dirty="0">
                <a:latin typeface="Arial" panose="020B0604020202020204" pitchFamily="34" charset="0"/>
              </a:rPr>
              <a:t> </a:t>
            </a:r>
            <a:r>
              <a:rPr kumimoji="0" lang="en-US" altLang="ko-KR" sz="1800" b="0" dirty="0"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ko-KR" altLang="ko-KR" sz="1800" b="0" dirty="0" err="1">
                <a:latin typeface="Arial Unicode MS"/>
              </a:rPr>
              <a:t>QSysInfo</a:t>
            </a:r>
            <a:r>
              <a:rPr kumimoji="0" lang="ko-KR" altLang="ko-KR" sz="1800" b="0" dirty="0"/>
              <a:t>, </a:t>
            </a:r>
            <a:r>
              <a:rPr kumimoji="0" lang="ko-KR" altLang="ko-KR" sz="1800" b="0" dirty="0" err="1">
                <a:latin typeface="Arial Unicode MS"/>
              </a:rPr>
              <a:t>QOperatingSystemVersion</a:t>
            </a:r>
            <a:endParaRPr kumimoji="0" lang="en-US" altLang="ko-KR" sz="1800" b="0" dirty="0">
              <a:latin typeface="Arial Unicode MS"/>
            </a:endParaRPr>
          </a:p>
          <a:p>
            <a:pPr lvl="1"/>
            <a:r>
              <a:rPr kumimoji="0" lang="ko-KR" altLang="ko-KR" sz="1800" dirty="0">
                <a:latin typeface="Arial" panose="020B0604020202020204" pitchFamily="34" charset="0"/>
              </a:rPr>
              <a:t>URL 및 네트워크 요청 기반 구조 보조</a:t>
            </a:r>
            <a:r>
              <a:rPr kumimoji="0" lang="en-US" altLang="ko-KR" sz="1800" dirty="0">
                <a:latin typeface="Arial" panose="020B0604020202020204" pitchFamily="34" charset="0"/>
              </a:rPr>
              <a:t> </a:t>
            </a:r>
            <a:r>
              <a:rPr kumimoji="0" lang="en-US" altLang="ko-KR" sz="1800" dirty="0"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kumimoji="0" lang="ko-KR" altLang="ko-KR" sz="1800" b="0" dirty="0" err="1">
                <a:latin typeface="Arial Unicode MS"/>
              </a:rPr>
              <a:t>QUrl</a:t>
            </a:r>
            <a:r>
              <a:rPr kumimoji="0" lang="ko-KR" altLang="ko-KR" sz="1800" b="0" dirty="0"/>
              <a:t>, </a:t>
            </a:r>
            <a:r>
              <a:rPr kumimoji="0" lang="ko-KR" altLang="ko-KR" sz="1800" b="0" dirty="0" err="1">
                <a:latin typeface="Arial Unicode MS"/>
              </a:rPr>
              <a:t>QUrlQuery</a:t>
            </a:r>
            <a:endParaRPr kumimoji="0" lang="en-US" altLang="ko-KR" sz="1800" b="0" dirty="0">
              <a:latin typeface="Arial Unicode MS"/>
            </a:endParaRPr>
          </a:p>
          <a:p>
            <a:pPr lvl="1"/>
            <a:r>
              <a:rPr kumimoji="0" lang="ko-KR" altLang="ko-KR" sz="1800" dirty="0">
                <a:latin typeface="Arial" panose="020B0604020202020204" pitchFamily="34" charset="0"/>
              </a:rPr>
              <a:t>앱 간 통신, 상태, 인코딩, 메모리 관리 등에 도움</a:t>
            </a:r>
            <a:endParaRPr kumimoji="0" lang="ko-KR" altLang="ko-KR" sz="1800" b="0" dirty="0">
              <a:latin typeface="Arial" panose="020B0604020202020204" pitchFamily="34" charset="0"/>
            </a:endParaRPr>
          </a:p>
          <a:p>
            <a:pPr lvl="2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FF8CB3-1B45-2685-8B12-CA30B85242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29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43649716"/>
      </p:ext>
    </p:extLst>
  </p:cSld>
  <p:clrMapOvr>
    <a:masterClrMapping/>
  </p:clrMapOvr>
  <p:transition>
    <p:diamond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C89C8-3762-4F0A-9C6F-7E59257FE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693C157F-7230-EB4A-78FE-B00FD72E7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888" y="3429711"/>
            <a:ext cx="5260251" cy="281710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6C15097-C8C9-CEA0-93C4-80B0CFA66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QtWidgets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622BB9-9751-97B5-A710-B945B4295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QtWidgets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전통적인</a:t>
            </a:r>
            <a:r>
              <a:rPr lang="en-US" altLang="ko-KR" dirty="0">
                <a:sym typeface="Wingdings" panose="05000000000000000000" pitchFamily="2" charset="2"/>
              </a:rPr>
              <a:t> GUI</a:t>
            </a:r>
            <a:r>
              <a:rPr lang="ko-KR" altLang="en-US" dirty="0">
                <a:sym typeface="Wingdings" panose="05000000000000000000" pitchFamily="2" charset="2"/>
              </a:rPr>
              <a:t> 기반 </a:t>
            </a:r>
            <a:r>
              <a:rPr lang="en-US" altLang="ko-KR" dirty="0">
                <a:sym typeface="Wingdings" panose="05000000000000000000" pitchFamily="2" charset="2"/>
              </a:rPr>
              <a:t>UI </a:t>
            </a:r>
            <a:r>
              <a:rPr lang="ko-KR" altLang="en-US" dirty="0">
                <a:sym typeface="Wingdings" panose="05000000000000000000" pitchFamily="2" charset="2"/>
              </a:rPr>
              <a:t>라이브러리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객체지향방식을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지원하며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이벤트 기반으로 동작</a:t>
            </a:r>
            <a:endParaRPr lang="en-US" altLang="ko-KR" dirty="0"/>
          </a:p>
          <a:p>
            <a:pPr lvl="1"/>
            <a:r>
              <a:rPr kumimoji="0" lang="ko-KR" altLang="en-US" sz="1800" dirty="0">
                <a:latin typeface="Arial" panose="020B0604020202020204" pitchFamily="34" charset="0"/>
              </a:rPr>
              <a:t>대표적인</a:t>
            </a:r>
            <a:r>
              <a:rPr kumimoji="0" lang="en-US" altLang="ko-KR" sz="1800" dirty="0">
                <a:latin typeface="Arial" panose="020B0604020202020204" pitchFamily="34" charset="0"/>
              </a:rPr>
              <a:t> </a:t>
            </a:r>
            <a:r>
              <a:rPr kumimoji="0" lang="ko-KR" altLang="en-US" sz="1800" dirty="0">
                <a:latin typeface="Arial" panose="020B0604020202020204" pitchFamily="34" charset="0"/>
              </a:rPr>
              <a:t>위젯</a:t>
            </a:r>
            <a:endParaRPr kumimoji="0" lang="en-US" altLang="ko-KR" sz="1800" dirty="0">
              <a:latin typeface="Arial" panose="020B0604020202020204" pitchFamily="34" charset="0"/>
            </a:endParaRPr>
          </a:p>
          <a:p>
            <a:pPr lvl="2"/>
            <a:r>
              <a:rPr kumimoji="0" lang="en-US" altLang="ko-KR" sz="1800" dirty="0" err="1">
                <a:latin typeface="Arial" panose="020B0604020202020204" pitchFamily="34" charset="0"/>
              </a:rPr>
              <a:t>QMainWindow</a:t>
            </a:r>
            <a:r>
              <a:rPr kumimoji="0" lang="en-US" altLang="ko-KR" sz="1800" dirty="0">
                <a:latin typeface="Arial" panose="020B0604020202020204" pitchFamily="34" charset="0"/>
              </a:rPr>
              <a:t>, </a:t>
            </a:r>
            <a:r>
              <a:rPr kumimoji="0" lang="en-US" altLang="ko-KR" sz="1800" dirty="0" err="1">
                <a:latin typeface="Arial" panose="020B0604020202020204" pitchFamily="34" charset="0"/>
              </a:rPr>
              <a:t>QWidget</a:t>
            </a:r>
            <a:r>
              <a:rPr kumimoji="0" lang="en-US" altLang="ko-KR" sz="1800" dirty="0">
                <a:latin typeface="Arial" panose="020B0604020202020204" pitchFamily="34" charset="0"/>
              </a:rPr>
              <a:t>, </a:t>
            </a:r>
            <a:r>
              <a:rPr kumimoji="0" lang="en-US" altLang="ko-KR" sz="1800" dirty="0" err="1">
                <a:latin typeface="Arial" panose="020B0604020202020204" pitchFamily="34" charset="0"/>
              </a:rPr>
              <a:t>QLabel</a:t>
            </a:r>
            <a:r>
              <a:rPr kumimoji="0" lang="en-US" altLang="ko-KR" sz="1800" dirty="0">
                <a:latin typeface="Arial" panose="020B0604020202020204" pitchFamily="34" charset="0"/>
              </a:rPr>
              <a:t>, </a:t>
            </a:r>
            <a:r>
              <a:rPr kumimoji="0" lang="en-US" altLang="ko-KR" sz="1800" dirty="0" err="1">
                <a:latin typeface="Arial" panose="020B0604020202020204" pitchFamily="34" charset="0"/>
              </a:rPr>
              <a:t>QPushButton</a:t>
            </a:r>
            <a:r>
              <a:rPr kumimoji="0" lang="en-US" altLang="ko-KR" sz="1800" dirty="0">
                <a:latin typeface="Arial" panose="020B0604020202020204" pitchFamily="34" charset="0"/>
              </a:rPr>
              <a:t>, </a:t>
            </a:r>
            <a:r>
              <a:rPr kumimoji="0" lang="en-US" altLang="ko-KR" sz="1800" dirty="0" err="1">
                <a:latin typeface="Arial" panose="020B0604020202020204" pitchFamily="34" charset="0"/>
              </a:rPr>
              <a:t>QLineEdit</a:t>
            </a:r>
            <a:r>
              <a:rPr kumimoji="0" lang="en-US" altLang="ko-KR" sz="1800" dirty="0">
                <a:latin typeface="Arial" panose="020B0604020202020204" pitchFamily="34" charset="0"/>
              </a:rPr>
              <a:t>, </a:t>
            </a:r>
            <a:r>
              <a:rPr kumimoji="0" lang="en-US" altLang="ko-KR" sz="1800" dirty="0" err="1">
                <a:latin typeface="Arial" panose="020B0604020202020204" pitchFamily="34" charset="0"/>
              </a:rPr>
              <a:t>QTextEdit</a:t>
            </a:r>
            <a:r>
              <a:rPr kumimoji="0" lang="en-US" altLang="ko-KR" sz="1800" dirty="0">
                <a:latin typeface="Arial" panose="020B0604020202020204" pitchFamily="34" charset="0"/>
              </a:rPr>
              <a:t>, </a:t>
            </a:r>
            <a:r>
              <a:rPr kumimoji="0" lang="en-US" altLang="ko-KR" sz="1800" dirty="0" err="1">
                <a:latin typeface="Arial" panose="020B0604020202020204" pitchFamily="34" charset="0"/>
              </a:rPr>
              <a:t>QCheckBox</a:t>
            </a:r>
            <a:r>
              <a:rPr kumimoji="0" lang="en-US" altLang="ko-KR" sz="1800" dirty="0">
                <a:latin typeface="Arial" panose="020B0604020202020204" pitchFamily="34" charset="0"/>
              </a:rPr>
              <a:t>, </a:t>
            </a:r>
            <a:r>
              <a:rPr kumimoji="0" lang="en-US" altLang="ko-KR" sz="1800" dirty="0" err="1">
                <a:latin typeface="Arial" panose="020B0604020202020204" pitchFamily="34" charset="0"/>
              </a:rPr>
              <a:t>QRadioButton</a:t>
            </a:r>
            <a:r>
              <a:rPr kumimoji="0" lang="en-US" altLang="ko-KR" sz="1800" dirty="0">
                <a:latin typeface="Arial" panose="020B0604020202020204" pitchFamily="34" charset="0"/>
              </a:rPr>
              <a:t>, </a:t>
            </a:r>
            <a:r>
              <a:rPr kumimoji="0" lang="en-US" altLang="ko-KR" sz="1800" dirty="0" err="1">
                <a:latin typeface="Arial" panose="020B0604020202020204" pitchFamily="34" charset="0"/>
              </a:rPr>
              <a:t>QComboBox</a:t>
            </a:r>
            <a:r>
              <a:rPr kumimoji="0" lang="en-US" altLang="ko-KR" sz="1800" dirty="0">
                <a:latin typeface="Arial" panose="020B0604020202020204" pitchFamily="34" charset="0"/>
              </a:rPr>
              <a:t>, </a:t>
            </a:r>
            <a:r>
              <a:rPr kumimoji="0" lang="en-US" altLang="ko-KR" sz="1800" dirty="0" err="1">
                <a:latin typeface="Arial" panose="020B0604020202020204" pitchFamily="34" charset="0"/>
              </a:rPr>
              <a:t>QListWidget</a:t>
            </a:r>
            <a:r>
              <a:rPr kumimoji="0" lang="en-US" altLang="ko-KR" sz="1800" dirty="0">
                <a:latin typeface="Arial" panose="020B0604020202020204" pitchFamily="34" charset="0"/>
              </a:rPr>
              <a:t>, </a:t>
            </a:r>
            <a:r>
              <a:rPr kumimoji="0" lang="en-US" altLang="ko-KR" sz="1800" dirty="0" err="1">
                <a:latin typeface="Arial" panose="020B0604020202020204" pitchFamily="34" charset="0"/>
              </a:rPr>
              <a:t>QTableWidget</a:t>
            </a:r>
            <a:r>
              <a:rPr kumimoji="0" lang="en-US" altLang="ko-KR" sz="1800" dirty="0">
                <a:latin typeface="Arial" panose="020B0604020202020204" pitchFamily="34" charset="0"/>
              </a:rPr>
              <a:t>, </a:t>
            </a:r>
            <a:r>
              <a:rPr kumimoji="0" lang="en-US" altLang="ko-KR" sz="1800" dirty="0" err="1">
                <a:latin typeface="Arial" panose="020B0604020202020204" pitchFamily="34" charset="0"/>
              </a:rPr>
              <a:t>QTreeWidget</a:t>
            </a:r>
            <a:r>
              <a:rPr kumimoji="0" lang="en-US" altLang="ko-KR" sz="1800" dirty="0">
                <a:latin typeface="Arial" panose="020B0604020202020204" pitchFamily="34" charset="0"/>
              </a:rPr>
              <a:t>, </a:t>
            </a:r>
            <a:r>
              <a:rPr kumimoji="0" lang="en-US" altLang="ko-KR" sz="1800" dirty="0" err="1">
                <a:latin typeface="Arial" panose="020B0604020202020204" pitchFamily="34" charset="0"/>
              </a:rPr>
              <a:t>QTabWidget</a:t>
            </a:r>
            <a:r>
              <a:rPr kumimoji="0" lang="en-US" altLang="ko-KR" sz="1800" dirty="0">
                <a:latin typeface="Arial" panose="020B0604020202020204" pitchFamily="34" charset="0"/>
              </a:rPr>
              <a:t>, </a:t>
            </a:r>
            <a:r>
              <a:rPr kumimoji="0" lang="en-US" altLang="ko-KR" sz="1800" dirty="0" err="1">
                <a:latin typeface="Arial" panose="020B0604020202020204" pitchFamily="34" charset="0"/>
              </a:rPr>
              <a:t>QProgressBar</a:t>
            </a:r>
            <a:r>
              <a:rPr kumimoji="0" lang="en-US" altLang="ko-KR" sz="1800" dirty="0">
                <a:latin typeface="Arial" panose="020B0604020202020204" pitchFamily="34" charset="0"/>
              </a:rPr>
              <a:t>, </a:t>
            </a:r>
            <a:r>
              <a:rPr kumimoji="0" lang="en-US" altLang="ko-KR" sz="1800" dirty="0" err="1">
                <a:latin typeface="Arial" panose="020B0604020202020204" pitchFamily="34" charset="0"/>
              </a:rPr>
              <a:t>QSlider</a:t>
            </a:r>
            <a:r>
              <a:rPr kumimoji="0" lang="en-US" altLang="ko-KR" sz="1800" dirty="0">
                <a:latin typeface="Arial" panose="020B0604020202020204" pitchFamily="34" charset="0"/>
              </a:rPr>
              <a:t>, </a:t>
            </a:r>
            <a:r>
              <a:rPr kumimoji="0" lang="en-US" altLang="ko-KR" sz="1800" dirty="0" err="1">
                <a:latin typeface="Arial" panose="020B0604020202020204" pitchFamily="34" charset="0"/>
              </a:rPr>
              <a:t>QSpinBox</a:t>
            </a:r>
            <a:r>
              <a:rPr kumimoji="0" lang="en-US" altLang="ko-KR" sz="1800" dirty="0">
                <a:latin typeface="Arial" panose="020B0604020202020204" pitchFamily="34" charset="0"/>
              </a:rPr>
              <a:t>, </a:t>
            </a:r>
            <a:r>
              <a:rPr kumimoji="0" lang="en-US" altLang="ko-KR" sz="1800" dirty="0" err="1">
                <a:latin typeface="Arial" panose="020B0604020202020204" pitchFamily="34" charset="0"/>
              </a:rPr>
              <a:t>QFileDialog</a:t>
            </a:r>
            <a:r>
              <a:rPr kumimoji="0" lang="en-US" altLang="ko-KR" sz="1800" dirty="0">
                <a:latin typeface="Arial" panose="020B0604020202020204" pitchFamily="34" charset="0"/>
              </a:rPr>
              <a:t>, </a:t>
            </a:r>
            <a:r>
              <a:rPr kumimoji="0" lang="en-US" altLang="ko-KR" sz="1800" dirty="0" err="1">
                <a:latin typeface="Arial" panose="020B0604020202020204" pitchFamily="34" charset="0"/>
              </a:rPr>
              <a:t>QMessageBox</a:t>
            </a:r>
            <a:endParaRPr kumimoji="0" lang="en-US" altLang="ko-KR" sz="1800" dirty="0">
              <a:latin typeface="Arial" panose="020B0604020202020204" pitchFamily="34" charset="0"/>
            </a:endParaRPr>
          </a:p>
          <a:p>
            <a:pPr lvl="1"/>
            <a:r>
              <a:rPr kumimoji="0" lang="ko-KR" altLang="en-US" sz="1800" dirty="0">
                <a:latin typeface="Arial" panose="020B0604020202020204" pitchFamily="34" charset="0"/>
              </a:rPr>
              <a:t>레이아웃</a:t>
            </a:r>
            <a:endParaRPr kumimoji="0" lang="en-US" altLang="ko-KR" sz="1800" dirty="0">
              <a:latin typeface="Arial" panose="020B0604020202020204" pitchFamily="34" charset="0"/>
            </a:endParaRPr>
          </a:p>
          <a:p>
            <a:pPr lvl="2"/>
            <a:r>
              <a:rPr kumimoji="0" lang="en-US" altLang="ko-KR" sz="1800" dirty="0" err="1">
                <a:latin typeface="Arial" panose="020B0604020202020204" pitchFamily="34" charset="0"/>
              </a:rPr>
              <a:t>QHBoxLayout</a:t>
            </a:r>
            <a:r>
              <a:rPr kumimoji="0" lang="en-US" altLang="ko-KR" sz="1800" dirty="0">
                <a:latin typeface="Arial" panose="020B0604020202020204" pitchFamily="34" charset="0"/>
              </a:rPr>
              <a:t>()</a:t>
            </a:r>
          </a:p>
          <a:p>
            <a:pPr lvl="2"/>
            <a:r>
              <a:rPr kumimoji="0" lang="en-US" altLang="ko-KR" sz="1800" dirty="0" err="1">
                <a:latin typeface="Arial" panose="020B0604020202020204" pitchFamily="34" charset="0"/>
              </a:rPr>
              <a:t>QVBoxLayout</a:t>
            </a:r>
            <a:r>
              <a:rPr kumimoji="0" lang="en-US" altLang="ko-KR" sz="1800" dirty="0">
                <a:latin typeface="Arial" panose="020B0604020202020204" pitchFamily="34" charset="0"/>
              </a:rPr>
              <a:t>()</a:t>
            </a:r>
          </a:p>
          <a:p>
            <a:pPr lvl="2"/>
            <a:r>
              <a:rPr kumimoji="0" lang="en-US" altLang="ko-KR" sz="1800" dirty="0" err="1">
                <a:latin typeface="Arial" panose="020B0604020202020204" pitchFamily="34" charset="0"/>
              </a:rPr>
              <a:t>QGridLayout</a:t>
            </a:r>
            <a:r>
              <a:rPr kumimoji="0" lang="en-US" altLang="ko-KR" sz="1800" dirty="0">
                <a:latin typeface="Arial" panose="020B0604020202020204" pitchFamily="34" charset="0"/>
              </a:rPr>
              <a:t>()</a:t>
            </a:r>
          </a:p>
          <a:p>
            <a:pPr lvl="2"/>
            <a:r>
              <a:rPr kumimoji="0" lang="en-US" altLang="ko-KR" sz="1800" dirty="0" err="1">
                <a:latin typeface="Arial" panose="020B0604020202020204" pitchFamily="34" charset="0"/>
              </a:rPr>
              <a:t>QFormLayout</a:t>
            </a:r>
            <a:r>
              <a:rPr kumimoji="0" lang="en-US" altLang="ko-KR" sz="1800" dirty="0">
                <a:latin typeface="Arial" panose="020B0604020202020204" pitchFamily="34" charset="0"/>
              </a:rPr>
              <a:t>()</a:t>
            </a:r>
          </a:p>
          <a:p>
            <a:pPr lvl="2"/>
            <a:r>
              <a:rPr kumimoji="0" lang="en-US" altLang="ko-KR" sz="1800" dirty="0" err="1">
                <a:latin typeface="Arial" panose="020B0604020202020204" pitchFamily="34" charset="0"/>
              </a:rPr>
              <a:t>QStackedLayout</a:t>
            </a:r>
            <a:r>
              <a:rPr kumimoji="0" lang="en-US" altLang="ko-KR" sz="1800" dirty="0">
                <a:latin typeface="Arial" panose="020B0604020202020204" pitchFamily="34" charset="0"/>
              </a:rPr>
              <a:t>()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B9D5A0-E178-42E7-8F1F-75ED54D80C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30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9473884"/>
      </p:ext>
    </p:extLst>
  </p:cSld>
  <p:clrMapOvr>
    <a:masterClrMapping/>
  </p:clrMapOvr>
  <p:transition>
    <p:diamond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05F02C-7F56-B2E0-9AD6-D11BDD8DF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Qt/PySide2 </a:t>
            </a:r>
            <a:r>
              <a:rPr lang="ko-KR" altLang="en-US" dirty="0"/>
              <a:t>프로그래밍 환경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020C22-5020-0ECE-EA83-345B63B42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기본적인</a:t>
            </a:r>
            <a:r>
              <a:rPr lang="en-US" altLang="ko-KR" dirty="0"/>
              <a:t> Qt </a:t>
            </a:r>
            <a:r>
              <a:rPr lang="ko-KR" altLang="en-US" dirty="0"/>
              <a:t>개발 패키지 설치</a:t>
            </a:r>
            <a:endParaRPr lang="en-US" altLang="ko-KR" dirty="0"/>
          </a:p>
          <a:p>
            <a:pPr lvl="1"/>
            <a:r>
              <a:rPr lang="ko-KR" altLang="en-US" dirty="0"/>
              <a:t>설치하지 않아도 문제 없이 동작함</a:t>
            </a:r>
            <a:endParaRPr lang="en-US" altLang="ko-KR" dirty="0"/>
          </a:p>
          <a:p>
            <a:pPr lvl="1"/>
            <a:r>
              <a:rPr lang="en-US" altLang="ko-KR" dirty="0" err="1"/>
              <a:t>sudo</a:t>
            </a:r>
            <a:r>
              <a:rPr lang="en-US" altLang="ko-KR" dirty="0"/>
              <a:t> apt-get install build-essential </a:t>
            </a:r>
            <a:r>
              <a:rPr lang="en-US" altLang="ko-KR" dirty="0" err="1"/>
              <a:t>cmake</a:t>
            </a:r>
            <a:r>
              <a:rPr lang="en-US" altLang="ko-KR" dirty="0"/>
              <a:t> qt5-default qtbase5-dev qt5-qmake libqt5gui5 qtdeclarative5-dev qtscript5-dev qtmultimedia5-dev libqt5multimedia5-plugins qtquickcontrols2-5-dev libqt5network5 libqt5svg5-dev </a:t>
            </a:r>
            <a:r>
              <a:rPr lang="en-US" altLang="ko-KR" dirty="0" err="1"/>
              <a:t>qtcreator</a:t>
            </a:r>
            <a:endParaRPr lang="en-US" altLang="ko-KR" dirty="0"/>
          </a:p>
          <a:p>
            <a:r>
              <a:rPr lang="en-US" altLang="ko-KR" dirty="0"/>
              <a:t>PySide2 </a:t>
            </a:r>
            <a:r>
              <a:rPr lang="ko-KR" altLang="en-US" dirty="0"/>
              <a:t>설치</a:t>
            </a:r>
            <a:endParaRPr lang="en-US" altLang="ko-KR" dirty="0"/>
          </a:p>
          <a:p>
            <a:pPr lvl="1"/>
            <a:r>
              <a:rPr lang="en-US" altLang="ko-KR" dirty="0" err="1"/>
              <a:t>sudo</a:t>
            </a:r>
            <a:r>
              <a:rPr lang="ko-KR" altLang="en-US" dirty="0"/>
              <a:t> </a:t>
            </a:r>
            <a:r>
              <a:rPr lang="en-US" altLang="ko-KR" dirty="0"/>
              <a:t>apt-get</a:t>
            </a:r>
            <a:r>
              <a:rPr lang="ko-KR" altLang="en-US" dirty="0"/>
              <a:t> </a:t>
            </a:r>
            <a:r>
              <a:rPr lang="en-US" altLang="ko-KR" dirty="0"/>
              <a:t>install python3-pyside2* pyside2-tools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6A7608-4EB7-E27B-AB17-ED44A464DF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31</a:t>
            </a:fld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76079EB-D6E6-055E-C946-D3754AE4BD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640"/>
          <a:stretch>
            <a:fillRect/>
          </a:stretch>
        </p:blipFill>
        <p:spPr>
          <a:xfrm>
            <a:off x="1730731" y="4448505"/>
            <a:ext cx="5704762" cy="1932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312947"/>
      </p:ext>
    </p:extLst>
  </p:cSld>
  <p:clrMapOvr>
    <a:masterClrMapping/>
  </p:clrMapOvr>
  <p:transition>
    <p:diamond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34FEB4-E64C-2DC9-E554-BDC6E18BF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 4] Qt</a:t>
            </a:r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/>
              <a:t>Label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C74907-2DEF-7F41-AA86-487092DA8C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32</a:t>
            </a:fld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D6D4BF0-8B54-1A5E-A2FE-D8B652E8E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62" y="1185382"/>
            <a:ext cx="6066667" cy="343809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0C818F5-2C82-5399-B1C1-D44E6D228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149" y="1185382"/>
            <a:ext cx="2748651" cy="143033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FA80E78-5272-EF77-727A-CB5362B704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148" y="2872599"/>
            <a:ext cx="2716901" cy="239087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98662112"/>
      </p:ext>
    </p:extLst>
  </p:cSld>
  <p:clrMapOvr>
    <a:masterClrMapping/>
  </p:clrMapOvr>
  <p:transition>
    <p:diamond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257CAE-9177-17F0-E0E8-7C8520A0C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객체지향</a:t>
            </a:r>
            <a:r>
              <a:rPr lang="en-US" altLang="ko-KR" dirty="0"/>
              <a:t> </a:t>
            </a:r>
            <a:r>
              <a:rPr lang="ko-KR" altLang="en-US" dirty="0"/>
              <a:t>프로그래밍 방식의 </a:t>
            </a:r>
            <a:r>
              <a:rPr lang="en-US" altLang="ko-KR" dirty="0"/>
              <a:t>GUI </a:t>
            </a:r>
            <a:r>
              <a:rPr lang="ko-KR" altLang="en-US" dirty="0"/>
              <a:t>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6C33B8-9D04-0FCE-BC78-E890E3C64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객체지향</a:t>
            </a:r>
            <a:r>
              <a:rPr lang="en-US" altLang="ko-KR" dirty="0"/>
              <a:t> </a:t>
            </a:r>
            <a:r>
              <a:rPr lang="ko-KR" altLang="en-US" dirty="0"/>
              <a:t>프로그래밍 방식의 </a:t>
            </a:r>
            <a:r>
              <a:rPr lang="en-US" altLang="ko-KR" dirty="0"/>
              <a:t>GUI </a:t>
            </a:r>
            <a:r>
              <a:rPr lang="ko-KR" altLang="en-US" dirty="0"/>
              <a:t>구현</a:t>
            </a:r>
            <a:endParaRPr lang="en-US" altLang="ko-KR" dirty="0"/>
          </a:p>
          <a:p>
            <a:pPr lvl="1"/>
            <a:r>
              <a:rPr lang="ko-KR" altLang="en-US" dirty="0"/>
              <a:t>위젯과 </a:t>
            </a:r>
            <a:r>
              <a:rPr lang="en-US" altLang="ko-KR" dirty="0"/>
              <a:t>GUI</a:t>
            </a:r>
            <a:r>
              <a:rPr lang="ko-KR" altLang="en-US" dirty="0"/>
              <a:t> 구성이 복잡하면</a:t>
            </a:r>
            <a:r>
              <a:rPr lang="en-US" altLang="ko-KR" dirty="0"/>
              <a:t>, </a:t>
            </a:r>
            <a:r>
              <a:rPr lang="ko-KR" altLang="en-US" dirty="0"/>
              <a:t>이벤트 구동방식보다는 클래스를 활용한 객체지향 프로그래밍 방식을 활용하는 것이 </a:t>
            </a:r>
            <a:r>
              <a:rPr lang="ko-KR" altLang="en-US" dirty="0" err="1"/>
              <a:t>바람직</a:t>
            </a:r>
            <a:endParaRPr lang="en-US" altLang="ko-KR" dirty="0"/>
          </a:p>
          <a:p>
            <a:r>
              <a:rPr lang="en-US" altLang="ko-KR" dirty="0"/>
              <a:t>Qt/PySide2</a:t>
            </a:r>
            <a:r>
              <a:rPr lang="ko-KR" altLang="en-US" dirty="0"/>
              <a:t>를 이용한 </a:t>
            </a:r>
            <a:r>
              <a:rPr lang="en-US" altLang="ko-KR" dirty="0"/>
              <a:t>GUI </a:t>
            </a:r>
            <a:r>
              <a:rPr lang="ko-KR" altLang="en-US" dirty="0"/>
              <a:t>프로그램 구성 절차</a:t>
            </a:r>
            <a:endParaRPr lang="en-US" altLang="ko-KR" dirty="0"/>
          </a:p>
          <a:p>
            <a:pPr lvl="1"/>
            <a:r>
              <a:rPr lang="ko-KR" altLang="en-US" dirty="0"/>
              <a:t>주요 윈도우 클래스 정의</a:t>
            </a:r>
            <a:endParaRPr lang="en-US" altLang="ko-KR" dirty="0"/>
          </a:p>
          <a:p>
            <a:pPr lvl="1"/>
            <a:r>
              <a:rPr lang="ko-KR" altLang="en-US" dirty="0"/>
              <a:t>위젯 생성</a:t>
            </a:r>
            <a:r>
              <a:rPr lang="en-US" altLang="ko-KR" dirty="0"/>
              <a:t>, </a:t>
            </a:r>
            <a:r>
              <a:rPr lang="ko-KR" altLang="en-US" dirty="0"/>
              <a:t>속성 설정</a:t>
            </a:r>
            <a:r>
              <a:rPr lang="en-US" altLang="ko-KR" dirty="0"/>
              <a:t>, </a:t>
            </a:r>
            <a:r>
              <a:rPr lang="ko-KR" altLang="en-US" dirty="0" err="1"/>
              <a:t>계충</a:t>
            </a:r>
            <a:r>
              <a:rPr lang="ko-KR" altLang="en-US" dirty="0"/>
              <a:t> 구성</a:t>
            </a:r>
            <a:endParaRPr lang="en-US" altLang="ko-KR" dirty="0"/>
          </a:p>
          <a:p>
            <a:pPr lvl="1"/>
            <a:r>
              <a:rPr lang="ko-KR" altLang="en-US" dirty="0"/>
              <a:t>시그널 및 슬롯 연결 등록</a:t>
            </a:r>
            <a:endParaRPr lang="en-US" altLang="ko-KR" dirty="0"/>
          </a:p>
          <a:p>
            <a:pPr lvl="1"/>
            <a:r>
              <a:rPr lang="en-US" altLang="ko-KR" dirty="0"/>
              <a:t>main </a:t>
            </a:r>
            <a:r>
              <a:rPr lang="ko-KR" altLang="en-US" dirty="0"/>
              <a:t>코드</a:t>
            </a:r>
            <a:r>
              <a:rPr lang="en-US" altLang="ko-KR" dirty="0"/>
              <a:t>/</a:t>
            </a:r>
            <a:r>
              <a:rPr lang="ko-KR" altLang="en-US" dirty="0"/>
              <a:t>함수 작성 및 </a:t>
            </a:r>
            <a:r>
              <a:rPr lang="en-US" altLang="ko-KR" dirty="0"/>
              <a:t>GUI </a:t>
            </a:r>
            <a:r>
              <a:rPr lang="ko-KR" altLang="en-US" dirty="0"/>
              <a:t>구동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9848A1-116D-3992-397E-EB4B0648E0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56464862"/>
      </p:ext>
    </p:extLst>
  </p:cSld>
  <p:clrMapOvr>
    <a:masterClrMapping/>
  </p:clrMapOvr>
  <p:transition>
    <p:diamond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439B01-7DB5-89EF-4461-1D79235EA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5-1] </a:t>
            </a:r>
            <a:r>
              <a:rPr lang="en-US" altLang="ko-KR" dirty="0" err="1"/>
              <a:t>QPushButton</a:t>
            </a:r>
            <a:r>
              <a:rPr lang="ko-KR" altLang="en-US" dirty="0"/>
              <a:t>을 활용한 클래스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4BA330-F9CA-B4D8-B6C0-1C579502E1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34</a:t>
            </a:fld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B2BD7F8-95C7-721B-1700-EDEE012FA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619" y="998166"/>
            <a:ext cx="6840761" cy="548608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55153581"/>
      </p:ext>
    </p:extLst>
  </p:cSld>
  <p:clrMapOvr>
    <a:masterClrMapping/>
  </p:clrMapOvr>
  <p:transition>
    <p:diamond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D9412-F2B1-6837-36FC-DEB19B7C5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02B1FA-95D8-DF79-8240-B0C23ED8A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5-1] </a:t>
            </a:r>
            <a:r>
              <a:rPr lang="en-US" altLang="ko-KR" dirty="0" err="1"/>
              <a:t>QPushButton</a:t>
            </a:r>
            <a:r>
              <a:rPr lang="ko-KR" altLang="en-US" dirty="0"/>
              <a:t>을 활용한 클래스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028CF7-9BA2-F9A6-A92E-DC79B80ABB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35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6A4996A-90CC-460F-2678-0EF820EED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8" y="1052736"/>
            <a:ext cx="7924802" cy="194886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495EED5-2060-DF87-D7F2-6B95D885D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3448588"/>
            <a:ext cx="1780952" cy="205714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C5357BC-F0AF-6EF9-8B8B-8E5AE4AFB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0828" y="4851847"/>
            <a:ext cx="7020272" cy="130776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9F8213-6C99-9F26-65FB-C084493B2734}"/>
              </a:ext>
            </a:extLst>
          </p:cNvPr>
          <p:cNvSpPr/>
          <p:nvPr/>
        </p:nvSpPr>
        <p:spPr>
          <a:xfrm>
            <a:off x="1233924" y="4100222"/>
            <a:ext cx="936104" cy="38119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59D5421-7070-39E6-35EC-A89D354C4D00}"/>
              </a:ext>
            </a:extLst>
          </p:cNvPr>
          <p:cNvSpPr/>
          <p:nvPr/>
        </p:nvSpPr>
        <p:spPr>
          <a:xfrm>
            <a:off x="1907704" y="5805264"/>
            <a:ext cx="1080120" cy="38119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5131040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E2FDCF-F0D5-3DCA-B78C-6945FB016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5-2] </a:t>
            </a:r>
            <a:r>
              <a:rPr lang="en-US" altLang="ko-KR" dirty="0" err="1"/>
              <a:t>QPushButton</a:t>
            </a:r>
            <a:r>
              <a:rPr lang="ko-KR" altLang="en-US" dirty="0"/>
              <a:t>을 활용한 클래스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E79B166-E3F7-204C-449A-2F4023E96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5-1] </a:t>
            </a:r>
            <a:r>
              <a:rPr lang="en-US" altLang="ko-KR" dirty="0">
                <a:sym typeface="Wingdings" panose="05000000000000000000" pitchFamily="2" charset="2"/>
              </a:rPr>
              <a:t> save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as…  _5-2_ButtonClass.py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7091CB-1A59-D50B-176E-79D861934B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36</a:t>
            </a:fld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FB20BA7-F46C-AC48-6595-5058B7D5E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840" y="1484784"/>
            <a:ext cx="7280320" cy="497961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20ED5129-9DA9-FA55-F475-33F7BDE3B40B}"/>
              </a:ext>
            </a:extLst>
          </p:cNvPr>
          <p:cNvSpPr/>
          <p:nvPr/>
        </p:nvSpPr>
        <p:spPr>
          <a:xfrm>
            <a:off x="931840" y="5517232"/>
            <a:ext cx="7280320" cy="21602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418237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74456-DF00-7280-7067-72E8130EB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2C4834-698E-4190-B0CA-21C605512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5-2] </a:t>
            </a:r>
            <a:r>
              <a:rPr lang="en-US" altLang="ko-KR" dirty="0" err="1"/>
              <a:t>QPushButton</a:t>
            </a:r>
            <a:r>
              <a:rPr lang="ko-KR" altLang="en-US" dirty="0"/>
              <a:t>을 활용한 클래스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02FFF9-2985-4350-8DCA-ED572F7569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37</a:t>
            </a:fld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32F77E9-FB91-911D-0FA7-F106B8E73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24744"/>
            <a:ext cx="7924800" cy="404835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BC0140C-8461-92C8-5F0C-45A8D1E4A9CF}"/>
              </a:ext>
            </a:extLst>
          </p:cNvPr>
          <p:cNvSpPr/>
          <p:nvPr/>
        </p:nvSpPr>
        <p:spPr>
          <a:xfrm>
            <a:off x="609600" y="1097702"/>
            <a:ext cx="7280320" cy="96314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1142019-0FFE-FC32-51A4-EB2C3BA22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4465989"/>
            <a:ext cx="1761905" cy="19904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D279C0E-08B9-D483-7F37-1AD07B85C7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848" y="4465989"/>
            <a:ext cx="4219048" cy="183809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5BC74D5-3593-4152-05EB-4C91C07D32CC}"/>
              </a:ext>
            </a:extLst>
          </p:cNvPr>
          <p:cNvSpPr txBox="1"/>
          <p:nvPr/>
        </p:nvSpPr>
        <p:spPr>
          <a:xfrm>
            <a:off x="5456832" y="2340410"/>
            <a:ext cx="3579218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QVBoxLayout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() 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수직 배치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QHBoxLayout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수평 배치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QGridLayout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격자(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grid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 배치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QFormLayout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()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라벨+입력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필드 형식</a:t>
            </a:r>
          </a:p>
        </p:txBody>
      </p:sp>
    </p:spTree>
    <p:extLst>
      <p:ext uri="{BB962C8B-B14F-4D97-AF65-F5344CB8AC3E}">
        <p14:creationId xmlns:p14="http://schemas.microsoft.com/office/powerpoint/2010/main" val="1175891738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F9F44-D732-9498-F82B-332F04C9E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3DF50-4759-063D-A4D3-7EEF234EE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5-3] </a:t>
            </a:r>
            <a:r>
              <a:rPr lang="en-US" altLang="ko-KR" dirty="0" err="1"/>
              <a:t>QPushButton</a:t>
            </a:r>
            <a:r>
              <a:rPr lang="ko-KR" altLang="en-US" dirty="0"/>
              <a:t>을 활용 </a:t>
            </a:r>
            <a:r>
              <a:rPr lang="en-US" altLang="ko-KR" dirty="0"/>
              <a:t>LED </a:t>
            </a:r>
            <a:r>
              <a:rPr lang="ko-KR" altLang="en-US" dirty="0" err="1"/>
              <a:t>토글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147187-6D5F-0DE8-5813-08B4BB645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</a:t>
            </a:r>
            <a:r>
              <a:rPr lang="en-US" altLang="ko-KR" dirty="0"/>
              <a:t>5-1] </a:t>
            </a:r>
            <a:r>
              <a:rPr lang="en-US" altLang="ko-KR" dirty="0">
                <a:sym typeface="Wingdings" panose="05000000000000000000" pitchFamily="2" charset="2"/>
              </a:rPr>
              <a:t> save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as…  _5-3_Button_LED.py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2071AE-31AA-33F5-3F87-86D23D174A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38</a:t>
            </a:fld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8AF0BF0-E308-AF5C-083F-D93504263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620" y="1510406"/>
            <a:ext cx="6840760" cy="501363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89999027"/>
      </p:ext>
    </p:extLst>
  </p:cSld>
  <p:clrMapOvr>
    <a:masterClrMapping/>
  </p:clrMapOvr>
  <p:transition>
    <p:diamond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7E0D5-DC26-A04B-189D-60108D1F7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4CB28-BE13-117E-07A1-4FD1DDDB9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5-3] </a:t>
            </a:r>
            <a:r>
              <a:rPr lang="en-US" altLang="ko-KR" dirty="0" err="1"/>
              <a:t>QPushButton</a:t>
            </a:r>
            <a:r>
              <a:rPr lang="ko-KR" altLang="en-US" dirty="0"/>
              <a:t>을 활용 </a:t>
            </a:r>
            <a:r>
              <a:rPr lang="en-US" altLang="ko-KR" dirty="0"/>
              <a:t>LED </a:t>
            </a:r>
            <a:r>
              <a:rPr lang="ko-KR" altLang="en-US" dirty="0" err="1"/>
              <a:t>토글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82ED03-2EB2-641E-E54F-43DB828B26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39</a:t>
            </a:fld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B9A9AE2-AD22-C43F-7C54-80F2F0503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43" y="1033247"/>
            <a:ext cx="7571313" cy="541591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1627042"/>
      </p:ext>
    </p:extLst>
  </p:cSld>
  <p:clrMapOvr>
    <a:masterClrMapping/>
  </p:clrMapOvr>
  <p:transition>
    <p:diamond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21B73-98CE-5DC1-3B09-108D120DD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8A15A7-5A8C-9F52-0155-21D07816D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5-3] </a:t>
            </a:r>
            <a:r>
              <a:rPr lang="en-US" altLang="ko-KR" dirty="0" err="1"/>
              <a:t>QPushButton</a:t>
            </a:r>
            <a:r>
              <a:rPr lang="ko-KR" altLang="en-US" dirty="0"/>
              <a:t>을 활용 </a:t>
            </a:r>
            <a:r>
              <a:rPr lang="en-US" altLang="ko-KR" dirty="0"/>
              <a:t>LED </a:t>
            </a:r>
            <a:r>
              <a:rPr lang="ko-KR" altLang="en-US" dirty="0" err="1"/>
              <a:t>토글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F02018-E7F8-078A-A488-A09D32E464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40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126CDDF-AC14-A8A1-5340-B24C9E743F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01"/>
          <a:stretch>
            <a:fillRect/>
          </a:stretch>
        </p:blipFill>
        <p:spPr>
          <a:xfrm>
            <a:off x="183352" y="1772816"/>
            <a:ext cx="1727992" cy="2000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CA93E41-8797-14D0-04C1-C8BB2F2E0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552" y="1772816"/>
            <a:ext cx="3590476" cy="229523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E03540D-14CB-DECD-9EF6-41ECBAEF3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236" y="1763174"/>
            <a:ext cx="3252626" cy="16443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370AD6-4CFB-873C-F153-05C1193177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6236" y="3452934"/>
            <a:ext cx="3239648" cy="154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968391"/>
      </p:ext>
    </p:extLst>
  </p:cSld>
  <p:clrMapOvr>
    <a:masterClrMapping/>
  </p:clrMapOvr>
  <p:transition>
    <p:diamond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5C75EC-4211-43EB-6930-981FCE253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4F55C6-8E3E-9A93-1ACB-64080FD46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01D150-89BA-EAA8-1591-7A0A1EAB0F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41</a:t>
            </a:fld>
            <a:endParaRPr lang="en-US" altLang="ko-KR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033A475-B06E-BCA4-5501-B4CE056FE1AA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A6A1DE7-8683-77EE-6988-A0334D2EA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905" y="1129000"/>
            <a:ext cx="7676190" cy="4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99660"/>
      </p:ext>
    </p:extLst>
  </p:cSld>
  <p:clrMapOvr>
    <a:masterClrMapping/>
  </p:clrMapOvr>
  <p:transition>
    <p:diamond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EB3602-2740-912B-CDCF-E8B77C864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QtWidgets</a:t>
            </a:r>
            <a:r>
              <a:rPr lang="ko-KR" altLang="en-US" dirty="0"/>
              <a:t>의 상속구조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FABDB8-DA89-A15E-C591-E3BCA5A83E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42</a:t>
            </a:fld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C7703C5-07EA-C873-553F-C9900A01A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982076"/>
            <a:ext cx="3206869" cy="54712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C3BDE0E-2F79-8466-F5B1-3134570F856B}"/>
              </a:ext>
            </a:extLst>
          </p:cNvPr>
          <p:cNvSpPr txBox="1"/>
          <p:nvPr/>
        </p:nvSpPr>
        <p:spPr>
          <a:xfrm>
            <a:off x="2978078" y="1121420"/>
            <a:ext cx="61863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모든 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Qt 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객체의 최상위 클래스 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시그널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/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슬롯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이벤트처리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메모리관리 등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endParaRPr lang="ko-KR" altLang="en-US" sz="14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13321C-DB6D-57B9-0757-383E1E93BF96}"/>
              </a:ext>
            </a:extLst>
          </p:cNvPr>
          <p:cNvSpPr txBox="1"/>
          <p:nvPr/>
        </p:nvSpPr>
        <p:spPr>
          <a:xfrm>
            <a:off x="2978078" y="1340768"/>
            <a:ext cx="61686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모든 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GUI 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객체 최상위 클래스 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레이아웃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부모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자식 위젯 관리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65490C-B890-0154-CAE5-A4D832F89E5C}"/>
              </a:ext>
            </a:extLst>
          </p:cNvPr>
          <p:cNvSpPr txBox="1"/>
          <p:nvPr/>
        </p:nvSpPr>
        <p:spPr>
          <a:xfrm>
            <a:off x="2978078" y="1652994"/>
            <a:ext cx="54697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애플리케이션 윈도우 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4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중앙위젯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4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메뉴바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4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상태바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4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툴바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지원</a:t>
            </a:r>
            <a:endParaRPr lang="ko-KR" altLang="en-US" sz="14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4DB9C3-CE71-5B7A-42DA-1A61AE4DA4BE}"/>
              </a:ext>
            </a:extLst>
          </p:cNvPr>
          <p:cNvSpPr txBox="1"/>
          <p:nvPr/>
        </p:nvSpPr>
        <p:spPr>
          <a:xfrm>
            <a:off x="2978078" y="1965220"/>
            <a:ext cx="3804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팝업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대화상자용 클래스 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4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모달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/</a:t>
            </a:r>
            <a:r>
              <a:rPr lang="ko-KR" altLang="en-US" sz="1400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비모달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처리</a:t>
            </a:r>
            <a:endParaRPr lang="ko-KR" altLang="en-US" sz="140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FF7622-FFAC-49B8-DDE4-17DC8E7A8E9B}"/>
              </a:ext>
            </a:extLst>
          </p:cNvPr>
          <p:cNvSpPr txBox="1"/>
          <p:nvPr/>
        </p:nvSpPr>
        <p:spPr>
          <a:xfrm>
            <a:off x="2978078" y="2277446"/>
            <a:ext cx="22076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레이블</a:t>
            </a:r>
            <a:r>
              <a:rPr lang="en-US" altLang="ko-KR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텍스트 편집기 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2E6FA1-F046-808B-D221-6768979DE657}"/>
              </a:ext>
            </a:extLst>
          </p:cNvPr>
          <p:cNvSpPr txBox="1"/>
          <p:nvPr/>
        </p:nvSpPr>
        <p:spPr>
          <a:xfrm>
            <a:off x="2978078" y="3760637"/>
            <a:ext cx="965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버튼 계열</a:t>
            </a:r>
          </a:p>
        </p:txBody>
      </p:sp>
    </p:spTree>
    <p:extLst>
      <p:ext uri="{BB962C8B-B14F-4D97-AF65-F5344CB8AC3E}">
        <p14:creationId xmlns:p14="http://schemas.microsoft.com/office/powerpoint/2010/main" val="1053719668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B0B9DF-EE5F-19CF-D1A2-7B34A0321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QtWidgets.QWidget</a:t>
            </a:r>
            <a:r>
              <a:rPr lang="ko-KR" altLang="en-US" dirty="0"/>
              <a:t>의 주요함수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84E45F-0421-ACBE-8626-683BE4BE6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Qwidget</a:t>
            </a:r>
            <a:endParaRPr lang="en-US" altLang="ko-KR" dirty="0"/>
          </a:p>
          <a:p>
            <a:pPr lvl="1"/>
            <a:r>
              <a:rPr lang="en-US" altLang="ko-KR" dirty="0"/>
              <a:t>GUI </a:t>
            </a:r>
            <a:r>
              <a:rPr lang="ko-KR" altLang="en-US" dirty="0"/>
              <a:t>위젯의 최상위 클래스이므로</a:t>
            </a:r>
            <a:r>
              <a:rPr lang="en-US" altLang="ko-KR" dirty="0"/>
              <a:t> </a:t>
            </a:r>
            <a:r>
              <a:rPr lang="ko-KR" altLang="en-US" dirty="0"/>
              <a:t>타 클래스에서 가능을 상속받음 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F0645C-8B0A-4332-81A3-F4E3E58B7F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43</a:t>
            </a:fld>
            <a:endParaRPr lang="en-US" altLang="ko-KR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D0DCE22-EB52-8C1D-0F9D-7E777A9B85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300433"/>
              </p:ext>
            </p:extLst>
          </p:nvPr>
        </p:nvGraphicFramePr>
        <p:xfrm>
          <a:off x="395536" y="2132856"/>
          <a:ext cx="8352927" cy="4155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3103000146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843235377"/>
                    </a:ext>
                  </a:extLst>
                </a:gridCol>
                <a:gridCol w="3672407">
                  <a:extLst>
                    <a:ext uri="{9D8B030D-6E8A-4147-A177-3AD203B41FA5}">
                      <a16:colId xmlns:a16="http://schemas.microsoft.com/office/drawing/2014/main" val="3879584916"/>
                    </a:ext>
                  </a:extLst>
                </a:gridCol>
              </a:tblGrid>
              <a:tr h="4138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함수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239483"/>
                  </a:ext>
                </a:extLst>
              </a:tr>
              <a:tr h="374182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숨김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show()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위젯을 화면에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234625"/>
                  </a:ext>
                </a:extLst>
              </a:tr>
              <a:tr h="3741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hide()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위젯을 숨김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852808"/>
                  </a:ext>
                </a:extLst>
              </a:tr>
              <a:tr h="3741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close()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 닫기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575234"/>
                  </a:ext>
                </a:extLst>
              </a:tr>
              <a:tr h="3741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isVisible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위젯이 보이는 지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725709"/>
                  </a:ext>
                </a:extLst>
              </a:tr>
              <a:tr h="374182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크기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resize(</a:t>
                      </a:r>
                      <a:r>
                        <a:rPr lang="en-US" altLang="ko-KR" sz="16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width,height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위젯 크기 변경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955518"/>
                  </a:ext>
                </a:extLst>
              </a:tr>
              <a:tr h="374182">
                <a:tc vMerge="1">
                  <a:txBody>
                    <a:bodyPr/>
                    <a:lstStyle/>
                    <a:p>
                      <a:pPr latinLnBrk="1"/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setGeometry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16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x,y,width,height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위젯의 위치 및 크기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045279"/>
                  </a:ext>
                </a:extLst>
              </a:tr>
              <a:tr h="3741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move(</a:t>
                      </a:r>
                      <a:r>
                        <a:rPr lang="en-US" altLang="ko-KR" sz="16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x,y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위젯 위치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763524"/>
                  </a:ext>
                </a:extLst>
              </a:tr>
              <a:tr h="3741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size( 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크기 반환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681179"/>
                  </a:ext>
                </a:extLst>
              </a:tr>
              <a:tr h="3741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pos( 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위치 반환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372169"/>
                  </a:ext>
                </a:extLst>
              </a:tr>
              <a:tr h="3741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width( ) / height( 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가로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세로 크기 반환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953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9900187"/>
      </p:ext>
    </p:extLst>
  </p:cSld>
  <p:clrMapOvr>
    <a:masterClrMapping/>
  </p:clrMapOvr>
  <p:transition>
    <p:diamond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A7EB6-DF70-7FDD-BF90-3F38F83E8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395AFD-AFF6-B746-8BD6-E0FB3E563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QtWidgets.QWidget</a:t>
            </a:r>
            <a:r>
              <a:rPr lang="ko-KR" altLang="en-US" dirty="0"/>
              <a:t>의 주요함수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8C1996-2F60-96D4-2484-F29B9B5DA6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44</a:t>
            </a:fld>
            <a:endParaRPr lang="en-US" altLang="ko-KR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D35CB47-A2E8-30DE-2E89-FC66BBBB1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791366"/>
              </p:ext>
            </p:extLst>
          </p:nvPr>
        </p:nvGraphicFramePr>
        <p:xfrm>
          <a:off x="395536" y="1052737"/>
          <a:ext cx="8352927" cy="48965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3103000146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843235377"/>
                    </a:ext>
                  </a:extLst>
                </a:gridCol>
                <a:gridCol w="3672407">
                  <a:extLst>
                    <a:ext uri="{9D8B030D-6E8A-4147-A177-3AD203B41FA5}">
                      <a16:colId xmlns:a16="http://schemas.microsoft.com/office/drawing/2014/main" val="3879584916"/>
                    </a:ext>
                  </a:extLst>
                </a:gridCol>
              </a:tblGrid>
              <a:tr h="4407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함수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239483"/>
                  </a:ext>
                </a:extLst>
              </a:tr>
              <a:tr h="440787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스타일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setWindowTitle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(str)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윈도우 제목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234625"/>
                  </a:ext>
                </a:extLst>
              </a:tr>
              <a:tr h="4407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setWindowIcon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윈도우 아이콘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852808"/>
                  </a:ext>
                </a:extLst>
              </a:tr>
              <a:tr h="4407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setToolTip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(str)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툴 팁 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575234"/>
                  </a:ext>
                </a:extLst>
              </a:tr>
              <a:tr h="4407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setStyleSheet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(str)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CSS </a:t>
                      </a:r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스타일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725709"/>
                  </a:ext>
                </a:extLst>
              </a:tr>
              <a:tr h="4407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setEnabled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(boot)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활성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비활성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982100"/>
                  </a:ext>
                </a:extLst>
              </a:tr>
              <a:tr h="4407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setVisible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(bool)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 여부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641656"/>
                  </a:ext>
                </a:extLst>
              </a:tr>
              <a:tr h="440787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레이아웃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</a:p>
                    <a:p>
                      <a:pPr algn="ctr"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자식 위젯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setLayout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(layout)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레이아웃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955518"/>
                  </a:ext>
                </a:extLst>
              </a:tr>
              <a:tr h="440787">
                <a:tc vMerge="1">
                  <a:txBody>
                    <a:bodyPr/>
                    <a:lstStyle/>
                    <a:p>
                      <a:pPr latinLnBrk="1"/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layout()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레이아웃 반환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045279"/>
                  </a:ext>
                </a:extLst>
              </a:tr>
              <a:tr h="4407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children()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자식 위젯 목록 반환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763524"/>
                  </a:ext>
                </a:extLst>
              </a:tr>
              <a:tr h="4886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findChild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(type, name)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특정 자식 위젯 검색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681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3629885"/>
      </p:ext>
    </p:extLst>
  </p:cSld>
  <p:clrMapOvr>
    <a:masterClrMapping/>
  </p:clrMapOvr>
  <p:transition>
    <p:diamond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8727F-E8D4-102F-4F47-90F1C0692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BFCACE-9143-4DE1-6488-026FB12A3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QtWidgets.QWidget</a:t>
            </a:r>
            <a:r>
              <a:rPr lang="ko-KR" altLang="en-US" dirty="0"/>
              <a:t>의 주요함수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18DA65-B05C-D2A0-785F-DD245CF6D5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45</a:t>
            </a:fld>
            <a:endParaRPr lang="en-US" altLang="ko-KR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FFB0B96-1779-2D81-787C-3BD2055D22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893594"/>
              </p:ext>
            </p:extLst>
          </p:nvPr>
        </p:nvGraphicFramePr>
        <p:xfrm>
          <a:off x="395536" y="1052737"/>
          <a:ext cx="8352927" cy="537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3103000146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843235377"/>
                    </a:ext>
                  </a:extLst>
                </a:gridCol>
                <a:gridCol w="3672407">
                  <a:extLst>
                    <a:ext uri="{9D8B030D-6E8A-4147-A177-3AD203B41FA5}">
                      <a16:colId xmlns:a16="http://schemas.microsoft.com/office/drawing/2014/main" val="3879584916"/>
                    </a:ext>
                  </a:extLst>
                </a:gridCol>
              </a:tblGrid>
              <a:tr h="4407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함수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239483"/>
                  </a:ext>
                </a:extLst>
              </a:tr>
              <a:tr h="440787"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</a:t>
                      </a:r>
                      <a:endParaRPr lang="en-US" altLang="ko-KR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재정의가능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closeEvent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(event)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윈도우 닫기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234625"/>
                  </a:ext>
                </a:extLst>
              </a:tr>
              <a:tr h="4407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resizeEvent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(event)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윈도우 크기 변경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852808"/>
                  </a:ext>
                </a:extLst>
              </a:tr>
              <a:tr h="4407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moveEvent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(event)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 변경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575234"/>
                  </a:ext>
                </a:extLst>
              </a:tr>
              <a:tr h="4407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keyPressEvent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(event)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키입력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725709"/>
                  </a:ext>
                </a:extLst>
              </a:tr>
              <a:tr h="4407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mousePressEvent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(event)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마우스 클릭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982100"/>
                  </a:ext>
                </a:extLst>
              </a:tr>
              <a:tr h="2203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mouseMoveEvent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(event)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마우스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641656"/>
                  </a:ext>
                </a:extLst>
              </a:tr>
              <a:tr h="2203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focusInEvent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(event)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focusOutEvent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(event)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포커스 변경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630773"/>
                  </a:ext>
                </a:extLst>
              </a:tr>
              <a:tr h="440787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update( 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위젯 다시 그리기 요청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955518"/>
                  </a:ext>
                </a:extLst>
              </a:tr>
              <a:tr h="440787">
                <a:tc vMerge="1">
                  <a:txBody>
                    <a:bodyPr/>
                    <a:lstStyle/>
                    <a:p>
                      <a:pPr latinLnBrk="1"/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repaint( 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즉시 위젯 다시 그리기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045279"/>
                  </a:ext>
                </a:extLst>
              </a:tr>
              <a:tr h="4407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setFocus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포커스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763524"/>
                  </a:ext>
                </a:extLst>
              </a:tr>
              <a:tr h="4886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hasFocus</a:t>
                      </a:r>
                      <a:r>
                        <a:rPr lang="en-US" altLang="ko-KR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)</a:t>
                      </a:r>
                      <a:endParaRPr lang="ko-KR" altLang="en-US" sz="16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포커스 여부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681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1924197"/>
      </p:ext>
    </p:extLst>
  </p:cSld>
  <p:clrMapOvr>
    <a:masterClrMapping/>
  </p:clrMapOvr>
  <p:transition>
    <p:diamond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C1C2B9-55CD-06B6-813E-4BB4E48A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6] </a:t>
            </a:r>
            <a:r>
              <a:rPr lang="en-US" altLang="ko-KR" dirty="0" err="1"/>
              <a:t>QMainWindow</a:t>
            </a:r>
            <a:r>
              <a:rPr lang="en-US" altLang="ko-KR" dirty="0"/>
              <a:t> </a:t>
            </a:r>
            <a:r>
              <a:rPr lang="ko-KR" altLang="en-US" dirty="0"/>
              <a:t>실습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DDFA2A-9CF4-8CD5-FFA6-EEBCC59252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46</a:t>
            </a:fld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FFD8341-7DFA-DC03-47EC-31A83FBBB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162" y="1018237"/>
            <a:ext cx="7924802" cy="540831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14220014"/>
      </p:ext>
    </p:extLst>
  </p:cSld>
  <p:clrMapOvr>
    <a:masterClrMapping/>
  </p:clrMapOvr>
  <p:transition>
    <p:diamond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AD770-6BE7-8EEE-4844-BC4FE5079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B3CC59-CFD0-7B8E-981F-8644D3356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6] </a:t>
            </a:r>
            <a:r>
              <a:rPr lang="en-US" altLang="ko-KR" dirty="0" err="1"/>
              <a:t>QMainWindow</a:t>
            </a:r>
            <a:r>
              <a:rPr lang="en-US" altLang="ko-KR" dirty="0"/>
              <a:t> </a:t>
            </a:r>
            <a:r>
              <a:rPr lang="ko-KR" altLang="en-US" dirty="0"/>
              <a:t>실습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1B822F-E13F-3415-B3FA-DADAFB6ED8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47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693690-88EB-6ABA-9A38-2383915FC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1" y="1191641"/>
            <a:ext cx="8064898" cy="447471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77388300"/>
      </p:ext>
    </p:extLst>
  </p:cSld>
  <p:clrMapOvr>
    <a:masterClrMapping/>
  </p:clrMapOvr>
  <p:transition>
    <p:diamond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99887-1073-A84E-1A00-04B0E3256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BFB515-318C-38DA-A0D8-8CD777F82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6] </a:t>
            </a:r>
            <a:r>
              <a:rPr lang="en-US" altLang="ko-KR" dirty="0" err="1"/>
              <a:t>QMainWindow</a:t>
            </a:r>
            <a:r>
              <a:rPr lang="en-US" altLang="ko-KR" dirty="0"/>
              <a:t> </a:t>
            </a:r>
            <a:r>
              <a:rPr lang="ko-KR" altLang="en-US" dirty="0"/>
              <a:t>실습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F44640-C8E1-1C33-353F-6E99F97401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48</a:t>
            </a:fld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E463E93-97B9-D594-E1C3-D2DFB3FAD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124744"/>
            <a:ext cx="7924800" cy="15628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2321FB4-7C79-A3CA-CD21-514AE2D57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3140969"/>
            <a:ext cx="2452635" cy="143805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CF8EE9DC-CFE4-FEC3-4121-2A5D0CC20FB9}"/>
              </a:ext>
            </a:extLst>
          </p:cNvPr>
          <p:cNvSpPr/>
          <p:nvPr/>
        </p:nvSpPr>
        <p:spPr>
          <a:xfrm>
            <a:off x="323528" y="3882433"/>
            <a:ext cx="2400205" cy="23344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2D504CE-6631-0F4C-FC35-2872813990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8639" y="3122290"/>
            <a:ext cx="2426168" cy="141158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3FEB4D11-9AD7-B16A-5116-AE0AE40A8C86}"/>
              </a:ext>
            </a:extLst>
          </p:cNvPr>
          <p:cNvSpPr/>
          <p:nvPr/>
        </p:nvSpPr>
        <p:spPr>
          <a:xfrm>
            <a:off x="2958159" y="4325412"/>
            <a:ext cx="913906" cy="23447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B1DB7BD-D3F0-2B53-8293-C86B064B4E6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5172"/>
          <a:stretch>
            <a:fillRect/>
          </a:stretch>
        </p:blipFill>
        <p:spPr>
          <a:xfrm>
            <a:off x="5605617" y="3115956"/>
            <a:ext cx="3401420" cy="148808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CE6F8C73-FE47-381B-BBC3-33D0F99A8894}"/>
              </a:ext>
            </a:extLst>
          </p:cNvPr>
          <p:cNvSpPr/>
          <p:nvPr/>
        </p:nvSpPr>
        <p:spPr>
          <a:xfrm>
            <a:off x="5747278" y="4276257"/>
            <a:ext cx="913906" cy="23447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19595121-EE5C-8A00-8F1D-F516EE99AC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034" y="4767065"/>
            <a:ext cx="2609524" cy="147619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54B7E283-CAF4-AF80-986E-735B5D9C8C54}"/>
              </a:ext>
            </a:extLst>
          </p:cNvPr>
          <p:cNvSpPr/>
          <p:nvPr/>
        </p:nvSpPr>
        <p:spPr>
          <a:xfrm>
            <a:off x="5619033" y="4948294"/>
            <a:ext cx="1328715" cy="48485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16CE49B-0C21-2C25-414C-E3CF8ADA75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341" y="4767065"/>
            <a:ext cx="2452635" cy="123991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868F65A-5515-E9F0-93EF-365C4AFE83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52176" y="4767065"/>
            <a:ext cx="2339904" cy="111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672013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9" grpId="0" animBg="1"/>
      <p:bldP spid="2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436998-A362-F996-503A-352F7D1D2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7] </a:t>
            </a:r>
            <a:r>
              <a:rPr lang="en-US" altLang="ko-KR" dirty="0" err="1"/>
              <a:t>QPainter</a:t>
            </a:r>
            <a:r>
              <a:rPr lang="ko-KR" altLang="en-US" dirty="0"/>
              <a:t> 예제 </a:t>
            </a:r>
            <a:r>
              <a:rPr lang="en-US" altLang="ko-KR" dirty="0"/>
              <a:t>– </a:t>
            </a:r>
            <a:r>
              <a:rPr lang="ko-KR" altLang="en-US" dirty="0"/>
              <a:t>이벤트</a:t>
            </a:r>
            <a:r>
              <a:rPr lang="en-US" altLang="ko-KR" dirty="0"/>
              <a:t> </a:t>
            </a:r>
            <a:r>
              <a:rPr lang="ko-KR" altLang="en-US" dirty="0"/>
              <a:t>처리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3DFEEA-CDE5-9C52-2E1A-D35DE0531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49</a:t>
            </a:fld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7C46442-17B0-0C36-4966-1098480C3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01" y="936082"/>
            <a:ext cx="7973567" cy="561711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10199853"/>
      </p:ext>
    </p:extLst>
  </p:cSld>
  <p:clrMapOvr>
    <a:masterClrMapping/>
  </p:clrMapOvr>
  <p:transition>
    <p:diamond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44702-AB49-AE2F-50CA-ECA2BD010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0CE35C-ED51-58FA-E1CC-A8C5C1E3C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7] </a:t>
            </a:r>
            <a:r>
              <a:rPr lang="en-US" altLang="ko-KR" dirty="0" err="1"/>
              <a:t>QPainter</a:t>
            </a:r>
            <a:r>
              <a:rPr lang="ko-KR" altLang="en-US" dirty="0"/>
              <a:t> 예제 </a:t>
            </a:r>
            <a:r>
              <a:rPr lang="en-US" altLang="ko-KR" dirty="0"/>
              <a:t>– </a:t>
            </a:r>
            <a:r>
              <a:rPr lang="ko-KR" altLang="en-US" dirty="0"/>
              <a:t>이벤트</a:t>
            </a:r>
            <a:r>
              <a:rPr lang="en-US" altLang="ko-KR" dirty="0"/>
              <a:t> </a:t>
            </a:r>
            <a:r>
              <a:rPr lang="ko-KR" altLang="en-US" dirty="0"/>
              <a:t>처리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8EF850-7B2D-ABF0-E0CC-2613A1883B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50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8B1E454-191F-3EBF-4F22-CDD562215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24744"/>
            <a:ext cx="7924800" cy="283671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0E94DAF-9BBA-6BEA-02AC-916415B9C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2995" y="4124278"/>
            <a:ext cx="2698009" cy="225320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35717510"/>
      </p:ext>
    </p:extLst>
  </p:cSld>
  <p:clrMapOvr>
    <a:masterClrMapping/>
  </p:clrMapOvr>
  <p:transition>
    <p:diamond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8F949-1403-9D5D-91E6-8C343BA17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251139-B958-49A0-B9D0-92A5728FA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8] Button </a:t>
            </a:r>
            <a:r>
              <a:rPr lang="ko-KR" altLang="en-US" dirty="0"/>
              <a:t>활용 예제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42EDDA-3742-6558-D75A-32D26A221B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51</a:t>
            </a:fld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36CE4E1-4ACB-9567-9238-EEF779F4C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68" y="980728"/>
            <a:ext cx="7601064" cy="546239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22428098"/>
      </p:ext>
    </p:extLst>
  </p:cSld>
  <p:clrMapOvr>
    <a:masterClrMapping/>
  </p:clrMapOvr>
  <p:transition>
    <p:diamond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92D3B-49B0-53A5-ACCE-DF0626B34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F28254-F44C-1697-F275-51CFCDE74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8] Button </a:t>
            </a:r>
            <a:r>
              <a:rPr lang="ko-KR" altLang="en-US" dirty="0"/>
              <a:t>활용 예제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D708D1-7DDE-FC8E-ED16-C65932E70E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52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4B90339-9200-B20F-C8A7-830FA4DD3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080239"/>
            <a:ext cx="8784976" cy="469752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46147867"/>
      </p:ext>
    </p:extLst>
  </p:cSld>
  <p:clrMapOvr>
    <a:masterClrMapping/>
  </p:clrMapOvr>
  <p:transition>
    <p:diamond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5D8BB-F2AD-EF56-421A-760B516DB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B2ACA0-955A-1C44-CD34-CD47305BB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8] Button </a:t>
            </a:r>
            <a:r>
              <a:rPr lang="ko-KR" altLang="en-US" dirty="0"/>
              <a:t>활용 예제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7978E-850C-7EAC-919A-624B9E13AB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53</a:t>
            </a:fld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83FFB2B-DBB0-F430-4E35-6CDF59D03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57" y="1053962"/>
            <a:ext cx="7714286" cy="532380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72338120"/>
      </p:ext>
    </p:extLst>
  </p:cSld>
  <p:clrMapOvr>
    <a:masterClrMapping/>
  </p:clrMapOvr>
  <p:transition>
    <p:diamond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30C87-61CC-13A1-4966-49CCE00F5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943378-08AE-B24D-EFFE-4F9342C2B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8] Button </a:t>
            </a:r>
            <a:r>
              <a:rPr lang="ko-KR" altLang="en-US" dirty="0"/>
              <a:t>활용 예제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EBF3E8-3CDF-EEBF-844D-0B24742FB9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54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606B4E6-F5B1-AFE6-493A-6CE2CC5D9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28" y="1052736"/>
            <a:ext cx="7857143" cy="229523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6A4CA4F-977A-E7B3-F72F-3CE6F47BE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28" y="3582640"/>
            <a:ext cx="2664296" cy="277871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D2B5A09-8C81-1244-D5A8-A3CD8F84C6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3510027"/>
            <a:ext cx="3428571" cy="181904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52486478"/>
      </p:ext>
    </p:extLst>
  </p:cSld>
  <p:clrMapOvr>
    <a:masterClrMapping/>
  </p:clrMapOvr>
  <p:transition>
    <p:diamond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CA671F-3D98-0280-CC90-5709391B6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9] </a:t>
            </a:r>
            <a:r>
              <a:rPr lang="ko-KR" altLang="en-US" dirty="0"/>
              <a:t>대화상자 활용 </a:t>
            </a:r>
            <a:r>
              <a:rPr lang="en-US" altLang="ko-KR" dirty="0"/>
              <a:t>- </a:t>
            </a:r>
            <a:r>
              <a:rPr lang="ko-KR" altLang="en-US" dirty="0"/>
              <a:t>메모장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ECB7326F-C709-C4E8-1DC7-9D7F9C84B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아이콘 복사</a:t>
            </a:r>
            <a:endParaRPr lang="en-US" altLang="ko-KR" dirty="0"/>
          </a:p>
          <a:p>
            <a:pPr lvl="1"/>
            <a:r>
              <a:rPr lang="en-US" altLang="ko-KR" dirty="0"/>
              <a:t>cp /</a:t>
            </a:r>
            <a:r>
              <a:rPr lang="en-US" altLang="ko-KR" dirty="0" err="1"/>
              <a:t>usr</a:t>
            </a:r>
            <a:r>
              <a:rPr lang="en-US" altLang="ko-KR" dirty="0"/>
              <a:t>/share/icons/gnome/16x16/actions/filenew.png .</a:t>
            </a:r>
          </a:p>
          <a:p>
            <a:pPr lvl="1"/>
            <a:r>
              <a:rPr lang="en-US" altLang="ko-KR" dirty="0"/>
              <a:t>cp /</a:t>
            </a:r>
            <a:r>
              <a:rPr lang="en-US" altLang="ko-KR" dirty="0" err="1"/>
              <a:t>usr</a:t>
            </a:r>
            <a:r>
              <a:rPr lang="en-US" altLang="ko-KR" dirty="0"/>
              <a:t>/share/icons/gnome/16x16/actions/application-exit.png 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3B7E2B-1EDE-DF31-B979-BEF8CBF178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55</a:t>
            </a:fld>
            <a:endParaRPr lang="en-US" altLang="ko-KR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E79C69A-AF52-EDEE-BE2C-32AC8D565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180" y="2636911"/>
            <a:ext cx="7812000" cy="4626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F1BB644-5D55-B72D-9A0E-160A13DF3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80" y="3195250"/>
            <a:ext cx="8352000" cy="29258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E39144F-DDDE-9A22-8BCA-243BA1A2B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9832" y="3518958"/>
            <a:ext cx="4086560" cy="302451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91624091"/>
      </p:ext>
    </p:extLst>
  </p:cSld>
  <p:clrMapOvr>
    <a:masterClrMapping/>
  </p:clrMapOvr>
  <p:transition>
    <p:diamond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F2652-38D6-2FF1-D6F4-D05DE52DD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19A5F5-20B7-E219-3732-BC281794B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9] </a:t>
            </a:r>
            <a:r>
              <a:rPr lang="ko-KR" altLang="en-US" dirty="0"/>
              <a:t>대화상자 활용 </a:t>
            </a:r>
            <a:r>
              <a:rPr lang="en-US" altLang="ko-KR" dirty="0"/>
              <a:t>- </a:t>
            </a:r>
            <a:r>
              <a:rPr lang="ko-KR" altLang="en-US" dirty="0"/>
              <a:t>메모장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9D8842-F3D7-0F53-7530-9911A64244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56</a:t>
            </a:fld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1265CC9-0618-2B5E-8A98-63327C300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74" y="1033439"/>
            <a:ext cx="7674852" cy="551976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24362519"/>
      </p:ext>
    </p:extLst>
  </p:cSld>
  <p:clrMapOvr>
    <a:masterClrMapping/>
  </p:clrMapOvr>
  <p:transition>
    <p:diamond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C30DA-78F0-0A4C-AFE8-64B3FACCD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9684EC-EDFD-7918-B079-880C457E2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9] </a:t>
            </a:r>
            <a:r>
              <a:rPr lang="ko-KR" altLang="en-US" dirty="0"/>
              <a:t>대화상자 활용 </a:t>
            </a:r>
            <a:r>
              <a:rPr lang="en-US" altLang="ko-KR" dirty="0"/>
              <a:t>- </a:t>
            </a:r>
            <a:r>
              <a:rPr lang="ko-KR" altLang="en-US" dirty="0"/>
              <a:t>메모장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B40239-7D8C-9F7D-23EC-24B66DD9D5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57</a:t>
            </a:fld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517175E-D235-0DAB-1149-BBB8F5CED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" y="980728"/>
            <a:ext cx="8928100" cy="520399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23204408"/>
      </p:ext>
    </p:extLst>
  </p:cSld>
  <p:clrMapOvr>
    <a:masterClrMapping/>
  </p:clrMapOvr>
  <p:transition>
    <p:diamond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6F8A8-B85A-0245-4B92-2D22A8EB1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7FF5B3-3920-AFA0-5DC1-DE4A97E46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9] </a:t>
            </a:r>
            <a:r>
              <a:rPr lang="ko-KR" altLang="en-US" dirty="0"/>
              <a:t>대화상자 활용 </a:t>
            </a:r>
            <a:r>
              <a:rPr lang="en-US" altLang="ko-KR" dirty="0"/>
              <a:t>- </a:t>
            </a:r>
            <a:r>
              <a:rPr lang="ko-KR" altLang="en-US" dirty="0"/>
              <a:t>메모장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0C22B5-2D47-CAD1-E098-AD27D7E83E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58</a:t>
            </a:fld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885F60E-1F4A-3317-7AB4-6596DF495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" y="1052736"/>
            <a:ext cx="8928100" cy="494491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13678377"/>
      </p:ext>
    </p:extLst>
  </p:cSld>
  <p:clrMapOvr>
    <a:masterClrMapping/>
  </p:clrMapOvr>
  <p:transition>
    <p:diamond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408BB-E35A-76A4-7677-547D8F2EC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5B5C04-F671-F09B-15F8-2ACFAFBEF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9] </a:t>
            </a:r>
            <a:r>
              <a:rPr lang="ko-KR" altLang="en-US" dirty="0"/>
              <a:t>대화상자 활용 </a:t>
            </a:r>
            <a:r>
              <a:rPr lang="en-US" altLang="ko-KR" dirty="0"/>
              <a:t>- </a:t>
            </a:r>
            <a:r>
              <a:rPr lang="ko-KR" altLang="en-US" dirty="0"/>
              <a:t>메모장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F8EE49-7E83-307D-1F67-36C2838E3B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59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0023564-9F13-DAD9-5557-6B0669D60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0768"/>
            <a:ext cx="9144000" cy="335811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41864976"/>
      </p:ext>
    </p:extLst>
  </p:cSld>
  <p:clrMapOvr>
    <a:masterClrMapping/>
  </p:clrMapOvr>
  <p:transition>
    <p:diamond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8DC9C-9D0A-8601-3963-C304468A0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44B254-1390-508F-4E14-AEB50CDCA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9] </a:t>
            </a:r>
            <a:r>
              <a:rPr lang="ko-KR" altLang="en-US" dirty="0"/>
              <a:t>대화상자 활용 </a:t>
            </a:r>
            <a:r>
              <a:rPr lang="en-US" altLang="ko-KR" dirty="0"/>
              <a:t>- </a:t>
            </a:r>
            <a:r>
              <a:rPr lang="ko-KR" altLang="en-US" dirty="0"/>
              <a:t>메모장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F0922D-8AF4-4A98-1D64-1553E3C916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60</a:t>
            </a:fld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B42FCBD-D08F-B705-4116-559233205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30" y="1124744"/>
            <a:ext cx="2952328" cy="310026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E5624B2-519E-A7BC-D79F-188B739F4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71" y="1257185"/>
            <a:ext cx="1244556" cy="86409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B01A2BF-E687-1C0D-5BE6-2381033F7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576" y="1124744"/>
            <a:ext cx="4332752" cy="310428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680E1D5-6122-6D44-E6C4-0E28C49679E0}"/>
              </a:ext>
            </a:extLst>
          </p:cNvPr>
          <p:cNvSpPr/>
          <p:nvPr/>
        </p:nvSpPr>
        <p:spPr>
          <a:xfrm>
            <a:off x="147671" y="1556792"/>
            <a:ext cx="1244556" cy="21602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783EEDD-4046-81F9-F12E-D0AB029632C2}"/>
              </a:ext>
            </a:extLst>
          </p:cNvPr>
          <p:cNvSpPr/>
          <p:nvPr/>
        </p:nvSpPr>
        <p:spPr>
          <a:xfrm>
            <a:off x="4035949" y="1784391"/>
            <a:ext cx="1244556" cy="21602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BB218F7-67D8-ED9B-5AED-9C0095D700F8}"/>
              </a:ext>
            </a:extLst>
          </p:cNvPr>
          <p:cNvSpPr/>
          <p:nvPr/>
        </p:nvSpPr>
        <p:spPr>
          <a:xfrm>
            <a:off x="6948264" y="3636007"/>
            <a:ext cx="452468" cy="26232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EFD2E85-AFD8-728F-F823-AFD7EDCED7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133" y="3429000"/>
            <a:ext cx="2915632" cy="307478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33592950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03732-B56D-7E7F-CA45-1E3B3E593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34839-3BE8-5B39-EF3D-C63670807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Qt</a:t>
            </a:r>
            <a:r>
              <a:rPr lang="ko-KR" altLang="en-US" dirty="0"/>
              <a:t> </a:t>
            </a:r>
            <a:r>
              <a:rPr lang="en-US" altLang="ko-KR" dirty="0"/>
              <a:t>Designer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62575-F7C3-C5D9-AD22-A7E4D7B65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Qt Designer</a:t>
            </a:r>
          </a:p>
          <a:p>
            <a:pPr lvl="1"/>
            <a:r>
              <a:rPr lang="en-US" altLang="ko-KR" dirty="0"/>
              <a:t>Qt </a:t>
            </a:r>
            <a:r>
              <a:rPr lang="ko-KR" altLang="en-US" dirty="0"/>
              <a:t>프레임워크용 </a:t>
            </a:r>
            <a:r>
              <a:rPr lang="en-US" altLang="ko-KR" dirty="0"/>
              <a:t>GUI(Graphical User Interface) </a:t>
            </a:r>
            <a:r>
              <a:rPr lang="ko-KR" altLang="en-US" dirty="0"/>
              <a:t>디자인 툴로</a:t>
            </a:r>
            <a:r>
              <a:rPr lang="en-US" altLang="ko-KR" dirty="0"/>
              <a:t>, </a:t>
            </a:r>
            <a:r>
              <a:rPr lang="ko-KR" altLang="en-US" dirty="0"/>
              <a:t>코드를 직접 작성하지 않고도 드래그 앤 드롭 방식으로 </a:t>
            </a:r>
            <a:r>
              <a:rPr lang="en-US" altLang="ko-KR" dirty="0"/>
              <a:t>UI</a:t>
            </a:r>
            <a:r>
              <a:rPr lang="ko-KR" altLang="en-US" dirty="0"/>
              <a:t>를 시각적으로 설계</a:t>
            </a:r>
            <a:endParaRPr lang="en-US" altLang="ko-KR" dirty="0"/>
          </a:p>
          <a:p>
            <a:pPr lvl="1"/>
            <a:r>
              <a:rPr lang="en-US" altLang="ko-KR" dirty="0"/>
              <a:t>PySide2</a:t>
            </a:r>
            <a:r>
              <a:rPr lang="ko-KR" altLang="en-US" dirty="0"/>
              <a:t>나 </a:t>
            </a:r>
            <a:r>
              <a:rPr lang="en-US" altLang="ko-KR" dirty="0"/>
              <a:t>PyQt5/PyQt6</a:t>
            </a:r>
            <a:r>
              <a:rPr lang="ko-KR" altLang="en-US" dirty="0"/>
              <a:t>와 함께 많이 사용</a:t>
            </a:r>
            <a:endParaRPr lang="en-US" altLang="ko-KR" dirty="0"/>
          </a:p>
          <a:p>
            <a:r>
              <a:rPr lang="en-US" altLang="ko-KR" dirty="0"/>
              <a:t>Qt Designer </a:t>
            </a:r>
            <a:r>
              <a:rPr lang="ko-KR" altLang="en-US" dirty="0"/>
              <a:t>특징</a:t>
            </a:r>
            <a:endParaRPr lang="en-US" altLang="ko-KR" dirty="0"/>
          </a:p>
          <a:p>
            <a:pPr lvl="1"/>
            <a:r>
              <a:rPr kumimoji="0" lang="ko-KR" altLang="ko-KR" dirty="0">
                <a:latin typeface="Arial" panose="020B0604020202020204" pitchFamily="34" charset="0"/>
              </a:rPr>
              <a:t>WYSIWYG(</a:t>
            </a:r>
            <a:r>
              <a:rPr kumimoji="0" lang="ko-KR" altLang="ko-KR" dirty="0" err="1">
                <a:latin typeface="Arial" panose="020B0604020202020204" pitchFamily="34" charset="0"/>
              </a:rPr>
              <a:t>What</a:t>
            </a:r>
            <a:r>
              <a:rPr kumimoji="0" lang="ko-KR" altLang="ko-KR" dirty="0">
                <a:latin typeface="Arial" panose="020B0604020202020204" pitchFamily="34" charset="0"/>
              </a:rPr>
              <a:t> </a:t>
            </a:r>
            <a:r>
              <a:rPr kumimoji="0" lang="ko-KR" altLang="ko-KR" dirty="0" err="1">
                <a:latin typeface="Arial" panose="020B0604020202020204" pitchFamily="34" charset="0"/>
              </a:rPr>
              <a:t>You</a:t>
            </a:r>
            <a:r>
              <a:rPr kumimoji="0" lang="ko-KR" altLang="ko-KR" dirty="0">
                <a:latin typeface="Arial" panose="020B0604020202020204" pitchFamily="34" charset="0"/>
              </a:rPr>
              <a:t> </a:t>
            </a:r>
            <a:r>
              <a:rPr kumimoji="0" lang="ko-KR" altLang="ko-KR" dirty="0" err="1">
                <a:latin typeface="Arial" panose="020B0604020202020204" pitchFamily="34" charset="0"/>
              </a:rPr>
              <a:t>See</a:t>
            </a:r>
            <a:r>
              <a:rPr kumimoji="0" lang="ko-KR" altLang="ko-KR" dirty="0">
                <a:latin typeface="Arial" panose="020B0604020202020204" pitchFamily="34" charset="0"/>
              </a:rPr>
              <a:t> </a:t>
            </a:r>
            <a:r>
              <a:rPr kumimoji="0" lang="ko-KR" altLang="ko-KR" dirty="0" err="1">
                <a:latin typeface="Arial" panose="020B0604020202020204" pitchFamily="34" charset="0"/>
              </a:rPr>
              <a:t>Is</a:t>
            </a:r>
            <a:r>
              <a:rPr kumimoji="0" lang="ko-KR" altLang="ko-KR" dirty="0">
                <a:latin typeface="Arial" panose="020B0604020202020204" pitchFamily="34" charset="0"/>
              </a:rPr>
              <a:t> </a:t>
            </a:r>
            <a:r>
              <a:rPr kumimoji="0" lang="ko-KR" altLang="ko-KR" dirty="0" err="1">
                <a:latin typeface="Arial" panose="020B0604020202020204" pitchFamily="34" charset="0"/>
              </a:rPr>
              <a:t>What</a:t>
            </a:r>
            <a:r>
              <a:rPr kumimoji="0" lang="ko-KR" altLang="ko-KR" dirty="0">
                <a:latin typeface="Arial" panose="020B0604020202020204" pitchFamily="34" charset="0"/>
              </a:rPr>
              <a:t> </a:t>
            </a:r>
            <a:r>
              <a:rPr kumimoji="0" lang="ko-KR" altLang="ko-KR" dirty="0" err="1">
                <a:latin typeface="Arial" panose="020B0604020202020204" pitchFamily="34" charset="0"/>
              </a:rPr>
              <a:t>You</a:t>
            </a:r>
            <a:r>
              <a:rPr kumimoji="0" lang="ko-KR" altLang="ko-KR" dirty="0">
                <a:latin typeface="Arial" panose="020B0604020202020204" pitchFamily="34" charset="0"/>
              </a:rPr>
              <a:t> </a:t>
            </a:r>
            <a:r>
              <a:rPr kumimoji="0" lang="ko-KR" altLang="ko-KR" dirty="0" err="1">
                <a:latin typeface="Arial" panose="020B0604020202020204" pitchFamily="34" charset="0"/>
              </a:rPr>
              <a:t>Get</a:t>
            </a:r>
            <a:r>
              <a:rPr kumimoji="0" lang="ko-KR" altLang="ko-KR" dirty="0">
                <a:latin typeface="Arial" panose="020B0604020202020204" pitchFamily="34" charset="0"/>
              </a:rPr>
              <a:t>) 방식</a:t>
            </a:r>
            <a:endParaRPr kumimoji="0" lang="en-US" altLang="ko-KR" dirty="0">
              <a:latin typeface="Arial" panose="020B0604020202020204" pitchFamily="34" charset="0"/>
            </a:endParaRPr>
          </a:p>
          <a:p>
            <a:pPr lvl="1"/>
            <a:r>
              <a:rPr kumimoji="0" lang="ko-KR" altLang="ko-KR" dirty="0" err="1">
                <a:latin typeface="Arial" panose="020B0604020202020204" pitchFamily="34" charset="0"/>
              </a:rPr>
              <a:t>Drag</a:t>
            </a:r>
            <a:r>
              <a:rPr kumimoji="0" lang="ko-KR" altLang="ko-KR" dirty="0">
                <a:latin typeface="Arial" panose="020B0604020202020204" pitchFamily="34" charset="0"/>
              </a:rPr>
              <a:t> &amp; </a:t>
            </a:r>
            <a:r>
              <a:rPr kumimoji="0" lang="ko-KR" altLang="ko-KR" dirty="0" err="1">
                <a:latin typeface="Arial" panose="020B0604020202020204" pitchFamily="34" charset="0"/>
              </a:rPr>
              <a:t>Drop</a:t>
            </a:r>
            <a:r>
              <a:rPr kumimoji="0" lang="en-US" altLang="ko-KR" dirty="0">
                <a:latin typeface="Arial" panose="020B0604020202020204" pitchFamily="34" charset="0"/>
              </a:rPr>
              <a:t> : </a:t>
            </a:r>
            <a:r>
              <a:rPr kumimoji="0" lang="ko-KR" altLang="ko-KR" b="0" dirty="0">
                <a:latin typeface="Arial" panose="020B0604020202020204" pitchFamily="34" charset="0"/>
              </a:rPr>
              <a:t>위젯 박스에서 UI 요소를 끌어와 중앙 캔버스에 배치</a:t>
            </a:r>
            <a:r>
              <a:rPr kumimoji="0" lang="en-US" altLang="ko-KR" b="0" dirty="0">
                <a:latin typeface="Arial" panose="020B0604020202020204" pitchFamily="34" charset="0"/>
              </a:rPr>
              <a:t>, </a:t>
            </a:r>
            <a:r>
              <a:rPr kumimoji="0" lang="ko-KR" altLang="ko-KR" b="0" dirty="0" err="1">
                <a:latin typeface="Arial" panose="020B0604020202020204" pitchFamily="34" charset="0"/>
              </a:rPr>
              <a:t>속성창</a:t>
            </a:r>
            <a:r>
              <a:rPr kumimoji="0" lang="ko-KR" altLang="ko-KR" b="0" dirty="0">
                <a:latin typeface="Arial" panose="020B0604020202020204" pitchFamily="34" charset="0"/>
              </a:rPr>
              <a:t>(</a:t>
            </a:r>
            <a:r>
              <a:rPr kumimoji="0" lang="ko-KR" altLang="ko-KR" b="0" dirty="0" err="1">
                <a:latin typeface="Arial" panose="020B0604020202020204" pitchFamily="34" charset="0"/>
              </a:rPr>
              <a:t>Property</a:t>
            </a:r>
            <a:r>
              <a:rPr kumimoji="0" lang="ko-KR" altLang="ko-KR" b="0" dirty="0">
                <a:latin typeface="Arial" panose="020B0604020202020204" pitchFamily="34" charset="0"/>
              </a:rPr>
              <a:t> </a:t>
            </a:r>
            <a:r>
              <a:rPr kumimoji="0" lang="ko-KR" altLang="ko-KR" b="0" dirty="0" err="1">
                <a:latin typeface="Arial" panose="020B0604020202020204" pitchFamily="34" charset="0"/>
              </a:rPr>
              <a:t>Editor</a:t>
            </a:r>
            <a:r>
              <a:rPr kumimoji="0" lang="ko-KR" altLang="ko-KR" b="0" dirty="0">
                <a:latin typeface="Arial" panose="020B0604020202020204" pitchFamily="34" charset="0"/>
              </a:rPr>
              <a:t>)에서 </a:t>
            </a:r>
            <a:r>
              <a:rPr kumimoji="0" lang="ko-KR" altLang="en-US" b="0" dirty="0">
                <a:latin typeface="Arial" panose="020B0604020202020204" pitchFamily="34" charset="0"/>
              </a:rPr>
              <a:t>속성 </a:t>
            </a:r>
            <a:r>
              <a:rPr kumimoji="0" lang="ko-KR" altLang="ko-KR" b="0" dirty="0">
                <a:latin typeface="Arial" panose="020B0604020202020204" pitchFamily="34" charset="0"/>
              </a:rPr>
              <a:t>편집</a:t>
            </a:r>
            <a:endParaRPr kumimoji="0" lang="en-US" altLang="ko-KR" b="0" dirty="0">
              <a:latin typeface="Arial" panose="020B0604020202020204" pitchFamily="34" charset="0"/>
            </a:endParaRPr>
          </a:p>
          <a:p>
            <a:pPr lvl="1"/>
            <a:r>
              <a:rPr kumimoji="0" lang="ko-KR" altLang="ko-KR" dirty="0">
                <a:latin typeface="Arial" panose="020B0604020202020204" pitchFamily="34" charset="0"/>
              </a:rPr>
              <a:t>레이아웃 관리</a:t>
            </a:r>
            <a:r>
              <a:rPr kumimoji="0" lang="en-US" altLang="ko-KR" dirty="0">
                <a:latin typeface="Arial" panose="020B0604020202020204" pitchFamily="34" charset="0"/>
              </a:rPr>
              <a:t> : </a:t>
            </a:r>
            <a:r>
              <a:rPr kumimoji="0" lang="ko-KR" altLang="ko-KR" b="0" dirty="0" err="1">
                <a:latin typeface="Arial" panose="020B0604020202020204" pitchFamily="34" charset="0"/>
              </a:rPr>
              <a:t>Vertical</a:t>
            </a:r>
            <a:r>
              <a:rPr kumimoji="0" lang="ko-KR" altLang="ko-KR" b="0" dirty="0">
                <a:latin typeface="Arial" panose="020B0604020202020204" pitchFamily="34" charset="0"/>
              </a:rPr>
              <a:t>, </a:t>
            </a:r>
            <a:r>
              <a:rPr kumimoji="0" lang="ko-KR" altLang="ko-KR" b="0" dirty="0" err="1">
                <a:latin typeface="Arial" panose="020B0604020202020204" pitchFamily="34" charset="0"/>
              </a:rPr>
              <a:t>Horizontal</a:t>
            </a:r>
            <a:r>
              <a:rPr kumimoji="0" lang="ko-KR" altLang="ko-KR" b="0" dirty="0">
                <a:latin typeface="Arial" panose="020B0604020202020204" pitchFamily="34" charset="0"/>
              </a:rPr>
              <a:t>, </a:t>
            </a:r>
            <a:r>
              <a:rPr kumimoji="0" lang="ko-KR" altLang="ko-KR" b="0" dirty="0" err="1">
                <a:latin typeface="Arial" panose="020B0604020202020204" pitchFamily="34" charset="0"/>
              </a:rPr>
              <a:t>Grid</a:t>
            </a:r>
            <a:r>
              <a:rPr kumimoji="0" lang="ko-KR" altLang="ko-KR" b="0" dirty="0">
                <a:latin typeface="Arial" panose="020B0604020202020204" pitchFamily="34" charset="0"/>
              </a:rPr>
              <a:t> </a:t>
            </a:r>
            <a:r>
              <a:rPr kumimoji="0" lang="ko-KR" altLang="ko-KR" b="0" dirty="0" err="1">
                <a:latin typeface="Arial" panose="020B0604020202020204" pitchFamily="34" charset="0"/>
              </a:rPr>
              <a:t>Layout</a:t>
            </a:r>
            <a:r>
              <a:rPr kumimoji="0" lang="ko-KR" altLang="ko-KR" b="0" dirty="0">
                <a:latin typeface="Arial" panose="020B0604020202020204" pitchFamily="34" charset="0"/>
              </a:rPr>
              <a:t> 등 지원</a:t>
            </a:r>
            <a:endParaRPr kumimoji="0" lang="en-US" altLang="ko-KR" b="0" dirty="0">
              <a:latin typeface="Arial" panose="020B0604020202020204" pitchFamily="34" charset="0"/>
            </a:endParaRPr>
          </a:p>
          <a:p>
            <a:pPr lvl="1"/>
            <a:r>
              <a:rPr kumimoji="0" lang="ko-KR" altLang="ko-KR" dirty="0" err="1">
                <a:latin typeface="Arial" panose="020B0604020202020204" pitchFamily="34" charset="0"/>
              </a:rPr>
              <a:t>Signal</a:t>
            </a:r>
            <a:r>
              <a:rPr kumimoji="0" lang="ko-KR" altLang="ko-KR" dirty="0">
                <a:latin typeface="Arial" panose="020B0604020202020204" pitchFamily="34" charset="0"/>
              </a:rPr>
              <a:t> &amp; </a:t>
            </a:r>
            <a:r>
              <a:rPr kumimoji="0" lang="ko-KR" altLang="ko-KR" dirty="0" err="1">
                <a:latin typeface="Arial" panose="020B0604020202020204" pitchFamily="34" charset="0"/>
              </a:rPr>
              <a:t>Slot</a:t>
            </a:r>
            <a:r>
              <a:rPr kumimoji="0" lang="ko-KR" altLang="ko-KR" dirty="0">
                <a:latin typeface="Arial" panose="020B0604020202020204" pitchFamily="34" charset="0"/>
              </a:rPr>
              <a:t> 연결</a:t>
            </a:r>
            <a:r>
              <a:rPr kumimoji="0" lang="en-US" altLang="ko-KR" dirty="0">
                <a:latin typeface="Arial" panose="020B0604020202020204" pitchFamily="34" charset="0"/>
              </a:rPr>
              <a:t> : </a:t>
            </a:r>
            <a:r>
              <a:rPr kumimoji="0" lang="ko-KR" altLang="ko-KR" b="0" dirty="0" err="1">
                <a:latin typeface="Arial" panose="020B0604020202020204" pitchFamily="34" charset="0"/>
              </a:rPr>
              <a:t>Qt</a:t>
            </a:r>
            <a:r>
              <a:rPr kumimoji="0" lang="ko-KR" altLang="ko-KR" b="0" dirty="0">
                <a:latin typeface="Arial" panose="020B0604020202020204" pitchFamily="34" charset="0"/>
              </a:rPr>
              <a:t> 이벤트 처리 시스템인 </a:t>
            </a:r>
            <a:r>
              <a:rPr kumimoji="0" lang="ko-KR" altLang="ko-KR" b="0" dirty="0" err="1">
                <a:latin typeface="Arial" panose="020B0604020202020204" pitchFamily="34" charset="0"/>
              </a:rPr>
              <a:t>Signal</a:t>
            </a:r>
            <a:r>
              <a:rPr kumimoji="0" lang="ko-KR" altLang="ko-KR" b="0" dirty="0">
                <a:latin typeface="Arial" panose="020B0604020202020204" pitchFamily="34" charset="0"/>
              </a:rPr>
              <a:t>/</a:t>
            </a:r>
            <a:r>
              <a:rPr kumimoji="0" lang="ko-KR" altLang="ko-KR" b="0" dirty="0" err="1">
                <a:latin typeface="Arial" panose="020B0604020202020204" pitchFamily="34" charset="0"/>
              </a:rPr>
              <a:t>Slot을</a:t>
            </a:r>
            <a:r>
              <a:rPr kumimoji="0" lang="ko-KR" altLang="ko-KR" b="0" dirty="0">
                <a:latin typeface="Arial" panose="020B0604020202020204" pitchFamily="34" charset="0"/>
              </a:rPr>
              <a:t> 시각적 연결</a:t>
            </a:r>
            <a:endParaRPr kumimoji="0" lang="en-US" altLang="ko-KR" b="0" dirty="0">
              <a:latin typeface="Arial" panose="020B0604020202020204" pitchFamily="34" charset="0"/>
            </a:endParaRPr>
          </a:p>
          <a:p>
            <a:pPr lvl="1"/>
            <a:r>
              <a:rPr kumimoji="0" lang="ko-KR" altLang="ko-KR" dirty="0">
                <a:latin typeface="Arial" panose="020B0604020202020204" pitchFamily="34" charset="0"/>
              </a:rPr>
              <a:t>.</a:t>
            </a:r>
            <a:r>
              <a:rPr kumimoji="0" lang="ko-KR" altLang="ko-KR" dirty="0" err="1">
                <a:latin typeface="Arial" panose="020B0604020202020204" pitchFamily="34" charset="0"/>
              </a:rPr>
              <a:t>ui</a:t>
            </a:r>
            <a:r>
              <a:rPr kumimoji="0" lang="ko-KR" altLang="ko-KR" dirty="0">
                <a:latin typeface="Arial" panose="020B0604020202020204" pitchFamily="34" charset="0"/>
              </a:rPr>
              <a:t> 파일 생성</a:t>
            </a:r>
            <a:r>
              <a:rPr kumimoji="0" lang="en-US" altLang="ko-KR" dirty="0">
                <a:latin typeface="Arial" panose="020B0604020202020204" pitchFamily="34" charset="0"/>
              </a:rPr>
              <a:t> : </a:t>
            </a:r>
            <a:r>
              <a:rPr kumimoji="0" lang="ko-KR" altLang="ko-KR" b="0" dirty="0" err="1">
                <a:latin typeface="Arial" panose="020B0604020202020204" pitchFamily="34" charset="0"/>
              </a:rPr>
              <a:t>Designer에서</a:t>
            </a:r>
            <a:r>
              <a:rPr kumimoji="0" lang="ko-KR" altLang="ko-KR" b="0" dirty="0">
                <a:latin typeface="Arial" panose="020B0604020202020204" pitchFamily="34" charset="0"/>
              </a:rPr>
              <a:t> 만든 </a:t>
            </a:r>
            <a:r>
              <a:rPr kumimoji="0" lang="ko-KR" altLang="ko-KR" b="0" dirty="0" err="1">
                <a:latin typeface="Arial" panose="020B0604020202020204" pitchFamily="34" charset="0"/>
              </a:rPr>
              <a:t>UI는</a:t>
            </a:r>
            <a:r>
              <a:rPr kumimoji="0" lang="ko-KR" altLang="ko-KR" b="0" dirty="0">
                <a:latin typeface="Arial" panose="020B0604020202020204" pitchFamily="34" charset="0"/>
              </a:rPr>
              <a:t> </a:t>
            </a:r>
            <a:r>
              <a:rPr kumimoji="0" lang="ko-KR" altLang="ko-KR" sz="1100" b="0" dirty="0">
                <a:latin typeface="Arial Unicode MS"/>
              </a:rPr>
              <a:t>.</a:t>
            </a:r>
            <a:r>
              <a:rPr kumimoji="0" lang="ko-KR" altLang="ko-KR" b="0" dirty="0" err="1">
                <a:latin typeface="Arial Unicode MS"/>
              </a:rPr>
              <a:t>ui</a:t>
            </a:r>
            <a:r>
              <a:rPr kumimoji="0" lang="ko-KR" altLang="ko-KR" b="0" dirty="0"/>
              <a:t> 파일(XML 형식)로 저장</a:t>
            </a:r>
            <a:r>
              <a:rPr kumimoji="0" lang="en-US" altLang="ko-KR" b="0" dirty="0"/>
              <a:t>, </a:t>
            </a:r>
            <a:r>
              <a:rPr kumimoji="0" lang="ko-KR" altLang="ko-KR" b="0" dirty="0">
                <a:latin typeface="Arial Unicode MS"/>
              </a:rPr>
              <a:t>pyside2-uic</a:t>
            </a:r>
            <a:r>
              <a:rPr kumimoji="0" lang="ko-KR" altLang="ko-KR" b="0" dirty="0"/>
              <a:t> / </a:t>
            </a:r>
            <a:r>
              <a:rPr kumimoji="0" lang="ko-KR" altLang="ko-KR" b="0" dirty="0">
                <a:latin typeface="Arial Unicode MS"/>
              </a:rPr>
              <a:t>pyuic5</a:t>
            </a:r>
            <a:r>
              <a:rPr kumimoji="0" lang="ko-KR" altLang="ko-KR" b="0" dirty="0"/>
              <a:t>로 </a:t>
            </a:r>
            <a:r>
              <a:rPr kumimoji="0" lang="ko-KR" altLang="ko-KR" b="0" dirty="0" err="1"/>
              <a:t>Python</a:t>
            </a:r>
            <a:r>
              <a:rPr kumimoji="0" lang="ko-KR" altLang="ko-KR" b="0" dirty="0"/>
              <a:t> 코드(.</a:t>
            </a:r>
            <a:r>
              <a:rPr kumimoji="0" lang="ko-KR" altLang="ko-KR" b="0" dirty="0" err="1"/>
              <a:t>py</a:t>
            </a:r>
            <a:r>
              <a:rPr kumimoji="0" lang="ko-KR" altLang="ko-KR" b="0" dirty="0"/>
              <a:t>)로 변환 가능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996C7C-254D-88B3-97BC-F58FBB4979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61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51924876"/>
      </p:ext>
    </p:extLst>
  </p:cSld>
  <p:clrMapOvr>
    <a:masterClrMapping/>
  </p:clrMapOvr>
  <p:transition>
    <p:diamond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2FE48-552E-54DE-2B49-07A3EE732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85926A-2536-92CA-0966-F32D922AD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Qt</a:t>
            </a:r>
            <a:r>
              <a:rPr lang="ko-KR" altLang="en-US" dirty="0"/>
              <a:t> </a:t>
            </a:r>
            <a:r>
              <a:rPr lang="en-US" altLang="ko-KR" dirty="0"/>
              <a:t>Designer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5C2F97-E6AD-58A0-879D-B92FEDEFB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Qt Designer </a:t>
            </a:r>
            <a:r>
              <a:rPr lang="ko-KR" altLang="en-US" dirty="0"/>
              <a:t>설치</a:t>
            </a:r>
            <a:endParaRPr lang="en-US" altLang="ko-KR" dirty="0"/>
          </a:p>
          <a:p>
            <a:pPr lvl="1"/>
            <a:r>
              <a:rPr lang="en-US" altLang="ko-KR" dirty="0" err="1"/>
              <a:t>sudo</a:t>
            </a:r>
            <a:r>
              <a:rPr lang="en-US" altLang="ko-KR" dirty="0"/>
              <a:t> apt install qttools5-dev-tools qt5-qmake qtbase5-dev</a:t>
            </a:r>
          </a:p>
          <a:p>
            <a:pPr lvl="2">
              <a:lnSpc>
                <a:spcPct val="110000"/>
              </a:lnSpc>
            </a:pPr>
            <a:r>
              <a:rPr lang="en-US" altLang="ko-KR" dirty="0"/>
              <a:t>qttools5-dev-tools </a:t>
            </a:r>
            <a:r>
              <a:rPr lang="en-US" altLang="ko-KR" dirty="0">
                <a:sym typeface="Wingdings" panose="05000000000000000000" pitchFamily="2" charset="2"/>
              </a:rPr>
              <a:t> Qt Designer </a:t>
            </a:r>
            <a:r>
              <a:rPr lang="ko-KR" altLang="en-US" dirty="0">
                <a:sym typeface="Wingdings" panose="05000000000000000000" pitchFamily="2" charset="2"/>
              </a:rPr>
              <a:t>실행 파일 포함</a:t>
            </a:r>
            <a:endParaRPr lang="en-US" altLang="ko-KR" dirty="0"/>
          </a:p>
          <a:p>
            <a:pPr lvl="2">
              <a:lnSpc>
                <a:spcPct val="110000"/>
              </a:lnSpc>
            </a:pPr>
            <a:r>
              <a:rPr lang="en-US" altLang="ko-KR" dirty="0"/>
              <a:t>qt5-qmake </a:t>
            </a:r>
            <a:r>
              <a:rPr lang="en-US" altLang="ko-KR" dirty="0">
                <a:sym typeface="Wingdings" panose="05000000000000000000" pitchFamily="2" charset="2"/>
              </a:rPr>
              <a:t> Qt  </a:t>
            </a:r>
            <a:r>
              <a:rPr lang="ko-KR" altLang="en-US" dirty="0">
                <a:sym typeface="Wingdings" panose="05000000000000000000" pitchFamily="2" charset="2"/>
              </a:rPr>
              <a:t>프로젝트 빌드용</a:t>
            </a:r>
            <a:endParaRPr lang="en-US" altLang="ko-KR" dirty="0"/>
          </a:p>
          <a:p>
            <a:pPr lvl="2">
              <a:lnSpc>
                <a:spcPct val="110000"/>
              </a:lnSpc>
            </a:pPr>
            <a:r>
              <a:rPr lang="en-US" altLang="ko-KR" dirty="0"/>
              <a:t>qtbase5-dev </a:t>
            </a:r>
            <a:r>
              <a:rPr lang="en-US" altLang="ko-KR" dirty="0">
                <a:sym typeface="Wingdings" panose="05000000000000000000" pitchFamily="2" charset="2"/>
              </a:rPr>
              <a:t> Qt </a:t>
            </a:r>
            <a:r>
              <a:rPr lang="ko-KR" altLang="en-US" dirty="0">
                <a:sym typeface="Wingdings" panose="05000000000000000000" pitchFamily="2" charset="2"/>
              </a:rPr>
              <a:t>개발 기본 라이브러리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/>
              <a:t> </a:t>
            </a:r>
            <a:r>
              <a:rPr lang="en-US" altLang="ko-KR" dirty="0"/>
              <a:t>Qt</a:t>
            </a:r>
            <a:r>
              <a:rPr lang="ko-KR" altLang="en-US" dirty="0"/>
              <a:t> </a:t>
            </a:r>
            <a:r>
              <a:rPr lang="en-US" altLang="ko-KR" dirty="0"/>
              <a:t>Designer</a:t>
            </a:r>
            <a:r>
              <a:rPr lang="ko-KR" altLang="en-US" dirty="0"/>
              <a:t> 실행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48D730-C419-0AC0-38C1-9A54E2FA3B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62</a:t>
            </a:fld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B997CFC-1361-6B58-9182-4E0A2D931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524" y="3087432"/>
            <a:ext cx="6980952" cy="15904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4BAEC07-41C7-ECBE-CAAC-94AA0E0A2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524" y="5192256"/>
            <a:ext cx="7028571" cy="1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675784"/>
      </p:ext>
    </p:extLst>
  </p:cSld>
  <p:clrMapOvr>
    <a:masterClrMapping/>
  </p:clrMapOvr>
  <p:transition>
    <p:diamond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2B94C-7614-857F-A529-10E8E51B9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E7B81-3564-8C39-CFB3-A7B10CA92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Qt</a:t>
            </a:r>
            <a:r>
              <a:rPr lang="ko-KR" altLang="en-US" dirty="0"/>
              <a:t> </a:t>
            </a:r>
            <a:r>
              <a:rPr lang="en-US" altLang="ko-KR" dirty="0"/>
              <a:t>Designer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6A10AA-48FA-EFAC-D35D-D9E0926622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63</a:t>
            </a:fld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BB1F01C-832D-EAB2-A876-56FF107D1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047852"/>
            <a:ext cx="8352928" cy="538646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84261986"/>
      </p:ext>
    </p:extLst>
  </p:cSld>
  <p:clrMapOvr>
    <a:masterClrMapping/>
  </p:clrMapOvr>
  <p:transition>
    <p:diamond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75E89-7F13-7069-F6CF-DD0A3DF73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3C2500-65F7-B1BC-5F37-AB012B919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10] Qt</a:t>
            </a:r>
            <a:r>
              <a:rPr lang="ko-KR" altLang="en-US" dirty="0"/>
              <a:t> </a:t>
            </a:r>
            <a:r>
              <a:rPr lang="en-US" altLang="ko-KR" dirty="0"/>
              <a:t>Designer </a:t>
            </a:r>
            <a:r>
              <a:rPr lang="ko-KR" altLang="en-US" dirty="0"/>
              <a:t>활용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19C9BB1-98C0-9C8A-D0E4-905B1C2D8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templates/forms </a:t>
            </a:r>
            <a:r>
              <a:rPr lang="ko-KR" altLang="en-US" dirty="0"/>
              <a:t>선택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sym typeface="Wingdings" panose="05000000000000000000" pitchFamily="2" charset="2"/>
              </a:rPr>
              <a:t>MainWindow</a:t>
            </a:r>
            <a:r>
              <a:rPr lang="ko-KR" altLang="en-US" dirty="0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11001E-6E2A-16E1-CE41-6A2EDA1BA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64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AAA95DB-A7BC-C66E-F9ED-8F48380EE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1700808"/>
            <a:ext cx="5038095" cy="44000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502F637-1564-2372-E0D6-F70D02E93FF4}"/>
              </a:ext>
            </a:extLst>
          </p:cNvPr>
          <p:cNvSpPr/>
          <p:nvPr/>
        </p:nvSpPr>
        <p:spPr>
          <a:xfrm>
            <a:off x="1979712" y="2852936"/>
            <a:ext cx="1800200" cy="21602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7D986AD-9D7C-5994-8E9F-B83487DEAEC5}"/>
              </a:ext>
            </a:extLst>
          </p:cNvPr>
          <p:cNvSpPr/>
          <p:nvPr/>
        </p:nvSpPr>
        <p:spPr>
          <a:xfrm>
            <a:off x="6068934" y="5731968"/>
            <a:ext cx="825794" cy="33189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61741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E0F66-779F-75C3-15ED-11B39E13A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C50F9B-9377-F23A-8106-F928039C7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10] Qt</a:t>
            </a:r>
            <a:r>
              <a:rPr lang="ko-KR" altLang="en-US" dirty="0"/>
              <a:t> </a:t>
            </a:r>
            <a:r>
              <a:rPr lang="en-US" altLang="ko-KR" dirty="0"/>
              <a:t>Designer </a:t>
            </a:r>
            <a:r>
              <a:rPr lang="ko-KR" altLang="en-US" dirty="0"/>
              <a:t>활용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169952-4AE6-09D0-4642-6241CFF83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QMainWindow</a:t>
            </a:r>
            <a:r>
              <a:rPr lang="ko-KR" altLang="en-US" dirty="0"/>
              <a:t>의 속성 지정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8E78AF-E750-7D94-5552-86305E0B9F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65</a:t>
            </a:fld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72157CF-99C7-5AE7-3360-C6A603CD5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45" y="1484784"/>
            <a:ext cx="4533333" cy="501904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8CA21828-2A63-A4C9-9D5F-A90B3B18C01D}"/>
              </a:ext>
            </a:extLst>
          </p:cNvPr>
          <p:cNvSpPr/>
          <p:nvPr/>
        </p:nvSpPr>
        <p:spPr>
          <a:xfrm>
            <a:off x="511844" y="2276873"/>
            <a:ext cx="4426907" cy="2880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E307A69-9358-BEEF-1466-82D0B2A97B86}"/>
              </a:ext>
            </a:extLst>
          </p:cNvPr>
          <p:cNvSpPr/>
          <p:nvPr/>
        </p:nvSpPr>
        <p:spPr>
          <a:xfrm>
            <a:off x="511844" y="4432424"/>
            <a:ext cx="4426907" cy="122882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8494A26-101A-83DC-0BC4-A146B1ECF3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5677" y="1484784"/>
            <a:ext cx="3526481" cy="302269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D8D45BE9-8666-8B38-C1BF-FDA95C923D6A}"/>
              </a:ext>
            </a:extLst>
          </p:cNvPr>
          <p:cNvCxnSpPr/>
          <p:nvPr/>
        </p:nvCxnSpPr>
        <p:spPr>
          <a:xfrm>
            <a:off x="5508104" y="2924944"/>
            <a:ext cx="2448272" cy="0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640DAAE-FBF0-2798-888D-062767DD4556}"/>
              </a:ext>
            </a:extLst>
          </p:cNvPr>
          <p:cNvCxnSpPr>
            <a:cxnSpLocks/>
          </p:cNvCxnSpPr>
          <p:nvPr/>
        </p:nvCxnSpPr>
        <p:spPr>
          <a:xfrm flipV="1">
            <a:off x="5660504" y="2420889"/>
            <a:ext cx="0" cy="1656183"/>
          </a:xfrm>
          <a:prstGeom prst="straightConnector1">
            <a:avLst/>
          </a:prstGeom>
          <a:ln w="381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B332012-62A6-66FC-20A1-593C37CFA7C6}"/>
              </a:ext>
            </a:extLst>
          </p:cNvPr>
          <p:cNvSpPr txBox="1"/>
          <p:nvPr/>
        </p:nvSpPr>
        <p:spPr>
          <a:xfrm>
            <a:off x="7308304" y="2965084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300</a:t>
            </a:r>
            <a:endParaRPr lang="ko-KR" altLang="en-US" sz="14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3B1328-AEE6-9454-6643-CD97B844F5BC}"/>
              </a:ext>
            </a:extLst>
          </p:cNvPr>
          <p:cNvSpPr txBox="1"/>
          <p:nvPr/>
        </p:nvSpPr>
        <p:spPr>
          <a:xfrm>
            <a:off x="5660504" y="3428654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200</a:t>
            </a:r>
            <a:endParaRPr lang="ko-KR" altLang="en-US" sz="140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3855941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9" grpId="0"/>
      <p:bldP spid="20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E3506-A2DD-7C27-D975-417787A70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C48FDC-A397-6FA9-1322-968D6DB99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10] Qt</a:t>
            </a:r>
            <a:r>
              <a:rPr lang="ko-KR" altLang="en-US" dirty="0"/>
              <a:t> </a:t>
            </a:r>
            <a:r>
              <a:rPr lang="en-US" altLang="ko-KR" dirty="0"/>
              <a:t>Designer </a:t>
            </a:r>
            <a:r>
              <a:rPr lang="ko-KR" altLang="en-US" dirty="0"/>
              <a:t>활용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46525A3-7C73-FC11-C03A-22E22B3C3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위젯</a:t>
            </a:r>
            <a:r>
              <a:rPr lang="en-US" altLang="ko-KR" dirty="0"/>
              <a:t> </a:t>
            </a:r>
            <a:r>
              <a:rPr lang="ko-KR" altLang="en-US" dirty="0"/>
              <a:t>추가 </a:t>
            </a:r>
            <a:r>
              <a:rPr lang="en-US" altLang="ko-KR" dirty="0">
                <a:sym typeface="Wingdings" panose="05000000000000000000" pitchFamily="2" charset="2"/>
              </a:rPr>
              <a:t> Drag &amp; Drop</a:t>
            </a:r>
            <a:endParaRPr lang="en-US" altLang="ko-KR" dirty="0"/>
          </a:p>
          <a:p>
            <a:pPr lvl="1"/>
            <a:r>
              <a:rPr lang="en-US" altLang="ko-KR" dirty="0"/>
              <a:t>Display</a:t>
            </a:r>
            <a:r>
              <a:rPr lang="ko-KR" altLang="en-US" dirty="0"/>
              <a:t> </a:t>
            </a:r>
            <a:r>
              <a:rPr lang="en-US" altLang="ko-KR" dirty="0"/>
              <a:t>Widgets </a:t>
            </a:r>
            <a:r>
              <a:rPr lang="en-US" altLang="ko-KR" dirty="0">
                <a:sym typeface="Wingdings" panose="05000000000000000000" pitchFamily="2" charset="2"/>
              </a:rPr>
              <a:t> Label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Input Widgets  </a:t>
            </a:r>
            <a:r>
              <a:rPr lang="en-US" altLang="ko-KR" dirty="0" err="1">
                <a:sym typeface="Wingdings" panose="05000000000000000000" pitchFamily="2" charset="2"/>
              </a:rPr>
              <a:t>LineEdit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78FDA1-38E3-7663-FA93-444520C472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66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8438557-33D5-6A09-3114-2A432BBE0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396" y="1501718"/>
            <a:ext cx="4758760" cy="466358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D410913-B39A-E7A9-7DBD-EBDF09886FC7}"/>
              </a:ext>
            </a:extLst>
          </p:cNvPr>
          <p:cNvSpPr/>
          <p:nvPr/>
        </p:nvSpPr>
        <p:spPr>
          <a:xfrm>
            <a:off x="4067944" y="5661248"/>
            <a:ext cx="1368152" cy="21567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31A2A1A-C479-C246-E0A9-1A3CAC9B26A0}"/>
              </a:ext>
            </a:extLst>
          </p:cNvPr>
          <p:cNvCxnSpPr>
            <a:stCxn id="7" idx="0"/>
          </p:cNvCxnSpPr>
          <p:nvPr/>
        </p:nvCxnSpPr>
        <p:spPr>
          <a:xfrm flipV="1">
            <a:off x="4752020" y="2708920"/>
            <a:ext cx="1116124" cy="295232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C04B43E-2F4B-D49A-5081-97B4F616CC75}"/>
              </a:ext>
            </a:extLst>
          </p:cNvPr>
          <p:cNvSpPr/>
          <p:nvPr/>
        </p:nvSpPr>
        <p:spPr>
          <a:xfrm>
            <a:off x="4067944" y="3595712"/>
            <a:ext cx="1368152" cy="21567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0FF7F037-9800-648A-C13C-18E72B58CF92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4752020" y="2996952"/>
            <a:ext cx="1260140" cy="59876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339103"/>
      </p:ext>
    </p:extLst>
  </p:cSld>
  <p:clrMapOvr>
    <a:masterClrMapping/>
  </p:clrMapOvr>
  <p:transition>
    <p:diamond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960FF-B5BE-A5B3-7D58-D6A80F8CD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803DF7-57D2-1280-3F77-19A3B4DDE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10] Qt</a:t>
            </a:r>
            <a:r>
              <a:rPr lang="ko-KR" altLang="en-US" dirty="0"/>
              <a:t> </a:t>
            </a:r>
            <a:r>
              <a:rPr lang="en-US" altLang="ko-KR" dirty="0"/>
              <a:t>Designer </a:t>
            </a:r>
            <a:r>
              <a:rPr lang="ko-KR" altLang="en-US" dirty="0"/>
              <a:t>활용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B454FA1-3707-457F-3299-E0E615D60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속성 설정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CEC247-1C41-3AFE-9CB3-09BB296269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67</a:t>
            </a:fld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0618FEF-EBD6-C866-23A3-DE49734654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642489"/>
              </p:ext>
            </p:extLst>
          </p:nvPr>
        </p:nvGraphicFramePr>
        <p:xfrm>
          <a:off x="395536" y="1916832"/>
          <a:ext cx="825624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2080">
                  <a:extLst>
                    <a:ext uri="{9D8B030D-6E8A-4147-A177-3AD203B41FA5}">
                      <a16:colId xmlns:a16="http://schemas.microsoft.com/office/drawing/2014/main" val="1054363500"/>
                    </a:ext>
                  </a:extLst>
                </a:gridCol>
                <a:gridCol w="2752080">
                  <a:extLst>
                    <a:ext uri="{9D8B030D-6E8A-4147-A177-3AD203B41FA5}">
                      <a16:colId xmlns:a16="http://schemas.microsoft.com/office/drawing/2014/main" val="1101360862"/>
                    </a:ext>
                  </a:extLst>
                </a:gridCol>
                <a:gridCol w="2752080">
                  <a:extLst>
                    <a:ext uri="{9D8B030D-6E8A-4147-A177-3AD203B41FA5}">
                      <a16:colId xmlns:a16="http://schemas.microsoft.com/office/drawing/2014/main" val="3779114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위젯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값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214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label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geometry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[(0,40),300x30]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9480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lineEdit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geometry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[(0.90).300x30]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093147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08793667-AFE7-A331-460C-90E2F5A11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992" y="3288872"/>
            <a:ext cx="4154240" cy="30158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69383064"/>
      </p:ext>
    </p:extLst>
  </p:cSld>
  <p:clrMapOvr>
    <a:masterClrMapping/>
  </p:clrMapOvr>
  <p:transition>
    <p:diamond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1A28E-BF57-74D5-0523-97C570D49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D57250-C0E1-84C9-8FA3-1EDFC36B1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10] Qt</a:t>
            </a:r>
            <a:r>
              <a:rPr lang="ko-KR" altLang="en-US" dirty="0"/>
              <a:t> </a:t>
            </a:r>
            <a:r>
              <a:rPr lang="en-US" altLang="ko-KR" dirty="0"/>
              <a:t>Designer </a:t>
            </a:r>
            <a:r>
              <a:rPr lang="ko-KR" altLang="en-US" dirty="0"/>
              <a:t>활용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6D24E18-909E-CEB5-FA71-A2D7645A7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Signal/Slot Editor</a:t>
            </a:r>
          </a:p>
          <a:p>
            <a:pPr lvl="1"/>
            <a:r>
              <a:rPr lang="en-US" altLang="ko-KR" dirty="0"/>
              <a:t>+ </a:t>
            </a:r>
            <a:r>
              <a:rPr lang="ko-KR" altLang="en-US" dirty="0"/>
              <a:t>클릭하여 새로운 </a:t>
            </a:r>
            <a:r>
              <a:rPr lang="en-US" altLang="ko-KR" dirty="0"/>
              <a:t>Signal/Slot </a:t>
            </a:r>
            <a:r>
              <a:rPr lang="ko-KR" altLang="en-US" dirty="0"/>
              <a:t>추가</a:t>
            </a:r>
            <a:endParaRPr lang="en-US" altLang="ko-KR" dirty="0"/>
          </a:p>
          <a:p>
            <a:pPr lvl="1"/>
            <a:r>
              <a:rPr lang="ko-KR" altLang="en-US" dirty="0"/>
              <a:t>시그널</a:t>
            </a:r>
            <a:r>
              <a:rPr lang="en-US" altLang="ko-KR" dirty="0"/>
              <a:t>/</a:t>
            </a:r>
            <a:r>
              <a:rPr lang="ko-KR" altLang="en-US" dirty="0"/>
              <a:t>슬롯지정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각 영역 더블클릭 후 선택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5D79FD-6A90-BF5B-B8BC-797C52F787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68</a:t>
            </a:fld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0724CC4-740D-B7E6-B2DE-B4DEA8835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2468286"/>
            <a:ext cx="4104456" cy="209552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A8732D5-7728-85F5-8955-F6BC6CCA6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818" y="2468286"/>
            <a:ext cx="4078478" cy="211284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F41EFA3D-ADB5-F464-17D7-97F06ECA0368}"/>
              </a:ext>
            </a:extLst>
          </p:cNvPr>
          <p:cNvSpPr/>
          <p:nvPr/>
        </p:nvSpPr>
        <p:spPr>
          <a:xfrm>
            <a:off x="323528" y="2612302"/>
            <a:ext cx="504056" cy="43204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0C5E1F9-F1A3-7EA0-0705-0DBF1632AA7D}"/>
              </a:ext>
            </a:extLst>
          </p:cNvPr>
          <p:cNvSpPr/>
          <p:nvPr/>
        </p:nvSpPr>
        <p:spPr>
          <a:xfrm>
            <a:off x="4668818" y="3196750"/>
            <a:ext cx="4104456" cy="31591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89A1573-6398-6D0B-E30B-F8526730E5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28" y="4640199"/>
            <a:ext cx="4058664" cy="191300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BE22534-AE4E-5436-E426-720D54B1066F}"/>
              </a:ext>
            </a:extLst>
          </p:cNvPr>
          <p:cNvSpPr/>
          <p:nvPr/>
        </p:nvSpPr>
        <p:spPr>
          <a:xfrm>
            <a:off x="306925" y="5343481"/>
            <a:ext cx="3793822" cy="31591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EF74F3-930B-B33F-1336-73FA8E75B4B0}"/>
              </a:ext>
            </a:extLst>
          </p:cNvPr>
          <p:cNvSpPr txBox="1"/>
          <p:nvPr/>
        </p:nvSpPr>
        <p:spPr>
          <a:xfrm>
            <a:off x="4729658" y="5058090"/>
            <a:ext cx="3225114" cy="107721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144000" indent="-14400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Sender</a:t>
            </a:r>
            <a:r>
              <a:rPr lang="ko-KR" altLang="en-US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lineEdit</a:t>
            </a:r>
            <a:endParaRPr lang="en-US" altLang="ko-KR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Signal  </a:t>
            </a:r>
            <a:r>
              <a:rPr lang="en-US" altLang="ko-KR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textChanged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(</a:t>
            </a:r>
            <a:r>
              <a:rPr lang="en-US" altLang="ko-KR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Qstring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)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Receiver  label</a:t>
            </a:r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Slot  </a:t>
            </a:r>
            <a:r>
              <a:rPr lang="en-US" altLang="ko-KR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setText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(</a:t>
            </a:r>
            <a:r>
              <a:rPr lang="en-US" altLang="ko-KR" dirty="0" err="1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Qstring</a:t>
            </a:r>
            <a:r>
              <a:rPr lang="en-US" altLang="ko-KR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)</a:t>
            </a:r>
            <a:endParaRPr lang="ko-KR" altLang="en-US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5436874"/>
      </p:ext>
    </p:extLst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5" grpId="0" animBg="1"/>
      <p:bldP spid="1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684D7-A44B-3561-2D2C-FDD668BD4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DFBD9F-8D9E-F2BF-A858-2BF0E99BB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10] Qt</a:t>
            </a:r>
            <a:r>
              <a:rPr lang="ko-KR" altLang="en-US" dirty="0"/>
              <a:t> </a:t>
            </a:r>
            <a:r>
              <a:rPr lang="en-US" altLang="ko-KR" dirty="0"/>
              <a:t>Designer </a:t>
            </a:r>
            <a:r>
              <a:rPr lang="ko-KR" altLang="en-US" dirty="0"/>
              <a:t>활용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54F193-5B74-CFE8-6201-C2C332C85F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69</a:t>
            </a:fld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0322B7-412D-26B4-FA23-671CF17E1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[File] – [Save As …] </a:t>
            </a:r>
            <a:r>
              <a:rPr lang="en-US" altLang="ko-KR" dirty="0">
                <a:sym typeface="Wingdings" panose="05000000000000000000" pitchFamily="2" charset="2"/>
              </a:rPr>
              <a:t> _10_hello.ui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BA88380-BEBD-4288-78B7-39B5E1740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826" y="1838409"/>
            <a:ext cx="5628571" cy="405714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20505563"/>
      </p:ext>
    </p:extLst>
  </p:cSld>
  <p:clrMapOvr>
    <a:masterClrMapping/>
  </p:clrMapOvr>
  <p:transition>
    <p:diamond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0814C-C5FA-1F13-9790-2252C9F03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B1BC05-BDDC-4F2C-6DDC-9F08D1A9A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10] Qt</a:t>
            </a:r>
            <a:r>
              <a:rPr lang="ko-KR" altLang="en-US" dirty="0"/>
              <a:t> </a:t>
            </a:r>
            <a:r>
              <a:rPr lang="en-US" altLang="ko-KR" dirty="0"/>
              <a:t>Designer </a:t>
            </a:r>
            <a:r>
              <a:rPr lang="ko-KR" altLang="en-US" dirty="0"/>
              <a:t>활용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840E8E-DE36-8859-0800-64E57182F5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70</a:t>
            </a:fld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3EAC3D-85D2-3931-7852-39D0CE753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[Form] – [Preview]</a:t>
            </a:r>
          </a:p>
          <a:p>
            <a:pPr lvl="1"/>
            <a:r>
              <a:rPr lang="en-US" altLang="ko-KR" dirty="0" err="1"/>
              <a:t>lineEdit</a:t>
            </a:r>
            <a:r>
              <a:rPr lang="ko-KR" altLang="en-US" dirty="0"/>
              <a:t>에 글을 입력하면</a:t>
            </a:r>
            <a:r>
              <a:rPr lang="en-US" altLang="ko-KR" dirty="0"/>
              <a:t>, label</a:t>
            </a:r>
            <a:r>
              <a:rPr lang="ko-KR" altLang="en-US" dirty="0"/>
              <a:t>에 반영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7DA083F-FA41-A66E-1A22-A95FEF41A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59" y="2420888"/>
            <a:ext cx="4320482" cy="32674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17567725"/>
      </p:ext>
    </p:extLst>
  </p:cSld>
  <p:clrMapOvr>
    <a:masterClrMapping/>
  </p:clrMapOvr>
  <p:transition>
    <p:diamond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A32BB-C6CB-B1C7-A22A-6A14BFD61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실습 </a:t>
            </a:r>
            <a:r>
              <a:rPr lang="en-US" altLang="ko-KR" dirty="0"/>
              <a:t>10] Qt</a:t>
            </a:r>
            <a:r>
              <a:rPr lang="ko-KR" altLang="en-US" dirty="0"/>
              <a:t> </a:t>
            </a:r>
            <a:r>
              <a:rPr lang="en-US" altLang="ko-KR" dirty="0"/>
              <a:t>Designer </a:t>
            </a:r>
            <a:r>
              <a:rPr lang="ko-KR" altLang="en-US" dirty="0"/>
              <a:t>활용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5DA70D-E6A1-D839-0B33-688DE4FCF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.</a:t>
            </a:r>
            <a:r>
              <a:rPr lang="en-US" altLang="ko-KR" dirty="0" err="1"/>
              <a:t>ui</a:t>
            </a:r>
            <a:r>
              <a:rPr lang="en-US" altLang="ko-KR" dirty="0"/>
              <a:t> </a:t>
            </a:r>
            <a:r>
              <a:rPr lang="ko-KR" altLang="en-US" dirty="0"/>
              <a:t>파일을 </a:t>
            </a:r>
            <a:r>
              <a:rPr lang="en-US" altLang="ko-KR" dirty="0"/>
              <a:t>.</a:t>
            </a:r>
            <a:r>
              <a:rPr lang="en-US" altLang="ko-KR" dirty="0" err="1"/>
              <a:t>py</a:t>
            </a:r>
            <a:r>
              <a:rPr lang="en-US" altLang="ko-KR" dirty="0"/>
              <a:t> </a:t>
            </a:r>
            <a:r>
              <a:rPr lang="ko-KR" altLang="en-US" dirty="0"/>
              <a:t>파일로 변환</a:t>
            </a:r>
            <a:endParaRPr lang="en-US" altLang="ko-KR" dirty="0"/>
          </a:p>
          <a:p>
            <a:pPr lvl="1"/>
            <a:r>
              <a:rPr lang="en-US" altLang="ko-KR" dirty="0"/>
              <a:t>pyside2-uic _10_hello.ui –o _10_hello.py</a:t>
            </a:r>
          </a:p>
          <a:p>
            <a:pPr lvl="1"/>
            <a:r>
              <a:rPr lang="ko-KR" altLang="en-US" dirty="0"/>
              <a:t>현재 </a:t>
            </a:r>
            <a:r>
              <a:rPr lang="en-US" altLang="ko-KR" dirty="0"/>
              <a:t>pyside2-uic</a:t>
            </a:r>
            <a:r>
              <a:rPr lang="ko-KR" altLang="en-US" dirty="0"/>
              <a:t>를 찾을 수 없으며</a:t>
            </a:r>
            <a:r>
              <a:rPr lang="en-US" altLang="ko-KR" dirty="0"/>
              <a:t>, </a:t>
            </a:r>
            <a:r>
              <a:rPr lang="ko-KR" altLang="en-US" dirty="0"/>
              <a:t>설치가 안되고 있음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EAED92-930A-83E8-256D-AD4DBEB5C0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71</a:t>
            </a:fld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762661D-4E35-0FB4-D413-FD5E8E25A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07" y="2708920"/>
            <a:ext cx="8375585" cy="46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359735"/>
      </p:ext>
    </p:extLst>
  </p:cSld>
  <p:clrMapOvr>
    <a:masterClrMapping/>
  </p:clrMapOvr>
  <p:transition>
    <p:diamond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38B64-33CE-7660-F9CC-53890254E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14AD4B-A4B0-BC06-1D6C-3468B001C5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2DF40-CD95-4196-B16C-EF23877BEF64}" type="slidenum">
              <a:rPr lang="en-US" altLang="ko-KR" smtClean="0"/>
              <a:pPr/>
              <a:t>72</a:t>
            </a:fld>
            <a:endParaRPr lang="en-US" altLang="ko-KR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22F92AA-D82A-62EB-3B90-CC323BCB5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730067"/>
              </p:ext>
            </p:extLst>
          </p:nvPr>
        </p:nvGraphicFramePr>
        <p:xfrm>
          <a:off x="179512" y="1124744"/>
          <a:ext cx="8784976" cy="4608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121784866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13832908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3531734669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3539157096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1473653026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842255805"/>
                    </a:ext>
                  </a:extLst>
                </a:gridCol>
              </a:tblGrid>
              <a:tr h="2304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뜻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뜻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1062996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brush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message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228967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callback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351085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canvas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pack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577906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central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paint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548539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command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pane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535439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connect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place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290627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designer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progress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30042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dialog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receiver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467581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draw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scale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20996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ellipse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scroll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388390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enable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sender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71378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entry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separator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1533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exclusive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signal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078770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frame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slot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645889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geometry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trace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593332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grid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trigger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406400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hide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visible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50640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import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weather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897453"/>
                  </a:ext>
                </a:extLst>
              </a:tr>
              <a:tr h="2304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label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548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532103"/>
      </p:ext>
    </p:extLst>
  </p:cSld>
  <p:clrMapOvr>
    <a:masterClrMapping/>
  </p:clrMapOvr>
  <p:transition>
    <p:diamond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05DB94-80DB-4181-EC88-E586933D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용어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7B75E5-CF9B-C501-369F-7BE5D8E8C7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73</a:t>
            </a:fld>
            <a:endParaRPr lang="en-US" altLang="ko-KR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AC25B24-1287-4F6B-E5AD-9D8E3A4EC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11707"/>
              </p:ext>
            </p:extLst>
          </p:nvPr>
        </p:nvGraphicFramePr>
        <p:xfrm>
          <a:off x="323528" y="1628800"/>
          <a:ext cx="8496944" cy="36003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1073875215"/>
                    </a:ext>
                  </a:extLst>
                </a:gridCol>
                <a:gridCol w="6624736">
                  <a:extLst>
                    <a:ext uri="{9D8B030D-6E8A-4147-A177-3AD203B41FA5}">
                      <a16:colId xmlns:a16="http://schemas.microsoft.com/office/drawing/2014/main" val="2460945009"/>
                    </a:ext>
                  </a:extLst>
                </a:gridCol>
              </a:tblGrid>
              <a:tr h="3000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836713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GUI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40442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callback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153367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event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910096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layout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373073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refresh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964151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shortcut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170422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Tkinter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629432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toggle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431310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url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007759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widget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100547"/>
                  </a:ext>
                </a:extLst>
              </a:tr>
              <a:tr h="3000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WYSIWYG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432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426209"/>
      </p:ext>
    </p:extLst>
  </p:cSld>
  <p:clrMapOvr>
    <a:masterClrMapping/>
  </p:clrMapOvr>
  <p:transition>
    <p:diamond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 응답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/>
              <a:t>No question, no learning !!!</a:t>
            </a:r>
          </a:p>
          <a:p>
            <a:pPr eaLnBrk="1" hangingPunct="1">
              <a:defRPr/>
            </a:pPr>
            <a:r>
              <a:rPr lang="en-US" altLang="ko-KR" dirty="0"/>
              <a:t>No dumb question !!!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here to be interrupted.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an interrupt-driven professor.</a:t>
            </a:r>
          </a:p>
          <a:p>
            <a:pPr eaLnBrk="1" hangingPunct="1">
              <a:defRPr/>
            </a:pPr>
            <a:r>
              <a:rPr lang="en-US" altLang="ko-KR" dirty="0"/>
              <a:t>I teach less, </a:t>
            </a:r>
            <a:r>
              <a:rPr lang="en-US" altLang="ko-KR"/>
              <a:t>students learn more.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74</a:t>
            </a:fld>
            <a:endParaRPr lang="en-US" altLang="ko-KR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3714750"/>
            <a:ext cx="27527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055139"/>
      </p:ext>
    </p:extLst>
  </p:cSld>
  <p:clrMapOvr>
    <a:masterClrMapping/>
  </p:clrMapOvr>
  <p:transition>
    <p:diamond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A153B4-1AFF-4DF8-C275-2F3FF76B5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기말고사 출제유형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52ACE5-1CA5-C44B-7326-2FB53B260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영어단어 </a:t>
            </a:r>
            <a:r>
              <a:rPr lang="en-US" altLang="ko-KR" dirty="0"/>
              <a:t>(20</a:t>
            </a:r>
            <a:r>
              <a:rPr lang="ko-KR" altLang="en-US" dirty="0"/>
              <a:t>문항 각</a:t>
            </a:r>
            <a:r>
              <a:rPr lang="en-US" altLang="ko-KR" dirty="0"/>
              <a:t>1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강의록의 마지막 </a:t>
            </a:r>
            <a:r>
              <a:rPr lang="en-US" altLang="ko-KR" dirty="0"/>
              <a:t>“</a:t>
            </a:r>
            <a:r>
              <a:rPr lang="ko-KR" altLang="en-US" dirty="0"/>
              <a:t>단어</a:t>
            </a:r>
            <a:r>
              <a:rPr lang="en-US" altLang="ko-KR" dirty="0"/>
              <a:t>＂</a:t>
            </a:r>
            <a:r>
              <a:rPr lang="ko-KR" altLang="en-US" dirty="0"/>
              <a:t>에 기술된 것 중에서 선택</a:t>
            </a:r>
            <a:endParaRPr lang="en-US" altLang="ko-KR" dirty="0"/>
          </a:p>
          <a:p>
            <a:r>
              <a:rPr lang="ko-KR" altLang="en-US" dirty="0"/>
              <a:t>용어 </a:t>
            </a:r>
            <a:r>
              <a:rPr lang="en-US" altLang="ko-KR" dirty="0"/>
              <a:t>(10</a:t>
            </a:r>
            <a:r>
              <a:rPr lang="ko-KR" altLang="en-US" dirty="0"/>
              <a:t>문항 각</a:t>
            </a:r>
            <a:r>
              <a:rPr lang="en-US" altLang="ko-KR" dirty="0"/>
              <a:t>4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강의록의 마지막 </a:t>
            </a:r>
            <a:r>
              <a:rPr lang="en-US" altLang="ko-KR" dirty="0"/>
              <a:t>“</a:t>
            </a:r>
            <a:r>
              <a:rPr lang="ko-KR" altLang="en-US" dirty="0"/>
              <a:t>용어</a:t>
            </a:r>
            <a:r>
              <a:rPr lang="en-US" altLang="ko-KR" dirty="0"/>
              <a:t>＂</a:t>
            </a:r>
            <a:r>
              <a:rPr lang="ko-KR" altLang="en-US" dirty="0"/>
              <a:t>에 기술된 것 중에서 선택</a:t>
            </a:r>
            <a:endParaRPr lang="en-US" altLang="ko-KR" dirty="0"/>
          </a:p>
          <a:p>
            <a:pPr lvl="1"/>
            <a:r>
              <a:rPr lang="en-US" altLang="ko-KR" dirty="0"/>
              <a:t>2~4</a:t>
            </a:r>
            <a:r>
              <a:rPr lang="ko-KR" altLang="en-US" dirty="0"/>
              <a:t>줄로 답안을 작성하며</a:t>
            </a:r>
            <a:r>
              <a:rPr lang="en-US" altLang="ko-KR" dirty="0"/>
              <a:t>, 1</a:t>
            </a:r>
            <a:r>
              <a:rPr lang="ko-KR" altLang="en-US" dirty="0"/>
              <a:t>줄로 작성한 경우 일부 감점</a:t>
            </a:r>
            <a:endParaRPr lang="en-US" altLang="ko-KR" dirty="0"/>
          </a:p>
          <a:p>
            <a:r>
              <a:rPr lang="ko-KR" altLang="en-US" dirty="0"/>
              <a:t>프로그래밍 </a:t>
            </a:r>
            <a:r>
              <a:rPr lang="en-US" altLang="ko-KR" dirty="0"/>
              <a:t>(4</a:t>
            </a:r>
            <a:r>
              <a:rPr lang="ko-KR" altLang="en-US" dirty="0"/>
              <a:t>문항 각 </a:t>
            </a:r>
            <a:r>
              <a:rPr lang="en-US" altLang="ko-KR" dirty="0"/>
              <a:t>10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(</a:t>
            </a:r>
            <a:r>
              <a:rPr lang="ko-KR" altLang="en-US" dirty="0"/>
              <a:t>설명</a:t>
            </a:r>
            <a:r>
              <a:rPr lang="en-US" altLang="ko-KR" dirty="0"/>
              <a:t>)Haar</a:t>
            </a:r>
            <a:r>
              <a:rPr lang="ko-KR" altLang="en-US" dirty="0"/>
              <a:t> 분류기</a:t>
            </a:r>
            <a:r>
              <a:rPr lang="en-US" altLang="ko-KR" dirty="0"/>
              <a:t> </a:t>
            </a:r>
            <a:r>
              <a:rPr lang="ko-KR" altLang="en-US" dirty="0"/>
              <a:t>적용 코드</a:t>
            </a:r>
            <a:endParaRPr lang="en-US" altLang="ko-KR" dirty="0"/>
          </a:p>
          <a:p>
            <a:pPr lvl="1"/>
            <a:r>
              <a:rPr lang="en-US" altLang="ko-KR" dirty="0"/>
              <a:t>(</a:t>
            </a:r>
            <a:r>
              <a:rPr lang="ko-KR" altLang="en-US" dirty="0"/>
              <a:t>완성</a:t>
            </a:r>
            <a:r>
              <a:rPr lang="en-US" altLang="ko-KR" dirty="0"/>
              <a:t>)</a:t>
            </a:r>
            <a:r>
              <a:rPr lang="ko-KR" altLang="en-US" dirty="0" err="1"/>
              <a:t>스틸컷</a:t>
            </a:r>
            <a:r>
              <a:rPr lang="ko-KR" altLang="en-US" dirty="0"/>
              <a:t> 저장 코드 완성하기</a:t>
            </a:r>
            <a:endParaRPr lang="en-US" altLang="ko-KR" dirty="0"/>
          </a:p>
          <a:p>
            <a:pPr lvl="1"/>
            <a:r>
              <a:rPr lang="en-US" altLang="ko-KR" dirty="0"/>
              <a:t>(</a:t>
            </a:r>
            <a:r>
              <a:rPr lang="ko-KR" altLang="en-US" dirty="0"/>
              <a:t>설명</a:t>
            </a:r>
            <a:r>
              <a:rPr lang="en-US" altLang="ko-KR" dirty="0"/>
              <a:t>)</a:t>
            </a:r>
            <a:r>
              <a:rPr lang="ko-KR" altLang="en-US" dirty="0"/>
              <a:t>한글 음성 인식하기</a:t>
            </a:r>
            <a:endParaRPr lang="en-US" altLang="ko-KR" dirty="0"/>
          </a:p>
          <a:p>
            <a:pPr lvl="1"/>
            <a:r>
              <a:rPr lang="en-US" altLang="ko-KR" dirty="0"/>
              <a:t>(</a:t>
            </a:r>
            <a:r>
              <a:rPr lang="ko-KR" altLang="en-US" dirty="0"/>
              <a:t>완성</a:t>
            </a:r>
            <a:r>
              <a:rPr lang="en-US" altLang="ko-KR" dirty="0"/>
              <a:t>) </a:t>
            </a:r>
            <a:r>
              <a:rPr lang="en-US" altLang="ko-KR" dirty="0" err="1"/>
              <a:t>QPushButton</a:t>
            </a:r>
            <a:r>
              <a:rPr lang="en-US" altLang="ko-KR" dirty="0"/>
              <a:t> </a:t>
            </a:r>
            <a:r>
              <a:rPr lang="ko-KR" altLang="en-US" dirty="0"/>
              <a:t>클래스</a:t>
            </a:r>
            <a:r>
              <a:rPr lang="en-US" altLang="ko-KR" dirty="0"/>
              <a:t> </a:t>
            </a:r>
            <a:r>
              <a:rPr lang="ko-KR" altLang="en-US"/>
              <a:t>작성 및 </a:t>
            </a:r>
            <a:r>
              <a:rPr lang="ko-KR" altLang="en-US" dirty="0"/>
              <a:t>실행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B22AA1-283C-FAE9-65D6-DF920260D3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59416098"/>
      </p:ext>
    </p:extLst>
  </p:cSld>
  <p:clrMapOvr>
    <a:masterClrMapping/>
  </p:clrMapOvr>
  <p:transition>
    <p:diamond/>
  </p:transition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41938</TotalTime>
  <Words>3043</Words>
  <Application>Microsoft Office PowerPoint</Application>
  <PresentationFormat>화면 슬라이드 쇼(4:3)</PresentationFormat>
  <Paragraphs>695</Paragraphs>
  <Slides>75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75</vt:i4>
      </vt:variant>
    </vt:vector>
  </HeadingPairs>
  <TitlesOfParts>
    <vt:vector size="85" baseType="lpstr">
      <vt:lpstr>Arial Unicode MS</vt:lpstr>
      <vt:lpstr>HY견고딕</vt:lpstr>
      <vt:lpstr>굴림</vt:lpstr>
      <vt:lpstr>맑은 고딕</vt:lpstr>
      <vt:lpstr>휴먼엑스포</vt:lpstr>
      <vt:lpstr>Arial</vt:lpstr>
      <vt:lpstr>Oswald Light</vt:lpstr>
      <vt:lpstr>Times New Roman</vt:lpstr>
      <vt:lpstr>Wingdings</vt:lpstr>
      <vt:lpstr>기본 디자인</vt:lpstr>
      <vt:lpstr>14강. Python GUI 프로그래밍</vt:lpstr>
      <vt:lpstr>PowerPoint 프레젠테이션</vt:lpstr>
      <vt:lpstr>생각 더하기</vt:lpstr>
      <vt:lpstr>학습목표</vt:lpstr>
      <vt:lpstr>그래픽 윈도우 시스템</vt:lpstr>
      <vt:lpstr>X 윈도우</vt:lpstr>
      <vt:lpstr>X 윈도우의 특징</vt:lpstr>
      <vt:lpstr>Tkinter</vt:lpstr>
      <vt:lpstr>Tkinter</vt:lpstr>
      <vt:lpstr>[실습 1-1] Tk - 위젯 생성 실습 </vt:lpstr>
      <vt:lpstr>[실습 1-2] Tk - 위젯 생성 실습</vt:lpstr>
      <vt:lpstr>[실습 1-3] Tk - 자식 위젯 생성</vt:lpstr>
      <vt:lpstr>[실습 1-4] Tk - 자식 위젯 생성</vt:lpstr>
      <vt:lpstr>Tkinter 위젯</vt:lpstr>
      <vt:lpstr>Tkinter 위젯</vt:lpstr>
      <vt:lpstr>Tkinter 위젯</vt:lpstr>
      <vt:lpstr>Tkinter 위젯</vt:lpstr>
      <vt:lpstr>[실습 2] Tk - Label (자식 위젯) 생성</vt:lpstr>
      <vt:lpstr>[실습 3] Tk - 현재 날씨 정보 표시</vt:lpstr>
      <vt:lpstr>[실습 3] Tk - 현재 날씨 정보 표시</vt:lpstr>
      <vt:lpstr>[실습 3] Tk - 현재 날씨 정보 표시</vt:lpstr>
      <vt:lpstr>[실습 3] Tk - 현재 날씨 정보 표시</vt:lpstr>
      <vt:lpstr>[실습 3] Tk - 현재 날씨 정보 표시</vt:lpstr>
      <vt:lpstr>Qt</vt:lpstr>
      <vt:lpstr>Qt 주요 특징</vt:lpstr>
      <vt:lpstr>Qt 주요 특징</vt:lpstr>
      <vt:lpstr>Qt 라이브러리</vt:lpstr>
      <vt:lpstr>Qt 라이브러리</vt:lpstr>
      <vt:lpstr>QtCore</vt:lpstr>
      <vt:lpstr>QtWidgets</vt:lpstr>
      <vt:lpstr>Qt/PySide2 프로그래밍 환경 설정</vt:lpstr>
      <vt:lpstr>[실습 4] Qt - Label</vt:lpstr>
      <vt:lpstr>객체지향 프로그래밍 방식의 GUI 구현</vt:lpstr>
      <vt:lpstr>[실습 5-1] QPushButton을 활용한 클래스</vt:lpstr>
      <vt:lpstr>[실습 5-1] QPushButton을 활용한 클래스</vt:lpstr>
      <vt:lpstr>[실습 5-2] QPushButton을 활용한 클래스</vt:lpstr>
      <vt:lpstr>[실습 5-2] QPushButton을 활용한 클래스</vt:lpstr>
      <vt:lpstr>[실습 5-3] QPushButton을 활용 LED 토글</vt:lpstr>
      <vt:lpstr>[실습 5-3] QPushButton을 활용 LED 토글</vt:lpstr>
      <vt:lpstr>[실습 5-3] QPushButton을 활용 LED 토글</vt:lpstr>
      <vt:lpstr>PowerPoint 프레젠테이션</vt:lpstr>
      <vt:lpstr>QtWidgets의 상속구조</vt:lpstr>
      <vt:lpstr>QtWidgets.QWidget의 주요함수</vt:lpstr>
      <vt:lpstr>QtWidgets.QWidget의 주요함수</vt:lpstr>
      <vt:lpstr>QtWidgets.QWidget의 주요함수</vt:lpstr>
      <vt:lpstr>[실습 6] QMainWindow 실습</vt:lpstr>
      <vt:lpstr>[실습 6] QMainWindow 실습</vt:lpstr>
      <vt:lpstr>[실습 6] QMainWindow 실습</vt:lpstr>
      <vt:lpstr>[실습 7] QPainter 예제 – 이벤트 처리</vt:lpstr>
      <vt:lpstr>[실습 7] QPainter 예제 – 이벤트 처리</vt:lpstr>
      <vt:lpstr>[실습 8] Button 활용 예제</vt:lpstr>
      <vt:lpstr>[실습 8] Button 활용 예제</vt:lpstr>
      <vt:lpstr>[실습 8] Button 활용 예제</vt:lpstr>
      <vt:lpstr>[실습 8] Button 활용 예제</vt:lpstr>
      <vt:lpstr>[실습 9] 대화상자 활용 - 메모장</vt:lpstr>
      <vt:lpstr>[실습 9] 대화상자 활용 - 메모장</vt:lpstr>
      <vt:lpstr>[실습 9] 대화상자 활용 - 메모장</vt:lpstr>
      <vt:lpstr>[실습 9] 대화상자 활용 - 메모장</vt:lpstr>
      <vt:lpstr>[실습 9] 대화상자 활용 - 메모장</vt:lpstr>
      <vt:lpstr>[실습 9] 대화상자 활용 - 메모장</vt:lpstr>
      <vt:lpstr>Qt Designer</vt:lpstr>
      <vt:lpstr>Qt Designer</vt:lpstr>
      <vt:lpstr>Qt Designer</vt:lpstr>
      <vt:lpstr>[실습 10] Qt Designer 활용</vt:lpstr>
      <vt:lpstr>[실습 10] Qt Designer 활용</vt:lpstr>
      <vt:lpstr>[실습 10] Qt Designer 활용</vt:lpstr>
      <vt:lpstr>[실습 10] Qt Designer 활용</vt:lpstr>
      <vt:lpstr>[실습 10] Qt Designer 활용</vt:lpstr>
      <vt:lpstr>[실습 10] Qt Designer 활용</vt:lpstr>
      <vt:lpstr>[실습 10] Qt Designer 활용</vt:lpstr>
      <vt:lpstr>[실습 10] Qt Designer 활용</vt:lpstr>
      <vt:lpstr>단어</vt:lpstr>
      <vt:lpstr>용어</vt:lpstr>
      <vt:lpstr>질의 응답</vt:lpstr>
      <vt:lpstr>기말고사 출제유형</vt:lpstr>
    </vt:vector>
  </TitlesOfParts>
  <Company>두원공과대학 인터넷프로그래밍과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김형래</dc:creator>
  <cp:lastModifiedBy>김형래</cp:lastModifiedBy>
  <cp:revision>572</cp:revision>
  <dcterms:created xsi:type="dcterms:W3CDTF">2003-05-07T20:17:23Z</dcterms:created>
  <dcterms:modified xsi:type="dcterms:W3CDTF">2025-12-02T02:32:50Z</dcterms:modified>
</cp:coreProperties>
</file>