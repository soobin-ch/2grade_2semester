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632" r:id="rId2"/>
    <p:sldId id="648" r:id="rId3"/>
    <p:sldId id="704" r:id="rId4"/>
    <p:sldId id="710" r:id="rId5"/>
    <p:sldId id="713" r:id="rId6"/>
    <p:sldId id="682" r:id="rId7"/>
    <p:sldId id="714" r:id="rId8"/>
    <p:sldId id="696" r:id="rId9"/>
    <p:sldId id="698" r:id="rId10"/>
    <p:sldId id="722" r:id="rId11"/>
    <p:sldId id="715" r:id="rId12"/>
    <p:sldId id="719" r:id="rId13"/>
    <p:sldId id="720" r:id="rId14"/>
    <p:sldId id="702" r:id="rId15"/>
    <p:sldId id="709" r:id="rId16"/>
    <p:sldId id="703" r:id="rId17"/>
  </p:sldIdLst>
  <p:sldSz cx="9144000" cy="6858000" type="screen4x3"/>
  <p:notesSz cx="6669088" cy="992822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6600CC"/>
    <a:srgbClr val="CC3300"/>
    <a:srgbClr val="0066CC"/>
    <a:srgbClr val="CC0000"/>
    <a:srgbClr val="FFFF00"/>
    <a:srgbClr val="FFCC66"/>
    <a:srgbClr val="FFCCCC"/>
    <a:srgbClr val="00CC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148" autoAdjust="0"/>
  </p:normalViewPr>
  <p:slideViewPr>
    <p:cSldViewPr>
      <p:cViewPr varScale="1">
        <p:scale>
          <a:sx n="99" d="100"/>
          <a:sy n="99" d="100"/>
        </p:scale>
        <p:origin x="90" y="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29750"/>
            <a:ext cx="289083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05" tIns="46353" rIns="92705" bIns="46353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648000" indent="-216000">
              <a:buClr>
                <a:schemeClr val="accent6">
                  <a:lumMod val="50000"/>
                </a:schemeClr>
              </a:buClr>
              <a:defRPr sz="22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008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accent6">
                    <a:lumMod val="75000"/>
                  </a:schemeClr>
                </a:solidFill>
                <a:latin typeface="휴먼엑스포" pitchFamily="18" charset="-127"/>
                <a:ea typeface="휴먼엑스포" pitchFamily="18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6534222"/>
            <a:ext cx="1296144" cy="2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/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60488" y="6113998"/>
            <a:ext cx="6400800" cy="5553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55576" y="404664"/>
            <a:ext cx="7514232" cy="1111650"/>
          </a:xfrm>
        </p:spPr>
        <p:txBody>
          <a:bodyPr/>
          <a:lstStyle/>
          <a:p>
            <a:pPr algn="ctr">
              <a:defRPr/>
            </a:pPr>
            <a:r>
              <a:rPr lang="en-US" altLang="ko-KR" sz="4000" dirty="0"/>
              <a:t>JSP</a:t>
            </a:r>
            <a:endParaRPr lang="ko-KR" altLang="en-US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332656"/>
            <a:ext cx="20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2025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학년도 </a:t>
            </a:r>
            <a:r>
              <a:rPr lang="en-US" altLang="ko-KR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800" b="1" dirty="0">
                <a:solidFill>
                  <a:srgbClr val="CC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학기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30684"/>
            <a:ext cx="8352928" cy="4662612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pic>
        <p:nvPicPr>
          <p:cNvPr id="4" name="그림 10" descr="용기-1255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0"/>
            <a:ext cx="54006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당신의 온도는 몇 도입니까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당신의 온도는 몇 도 입니까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?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메일로 전해온 이야기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20000"/>
              </a:spcBef>
              <a:buClr>
                <a:srgbClr val="035471"/>
              </a:buClr>
              <a:buFont typeface="Wingdings" pitchFamily="2" charset="2"/>
              <a:buNone/>
            </a:pP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김형래님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물이 끓기 시작하는 온도가 몇 도인지 아시죠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?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물이 끓어서 수증기가 되려면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도가 되어야 합니다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0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도의 물이건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99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도의 물이건 끓지 않는 것은 마찬가지입니다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 차이가 자그마치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99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도나 되면서도 말입니다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b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수증기가 되어 자유로이 날아갈 수 있으려면 물이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도를 넘어서야 합니다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그러나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99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도에서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도까지의 차이는 불과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도라는 사실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!!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이 글을 읽고 계신 김형래님은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99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도까지 올라가고도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을 더 하지 못해 포기한 일은 없으신지요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? 1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보다 더한 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99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를 노력하고도 말입니다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b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무슨 일이든지 끈기와 용기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그리고 자신감을 가지고 끝까지 최선을 다한다면 못 다할 일은 없는 것입니다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노력 끝에 기쁨이 오고 그 열매는 자신을 밝혀주며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인생에 있어서 가장 밝은 빛이 되어 줍니다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언젠가 다시 그보다 더한 어려움이 닥친다면 지난 노력의 열매들은 당신의 자신감이 되어주고 어려움을 풀어 나갈 수 있는 희망의 열쇠가 되어주는 것이지요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b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그러므로 언제든지 자신을 밝힐 수 있게 항상 노력하세요</a:t>
            </a:r>
            <a:r>
              <a:rPr lang="en-US" altLang="ko-KR" sz="20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endParaRPr lang="en-US" altLang="ko-KR" sz="2000" b="1" dirty="0">
              <a:solidFill>
                <a:srgbClr val="0B434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Picture 10" descr="mo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134788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졸업 후 진로 </a:t>
            </a:r>
            <a:r>
              <a:rPr lang="en-US" altLang="ko-KR" dirty="0"/>
              <a:t>(</a:t>
            </a:r>
            <a:r>
              <a:rPr lang="ko-KR" altLang="en-US" dirty="0"/>
              <a:t>자료</a:t>
            </a:r>
            <a:r>
              <a:rPr lang="en-US" altLang="ko-KR" dirty="0"/>
              <a:t>: </a:t>
            </a:r>
            <a:r>
              <a:rPr lang="ko-KR" altLang="en-US" dirty="0" err="1"/>
              <a:t>잡코리아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76" y="980727"/>
            <a:ext cx="7952881" cy="27084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52" y="3789040"/>
            <a:ext cx="7969296" cy="2741240"/>
          </a:xfrm>
          <a:prstGeom prst="rect">
            <a:avLst/>
          </a:prstGeom>
        </p:spPr>
      </p:pic>
      <p:sp>
        <p:nvSpPr>
          <p:cNvPr id="18" name="모서리가 둥근 직사각형 17"/>
          <p:cNvSpPr/>
          <p:nvPr/>
        </p:nvSpPr>
        <p:spPr>
          <a:xfrm>
            <a:off x="4644008" y="2263224"/>
            <a:ext cx="720080" cy="2374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918263" y="1982897"/>
            <a:ext cx="720080" cy="2374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7244530" y="1982897"/>
            <a:ext cx="1071885" cy="2374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" name="모서리가 둥근 직사각형 20"/>
          <p:cNvSpPr/>
          <p:nvPr/>
        </p:nvSpPr>
        <p:spPr>
          <a:xfrm>
            <a:off x="5964737" y="4831424"/>
            <a:ext cx="720080" cy="23744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69868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개발자 연봉 추이</a:t>
            </a:r>
          </a:p>
        </p:txBody>
      </p:sp>
      <p:sp>
        <p:nvSpPr>
          <p:cNvPr id="10243" name="슬라이드 번호 개체 틀 2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hangingPunct="1"/>
            <a:fld id="{7AE753D7-8298-4E48-B277-ECAE0C5B1880}" type="slidenum">
              <a:rPr lang="en-US" altLang="ko-KR" sz="1000" smtClean="0">
                <a:solidFill>
                  <a:srgbClr val="02B0AC"/>
                </a:solidFill>
                <a:latin typeface="휴먼엑스포" pitchFamily="18" charset="-127"/>
                <a:ea typeface="휴먼엑스포" pitchFamily="18" charset="-127"/>
              </a:rPr>
              <a:pPr eaLnBrk="1" hangingPunct="1"/>
              <a:t>5</a:t>
            </a:fld>
            <a:endParaRPr lang="en-US" altLang="ko-KR" sz="1000">
              <a:solidFill>
                <a:srgbClr val="02B0AC"/>
              </a:solidFill>
              <a:latin typeface="휴먼엑스포" pitchFamily="18" charset="-127"/>
              <a:ea typeface="휴먼엑스포" pitchFamily="18" charset="-127"/>
            </a:endParaRPr>
          </a:p>
        </p:txBody>
      </p:sp>
      <p:sp>
        <p:nvSpPr>
          <p:cNvPr id="10244" name="TextBox 8"/>
          <p:cNvSpPr txBox="1">
            <a:spLocks noChangeArrowheads="1"/>
          </p:cNvSpPr>
          <p:nvPr/>
        </p:nvSpPr>
        <p:spPr bwMode="auto">
          <a:xfrm>
            <a:off x="5724128" y="5979326"/>
            <a:ext cx="18742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eaLnBrk="1" hangingPunct="1"/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이데일리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itchFamily="50" charset="-127"/>
                <a:ea typeface="맑은 고딕" pitchFamily="50" charset="-127"/>
              </a:rPr>
              <a:t>2025.06.27&gt;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5C02F0B-DF01-6B5B-A6A4-134728D9E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1" y="1340768"/>
            <a:ext cx="5904658" cy="43221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4772471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강좌를 성공적으로 이수하면 학생들은</a:t>
            </a:r>
            <a:r>
              <a:rPr lang="ko-KR" altLang="en-US" sz="2800" dirty="0"/>
              <a:t>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JSP </a:t>
            </a:r>
            <a:r>
              <a:rPr lang="ko-KR" altLang="en-US" dirty="0"/>
              <a:t>개발환경을 설정할 수 있다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MS-SQL(</a:t>
            </a:r>
            <a:r>
              <a:rPr lang="en-US" altLang="ko-KR" dirty="0" err="1"/>
              <a:t>MySql</a:t>
            </a:r>
            <a:r>
              <a:rPr lang="en-US" altLang="ko-KR" dirty="0"/>
              <a:t>) Server, JDK, Apache Tomcat, Eclipse</a:t>
            </a:r>
            <a:endParaRPr lang="ko-KR" altLang="en-US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JSP</a:t>
            </a:r>
            <a:r>
              <a:rPr lang="ko-KR" altLang="en-US" dirty="0"/>
              <a:t>의 개념에 대해 설명할 수 있다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 err="1"/>
              <a:t>서블릿의</a:t>
            </a:r>
            <a:r>
              <a:rPr lang="ko-KR" altLang="en-US" dirty="0"/>
              <a:t> 이해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JSP </a:t>
            </a:r>
            <a:r>
              <a:rPr lang="ko-KR" altLang="en-US" dirty="0"/>
              <a:t>기본 문법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JSP </a:t>
            </a:r>
            <a:r>
              <a:rPr lang="ko-KR" altLang="en-US" dirty="0" err="1"/>
              <a:t>내장객체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JSP</a:t>
            </a:r>
            <a:r>
              <a:rPr lang="ko-KR" altLang="en-US" dirty="0"/>
              <a:t>와 자바 </a:t>
            </a:r>
            <a:r>
              <a:rPr lang="ko-KR" altLang="en-US" dirty="0" err="1"/>
              <a:t>빈즈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ko-KR" dirty="0"/>
              <a:t>JDBC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웹사이트의</a:t>
            </a:r>
            <a:r>
              <a:rPr lang="en-US" altLang="ko-KR" dirty="0"/>
              <a:t> </a:t>
            </a:r>
            <a:r>
              <a:rPr lang="ko-KR" altLang="en-US" dirty="0"/>
              <a:t>기본 프로그램을 구현할 수 있다</a:t>
            </a:r>
            <a:r>
              <a:rPr lang="en-US" altLang="ko-KR" dirty="0"/>
              <a:t>.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회원가입 </a:t>
            </a:r>
            <a:r>
              <a:rPr lang="en-US" altLang="ko-KR" dirty="0"/>
              <a:t>/ </a:t>
            </a:r>
            <a:r>
              <a:rPr lang="ko-KR" altLang="en-US" dirty="0"/>
              <a:t>로그인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한 줄 게시판 </a:t>
            </a:r>
            <a:endParaRPr lang="en-US" altLang="ko-KR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ko-KR" altLang="en-US" dirty="0"/>
              <a:t>게시판</a:t>
            </a:r>
            <a:endParaRPr lang="en-US" altLang="ko-KR" dirty="0"/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웹</a:t>
            </a:r>
            <a:r>
              <a:rPr lang="en-US" altLang="ko-KR" dirty="0"/>
              <a:t>/</a:t>
            </a:r>
            <a:r>
              <a:rPr lang="ko-KR" altLang="en-US" dirty="0"/>
              <a:t>앱 과목 체계</a:t>
            </a:r>
          </a:p>
        </p:txBody>
      </p:sp>
      <p:sp>
        <p:nvSpPr>
          <p:cNvPr id="717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97236ED-13B7-48EA-9DDF-B66D55CF0A4B}" type="slidenum">
              <a:rPr lang="en-US" altLang="ko-KR" smtClean="0"/>
              <a:pPr/>
              <a:t>7</a:t>
            </a:fld>
            <a:endParaRPr lang="en-US" altLang="ko-KR"/>
          </a:p>
        </p:txBody>
      </p:sp>
      <p:sp>
        <p:nvSpPr>
          <p:cNvPr id="5" name="직사각형 4"/>
          <p:cNvSpPr/>
          <p:nvPr/>
        </p:nvSpPr>
        <p:spPr>
          <a:xfrm>
            <a:off x="2953916" y="4997225"/>
            <a:ext cx="2585562" cy="54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OOP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953916" y="5716362"/>
            <a:ext cx="2585562" cy="54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프로그래밍 언어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79478" y="3501976"/>
            <a:ext cx="1260000" cy="72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Windows</a:t>
            </a:r>
          </a:p>
          <a:p>
            <a:pPr algn="ctr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프로그래밍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953916" y="2276872"/>
            <a:ext cx="1260000" cy="720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JSP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7514948" y="4885199"/>
            <a:ext cx="126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데이터베이스활용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7527925" y="3429080"/>
            <a:ext cx="1260000" cy="720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데이터베이스구축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15656" y="5546496"/>
            <a:ext cx="126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포토샵</a:t>
            </a:r>
          </a:p>
        </p:txBody>
      </p:sp>
      <p:cxnSp>
        <p:nvCxnSpPr>
          <p:cNvPr id="22" name="직선 화살표 연결선 21"/>
          <p:cNvCxnSpPr>
            <a:stCxn id="6" idx="0"/>
            <a:endCxn id="5" idx="2"/>
          </p:cNvCxnSpPr>
          <p:nvPr/>
        </p:nvCxnSpPr>
        <p:spPr>
          <a:xfrm flipV="1">
            <a:off x="4246697" y="5537225"/>
            <a:ext cx="0" cy="179137"/>
          </a:xfrm>
          <a:prstGeom prst="straightConnector1">
            <a:avLst/>
          </a:prstGeom>
          <a:ln w="28575">
            <a:solidFill>
              <a:srgbClr val="6D6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5" idx="0"/>
            <a:endCxn id="7" idx="2"/>
          </p:cNvCxnSpPr>
          <p:nvPr/>
        </p:nvCxnSpPr>
        <p:spPr>
          <a:xfrm flipV="1">
            <a:off x="4246697" y="4221976"/>
            <a:ext cx="662781" cy="775249"/>
          </a:xfrm>
          <a:prstGeom prst="straightConnector1">
            <a:avLst/>
          </a:prstGeom>
          <a:ln w="28575">
            <a:solidFill>
              <a:srgbClr val="6D6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12" idx="0"/>
            <a:endCxn id="13" idx="2"/>
          </p:cNvCxnSpPr>
          <p:nvPr/>
        </p:nvCxnSpPr>
        <p:spPr>
          <a:xfrm flipV="1">
            <a:off x="8144948" y="4149080"/>
            <a:ext cx="12977" cy="736119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14" idx="0"/>
            <a:endCxn id="15" idx="2"/>
          </p:cNvCxnSpPr>
          <p:nvPr/>
        </p:nvCxnSpPr>
        <p:spPr>
          <a:xfrm flipV="1">
            <a:off x="845656" y="5330472"/>
            <a:ext cx="0" cy="216024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cxnSpLocks/>
            <a:stCxn id="15" idx="0"/>
            <a:endCxn id="30" idx="2"/>
          </p:cNvCxnSpPr>
          <p:nvPr/>
        </p:nvCxnSpPr>
        <p:spPr>
          <a:xfrm flipV="1">
            <a:off x="845656" y="4221976"/>
            <a:ext cx="2738260" cy="388496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215656" y="4610472"/>
            <a:ext cx="126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웹기획</a:t>
            </a:r>
            <a:endParaRPr lang="ko-KR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2953916" y="3501976"/>
            <a:ext cx="1260000" cy="72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ASP.NET</a:t>
            </a:r>
          </a:p>
          <a:p>
            <a:pPr algn="ctr"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프로그래밍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2" name="직선 화살표 연결선 31"/>
          <p:cNvCxnSpPr>
            <a:stCxn id="30" idx="0"/>
            <a:endCxn id="10" idx="2"/>
          </p:cNvCxnSpPr>
          <p:nvPr/>
        </p:nvCxnSpPr>
        <p:spPr>
          <a:xfrm flipV="1">
            <a:off x="3583916" y="2996872"/>
            <a:ext cx="0" cy="505104"/>
          </a:xfrm>
          <a:prstGeom prst="straightConnector1">
            <a:avLst/>
          </a:prstGeom>
          <a:ln w="28575">
            <a:solidFill>
              <a:schemeClr val="accent2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5760272" y="1104716"/>
            <a:ext cx="1260000" cy="7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Android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응용</a:t>
            </a:r>
          </a:p>
        </p:txBody>
      </p:sp>
      <p:cxnSp>
        <p:nvCxnSpPr>
          <p:cNvPr id="39" name="직선 화살표 연결선 38"/>
          <p:cNvCxnSpPr>
            <a:stCxn id="11" idx="0"/>
            <a:endCxn id="37" idx="2"/>
          </p:cNvCxnSpPr>
          <p:nvPr/>
        </p:nvCxnSpPr>
        <p:spPr>
          <a:xfrm flipV="1">
            <a:off x="6390272" y="1824716"/>
            <a:ext cx="0" cy="452156"/>
          </a:xfrm>
          <a:prstGeom prst="straightConnector1">
            <a:avLst/>
          </a:prstGeom>
          <a:ln w="28575">
            <a:solidFill>
              <a:srgbClr val="6D6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1583808" y="5546496"/>
            <a:ext cx="126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웹설계</a:t>
            </a:r>
            <a:endParaRPr lang="ko-KR" alt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2" name="직선 화살표 연결선 111"/>
          <p:cNvCxnSpPr>
            <a:cxnSpLocks/>
            <a:stCxn id="111" idx="0"/>
            <a:endCxn id="30" idx="2"/>
          </p:cNvCxnSpPr>
          <p:nvPr/>
        </p:nvCxnSpPr>
        <p:spPr>
          <a:xfrm flipV="1">
            <a:off x="2213808" y="4221976"/>
            <a:ext cx="1370108" cy="132452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215656" y="2276872"/>
            <a:ext cx="1260000" cy="720000"/>
          </a:xfrm>
          <a:prstGeom prst="rect">
            <a:avLst/>
          </a:prstGeom>
          <a:solidFill>
            <a:srgbClr val="2F2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Capstone Design 1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215656" y="1104716"/>
            <a:ext cx="1260000" cy="720000"/>
          </a:xfrm>
          <a:prstGeom prst="rect">
            <a:avLst/>
          </a:prstGeom>
          <a:solidFill>
            <a:srgbClr val="2F2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Capstone Design 2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3" name="직선 화살표 연결선 122"/>
          <p:cNvCxnSpPr>
            <a:stCxn id="117" idx="0"/>
            <a:endCxn id="122" idx="2"/>
          </p:cNvCxnSpPr>
          <p:nvPr/>
        </p:nvCxnSpPr>
        <p:spPr>
          <a:xfrm flipV="1">
            <a:off x="845656" y="1824716"/>
            <a:ext cx="0" cy="452156"/>
          </a:xfrm>
          <a:prstGeom prst="straightConnector1">
            <a:avLst/>
          </a:prstGeom>
          <a:ln w="28575">
            <a:solidFill>
              <a:srgbClr val="6D6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5" idx="0"/>
            <a:endCxn id="30" idx="2"/>
          </p:cNvCxnSpPr>
          <p:nvPr/>
        </p:nvCxnSpPr>
        <p:spPr>
          <a:xfrm flipH="1" flipV="1">
            <a:off x="3583916" y="4221976"/>
            <a:ext cx="662781" cy="775249"/>
          </a:xfrm>
          <a:prstGeom prst="straightConnector1">
            <a:avLst/>
          </a:prstGeom>
          <a:ln w="28575">
            <a:solidFill>
              <a:srgbClr val="6D6D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>
            <a:stCxn id="10" idx="1"/>
            <a:endCxn id="117" idx="3"/>
          </p:cNvCxnSpPr>
          <p:nvPr/>
        </p:nvCxnSpPr>
        <p:spPr>
          <a:xfrm flipH="1">
            <a:off x="1475656" y="2636872"/>
            <a:ext cx="1478260" cy="0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2949140" y="1077932"/>
            <a:ext cx="1260000" cy="720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JSP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응용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3" name="직선 화살표 연결선 42"/>
          <p:cNvCxnSpPr>
            <a:stCxn id="10" idx="0"/>
            <a:endCxn id="54" idx="2"/>
          </p:cNvCxnSpPr>
          <p:nvPr/>
        </p:nvCxnSpPr>
        <p:spPr>
          <a:xfrm flipH="1" flipV="1">
            <a:off x="3579140" y="1797932"/>
            <a:ext cx="4776" cy="478940"/>
          </a:xfrm>
          <a:prstGeom prst="straightConnector1">
            <a:avLst/>
          </a:prstGeom>
          <a:ln w="28575">
            <a:solidFill>
              <a:schemeClr val="accent2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2EA6AAA2-493D-4D0C-BB99-DC29E1EDCDC5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 flipV="1">
            <a:off x="4213916" y="2636872"/>
            <a:ext cx="3314009" cy="1152208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5760272" y="2276872"/>
            <a:ext cx="1260000" cy="7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Android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B186EA8-AFB6-E6CD-04D8-5B6B4B1D787D}"/>
              </a:ext>
            </a:extLst>
          </p:cNvPr>
          <p:cNvCxnSpPr>
            <a:cxnSpLocks/>
            <a:stCxn id="12" idx="1"/>
            <a:endCxn id="7" idx="2"/>
          </p:cNvCxnSpPr>
          <p:nvPr/>
        </p:nvCxnSpPr>
        <p:spPr>
          <a:xfrm flipH="1" flipV="1">
            <a:off x="4909478" y="4221976"/>
            <a:ext cx="2605470" cy="1023223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3C491B1-6F0B-4989-7359-85E652963DC0}"/>
              </a:ext>
            </a:extLst>
          </p:cNvPr>
          <p:cNvCxnSpPr>
            <a:cxnSpLocks/>
            <a:stCxn id="12" idx="1"/>
            <a:endCxn id="30" idx="2"/>
          </p:cNvCxnSpPr>
          <p:nvPr/>
        </p:nvCxnSpPr>
        <p:spPr>
          <a:xfrm flipH="1" flipV="1">
            <a:off x="3583916" y="4221976"/>
            <a:ext cx="3931032" cy="1023223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5796136" y="3789040"/>
            <a:ext cx="1191105" cy="72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자료구조와 알고리즘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2187766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강좌 소개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107950" y="980728"/>
            <a:ext cx="8950325" cy="5877272"/>
          </a:xfrm>
          <a:noFill/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학점</a:t>
            </a:r>
            <a:r>
              <a:rPr lang="en-US" altLang="ko-KR" dirty="0"/>
              <a:t>/</a:t>
            </a:r>
            <a:r>
              <a:rPr lang="ko-KR" altLang="en-US" dirty="0"/>
              <a:t>시수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altLang="ko-KR" dirty="0"/>
              <a:t>4</a:t>
            </a:r>
            <a:r>
              <a:rPr lang="ko-KR" altLang="en-US" dirty="0"/>
              <a:t>학점</a:t>
            </a:r>
            <a:r>
              <a:rPr lang="en-US" altLang="ko-KR" dirty="0"/>
              <a:t>/4</a:t>
            </a:r>
            <a:r>
              <a:rPr lang="ko-KR" altLang="en-US" dirty="0"/>
              <a:t>시간</a:t>
            </a:r>
            <a:r>
              <a:rPr lang="en-US" altLang="ko-KR" dirty="0"/>
              <a:t>(</a:t>
            </a:r>
            <a:r>
              <a:rPr lang="ko-KR" altLang="en-US" dirty="0"/>
              <a:t>이론</a:t>
            </a:r>
            <a:r>
              <a:rPr lang="en-US" altLang="ko-KR" dirty="0"/>
              <a:t>4, </a:t>
            </a:r>
            <a:r>
              <a:rPr lang="ko-KR" altLang="en-US" dirty="0"/>
              <a:t>실습</a:t>
            </a:r>
            <a:r>
              <a:rPr lang="en-US" altLang="ko-KR" dirty="0"/>
              <a:t>2)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수업시간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수요일 </a:t>
            </a:r>
            <a:r>
              <a:rPr lang="en-US" altLang="ko-KR" dirty="0"/>
              <a:t>1~4</a:t>
            </a:r>
            <a:r>
              <a:rPr lang="ko-KR" altLang="en-US" dirty="0"/>
              <a:t>교시</a:t>
            </a:r>
            <a:endParaRPr lang="en-US" altLang="ko-KR" dirty="0"/>
          </a:p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교재 </a:t>
            </a:r>
            <a:endParaRPr lang="en-US" altLang="ko-KR" dirty="0"/>
          </a:p>
          <a:p>
            <a:pPr lvl="1" eaLnBrk="1" hangingPunct="1">
              <a:defRPr/>
            </a:pPr>
            <a:r>
              <a:rPr lang="en-US" altLang="ko-KR" dirty="0"/>
              <a:t>LMS</a:t>
            </a:r>
            <a:r>
              <a:rPr lang="ko-KR" altLang="en-US" dirty="0"/>
              <a:t>로 제공하는 강의록</a:t>
            </a:r>
            <a:endParaRPr lang="en-US" altLang="ko-KR" dirty="0"/>
          </a:p>
          <a:p>
            <a:pPr lvl="1" eaLnBrk="1" hangingPunct="1">
              <a:defRPr/>
            </a:pPr>
            <a:r>
              <a:rPr lang="ko-KR" altLang="en-US" dirty="0"/>
              <a:t>짧고 굵게 배우는 </a:t>
            </a:r>
            <a:r>
              <a:rPr lang="en-US" altLang="ko-KR" dirty="0"/>
              <a:t>JSP </a:t>
            </a:r>
            <a:r>
              <a:rPr lang="ko-KR" altLang="en-US" dirty="0"/>
              <a:t>웹프로그래밍과</a:t>
            </a:r>
            <a:endParaRPr lang="en-US" altLang="ko-KR" dirty="0"/>
          </a:p>
          <a:p>
            <a:pPr marL="432000" lvl="1" indent="0" eaLnBrk="1" hangingPunct="1">
              <a:buNone/>
              <a:defRPr/>
            </a:pPr>
            <a:r>
              <a:rPr lang="en-US" altLang="ko-KR" dirty="0"/>
              <a:t>  </a:t>
            </a:r>
            <a:r>
              <a:rPr lang="ko-KR" altLang="en-US" dirty="0"/>
              <a:t>스프링 프레임워크</a:t>
            </a:r>
            <a:r>
              <a:rPr lang="en-US" altLang="ko-KR" dirty="0"/>
              <a:t>(</a:t>
            </a:r>
            <a:r>
              <a:rPr lang="ko-KR" altLang="en-US" dirty="0"/>
              <a:t>황희정</a:t>
            </a:r>
            <a:r>
              <a:rPr lang="en-US" altLang="ko-KR" dirty="0"/>
              <a:t>)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담당교수 </a:t>
            </a:r>
            <a:r>
              <a:rPr lang="en-US" altLang="ko-KR" dirty="0"/>
              <a:t>: </a:t>
            </a:r>
            <a:r>
              <a:rPr lang="ko-KR" altLang="en-US" dirty="0"/>
              <a:t>김형래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구내전화 </a:t>
            </a:r>
            <a:r>
              <a:rPr lang="en-US" altLang="ko-KR" dirty="0"/>
              <a:t>031-935-7132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휴대전화 </a:t>
            </a:r>
            <a:r>
              <a:rPr lang="en-US" altLang="ko-KR" dirty="0"/>
              <a:t>010-3294-7176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이메일</a:t>
            </a:r>
            <a:r>
              <a:rPr lang="en-US" altLang="ko-KR" dirty="0"/>
              <a:t> hrkim@doowon.ac.kr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3950FD-F162-D333-0F04-2A44A1B30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071" y="1340768"/>
            <a:ext cx="3339729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5707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진행방식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강의 진행 방식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Flipped</a:t>
            </a:r>
            <a:r>
              <a:rPr lang="ko-KR" altLang="en-US" dirty="0"/>
              <a:t> </a:t>
            </a:r>
            <a:r>
              <a:rPr lang="en-US" altLang="ko-KR" dirty="0"/>
              <a:t>Learning </a:t>
            </a:r>
            <a:r>
              <a:rPr lang="ko-KR" altLang="en-US" dirty="0"/>
              <a:t>개념 적용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사전학습 </a:t>
            </a:r>
            <a:r>
              <a:rPr lang="en-US" altLang="ko-KR" dirty="0"/>
              <a:t>: </a:t>
            </a:r>
            <a:r>
              <a:rPr lang="ko-KR" altLang="en-US" dirty="0"/>
              <a:t>제공된 온라인 콘텐츠 이용</a:t>
            </a:r>
            <a:endParaRPr lang="en-US" altLang="ko-KR" dirty="0"/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/>
              <a:t>수업시간 </a:t>
            </a:r>
            <a:r>
              <a:rPr lang="en-US" altLang="ko-KR" dirty="0"/>
              <a:t>:</a:t>
            </a:r>
            <a:r>
              <a:rPr lang="ko-KR" altLang="en-US" dirty="0"/>
              <a:t> 교수의 개념 설명</a:t>
            </a:r>
            <a:r>
              <a:rPr lang="en-US" altLang="ko-KR" dirty="0"/>
              <a:t>, </a:t>
            </a:r>
            <a:r>
              <a:rPr lang="ko-KR" altLang="en-US" dirty="0"/>
              <a:t>질의응답 및 학생 실습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해당 과정 완료 시 조기 하교 가능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100000"/>
              </a:lnSpc>
              <a:defRPr/>
            </a:pPr>
            <a:r>
              <a:rPr lang="ko-KR" altLang="en-US" dirty="0">
                <a:sym typeface="Wingdings" panose="05000000000000000000" pitchFamily="2" charset="2"/>
              </a:rPr>
              <a:t>과제물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매시간 실습내용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학기말 프로젝트</a:t>
            </a:r>
            <a:endParaRPr lang="en-US" altLang="ko-KR" dirty="0"/>
          </a:p>
          <a:p>
            <a:pPr eaLnBrk="1" hangingPunct="1">
              <a:lnSpc>
                <a:spcPct val="100000"/>
              </a:lnSpc>
              <a:defRPr/>
            </a:pPr>
            <a:r>
              <a:rPr lang="ko-KR" altLang="en-US" dirty="0"/>
              <a:t>강의록 다운로드</a:t>
            </a:r>
          </a:p>
          <a:p>
            <a:pPr lvl="1" eaLnBrk="1" hangingPunct="1">
              <a:lnSpc>
                <a:spcPct val="100000"/>
              </a:lnSpc>
              <a:defRPr/>
            </a:pPr>
            <a:r>
              <a:rPr lang="en-US" altLang="ko-KR" dirty="0"/>
              <a:t>http://lms.doowon.ac.kr</a:t>
            </a:r>
          </a:p>
          <a:p>
            <a:pPr algn="just" eaLnBrk="1" hangingPunct="1">
              <a:lnSpc>
                <a:spcPct val="100000"/>
              </a:lnSpc>
              <a:defRPr/>
            </a:pPr>
            <a:r>
              <a:rPr lang="ko-KR" altLang="en-US" dirty="0"/>
              <a:t>성적처리</a:t>
            </a:r>
          </a:p>
          <a:p>
            <a:pPr lvl="1" algn="just" eaLnBrk="1" hangingPunct="1">
              <a:lnSpc>
                <a:spcPct val="100000"/>
              </a:lnSpc>
              <a:defRPr/>
            </a:pPr>
            <a:r>
              <a:rPr lang="ko-KR" altLang="en-US" dirty="0"/>
              <a:t>출석</a:t>
            </a:r>
            <a:r>
              <a:rPr lang="en-US" altLang="ko-KR" dirty="0"/>
              <a:t>(20)</a:t>
            </a:r>
          </a:p>
          <a:p>
            <a:pPr lvl="1" algn="just" eaLnBrk="1" hangingPunct="1">
              <a:lnSpc>
                <a:spcPct val="100000"/>
              </a:lnSpc>
              <a:defRPr/>
            </a:pPr>
            <a:r>
              <a:rPr lang="ko-KR" altLang="en-US" dirty="0"/>
              <a:t>보고서</a:t>
            </a:r>
            <a:r>
              <a:rPr lang="en-US" altLang="ko-KR" dirty="0"/>
              <a:t>(40) :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실습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단어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구글링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</a:t>
            </a:r>
            <a:endParaRPr lang="en-US" altLang="ko-KR" dirty="0"/>
          </a:p>
          <a:p>
            <a:pPr lvl="1" algn="just" eaLnBrk="1" hangingPunct="1">
              <a:lnSpc>
                <a:spcPct val="100000"/>
              </a:lnSpc>
              <a:defRPr/>
            </a:pPr>
            <a:r>
              <a:rPr lang="ko-KR" altLang="en-US" dirty="0"/>
              <a:t>필기시험</a:t>
            </a:r>
            <a:r>
              <a:rPr lang="en-US" altLang="ko-KR" dirty="0"/>
              <a:t>(30) :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주차에 지필고사 실시</a:t>
            </a:r>
            <a:endParaRPr lang="en-US" altLang="ko-KR" dirty="0"/>
          </a:p>
          <a:p>
            <a:pPr lvl="1" algn="just" eaLnBrk="1" hangingPunct="1">
              <a:lnSpc>
                <a:spcPct val="100000"/>
              </a:lnSpc>
              <a:defRPr/>
            </a:pPr>
            <a:r>
              <a:rPr lang="ko-KR" altLang="en-US" dirty="0"/>
              <a:t>기말프로젝트</a:t>
            </a:r>
            <a:r>
              <a:rPr lang="en-US" altLang="ko-KR" dirty="0"/>
              <a:t>(10) :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15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주차에 실습실 평가</a:t>
            </a:r>
            <a:endParaRPr lang="en-US" altLang="ko-KR" dirty="0"/>
          </a:p>
          <a:p>
            <a:pPr lvl="1" algn="just" eaLnBrk="1" hangingPunct="1">
              <a:lnSpc>
                <a:spcPct val="100000"/>
              </a:lnSpc>
              <a:defRPr/>
            </a:pP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0199769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Flipped</a:t>
            </a:r>
            <a:r>
              <a:rPr lang="ko-KR" altLang="en-US" dirty="0"/>
              <a:t> </a:t>
            </a:r>
            <a:r>
              <a:rPr lang="en-US" altLang="ko-KR" dirty="0"/>
              <a:t>Learning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03" y="981219"/>
            <a:ext cx="6982194" cy="48955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CE9AA5-E9AE-CAAF-72CD-F79FD12900E4}"/>
              </a:ext>
            </a:extLst>
          </p:cNvPr>
          <p:cNvSpPr txBox="1"/>
          <p:nvPr/>
        </p:nvSpPr>
        <p:spPr>
          <a:xfrm>
            <a:off x="930298" y="5976952"/>
            <a:ext cx="7283404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 </a:t>
            </a: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Flipped Learning </a:t>
            </a:r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요청사항 </a:t>
            </a:r>
            <a:r>
              <a:rPr lang="en-US" altLang="ko-KR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20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수업시작전 강의록 훑어보기</a:t>
            </a:r>
          </a:p>
        </p:txBody>
      </p:sp>
    </p:spTree>
    <p:extLst>
      <p:ext uri="{BB962C8B-B14F-4D97-AF65-F5344CB8AC3E}">
        <p14:creationId xmlns:p14="http://schemas.microsoft.com/office/powerpoint/2010/main" val="125128507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강의내용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512032"/>
              </p:ext>
            </p:extLst>
          </p:nvPr>
        </p:nvGraphicFramePr>
        <p:xfrm>
          <a:off x="179512" y="1164794"/>
          <a:ext cx="8640960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4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강의소개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en-US" altLang="ko-KR" sz="20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2000" b="1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맛보기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강의소개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개발환경 구축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와의 첫 만남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Process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개요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처리과정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스크립트릿과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빈즈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클래스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1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서블릿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서블릿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구조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서블릿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프로그래밍 예제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최근에는 </a:t>
                      </a: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서블릿을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 별로 사용하지 않음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 Syntax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특징 및 기본문법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스크립팅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6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내장객체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request / response</a:t>
                      </a: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out</a:t>
                      </a: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session</a:t>
                      </a: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649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606373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</a:t>
            </a:r>
            <a:r>
              <a:rPr lang="ko-KR" altLang="en-US" dirty="0" err="1"/>
              <a:t>강의내용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749346"/>
              </p:ext>
            </p:extLst>
          </p:nvPr>
        </p:nvGraphicFramePr>
        <p:xfrm>
          <a:off x="179512" y="1052737"/>
          <a:ext cx="864096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7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3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자바빈즈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빈즈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연동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JSP</a:t>
                      </a:r>
                      <a:r>
                        <a:rPr lang="en-US" altLang="ko-KR" sz="1800" b="1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baseline="0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빈즈</a:t>
                      </a:r>
                      <a:r>
                        <a:rPr lang="ko-KR" altLang="en-US" sz="1800" b="1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프로그래밍</a:t>
                      </a:r>
                      <a:endParaRPr lang="ko-KR" altLang="en-US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03853"/>
                  </a:ext>
                </a:extLst>
              </a:tr>
              <a:tr h="6133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데이터베이스와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MS-SQL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JDBC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프로그래밍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커넥션 풀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트랜잭션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75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주소록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AddressBook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738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프로그래밍 구조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애플리케이션 개념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컨테이너와 배포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아파치 </a:t>
                      </a: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톰캣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서버 관리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애플리케이션 배포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248842"/>
                  </a:ext>
                </a:extLst>
              </a:tr>
              <a:tr h="6133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커스텀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표현 언어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커스텀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태그의 처리과정 및 </a:t>
                      </a:r>
                      <a:r>
                        <a:rPr lang="en-US" altLang="ko-KR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taglib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지시어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 파일 기반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 </a:t>
                      </a: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핸들러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기반 </a:t>
                      </a: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커스텀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950787"/>
                  </a:ext>
                </a:extLst>
              </a:tr>
              <a:tr h="6133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JSTL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JSTL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주요 동작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JSTL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구성요소 및 활용방안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태그 라이브러리 및 프로그램 개발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355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747113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주차별</a:t>
            </a:r>
            <a:r>
              <a:rPr lang="ko-KR" altLang="en-US" dirty="0"/>
              <a:t> </a:t>
            </a:r>
            <a:r>
              <a:rPr lang="ko-KR" altLang="en-US" dirty="0" err="1"/>
              <a:t>강의내용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396609"/>
              </p:ext>
            </p:extLst>
          </p:nvPr>
        </p:nvGraphicFramePr>
        <p:xfrm>
          <a:off x="179512" y="1232169"/>
          <a:ext cx="8640960" cy="493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강의내용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6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Listener, Filter, Log &amp;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리스너와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필터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초기화 매개변수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웹 애플리케이션의 로그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로그의 분류 및 구현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SLF4J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Log4J</a:t>
                      </a:r>
                      <a:r>
                        <a:rPr lang="en-US" altLang="ko-KR" sz="1800" b="1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baseline="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기말고사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latinLnBrk="1"/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MySns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(1)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회원가입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3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MySns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(2)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게시판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406643"/>
                  </a:ext>
                </a:extLst>
              </a:tr>
              <a:tr h="6669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MySns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(3)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메시지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댓글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692887"/>
                  </a:ext>
                </a:extLst>
              </a:tr>
              <a:tr h="71907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MySns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(4)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000" indent="-18000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800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MySns</a:t>
                      </a:r>
                      <a:r>
                        <a:rPr lang="en-US" altLang="ko-KR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800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구현 실습실 평가</a:t>
                      </a:r>
                      <a:endParaRPr lang="en-US" altLang="ko-KR" sz="1800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06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73830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성적을 얻기 위해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결석을 하지 말자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결석을 하면서 프로그래밍 이해는 무리</a:t>
            </a:r>
            <a:endParaRPr lang="en-US" altLang="ko-KR" dirty="0"/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수업내용은 선수</a:t>
            </a:r>
            <a:r>
              <a:rPr lang="en-US" altLang="ko-KR" dirty="0"/>
              <a:t>/</a:t>
            </a:r>
            <a:r>
              <a:rPr lang="ko-KR" altLang="en-US" dirty="0"/>
              <a:t>후수 개념 포함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매시간 출석점수와 보고서 점수의 비중은 매우 높음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수업시간 중 주어진 과제를 철저히 이행하자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프로그래밍은 손으로 하는 것</a:t>
            </a:r>
            <a:endParaRPr lang="en-US" altLang="ko-KR" dirty="0"/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altLang="ko-KR" dirty="0"/>
              <a:t>^C, ^V</a:t>
            </a:r>
            <a:r>
              <a:rPr lang="ko-KR" altLang="en-US" dirty="0"/>
              <a:t>는 절대 곤란 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질문을 많이 하자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기타</a:t>
            </a:r>
            <a:endParaRPr lang="en-US" altLang="ko-KR" dirty="0"/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수업 시간 및 쉬는 시간에 오락 금지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실습실 음료수</a:t>
            </a:r>
            <a:r>
              <a:rPr lang="en-US" altLang="ko-KR" dirty="0"/>
              <a:t>, </a:t>
            </a:r>
            <a:r>
              <a:rPr lang="ko-KR" altLang="en-US" dirty="0"/>
              <a:t>음식물 등 금지</a:t>
            </a:r>
            <a:endParaRPr lang="en-US" altLang="ko-KR" dirty="0"/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defRPr/>
            </a:pPr>
            <a:r>
              <a:rPr lang="ko-KR" altLang="en-US" dirty="0"/>
              <a:t>청결하게 사용하기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075" y="3886200"/>
            <a:ext cx="176212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28788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행복한 경영 이야기</a:t>
            </a:r>
            <a:r>
              <a:rPr lang="en-US" altLang="ko-KR" dirty="0"/>
              <a:t>(www.happyceo.co.kr)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60325" y="1022350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>
              <a:defRPr/>
            </a:pPr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오늘 무슨 생각을 하느냐에 내일이 달려 있다</a:t>
            </a:r>
            <a:r>
              <a:rPr lang="en-US" altLang="ko-KR" sz="2400" dirty="0">
                <a:solidFill>
                  <a:srgbClr val="339966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60325" y="1454150"/>
            <a:ext cx="8997950" cy="4999038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당신의 오늘은 어제 생각한 결과이다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lnSpc>
                <a:spcPct val="140000"/>
              </a:lnSpc>
              <a:defRPr/>
            </a:pP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당신의 내일은 오늘 무슨 생각을 하느냐에 달려 있다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lnSpc>
                <a:spcPct val="140000"/>
              </a:lnSpc>
              <a:defRPr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(Your life today is a result of your thinking yesterday.</a:t>
            </a:r>
          </a:p>
          <a:p>
            <a:pPr>
              <a:lnSpc>
                <a:spcPct val="140000"/>
              </a:lnSpc>
              <a:defRPr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Your life tomorrow will be determined by what you think today.)               - </a:t>
            </a:r>
            <a:r>
              <a:rPr lang="ko-KR" altLang="en-US" sz="2000" b="1" dirty="0">
                <a:latin typeface="맑은 고딕" pitchFamily="50" charset="-127"/>
                <a:ea typeface="맑은 고딕" pitchFamily="50" charset="-127"/>
              </a:rPr>
              <a:t>존 맥스웰</a:t>
            </a: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(John C. Maxwell) </a:t>
            </a:r>
          </a:p>
          <a:p>
            <a:pPr>
              <a:lnSpc>
                <a:spcPct val="140000"/>
              </a:lnSpc>
              <a:defRPr/>
            </a:pPr>
            <a:r>
              <a:rPr lang="en-US" altLang="ko-KR" sz="2000" b="1" dirty="0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pic>
        <p:nvPicPr>
          <p:cNvPr id="7" name="Picture 10" descr="mou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041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C656A19-9E4D-42EC-BC62-3DF0D33A3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127" y="3717032"/>
            <a:ext cx="3773746" cy="2428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B42953-2F8E-4836-B8C2-99F6C0DA5698}"/>
              </a:ext>
            </a:extLst>
          </p:cNvPr>
          <p:cNvSpPr txBox="1"/>
          <p:nvPr/>
        </p:nvSpPr>
        <p:spPr>
          <a:xfrm>
            <a:off x="2948414" y="6160705"/>
            <a:ext cx="3247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https://www.dreamstime.com/&gt;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2756752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19110</TotalTime>
  <Words>838</Words>
  <Application>Microsoft Office PowerPoint</Application>
  <PresentationFormat>화면 슬라이드 쇼(4:3)</PresentationFormat>
  <Paragraphs>197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HY견고딕</vt:lpstr>
      <vt:lpstr>굴림</vt:lpstr>
      <vt:lpstr>맑은 고딕</vt:lpstr>
      <vt:lpstr>휴먼엑스포</vt:lpstr>
      <vt:lpstr>Times New Roman</vt:lpstr>
      <vt:lpstr>Wingdings</vt:lpstr>
      <vt:lpstr>기본 디자인</vt:lpstr>
      <vt:lpstr>JSP</vt:lpstr>
      <vt:lpstr>PowerPoint 프레젠테이션</vt:lpstr>
      <vt:lpstr>당신의 온도는 몇 도입니까?</vt:lpstr>
      <vt:lpstr>졸업 후 진로 (자료: 잡코리아)</vt:lpstr>
      <vt:lpstr>개발자 연봉 추이</vt:lpstr>
      <vt:lpstr>학습목표</vt:lpstr>
      <vt:lpstr>웹/앱 과목 체계</vt:lpstr>
      <vt:lpstr>강좌 소개</vt:lpstr>
      <vt:lpstr>강의 진행방식</vt:lpstr>
      <vt:lpstr>Flipped Learning</vt:lpstr>
      <vt:lpstr>주차별 강의내용(1)</vt:lpstr>
      <vt:lpstr>주차별 강의내용(2)</vt:lpstr>
      <vt:lpstr>주차별 강의내용(3)</vt:lpstr>
      <vt:lpstr>좋은 성적을 얻기 위해</vt:lpstr>
      <vt:lpstr>행복한 경영 이야기(www.happyceo.co.kr)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390</cp:revision>
  <dcterms:created xsi:type="dcterms:W3CDTF">2003-05-07T20:17:23Z</dcterms:created>
  <dcterms:modified xsi:type="dcterms:W3CDTF">2025-08-27T04:21:17Z</dcterms:modified>
</cp:coreProperties>
</file>