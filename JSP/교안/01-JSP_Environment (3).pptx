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2"/>
  </p:notesMasterIdLst>
  <p:handoutMasterIdLst>
    <p:handoutMasterId r:id="rId83"/>
  </p:handoutMasterIdLst>
  <p:sldIdLst>
    <p:sldId id="632" r:id="rId2"/>
    <p:sldId id="648" r:id="rId3"/>
    <p:sldId id="704" r:id="rId4"/>
    <p:sldId id="682" r:id="rId5"/>
    <p:sldId id="712" r:id="rId6"/>
    <p:sldId id="854" r:id="rId7"/>
    <p:sldId id="713" r:id="rId8"/>
    <p:sldId id="1160" r:id="rId9"/>
    <p:sldId id="779" r:id="rId10"/>
    <p:sldId id="714" r:id="rId11"/>
    <p:sldId id="855" r:id="rId12"/>
    <p:sldId id="720" r:id="rId13"/>
    <p:sldId id="1155" r:id="rId14"/>
    <p:sldId id="715" r:id="rId15"/>
    <p:sldId id="716" r:id="rId16"/>
    <p:sldId id="856" r:id="rId17"/>
    <p:sldId id="1156" r:id="rId18"/>
    <p:sldId id="717" r:id="rId19"/>
    <p:sldId id="721" r:id="rId20"/>
    <p:sldId id="848" r:id="rId21"/>
    <p:sldId id="718" r:id="rId22"/>
    <p:sldId id="1170" r:id="rId23"/>
    <p:sldId id="1171" r:id="rId24"/>
    <p:sldId id="1193" r:id="rId25"/>
    <p:sldId id="1172" r:id="rId26"/>
    <p:sldId id="1178" r:id="rId27"/>
    <p:sldId id="1183" r:id="rId28"/>
    <p:sldId id="1248" r:id="rId29"/>
    <p:sldId id="1249" r:id="rId30"/>
    <p:sldId id="1250" r:id="rId31"/>
    <p:sldId id="1251" r:id="rId32"/>
    <p:sldId id="1245" r:id="rId33"/>
    <p:sldId id="1173" r:id="rId34"/>
    <p:sldId id="1174" r:id="rId35"/>
    <p:sldId id="1255" r:id="rId36"/>
    <p:sldId id="1176" r:id="rId37"/>
    <p:sldId id="1256" r:id="rId38"/>
    <p:sldId id="1257" r:id="rId39"/>
    <p:sldId id="1242" r:id="rId40"/>
    <p:sldId id="1243" r:id="rId41"/>
    <p:sldId id="1246" r:id="rId42"/>
    <p:sldId id="1191" r:id="rId43"/>
    <p:sldId id="1192" r:id="rId44"/>
    <p:sldId id="1194" r:id="rId45"/>
    <p:sldId id="1252" r:id="rId46"/>
    <p:sldId id="1253" r:id="rId47"/>
    <p:sldId id="1254" r:id="rId48"/>
    <p:sldId id="1195" r:id="rId49"/>
    <p:sldId id="1238" r:id="rId50"/>
    <p:sldId id="1239" r:id="rId51"/>
    <p:sldId id="1196" r:id="rId52"/>
    <p:sldId id="1197" r:id="rId53"/>
    <p:sldId id="1198" r:id="rId54"/>
    <p:sldId id="1199" r:id="rId55"/>
    <p:sldId id="1200" r:id="rId56"/>
    <p:sldId id="759" r:id="rId57"/>
    <p:sldId id="1260" r:id="rId58"/>
    <p:sldId id="850" r:id="rId59"/>
    <p:sldId id="1247" r:id="rId60"/>
    <p:sldId id="859" r:id="rId61"/>
    <p:sldId id="755" r:id="rId62"/>
    <p:sldId id="756" r:id="rId63"/>
    <p:sldId id="760" r:id="rId64"/>
    <p:sldId id="761" r:id="rId65"/>
    <p:sldId id="762" r:id="rId66"/>
    <p:sldId id="763" r:id="rId67"/>
    <p:sldId id="764" r:id="rId68"/>
    <p:sldId id="812" r:id="rId69"/>
    <p:sldId id="1258" r:id="rId70"/>
    <p:sldId id="1259" r:id="rId71"/>
    <p:sldId id="860" r:id="rId72"/>
    <p:sldId id="765" r:id="rId73"/>
    <p:sldId id="1261" r:id="rId74"/>
    <p:sldId id="815" r:id="rId75"/>
    <p:sldId id="852" r:id="rId76"/>
    <p:sldId id="853" r:id="rId77"/>
    <p:sldId id="767" r:id="rId78"/>
    <p:sldId id="1262" r:id="rId79"/>
    <p:sldId id="1263" r:id="rId80"/>
    <p:sldId id="703" r:id="rId81"/>
  </p:sldIdLst>
  <p:sldSz cx="9144000" cy="6858000" type="screen4x3"/>
  <p:notesSz cx="6669088" cy="992822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5pPr>
    <a:lvl6pPr marL="22860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6pPr>
    <a:lvl7pPr marL="27432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7pPr>
    <a:lvl8pPr marL="32004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8pPr>
    <a:lvl9pPr marL="36576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6600"/>
    <a:srgbClr val="6600CC"/>
    <a:srgbClr val="CC3300"/>
    <a:srgbClr val="0066CC"/>
    <a:srgbClr val="CC0000"/>
    <a:srgbClr val="FFFF00"/>
    <a:srgbClr val="FFCC66"/>
    <a:srgbClr val="FFCCCC"/>
    <a:srgbClr val="00CC00"/>
    <a:srgbClr val="99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4" autoAdjust="0"/>
    <p:restoredTop sz="94148" autoAdjust="0"/>
  </p:normalViewPr>
  <p:slideViewPr>
    <p:cSldViewPr>
      <p:cViewPr varScale="1">
        <p:scale>
          <a:sx n="107" d="100"/>
          <a:sy n="107" d="100"/>
        </p:scale>
        <p:origin x="145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0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8250" y="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8250" y="942975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A8C382E9-E5ED-4CED-B6BC-23B4AA5643F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493218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8250" y="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86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55663" y="746125"/>
            <a:ext cx="4959350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9000" y="4714875"/>
            <a:ext cx="4891088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8250" y="942975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53C7CC32-617A-4543-9F16-0492C8AD01F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132989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A4C1E9-341E-47A5-AC3A-D9E2B75F852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accent6">
                  <a:lumMod val="50000"/>
                </a:schemeClr>
              </a:buClr>
              <a:defRPr b="1">
                <a:latin typeface="맑은 고딕" pitchFamily="50" charset="-127"/>
                <a:ea typeface="맑은 고딕" pitchFamily="50" charset="-127"/>
              </a:defRPr>
            </a:lvl1pPr>
            <a:lvl2pPr marL="648000" indent="-216000">
              <a:buClr>
                <a:schemeClr val="accent6">
                  <a:lumMod val="50000"/>
                </a:schemeClr>
              </a:buClr>
              <a:defRPr sz="2200" b="1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008000"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3pPr>
            <a:lvl4pPr>
              <a:defRPr sz="1800" b="1">
                <a:latin typeface="맑은 고딕" pitchFamily="50" charset="-127"/>
                <a:ea typeface="맑은 고딕" pitchFamily="50" charset="-127"/>
              </a:defRPr>
            </a:lvl4pPr>
            <a:lvl5pPr>
              <a:defRPr sz="1800" b="1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77C9E6-AAC5-4CE3-AEB9-B27125AB2F7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ACB472-C4C4-477E-8AC0-53956F98114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07950" y="981075"/>
            <a:ext cx="4398963" cy="5581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59313" y="981075"/>
            <a:ext cx="4398962" cy="5581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481EA1-F96D-428B-BAD9-77C664AB889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581765-32A9-43A2-A13B-73A4EFC8A23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534400" y="6597352"/>
            <a:ext cx="533400" cy="235185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8C69D1-562B-4BA3-B970-F557F717323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A63119-A075-4A06-B8B9-191AF54DF5F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1034A6-DBBC-48F1-A09B-6AF30E1274A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C30B49-4FB7-4305-BEBF-6D643FD0662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BB478B-1B83-4F62-9152-5F83492182B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21488" y="188913"/>
            <a:ext cx="2236787" cy="637381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07950" y="188913"/>
            <a:ext cx="6561138" cy="637381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C8E164-0165-4B37-AF99-AD7B6ECE173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제목, 텍스트 및 차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7950" y="188913"/>
            <a:ext cx="8928100" cy="5461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107950" y="981075"/>
            <a:ext cx="4398963" cy="55816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차트 개체 틀 3"/>
          <p:cNvSpPr>
            <a:spLocks noGrp="1"/>
          </p:cNvSpPr>
          <p:nvPr>
            <p:ph type="chart" sz="half" idx="2"/>
          </p:nvPr>
        </p:nvSpPr>
        <p:spPr>
          <a:xfrm>
            <a:off x="4659313" y="981075"/>
            <a:ext cx="4398962" cy="5581650"/>
          </a:xfrm>
        </p:spPr>
        <p:txBody>
          <a:bodyPr/>
          <a:lstStyle/>
          <a:p>
            <a:pPr lvl="0"/>
            <a:endParaRPr lang="ko-KR" altLang="en-US" noProof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B23F4B-D0D5-4898-8A05-343EBDC5E87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5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3175" y="6500813"/>
            <a:ext cx="7232650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14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0"/>
            <a:ext cx="9144000" cy="105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7950" y="55672"/>
            <a:ext cx="8928100" cy="8072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7950" y="981075"/>
            <a:ext cx="8950325" cy="5519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34400" y="6534150"/>
            <a:ext cx="533400" cy="2827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accent6">
                    <a:lumMod val="75000"/>
                  </a:schemeClr>
                </a:solidFill>
                <a:latin typeface="휴먼엑스포" pitchFamily="18" charset="-127"/>
                <a:ea typeface="휴먼엑스포" pitchFamily="18" charset="-127"/>
              </a:defRPr>
            </a:lvl1pPr>
          </a:lstStyle>
          <a:p>
            <a:pPr>
              <a:defRPr/>
            </a:pPr>
            <a:fld id="{C0C53A76-8A71-4B64-A76C-1B97F54C0D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512359"/>
            <a:ext cx="22677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꿈     은 이루어진다</a:t>
            </a:r>
            <a:endParaRPr lang="ko-KR" altLang="en-US" dirty="0">
              <a:solidFill>
                <a:srgbClr val="CC33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포인트가 5개인 별 9"/>
          <p:cNvSpPr/>
          <p:nvPr userDrawn="1"/>
        </p:nvSpPr>
        <p:spPr>
          <a:xfrm>
            <a:off x="286457" y="6453336"/>
            <a:ext cx="360040" cy="380578"/>
          </a:xfrm>
          <a:prstGeom prst="star5">
            <a:avLst/>
          </a:prstGeom>
          <a:solidFill>
            <a:srgbClr val="FF0000"/>
          </a:solidFill>
          <a:ln w="3175">
            <a:solidFill>
              <a:srgbClr val="FFFF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2" name="Picture 2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6534222"/>
            <a:ext cx="1296144" cy="291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zoom/>
  </p:transition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3366"/>
        </a:buClr>
        <a:buFont typeface="Wingdings" pitchFamily="2" charset="2"/>
        <a:buChar char="v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>
            <a:lumMod val="50000"/>
          </a:schemeClr>
        </a:buClr>
        <a:buFont typeface="Wingdings" pitchFamily="2" charset="2"/>
        <a:buChar char="§"/>
        <a:defRPr kumimoji="1" sz="2000" b="1">
          <a:solidFill>
            <a:schemeClr val="accent2">
              <a:lumMod val="75000"/>
            </a:schemeClr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000" b="1">
          <a:solidFill>
            <a:srgbClr val="404040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 sz="2000">
          <a:solidFill>
            <a:srgbClr val="5F5F5F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 sz="2000">
          <a:solidFill>
            <a:srgbClr val="5F5F5F"/>
          </a:solidFill>
          <a:latin typeface="+mn-lt"/>
          <a:ea typeface="+mn-ea"/>
        </a:defRPr>
      </a:lvl5pPr>
      <a:lvl6pPr marL="25146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6pPr>
      <a:lvl7pPr marL="29718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7pPr>
      <a:lvl8pPr marL="34290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8pPr>
      <a:lvl9pPr marL="38862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0.png"/><Relationship Id="rId4" Type="http://schemas.openxmlformats.org/officeDocument/2006/relationships/image" Target="../media/image119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2051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61BE838-21C4-44E0-A59C-8FA45DC8143D}" type="slidenum">
              <a:rPr lang="en-US" altLang="ko-KR" smtClean="0"/>
              <a:pPr/>
              <a:t>1</a:t>
            </a:fld>
            <a:endParaRPr lang="en-US" altLang="ko-KR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386D347-40F8-4AF9-A4C1-7B01892BB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8738" y="0"/>
            <a:ext cx="4566524" cy="6858000"/>
          </a:xfrm>
          <a:prstGeom prst="rect">
            <a:avLst/>
          </a:prstGeom>
        </p:spPr>
      </p:pic>
      <p:sp>
        <p:nvSpPr>
          <p:cNvPr id="205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60488" y="5589240"/>
            <a:ext cx="6400800" cy="555362"/>
          </a:xfrm>
        </p:spPr>
        <p:txBody>
          <a:bodyPr>
            <a:scene3d>
              <a:camera prst="orthographicFront"/>
              <a:lightRig rig="threePt" dir="t"/>
            </a:scene3d>
            <a:sp3d extrusionH="6350" contourW="6350"/>
          </a:bodyPr>
          <a:lstStyle/>
          <a:p>
            <a:pPr eaLnBrk="1" hangingPunct="1">
              <a:defRPr/>
            </a:pPr>
            <a:r>
              <a:rPr lang="ko-KR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두원공과대학교 컴퓨터공학과 </a:t>
            </a:r>
            <a:r>
              <a:rPr lang="en-US" altLang="ko-KR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학년</a:t>
            </a:r>
          </a:p>
        </p:txBody>
      </p:sp>
      <p:sp>
        <p:nvSpPr>
          <p:cNvPr id="10" name="제목 9"/>
          <p:cNvSpPr>
            <a:spLocks noGrp="1"/>
          </p:cNvSpPr>
          <p:nvPr>
            <p:ph type="ctrTitle"/>
          </p:nvPr>
        </p:nvSpPr>
        <p:spPr>
          <a:xfrm>
            <a:off x="755576" y="1165222"/>
            <a:ext cx="7514232" cy="1111650"/>
          </a:xfrm>
        </p:spPr>
        <p:txBody>
          <a:bodyPr>
            <a:scene3d>
              <a:camera prst="orthographicFront"/>
              <a:lightRig rig="threePt" dir="t"/>
            </a:scene3d>
            <a:sp3d extrusionH="6350" contourW="6350"/>
          </a:bodyPr>
          <a:lstStyle/>
          <a:p>
            <a:pPr algn="ctr">
              <a:defRPr/>
            </a:pPr>
            <a:r>
              <a:rPr lang="en-US" altLang="ko-KR" sz="4000" dirty="0">
                <a:solidFill>
                  <a:srgbClr val="FF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JSP </a:t>
            </a:r>
            <a:r>
              <a:rPr lang="ko-KR" altLang="en-US" sz="4000" dirty="0">
                <a:solidFill>
                  <a:srgbClr val="FF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개발환경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31840" y="804021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JSP</a:t>
            </a:r>
            <a:endParaRPr lang="ko-KR" altLang="en-US" sz="1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6053847-62A1-4E89-8DAA-4521CF1C0422}" type="slidenum">
              <a:rPr lang="en-US" altLang="ko-KR" smtClean="0"/>
              <a:pPr/>
              <a:t>2</a:t>
            </a:fld>
            <a:endParaRPr lang="en-US" altLang="ko-KR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2A31A033-E33C-4B0C-93F1-FD152274077C}"/>
              </a:ext>
            </a:extLst>
          </p:cNvPr>
          <p:cNvGrpSpPr/>
          <p:nvPr/>
        </p:nvGrpSpPr>
        <p:grpSpPr>
          <a:xfrm>
            <a:off x="251520" y="179056"/>
            <a:ext cx="8640960" cy="6499888"/>
            <a:chOff x="179512" y="34262"/>
            <a:chExt cx="9200969" cy="6723809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E5544D5E-968F-4765-BBEA-C85BD4C0C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9512" y="34262"/>
              <a:ext cx="4495238" cy="6523809"/>
            </a:xfrm>
            <a:prstGeom prst="rect">
              <a:avLst/>
            </a:prstGeom>
          </p:spPr>
        </p:pic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75B65814-E900-40DC-A5A5-9B59149389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28099" y="34262"/>
              <a:ext cx="4552382" cy="6723809"/>
            </a:xfrm>
            <a:prstGeom prst="rect">
              <a:avLst/>
            </a:prstGeom>
          </p:spPr>
        </p:pic>
      </p:grpSp>
    </p:spTree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행복한 경영 이야기</a:t>
            </a:r>
            <a:r>
              <a:rPr lang="en-US" altLang="ko-KR" dirty="0"/>
              <a:t>(happyceo.or.kr)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  <p:sp>
        <p:nvSpPr>
          <p:cNvPr id="5" name="AutoShape 7"/>
          <p:cNvSpPr>
            <a:spLocks noChangeArrowheads="1"/>
          </p:cNvSpPr>
          <p:nvPr/>
        </p:nvSpPr>
        <p:spPr bwMode="auto">
          <a:xfrm>
            <a:off x="60325" y="1052736"/>
            <a:ext cx="8997950" cy="431800"/>
          </a:xfrm>
          <a:prstGeom prst="roundRect">
            <a:avLst>
              <a:gd name="adj" fmla="val 0"/>
            </a:avLst>
          </a:prstGeom>
          <a:solidFill>
            <a:srgbClr val="FFFFCC"/>
          </a:solidFill>
          <a:ln w="19050">
            <a:solidFill>
              <a:srgbClr val="339966"/>
            </a:solidFill>
            <a:round/>
            <a:headEnd/>
            <a:tailEnd/>
          </a:ln>
        </p:spPr>
        <p:txBody>
          <a:bodyPr wrap="none" anchor="ctr"/>
          <a:lstStyle/>
          <a:p>
            <a:pPr algn="just"/>
            <a:r>
              <a:rPr lang="ko-KR" altLang="en-US" sz="2400" dirty="0">
                <a:solidFill>
                  <a:srgbClr val="339966"/>
                </a:solidFill>
                <a:latin typeface="+mn-ea"/>
                <a:ea typeface="+mn-ea"/>
              </a:rPr>
              <a:t>성공하면 행복해지는 것이 아니라</a:t>
            </a:r>
            <a:r>
              <a:rPr lang="en-US" altLang="ko-KR" sz="2400" dirty="0">
                <a:solidFill>
                  <a:srgbClr val="339966"/>
                </a:solidFill>
                <a:latin typeface="+mn-ea"/>
                <a:ea typeface="+mn-ea"/>
              </a:rPr>
              <a:t>, </a:t>
            </a:r>
            <a:r>
              <a:rPr lang="ko-KR" altLang="en-US" sz="2400" dirty="0">
                <a:solidFill>
                  <a:srgbClr val="339966"/>
                </a:solidFill>
                <a:latin typeface="+mn-ea"/>
                <a:ea typeface="+mn-ea"/>
              </a:rPr>
              <a:t>행복이 성공을 불러온다</a:t>
            </a:r>
            <a:r>
              <a:rPr lang="en-US" altLang="ko-KR" sz="2400" dirty="0">
                <a:solidFill>
                  <a:srgbClr val="339966"/>
                </a:solidFill>
                <a:latin typeface="+mn-ea"/>
                <a:ea typeface="+mn-ea"/>
              </a:rPr>
              <a:t>.</a:t>
            </a:r>
            <a:r>
              <a:rPr lang="ko-KR" altLang="en-US" sz="2400" dirty="0">
                <a:solidFill>
                  <a:srgbClr val="339966"/>
                </a:solidFill>
                <a:latin typeface="+mn-ea"/>
                <a:ea typeface="+mn-ea"/>
              </a:rPr>
              <a:t> </a:t>
            </a:r>
            <a:endParaRPr lang="en-US" altLang="ko-KR" sz="24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60325" y="1484536"/>
            <a:ext cx="8997950" cy="4891087"/>
          </a:xfrm>
          <a:prstGeom prst="rect">
            <a:avLst/>
          </a:prstGeom>
          <a:solidFill>
            <a:schemeClr val="bg1"/>
          </a:solidFill>
          <a:ln w="19050">
            <a:solidFill>
              <a:srgbClr val="339966"/>
            </a:solidFill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ko-KR" altLang="en-US" sz="2000" b="0" i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많은 사람은 자기가 더 열심히 일하면</a:t>
            </a:r>
            <a:r>
              <a:rPr lang="en-US" altLang="ko-KR" sz="2000" b="0" i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</a:p>
          <a:p>
            <a:pPr algn="l"/>
            <a:r>
              <a:rPr lang="ko-KR" altLang="en-US" sz="2000" b="0" i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더 나은 일자리를 가지면</a:t>
            </a:r>
            <a:r>
              <a:rPr lang="en-US" altLang="ko-KR" sz="2000" b="0" i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br>
              <a:rPr lang="en-US" altLang="ko-KR" sz="2000" b="0" i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2000" b="0" i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완벽한 동반자를 만나면</a:t>
            </a:r>
            <a:r>
              <a:rPr lang="en-US" altLang="ko-KR" sz="2000" b="0" i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</a:p>
          <a:p>
            <a:pPr algn="l"/>
            <a:r>
              <a:rPr lang="en-US" altLang="ko-KR" sz="2000" b="0" i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2000" b="0" i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킬로만 살을 빼면</a:t>
            </a:r>
            <a:r>
              <a:rPr lang="en-US" altLang="ko-KR" sz="2000" b="0" i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2000" b="0" i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lang="ko-KR" altLang="en-US" sz="2000" b="0" i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2000" b="0" i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지금 보다 더 행복할 거라 믿는다</a:t>
            </a:r>
            <a:r>
              <a:rPr lang="en-US" altLang="ko-KR" sz="2000" b="0" i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br>
              <a:rPr lang="en-US" altLang="ko-KR" sz="2000" b="0" i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2000" b="0" i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그러나 이것은 잘못된 생각이다</a:t>
            </a:r>
            <a:r>
              <a:rPr lang="en-US" altLang="ko-KR" sz="2000" b="0" i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br>
              <a:rPr lang="en-US" altLang="ko-KR" sz="2000" b="0" i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2000" b="0" i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한계를 설정하는 잘못된 신호를 모두 몰아내라</a:t>
            </a:r>
            <a:r>
              <a:rPr lang="en-US" altLang="ko-KR" sz="2000" b="0" i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br>
              <a:rPr lang="en-US" altLang="ko-KR" sz="2000" b="0" i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2000" b="0" i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행복은 성공의 연료이지만 성공이 행복의 연료일 수는 없다</a:t>
            </a:r>
            <a:r>
              <a:rPr lang="en-US" altLang="ko-KR" sz="2000" b="0" i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br>
              <a:rPr lang="en-US" altLang="ko-KR" sz="2000" b="0" i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2000" b="0" i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2000" b="0" i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손 아치</a:t>
            </a:r>
            <a:r>
              <a:rPr lang="en-US" altLang="ko-KR" sz="2000" b="0" i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‘</a:t>
            </a:r>
            <a:r>
              <a:rPr lang="ko-KR" altLang="en-US" sz="2000" b="0" i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행복의 </a:t>
            </a:r>
            <a:r>
              <a:rPr lang="ko-KR" altLang="en-US" sz="2000" b="0" i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특권’에서</a:t>
            </a:r>
            <a:endParaRPr lang="en-US" altLang="ko-KR" sz="2000" b="0" i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/>
            <a:endParaRPr lang="ko-KR" altLang="en-US" sz="2000" b="0" i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/>
            <a:r>
              <a:rPr lang="ko-KR" altLang="en-US" sz="2000" b="0" i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우리는 늘 무언가 채워지면 행복해 질 거라 믿고 살아갑니다</a:t>
            </a:r>
            <a:r>
              <a:rPr lang="en-US" altLang="ko-KR" sz="2000" b="0" i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2000" b="0" i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그러나 행복은 조건이 아닙니다</a:t>
            </a:r>
            <a:r>
              <a:rPr lang="en-US" altLang="ko-KR" sz="2000" b="0" i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2000" b="0" i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성공하면 당연히 행복이 따라오는 것도 아닙니다</a:t>
            </a:r>
            <a:r>
              <a:rPr lang="en-US" altLang="ko-KR" sz="2000" b="0" i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2000" b="0" i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오히려 그 반대입니다</a:t>
            </a:r>
            <a:r>
              <a:rPr lang="en-US" altLang="ko-KR" sz="2000" b="0" i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br>
              <a:rPr lang="en-US" altLang="ko-KR" sz="2000" b="0" i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2000" b="0" i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매일매일 긍정적 마인드를 가지고 적극적으로 생활하다 보면 삶 자체가 행복해지고</a:t>
            </a:r>
            <a:r>
              <a:rPr lang="en-US" altLang="ko-KR" sz="2000" b="0" i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000" b="0" i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그러한 작은 행복이 모여 자연스럽게 큰 성공을 불러오게 됩니다</a:t>
            </a:r>
            <a:r>
              <a:rPr lang="en-US" altLang="ko-KR" sz="2000" b="0" i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lvl="0" eaLnBrk="0" latinLnBrk="0" hangingPunct="0">
              <a:lnSpc>
                <a:spcPct val="140000"/>
              </a:lnSpc>
            </a:pPr>
            <a:endParaRPr kumimoji="0" lang="ko-KR" altLang="ko-KR" sz="2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0" eaLnBrk="0" fontAlgn="t" latinLnBrk="0" hangingPunct="0">
              <a:lnSpc>
                <a:spcPct val="140000"/>
              </a:lnSpc>
            </a:pPr>
            <a:endParaRPr kumimoji="0" lang="ko-KR" altLang="ko-KR" sz="2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Picture 10" descr="mous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9813" y="112553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25556624-5F0C-4568-9F32-955A65E62E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184" y="1518235"/>
            <a:ext cx="2768924" cy="2096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347888"/>
      </p:ext>
    </p:extLst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학습목표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C69D1-562B-4BA3-B970-F557F7173233}" type="slidenum">
              <a:rPr lang="en-US" altLang="ko-KR" smtClean="0"/>
              <a:pPr>
                <a:defRPr/>
              </a:pPr>
              <a:t>4</a:t>
            </a:fld>
            <a:endParaRPr lang="en-US" altLang="ko-KR"/>
          </a:p>
        </p:txBody>
      </p:sp>
      <p:pic>
        <p:nvPicPr>
          <p:cNvPr id="2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6313" y="4643438"/>
            <a:ext cx="389255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  <a:defRPr/>
            </a:pPr>
            <a:r>
              <a:rPr lang="ko-KR" altLang="en-US" dirty="0"/>
              <a:t>본 강좌를 성공적으로 이수하면 학생들은</a:t>
            </a:r>
            <a:r>
              <a:rPr lang="ko-KR" altLang="en-US" sz="2800" dirty="0"/>
              <a:t> 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ko-KR" altLang="en-US" dirty="0"/>
              <a:t>웹 프로그래밍의 개념을 설명할 수 있다</a:t>
            </a:r>
            <a:endParaRPr lang="en-US" altLang="ko-KR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altLang="ko-KR" dirty="0"/>
              <a:t>JSP</a:t>
            </a:r>
            <a:r>
              <a:rPr lang="ko-KR" altLang="en-US" dirty="0"/>
              <a:t> 개발환경을 설정할 수 있다</a:t>
            </a:r>
            <a:r>
              <a:rPr lang="en-US" altLang="ko-KR" dirty="0"/>
              <a:t>.</a:t>
            </a:r>
          </a:p>
          <a:p>
            <a:pPr lvl="2" eaLnBrk="1" hangingPunct="1">
              <a:lnSpc>
                <a:spcPct val="110000"/>
              </a:lnSpc>
              <a:defRPr/>
            </a:pPr>
            <a:r>
              <a:rPr lang="en-US" altLang="ko-KR" dirty="0"/>
              <a:t>JDK</a:t>
            </a:r>
          </a:p>
          <a:p>
            <a:pPr lvl="2" eaLnBrk="1" hangingPunct="1">
              <a:lnSpc>
                <a:spcPct val="110000"/>
              </a:lnSpc>
              <a:defRPr/>
            </a:pPr>
            <a:r>
              <a:rPr lang="en-US" altLang="ko-KR" dirty="0"/>
              <a:t>Tomcat</a:t>
            </a:r>
          </a:p>
          <a:p>
            <a:pPr lvl="2" eaLnBrk="1" hangingPunct="1">
              <a:lnSpc>
                <a:spcPct val="110000"/>
              </a:lnSpc>
              <a:defRPr/>
            </a:pPr>
            <a:r>
              <a:rPr lang="en-US" altLang="ko-KR" dirty="0"/>
              <a:t>Eclipse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ko-KR" altLang="en-US" dirty="0"/>
              <a:t>간단한 예제를 활용하여 </a:t>
            </a:r>
            <a:r>
              <a:rPr lang="en-US" altLang="ko-KR" dirty="0"/>
              <a:t>JSP</a:t>
            </a:r>
            <a:r>
              <a:rPr lang="ko-KR" altLang="en-US" dirty="0"/>
              <a:t>와 첫 만남을 경험한다</a:t>
            </a:r>
            <a:r>
              <a:rPr lang="en-US" altLang="ko-KR" dirty="0"/>
              <a:t>.</a:t>
            </a:r>
          </a:p>
          <a:p>
            <a:pPr lvl="2" eaLnBrk="1" hangingPunct="1">
              <a:lnSpc>
                <a:spcPct val="110000"/>
              </a:lnSpc>
              <a:defRPr/>
            </a:pPr>
            <a:r>
              <a:rPr lang="en-US" altLang="ko-KR" dirty="0"/>
              <a:t>Hello World JSP !</a:t>
            </a:r>
          </a:p>
        </p:txBody>
      </p:sp>
    </p:spTree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네트워크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네트워크 </a:t>
            </a:r>
            <a:r>
              <a:rPr lang="en-US" altLang="ko-KR" dirty="0"/>
              <a:t>(Network)</a:t>
            </a:r>
          </a:p>
          <a:p>
            <a:pPr lvl="1"/>
            <a:r>
              <a:rPr lang="ko-KR" altLang="en-US" dirty="0"/>
              <a:t>사전적 의미는 </a:t>
            </a:r>
            <a:r>
              <a:rPr lang="en-US" altLang="ko-KR" dirty="0"/>
              <a:t>“</a:t>
            </a:r>
            <a:r>
              <a:rPr lang="ko-KR" altLang="en-US" dirty="0"/>
              <a:t>전선이나 혈관</a:t>
            </a:r>
            <a:r>
              <a:rPr lang="en-US" altLang="ko-KR" dirty="0"/>
              <a:t>, </a:t>
            </a:r>
            <a:r>
              <a:rPr lang="ko-KR" altLang="en-US" dirty="0"/>
              <a:t>통로 등으로 이루어진 </a:t>
            </a:r>
            <a:r>
              <a:rPr lang="ko-KR" altLang="en-US" dirty="0" err="1"/>
              <a:t>망형</a:t>
            </a:r>
            <a:r>
              <a:rPr lang="ko-KR" altLang="en-US" dirty="0"/>
              <a:t> 조직</a:t>
            </a:r>
            <a:r>
              <a:rPr lang="en-US" altLang="ko-KR" dirty="0"/>
              <a:t>”</a:t>
            </a:r>
          </a:p>
          <a:p>
            <a:pPr lvl="1"/>
            <a:r>
              <a:rPr lang="ko-KR" altLang="en-US" dirty="0"/>
              <a:t>방송사 네트워크</a:t>
            </a:r>
            <a:r>
              <a:rPr lang="en-US" altLang="ko-KR" dirty="0"/>
              <a:t>, </a:t>
            </a:r>
            <a:r>
              <a:rPr lang="ko-KR" altLang="en-US" dirty="0"/>
              <a:t>휴먼 네트워크</a:t>
            </a:r>
            <a:r>
              <a:rPr lang="en-US" altLang="ko-KR" dirty="0"/>
              <a:t>(Human Network)</a:t>
            </a:r>
            <a:r>
              <a:rPr lang="ko-KR" altLang="en-US" dirty="0"/>
              <a:t> 등</a:t>
            </a:r>
            <a:endParaRPr lang="en-US" altLang="ko-KR" dirty="0"/>
          </a:p>
          <a:p>
            <a:pPr lvl="1"/>
            <a:r>
              <a:rPr lang="en-US" altLang="ko-KR" dirty="0"/>
              <a:t>IT</a:t>
            </a:r>
            <a:r>
              <a:rPr lang="ko-KR" altLang="en-US" dirty="0"/>
              <a:t>분야에서는 </a:t>
            </a:r>
            <a:r>
              <a:rPr lang="en-US" altLang="ko-KR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‘</a:t>
            </a:r>
            <a:r>
              <a:rPr lang="ko-KR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컴퓨터와 컴퓨터를 연결해 주는 망</a:t>
            </a:r>
            <a:r>
              <a:rPr lang="en-US" altLang="ko-KR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’</a:t>
            </a:r>
            <a:r>
              <a:rPr lang="ko-KR" altLang="en-US" dirty="0"/>
              <a:t>의 개념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5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B524651-CE91-46B2-966A-5643CABE7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0027" y="2948140"/>
            <a:ext cx="4983946" cy="333140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1DE0824-9B8F-4E29-A38F-078961A650AA}"/>
              </a:ext>
            </a:extLst>
          </p:cNvPr>
          <p:cNvSpPr txBox="1"/>
          <p:nvPr/>
        </p:nvSpPr>
        <p:spPr>
          <a:xfrm>
            <a:off x="3278697" y="6258332"/>
            <a:ext cx="25866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그림 출처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https://creately.com/&gt;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95746932"/>
      </p:ext>
    </p:extLst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네트워크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TCP/IP</a:t>
            </a:r>
            <a:endParaRPr lang="ko-KR" altLang="en-US" dirty="0"/>
          </a:p>
          <a:p>
            <a:pPr lvl="1"/>
            <a:r>
              <a:rPr lang="en-US" altLang="ko-KR" dirty="0"/>
              <a:t>TCP/IP(Transmission Control Protocol/Internet Protocol)</a:t>
            </a:r>
            <a:r>
              <a:rPr lang="ko-KR" altLang="en-US" dirty="0"/>
              <a:t>는 컴퓨터 간에 통신할 수 있도록 만든 프로토콜 집합</a:t>
            </a:r>
            <a:endParaRPr lang="en-US" altLang="ko-KR" dirty="0"/>
          </a:p>
          <a:p>
            <a:pPr lvl="1"/>
            <a:r>
              <a:rPr lang="ko-KR" altLang="en-US" dirty="0"/>
              <a:t>인터넷의 기반 네트워크 시스템으로 하드웨어</a:t>
            </a:r>
            <a:r>
              <a:rPr lang="en-US" altLang="ko-KR" dirty="0"/>
              <a:t>, </a:t>
            </a:r>
            <a:r>
              <a:rPr lang="ko-KR" altLang="en-US" dirty="0"/>
              <a:t>운영체제</a:t>
            </a:r>
            <a:r>
              <a:rPr lang="en-US" altLang="ko-KR" dirty="0"/>
              <a:t>, </a:t>
            </a:r>
            <a:r>
              <a:rPr lang="ko-KR" altLang="en-US" dirty="0"/>
              <a:t>접속 매체에 관계없이 동작할 수 있는 개방형 구조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6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D6045F1-70EB-4706-8BA5-6FA4D9C0C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976" y="3212976"/>
            <a:ext cx="4442272" cy="30760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B03355A-A984-490B-A8A5-5A37FCA1F07F}"/>
              </a:ext>
            </a:extLst>
          </p:cNvPr>
          <p:cNvSpPr txBox="1"/>
          <p:nvPr/>
        </p:nvSpPr>
        <p:spPr>
          <a:xfrm>
            <a:off x="3122725" y="6261370"/>
            <a:ext cx="28985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그림 출처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http://pigbrain.github.io/&gt;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91056055"/>
      </p:ext>
    </p:extLst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네트워크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IP</a:t>
            </a:r>
            <a:r>
              <a:rPr lang="ko-KR" altLang="en-US" dirty="0"/>
              <a:t> 주소</a:t>
            </a:r>
            <a:endParaRPr lang="en-US" altLang="ko-KR" dirty="0"/>
          </a:p>
          <a:p>
            <a:pPr lvl="1"/>
            <a:r>
              <a:rPr lang="en-US" altLang="ko-KR" dirty="0"/>
              <a:t>TCP/IP</a:t>
            </a:r>
            <a:r>
              <a:rPr lang="ko-KR" altLang="en-US" dirty="0"/>
              <a:t>로 연결된 네트워크에서 컴퓨터를 구분하기 위한 주소</a:t>
            </a:r>
            <a:endParaRPr lang="en-US" altLang="ko-KR" dirty="0"/>
          </a:p>
          <a:p>
            <a:pPr lvl="1"/>
            <a:r>
              <a:rPr lang="en-US" altLang="ko-KR" dirty="0"/>
              <a:t>IPv4</a:t>
            </a:r>
            <a:r>
              <a:rPr lang="ko-KR" altLang="en-US" dirty="0"/>
              <a:t>는 </a:t>
            </a:r>
            <a:r>
              <a:rPr lang="en-US" altLang="ko-KR" dirty="0"/>
              <a:t>“210.119.160.2” </a:t>
            </a:r>
            <a:r>
              <a:rPr lang="ko-KR" altLang="en-US" dirty="0"/>
              <a:t>형식으로</a:t>
            </a:r>
            <a:r>
              <a:rPr lang="en-US" altLang="ko-KR" dirty="0"/>
              <a:t> </a:t>
            </a:r>
            <a:r>
              <a:rPr lang="ko-KR" altLang="en-US" dirty="0"/>
              <a:t>네 개의 </a:t>
            </a:r>
            <a:r>
              <a:rPr lang="en-US" altLang="ko-KR" dirty="0"/>
              <a:t>1Byte </a:t>
            </a:r>
            <a:r>
              <a:rPr lang="ko-KR" altLang="en-US" dirty="0"/>
              <a:t>숫자로 구성</a:t>
            </a:r>
            <a:endParaRPr lang="en-US" altLang="ko-KR" dirty="0"/>
          </a:p>
          <a:p>
            <a:pPr lvl="1"/>
            <a:r>
              <a:rPr lang="en-US" altLang="ko-KR" dirty="0"/>
              <a:t>IPv4</a:t>
            </a:r>
            <a:r>
              <a:rPr lang="ko-KR" altLang="en-US" dirty="0"/>
              <a:t>의 한계로 인해 </a:t>
            </a:r>
            <a:r>
              <a:rPr lang="en-US" altLang="ko-KR" dirty="0"/>
              <a:t>IPv6</a:t>
            </a:r>
            <a:r>
              <a:rPr lang="ko-KR" altLang="en-US" dirty="0"/>
              <a:t>가 개발되었으나</a:t>
            </a:r>
            <a:r>
              <a:rPr lang="en-US" altLang="ko-KR" dirty="0"/>
              <a:t>,</a:t>
            </a:r>
            <a:r>
              <a:rPr lang="ko-KR" altLang="en-US" dirty="0"/>
              <a:t> 사설 </a:t>
            </a:r>
            <a:r>
              <a:rPr lang="en-US" altLang="ko-KR" dirty="0"/>
              <a:t>IP </a:t>
            </a:r>
            <a:r>
              <a:rPr lang="ko-KR" altLang="en-US" dirty="0"/>
              <a:t>사용으로 </a:t>
            </a:r>
            <a:r>
              <a:rPr lang="en-US" altLang="ko-KR" dirty="0"/>
              <a:t>IPv6</a:t>
            </a:r>
            <a:r>
              <a:rPr lang="ko-KR" altLang="en-US" dirty="0"/>
              <a:t>의 사용이 지연되고 있음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7</a:t>
            </a:fld>
            <a:endParaRPr lang="en-US" altLang="ko-K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C02314-92D5-4A48-AF4D-ED1D1B31B6A2}"/>
              </a:ext>
            </a:extLst>
          </p:cNvPr>
          <p:cNvSpPr txBox="1"/>
          <p:nvPr/>
        </p:nvSpPr>
        <p:spPr>
          <a:xfrm>
            <a:off x="2609443" y="6226373"/>
            <a:ext cx="39251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그림 출처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https://en.wikipedia.org/wiki/IPv6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/&gt;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1FED29C-3FAC-416F-8EBA-D85881FF36D0}"/>
              </a:ext>
            </a:extLst>
          </p:cNvPr>
          <p:cNvGrpSpPr/>
          <p:nvPr/>
        </p:nvGrpSpPr>
        <p:grpSpPr>
          <a:xfrm>
            <a:off x="892040" y="3331370"/>
            <a:ext cx="7359918" cy="2773283"/>
            <a:chOff x="1114205" y="3569947"/>
            <a:chExt cx="6612457" cy="2250688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458252F4-78BE-45A6-9B55-0876CC660F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4205" y="3573016"/>
              <a:ext cx="2990476" cy="2247619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96BFD6F7-3FC3-41EB-A237-104811984A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83968" y="3569947"/>
              <a:ext cx="3442694" cy="224761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18964424"/>
      </p:ext>
    </p:extLst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BF221-D477-1CDA-ED9D-46499B46F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85D57D-AF51-9792-E4D2-993568153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컴퓨터의 주소체계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732275-F613-D333-D61F-B5BF028FB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50" y="981075"/>
            <a:ext cx="8928099" cy="5581650"/>
          </a:xfrm>
        </p:spPr>
        <p:txBody>
          <a:bodyPr/>
          <a:lstStyle/>
          <a:p>
            <a:r>
              <a:rPr lang="ko-KR" altLang="en-US" dirty="0"/>
              <a:t>컴퓨터 주소</a:t>
            </a:r>
            <a:endParaRPr lang="en-US" altLang="ko-KR" dirty="0"/>
          </a:p>
          <a:p>
            <a:pPr lvl="1"/>
            <a:r>
              <a:rPr lang="en-US" altLang="ko-KR" dirty="0"/>
              <a:t>IP</a:t>
            </a:r>
            <a:r>
              <a:rPr lang="ko-KR" altLang="en-US" dirty="0"/>
              <a:t> 주소 </a:t>
            </a:r>
            <a:r>
              <a:rPr lang="en-US" altLang="ko-KR" dirty="0"/>
              <a:t>: IP(Internet Protocol)</a:t>
            </a:r>
            <a:r>
              <a:rPr lang="ko-KR" altLang="en-US" dirty="0"/>
              <a:t>에 근거한 컴퓨터의 고유 주소</a:t>
            </a:r>
            <a:endParaRPr lang="en-US" altLang="ko-KR" dirty="0"/>
          </a:p>
          <a:p>
            <a:pPr lvl="1"/>
            <a:r>
              <a:rPr lang="en-US" altLang="ko-KR" dirty="0"/>
              <a:t>DNS(Domain Name System) : </a:t>
            </a:r>
            <a:r>
              <a:rPr lang="ko-KR" altLang="en-US" dirty="0"/>
              <a:t>도메인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  <a:r>
              <a:rPr lang="en-US" altLang="ko-KR" dirty="0"/>
              <a:t>IP </a:t>
            </a:r>
            <a:r>
              <a:rPr lang="ko-KR" altLang="en-US" dirty="0"/>
              <a:t>주소 상호 변환</a:t>
            </a:r>
            <a:endParaRPr lang="en-US" altLang="ko-KR" dirty="0"/>
          </a:p>
          <a:p>
            <a:pPr lvl="1"/>
            <a:r>
              <a:rPr lang="ko-KR" altLang="en-US" dirty="0"/>
              <a:t>포트</a:t>
            </a:r>
            <a:r>
              <a:rPr lang="en-US" altLang="ko-KR" dirty="0"/>
              <a:t>(Port) : </a:t>
            </a:r>
            <a:r>
              <a:rPr lang="ko-KR" altLang="en-US" dirty="0"/>
              <a:t>동일</a:t>
            </a:r>
            <a:r>
              <a:rPr lang="en-US" altLang="ko-KR" dirty="0"/>
              <a:t> IP </a:t>
            </a:r>
            <a:r>
              <a:rPr lang="ko-KR" altLang="en-US" dirty="0"/>
              <a:t>주소에서 애플리케이션을 구분하는 번호</a:t>
            </a:r>
          </a:p>
          <a:p>
            <a:pPr lvl="1"/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6AA8367-DFD7-16D7-85A8-15163C9700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2080" y="3223054"/>
            <a:ext cx="3609404" cy="258371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7E52BE0-65BF-3711-4957-FF625CB135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19" y="3223054"/>
            <a:ext cx="4795267" cy="258371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EBD3CAF-D027-0EF9-4355-AB41F0F43CA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575"/>
          <a:stretch/>
        </p:blipFill>
        <p:spPr>
          <a:xfrm>
            <a:off x="1619671" y="3645024"/>
            <a:ext cx="3427115" cy="2161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685217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네트워크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DNS(Domain Name System)</a:t>
            </a:r>
          </a:p>
          <a:p>
            <a:pPr lvl="1"/>
            <a:r>
              <a:rPr lang="ko-KR" altLang="en-US" dirty="0"/>
              <a:t>숫자인 </a:t>
            </a:r>
            <a:r>
              <a:rPr lang="en-US" altLang="ko-KR" dirty="0"/>
              <a:t>IP</a:t>
            </a:r>
            <a:r>
              <a:rPr lang="ko-KR" altLang="en-US" dirty="0"/>
              <a:t>주소 대신 알기 쉬운 이름 형식으로 컴퓨터를 구분하기 위한 인터넷 서비스 </a:t>
            </a:r>
            <a:endParaRPr lang="en-US" altLang="ko-KR" dirty="0"/>
          </a:p>
          <a:p>
            <a:pPr lvl="1"/>
            <a:r>
              <a:rPr lang="ko-KR" altLang="en-US" dirty="0"/>
              <a:t>도메인 관리 기관을 통해 일정 비용을 지불하고 사용</a:t>
            </a:r>
            <a:endParaRPr lang="en-US" altLang="ko-KR" dirty="0"/>
          </a:p>
          <a:p>
            <a:pPr lvl="2"/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) www.doowon.ac.kr, www.microsoft.com</a:t>
            </a:r>
          </a:p>
          <a:p>
            <a:pPr lvl="1"/>
            <a:r>
              <a:rPr lang="ko-KR" altLang="en-US" dirty="0"/>
              <a:t>도메인 네임으로 전달하면</a:t>
            </a:r>
            <a:r>
              <a:rPr lang="en-US" altLang="ko-KR" dirty="0"/>
              <a:t>, DNS server</a:t>
            </a:r>
            <a:r>
              <a:rPr lang="ko-KR" altLang="en-US" dirty="0"/>
              <a:t>에서 </a:t>
            </a:r>
            <a:r>
              <a:rPr lang="en-US" altLang="ko-KR" dirty="0"/>
              <a:t>IP </a:t>
            </a:r>
            <a:r>
              <a:rPr lang="ko-KR" altLang="en-US" dirty="0"/>
              <a:t>주소로 변환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9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DF842E7-1877-4234-8984-71B9020E07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3777" y="3740944"/>
            <a:ext cx="3336446" cy="24482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266C02D-F301-4939-A922-2DC9DD08887E}"/>
              </a:ext>
            </a:extLst>
          </p:cNvPr>
          <p:cNvSpPr txBox="1"/>
          <p:nvPr/>
        </p:nvSpPr>
        <p:spPr>
          <a:xfrm>
            <a:off x="2765210" y="6223814"/>
            <a:ext cx="36358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그림 출처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https://coding-start.tistory.com/348&gt;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75195395"/>
      </p:ext>
    </p:extLst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네트워크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포트</a:t>
            </a:r>
            <a:r>
              <a:rPr lang="en-US" altLang="ko-KR" dirty="0"/>
              <a:t>(port)</a:t>
            </a:r>
          </a:p>
          <a:p>
            <a:pPr lvl="1"/>
            <a:r>
              <a:rPr lang="ko-KR" altLang="en-US" dirty="0"/>
              <a:t>네트워크 서비스를 접속하기 위한 접점</a:t>
            </a:r>
            <a:endParaRPr lang="en-US" altLang="ko-KR" dirty="0"/>
          </a:p>
          <a:p>
            <a:pPr lvl="1"/>
            <a:r>
              <a:rPr lang="ko-KR" altLang="en-US" dirty="0"/>
              <a:t>컴퓨터에서 여러 네트워크 서비스를 제공하는 경우 이를 구분하기 위한 용도로 사용</a:t>
            </a:r>
            <a:endParaRPr lang="en-US" altLang="ko-KR" dirty="0"/>
          </a:p>
          <a:p>
            <a:r>
              <a:rPr lang="ko-KR" altLang="en-US" dirty="0" err="1"/>
              <a:t>종단점</a:t>
            </a:r>
            <a:r>
              <a:rPr lang="en-US" altLang="ko-KR" dirty="0"/>
              <a:t>(End Point)</a:t>
            </a:r>
          </a:p>
          <a:p>
            <a:pPr lvl="1"/>
            <a:r>
              <a:rPr lang="en-US" altLang="ko-KR" dirty="0"/>
              <a:t>IP</a:t>
            </a:r>
            <a:r>
              <a:rPr lang="ko-KR" altLang="en-US" dirty="0"/>
              <a:t> 주소와 </a:t>
            </a:r>
            <a:r>
              <a:rPr lang="en-US" altLang="ko-KR" dirty="0"/>
              <a:t>Port </a:t>
            </a:r>
            <a:r>
              <a:rPr lang="ko-KR" altLang="en-US" dirty="0"/>
              <a:t>번호로 지정 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. broadway.doowon.ac.kr:80)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10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E092D32-62A9-4AE9-830B-93B641B3D2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4005064"/>
            <a:ext cx="3058053" cy="1949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DB16B98-34E2-4113-B4C4-662144E9F593}"/>
              </a:ext>
            </a:extLst>
          </p:cNvPr>
          <p:cNvSpPr txBox="1"/>
          <p:nvPr/>
        </p:nvSpPr>
        <p:spPr>
          <a:xfrm>
            <a:off x="644707" y="5907651"/>
            <a:ext cx="38164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그림 출처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https://sites.google.com/site/koenigkamal/networks/networks-components&gt;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4743D0A-C5B2-4D3D-B2BE-546803840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4351" y="4017114"/>
            <a:ext cx="4226010" cy="19372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5CD0596-5461-4A60-9BB9-7F0EA1E36A2F}"/>
              </a:ext>
            </a:extLst>
          </p:cNvPr>
          <p:cNvSpPr txBox="1"/>
          <p:nvPr/>
        </p:nvSpPr>
        <p:spPr>
          <a:xfrm>
            <a:off x="5079144" y="5916621"/>
            <a:ext cx="38164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&lt;Well-known port numbers&gt;</a:t>
            </a:r>
          </a:p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그림 출처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https://cramhack.com/2018/03/28/network-ports/&gt;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45017107"/>
      </p:ext>
    </p:extLst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네트워크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프로토콜</a:t>
            </a:r>
            <a:endParaRPr lang="en-US" altLang="ko-KR" dirty="0"/>
          </a:p>
          <a:p>
            <a:pPr lvl="1"/>
            <a:r>
              <a:rPr lang="ko-KR" altLang="en-US" dirty="0"/>
              <a:t>네트워크에 연결된 컴퓨터들 간 통신을 하기 위한 약속 </a:t>
            </a:r>
            <a:r>
              <a:rPr lang="en-US" altLang="ko-KR" dirty="0"/>
              <a:t>(</a:t>
            </a:r>
            <a:r>
              <a:rPr lang="ko-KR" altLang="en-US" dirty="0"/>
              <a:t>통신 규약</a:t>
            </a:r>
            <a:r>
              <a:rPr lang="en-US" altLang="ko-KR" dirty="0"/>
              <a:t>) 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en-US" altLang="ko-KR" dirty="0"/>
              <a:t> TCP/IP</a:t>
            </a:r>
            <a:r>
              <a:rPr lang="ko-KR" altLang="en-US" dirty="0"/>
              <a:t>는 여러 통신규약들의 집합</a:t>
            </a:r>
            <a:endParaRPr lang="en-US" altLang="ko-KR" dirty="0"/>
          </a:p>
          <a:p>
            <a:pPr lvl="1"/>
            <a:r>
              <a:rPr lang="ko-KR" altLang="en-US" dirty="0"/>
              <a:t>인터넷 서비스들은 </a:t>
            </a:r>
            <a:r>
              <a:rPr lang="en-US" altLang="ko-KR" dirty="0"/>
              <a:t>TCP/IP 4</a:t>
            </a:r>
            <a:r>
              <a:rPr lang="ko-KR" altLang="en-US" dirty="0"/>
              <a:t>계층 중 응용계층에 해당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11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07D8F63-EE88-44EB-B249-CC080B9D0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255" y="2996952"/>
            <a:ext cx="6089490" cy="27737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CF10623-5CFB-4B6B-9DC1-1118A9A8349E}"/>
              </a:ext>
            </a:extLst>
          </p:cNvPr>
          <p:cNvSpPr txBox="1"/>
          <p:nvPr/>
        </p:nvSpPr>
        <p:spPr>
          <a:xfrm>
            <a:off x="2780386" y="6165304"/>
            <a:ext cx="35832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그림 출처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https://www.net.t-labs.tu-berlin.de/&gt;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18411642"/>
      </p:ext>
    </p:extLst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네트워크 </a:t>
            </a:r>
            <a:r>
              <a:rPr lang="en-US" altLang="ko-KR" dirty="0"/>
              <a:t>(ipconfig</a:t>
            </a:r>
            <a:r>
              <a:rPr lang="ko-KR" altLang="en-US" dirty="0"/>
              <a:t> </a:t>
            </a:r>
            <a:r>
              <a:rPr lang="en-US" altLang="ko-KR" dirty="0"/>
              <a:t>/all)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12</a:t>
            </a:fld>
            <a:endParaRPr lang="en-US" altLang="ko-KR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493" y="1043866"/>
            <a:ext cx="6711014" cy="5345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227057"/>
      </p:ext>
    </p:extLst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9B09AE-8CDD-312D-733E-9A0C356DC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월드 와이드 웹</a:t>
            </a:r>
            <a:r>
              <a:rPr lang="en-US" altLang="ko-KR" dirty="0"/>
              <a:t> (www)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9C0EA4-FA25-E311-6728-4F3F317647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www</a:t>
            </a:r>
            <a:r>
              <a:rPr lang="en-US" altLang="ko-KR" baseline="3000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world wide web</a:t>
            </a:r>
          </a:p>
          <a:p>
            <a:pPr lvl="1"/>
            <a:r>
              <a:rPr lang="en-US" altLang="ko-KR"/>
              <a:t>1989</a:t>
            </a:r>
            <a:r>
              <a:rPr lang="ko-KR" altLang="en-US"/>
              <a:t>년</a:t>
            </a:r>
            <a:r>
              <a:rPr lang="en-US" altLang="ko-KR"/>
              <a:t>,</a:t>
            </a:r>
            <a:r>
              <a:rPr lang="ko-KR" altLang="en-US"/>
              <a:t> 영국 </a:t>
            </a:r>
            <a:r>
              <a:rPr lang="en-US" altLang="ko-KR"/>
              <a:t>Tim Berners-Lee</a:t>
            </a:r>
            <a:r>
              <a:rPr lang="ko-KR" altLang="en-US"/>
              <a:t>가 </a:t>
            </a:r>
            <a:r>
              <a:rPr lang="en-US" altLang="ko-KR"/>
              <a:t>CERN </a:t>
            </a:r>
            <a:r>
              <a:rPr lang="ko-KR" altLang="en-US"/>
              <a:t>내부의 정보 공유 목적</a:t>
            </a:r>
            <a:r>
              <a:rPr lang="en-US" altLang="ko-KR"/>
              <a:t> </a:t>
            </a:r>
          </a:p>
          <a:p>
            <a:pPr lvl="1"/>
            <a:r>
              <a:rPr lang="en-US" altLang="ko-KR"/>
              <a:t>HTML</a:t>
            </a:r>
            <a:r>
              <a:rPr lang="en-US" altLang="ko-KR" baseline="30000">
                <a:solidFill>
                  <a:schemeClr val="tx1">
                    <a:lumMod val="50000"/>
                    <a:lumOff val="50000"/>
                  </a:schemeClr>
                </a:solidFill>
              </a:rPr>
              <a:t>Hyper Text Markup Language</a:t>
            </a:r>
            <a:r>
              <a:rPr lang="ko-KR" altLang="en-US"/>
              <a:t> 형식으로 인터넷에서 사용할 수 있는 모든 웹 페이지 또는 온라인 콘텐츠</a:t>
            </a:r>
            <a:endParaRPr lang="en-US" altLang="ko-KR"/>
          </a:p>
          <a:p>
            <a:pPr lvl="1"/>
            <a:r>
              <a:rPr lang="ko-KR" altLang="en-US"/>
              <a:t>정보 공유 </a:t>
            </a:r>
            <a:r>
              <a:rPr lang="en-US" altLang="ko-KR"/>
              <a:t>: HTML</a:t>
            </a:r>
            <a:r>
              <a:rPr lang="ko-KR" altLang="en-US"/>
              <a:t> 콘텐츠를</a:t>
            </a:r>
            <a:r>
              <a:rPr lang="en-US" altLang="ko-KR"/>
              <a:t>, HTTP</a:t>
            </a:r>
            <a:r>
              <a:rPr lang="ko-KR" altLang="en-US"/>
              <a:t>프로토콜로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en-US" altLang="ko-KR"/>
              <a:t>TCP/IP</a:t>
            </a:r>
            <a:r>
              <a:rPr lang="ko-KR" altLang="en-US"/>
              <a:t>에서 사용</a:t>
            </a:r>
            <a:endParaRPr lang="en-US" altLang="ko-KR"/>
          </a:p>
          <a:p>
            <a:pPr lvl="1"/>
            <a:r>
              <a:rPr lang="ko-KR" altLang="en-US"/>
              <a:t>인터넷에서 운영되는 대표적인 서비스</a:t>
            </a:r>
            <a:r>
              <a:rPr lang="en-US" altLang="ko-KR"/>
              <a:t>, </a:t>
            </a:r>
            <a:r>
              <a:rPr lang="en-US" altLang="ko-KR">
                <a:solidFill>
                  <a:srgbClr val="CC6600"/>
                </a:solidFill>
              </a:rPr>
              <a:t>‘</a:t>
            </a:r>
            <a:r>
              <a:rPr lang="ko-KR" altLang="en-US">
                <a:solidFill>
                  <a:srgbClr val="CC6600"/>
                </a:solidFill>
              </a:rPr>
              <a:t>웹 </a:t>
            </a:r>
            <a:r>
              <a:rPr lang="en-US" altLang="ko-KR">
                <a:solidFill>
                  <a:srgbClr val="CC6600"/>
                </a:solidFill>
              </a:rPr>
              <a:t>= </a:t>
            </a:r>
            <a:r>
              <a:rPr lang="ko-KR" altLang="en-US">
                <a:solidFill>
                  <a:srgbClr val="CC6600"/>
                </a:solidFill>
              </a:rPr>
              <a:t>인터넷</a:t>
            </a:r>
            <a:r>
              <a:rPr lang="en-US" altLang="ko-KR">
                <a:solidFill>
                  <a:srgbClr val="CC6600"/>
                </a:solidFill>
              </a:rPr>
              <a:t>’</a:t>
            </a:r>
            <a:r>
              <a:rPr lang="ko-KR" altLang="en-US"/>
              <a:t>으로 인식</a:t>
            </a:r>
            <a:endParaRPr lang="en-US" altLang="ko-KR"/>
          </a:p>
          <a:p>
            <a:pPr lvl="1"/>
            <a:r>
              <a:rPr lang="ko-KR" altLang="en-US"/>
              <a:t>웹 브라우저</a:t>
            </a:r>
            <a:r>
              <a:rPr lang="en-US" altLang="ko-KR"/>
              <a:t>/</a:t>
            </a:r>
            <a:r>
              <a:rPr lang="ko-KR" altLang="en-US"/>
              <a:t>인터넷만 있으면 </a:t>
            </a:r>
            <a:r>
              <a:rPr lang="ko-KR" altLang="en-US">
                <a:solidFill>
                  <a:srgbClr val="CC6600"/>
                </a:solidFill>
              </a:rPr>
              <a:t>기종에 상관없이 동일한 서비스</a:t>
            </a:r>
            <a:endParaRPr lang="en-US" altLang="ko-KR" dirty="0"/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3AC8D2B5-FFCF-0AA5-A932-4803858198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4400" y="6534150"/>
            <a:ext cx="533400" cy="282723"/>
          </a:xfrm>
        </p:spPr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13</a:t>
            </a:fld>
            <a:endParaRPr lang="en-US" altLang="ko-KR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20E925C6-3867-A86D-7BE9-3BBA95F46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2714" y="4333437"/>
            <a:ext cx="4338572" cy="2080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07165"/>
      </p:ext>
    </p:extLst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웹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웹 브라우저</a:t>
            </a:r>
            <a:endParaRPr lang="en-US" altLang="ko-KR" dirty="0"/>
          </a:p>
          <a:p>
            <a:pPr lvl="1"/>
            <a:r>
              <a:rPr lang="en-US" altLang="ko-KR" dirty="0"/>
              <a:t>HTML </a:t>
            </a:r>
            <a:r>
              <a:rPr lang="ko-KR" altLang="en-US" dirty="0"/>
              <a:t>문서</a:t>
            </a:r>
            <a:r>
              <a:rPr lang="en-US" altLang="ko-KR" dirty="0"/>
              <a:t>, </a:t>
            </a:r>
            <a:r>
              <a:rPr lang="ko-KR" altLang="en-US" dirty="0"/>
              <a:t>그림</a:t>
            </a:r>
            <a:r>
              <a:rPr lang="en-US" altLang="ko-KR" dirty="0"/>
              <a:t>, </a:t>
            </a:r>
            <a:r>
              <a:rPr lang="ko-KR" altLang="en-US" dirty="0"/>
              <a:t>멀티미디어 등 </a:t>
            </a:r>
            <a:r>
              <a:rPr lang="en-US" altLang="ko-KR" dirty="0"/>
              <a:t>www</a:t>
            </a:r>
            <a:r>
              <a:rPr lang="ko-KR" altLang="en-US" dirty="0"/>
              <a:t>을 기반으로 한 콘텐츠에 접근하기 위한 응용 프로그램</a:t>
            </a:r>
            <a:endParaRPr lang="en-US" altLang="ko-KR" dirty="0"/>
          </a:p>
          <a:p>
            <a:pPr lvl="1"/>
            <a:r>
              <a:rPr lang="ko-KR" altLang="en-US" dirty="0"/>
              <a:t>원래는 웹 서핑을 위한 도구였으나</a:t>
            </a:r>
            <a:r>
              <a:rPr lang="en-US" altLang="ko-KR" dirty="0"/>
              <a:t>, </a:t>
            </a:r>
            <a:r>
              <a:rPr lang="ko-KR" altLang="en-US" dirty="0"/>
              <a:t>기능이 점차 확대</a:t>
            </a:r>
            <a:endParaRPr lang="en-US" altLang="ko-KR" dirty="0"/>
          </a:p>
          <a:p>
            <a:pPr lvl="2"/>
            <a:r>
              <a:rPr lang="en-US" altLang="ko-KR" dirty="0"/>
              <a:t>MP3 </a:t>
            </a:r>
            <a:r>
              <a:rPr lang="ko-KR" altLang="en-US" dirty="0"/>
              <a:t>플레이어</a:t>
            </a:r>
            <a:r>
              <a:rPr lang="en-US" altLang="ko-KR" dirty="0"/>
              <a:t>, </a:t>
            </a:r>
            <a:r>
              <a:rPr lang="ko-KR" altLang="en-US" dirty="0"/>
              <a:t>카메라</a:t>
            </a:r>
            <a:r>
              <a:rPr lang="en-US" altLang="ko-KR" dirty="0"/>
              <a:t>, </a:t>
            </a:r>
            <a:r>
              <a:rPr lang="ko-KR" altLang="en-US" dirty="0"/>
              <a:t>지도</a:t>
            </a:r>
            <a:r>
              <a:rPr lang="en-US" altLang="ko-KR" dirty="0"/>
              <a:t>, </a:t>
            </a:r>
            <a:r>
              <a:rPr lang="ko-KR" altLang="en-US" dirty="0"/>
              <a:t>손전등</a:t>
            </a:r>
            <a:r>
              <a:rPr lang="en-US" altLang="ko-KR" dirty="0"/>
              <a:t>, </a:t>
            </a:r>
            <a:r>
              <a:rPr lang="ko-KR" altLang="en-US" dirty="0"/>
              <a:t>계산기</a:t>
            </a:r>
            <a:r>
              <a:rPr lang="en-US" altLang="ko-KR" dirty="0"/>
              <a:t>, …</a:t>
            </a:r>
          </a:p>
          <a:p>
            <a:pPr lvl="1"/>
            <a:r>
              <a:rPr lang="ko-KR" altLang="en-US" dirty="0"/>
              <a:t>크롬 등장 이후 웹 표준을 준수하는 경향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14</a:t>
            </a:fld>
            <a:endParaRPr lang="en-US" altLang="ko-KR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79" y="3796896"/>
            <a:ext cx="2187650" cy="126627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80" y="5292521"/>
            <a:ext cx="2187650" cy="95429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60EAE70-E3B0-22BF-D4B4-3B2FB8610C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0032" y="3717032"/>
            <a:ext cx="2376264" cy="2620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651628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웹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15</a:t>
            </a:fld>
            <a:endParaRPr lang="en-US" altLang="ko-KR"/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>
          <a:xfrm>
            <a:off x="107951" y="981075"/>
            <a:ext cx="5688185" cy="5519738"/>
          </a:xfrm>
        </p:spPr>
        <p:txBody>
          <a:bodyPr/>
          <a:lstStyle/>
          <a:p>
            <a:pPr lvl="0">
              <a:lnSpc>
                <a:spcPct val="110000"/>
              </a:lnSpc>
            </a:pPr>
            <a:r>
              <a:rPr lang="ko-KR" altLang="en-US" dirty="0">
                <a:solidFill>
                  <a:prstClr val="black"/>
                </a:solidFill>
              </a:rPr>
              <a:t>웹 환경</a:t>
            </a:r>
            <a:endParaRPr lang="en-US" altLang="ko-KR" dirty="0">
              <a:solidFill>
                <a:prstClr val="black"/>
              </a:solidFill>
            </a:endParaRPr>
          </a:p>
          <a:p>
            <a:pPr lvl="1">
              <a:lnSpc>
                <a:spcPct val="110000"/>
              </a:lnSpc>
            </a:pPr>
            <a:r>
              <a:rPr lang="ko-KR" altLang="en-US" dirty="0"/>
              <a:t>서버</a:t>
            </a:r>
            <a:r>
              <a:rPr lang="en-US" altLang="ko-KR" dirty="0"/>
              <a:t>(Server)</a:t>
            </a:r>
          </a:p>
          <a:p>
            <a:pPr lvl="2">
              <a:lnSpc>
                <a:spcPct val="110000"/>
              </a:lnSpc>
            </a:pPr>
            <a:r>
              <a:rPr lang="ko-KR" altLang="en-US" dirty="0"/>
              <a:t>네트워크에서 서비스를 제공하는 컴퓨터</a:t>
            </a:r>
            <a:endParaRPr lang="en-US" altLang="ko-KR" dirty="0"/>
          </a:p>
          <a:p>
            <a:pPr lvl="2">
              <a:lnSpc>
                <a:spcPct val="110000"/>
              </a:lnSpc>
            </a:pPr>
            <a:r>
              <a:rPr lang="ko-KR" altLang="en-US" dirty="0"/>
              <a:t>웹 서버</a:t>
            </a:r>
            <a:r>
              <a:rPr lang="en-US" altLang="ko-KR" dirty="0"/>
              <a:t>, FTP </a:t>
            </a:r>
            <a:r>
              <a:rPr lang="ko-KR" altLang="en-US" dirty="0"/>
              <a:t>서버</a:t>
            </a:r>
            <a:r>
              <a:rPr lang="en-US" altLang="ko-KR" dirty="0"/>
              <a:t>, </a:t>
            </a:r>
            <a:r>
              <a:rPr lang="ko-KR" altLang="en-US" dirty="0"/>
              <a:t>파일 서버</a:t>
            </a:r>
            <a:r>
              <a:rPr lang="en-US" altLang="ko-KR" dirty="0"/>
              <a:t>, </a:t>
            </a:r>
            <a:r>
              <a:rPr lang="ko-KR" altLang="en-US" dirty="0"/>
              <a:t>프린트 서버</a:t>
            </a:r>
            <a:endParaRPr lang="en-US" altLang="ko-KR" dirty="0"/>
          </a:p>
          <a:p>
            <a:pPr lvl="2">
              <a:lnSpc>
                <a:spcPct val="110000"/>
              </a:lnSpc>
            </a:pPr>
            <a:r>
              <a:rPr lang="ko-KR" altLang="en-US" dirty="0"/>
              <a:t>웹 서버</a:t>
            </a:r>
            <a:r>
              <a:rPr lang="en-US" altLang="ko-KR" dirty="0"/>
              <a:t> : </a:t>
            </a:r>
            <a:r>
              <a:rPr lang="en-US" altLang="ko-KR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IIS</a:t>
            </a:r>
            <a:r>
              <a:rPr lang="en-US" altLang="ko-KR" dirty="0"/>
              <a:t> (ASP.NET), </a:t>
            </a:r>
            <a:r>
              <a:rPr lang="en-US" altLang="ko-KR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Apache</a:t>
            </a:r>
            <a:r>
              <a:rPr lang="en-US" altLang="ko-KR" dirty="0"/>
              <a:t> (PHP, JSP), </a:t>
            </a:r>
            <a:r>
              <a:rPr lang="en-US" altLang="ko-KR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Tomcat</a:t>
            </a:r>
            <a:r>
              <a:rPr lang="en-US" altLang="ko-KR" dirty="0"/>
              <a:t> (JSP) </a:t>
            </a:r>
            <a:r>
              <a:rPr lang="ko-KR" altLang="en-US" dirty="0"/>
              <a:t>등</a:t>
            </a:r>
            <a:endParaRPr lang="en-US" altLang="ko-KR" dirty="0"/>
          </a:p>
          <a:p>
            <a:pPr lvl="1">
              <a:lnSpc>
                <a:spcPct val="110000"/>
              </a:lnSpc>
            </a:pPr>
            <a:r>
              <a:rPr lang="ko-KR" altLang="en-US" dirty="0"/>
              <a:t>클라이언트</a:t>
            </a:r>
            <a:r>
              <a:rPr lang="en-US" altLang="ko-KR" dirty="0"/>
              <a:t>(Client)</a:t>
            </a:r>
          </a:p>
          <a:p>
            <a:pPr lvl="2">
              <a:lnSpc>
                <a:spcPct val="110000"/>
              </a:lnSpc>
            </a:pPr>
            <a:r>
              <a:rPr lang="ko-KR" altLang="en-US" dirty="0"/>
              <a:t>서비스를</a:t>
            </a:r>
            <a:r>
              <a:rPr lang="en-US" altLang="ko-KR" dirty="0"/>
              <a:t> </a:t>
            </a:r>
            <a:r>
              <a:rPr lang="ko-KR" altLang="en-US" dirty="0"/>
              <a:t>이용하는 컴퓨터</a:t>
            </a:r>
            <a:endParaRPr lang="en-US" altLang="ko-KR" dirty="0"/>
          </a:p>
          <a:p>
            <a:pPr lvl="2">
              <a:lnSpc>
                <a:spcPct val="110000"/>
              </a:lnSpc>
            </a:pPr>
            <a:r>
              <a:rPr lang="en-US" altLang="ko-KR" dirty="0"/>
              <a:t>PC, </a:t>
            </a:r>
            <a:r>
              <a:rPr lang="ko-KR" altLang="en-US" dirty="0"/>
              <a:t>스마트폰</a:t>
            </a:r>
            <a:r>
              <a:rPr lang="en-US" altLang="ko-KR" dirty="0"/>
              <a:t>, </a:t>
            </a:r>
            <a:r>
              <a:rPr lang="ko-KR" altLang="en-US" dirty="0"/>
              <a:t>태블릿 등</a:t>
            </a:r>
            <a:endParaRPr lang="en-US" altLang="ko-KR" dirty="0"/>
          </a:p>
          <a:p>
            <a:pPr lvl="2">
              <a:lnSpc>
                <a:spcPct val="110000"/>
              </a:lnSpc>
            </a:pPr>
            <a:r>
              <a:rPr lang="ko-KR" altLang="en-US" dirty="0"/>
              <a:t>웹 클라이언트 </a:t>
            </a:r>
            <a:r>
              <a:rPr lang="en-US" altLang="ko-KR" dirty="0"/>
              <a:t>: </a:t>
            </a:r>
            <a:r>
              <a:rPr lang="ko-KR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웹 브라우저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지칭함</a:t>
            </a:r>
          </a:p>
        </p:txBody>
      </p:sp>
      <p:pic>
        <p:nvPicPr>
          <p:cNvPr id="9" name="그림 8" descr="그리기이(가) 표시된 사진&#10;&#10;자동 생성된 설명">
            <a:extLst>
              <a:ext uri="{FF2B5EF4-FFF2-40B4-BE49-F238E27FC236}">
                <a16:creationId xmlns:a16="http://schemas.microsoft.com/office/drawing/2014/main" id="{615C8F6F-8E00-ED9B-AF6D-55ABD8842DE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4168" y="2132856"/>
            <a:ext cx="2699792" cy="16198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97585BD-9056-495F-7C28-567BFCAC33E2}"/>
              </a:ext>
            </a:extLst>
          </p:cNvPr>
          <p:cNvSpPr txBox="1"/>
          <p:nvPr/>
        </p:nvSpPr>
        <p:spPr>
          <a:xfrm>
            <a:off x="6858000" y="3800140"/>
            <a:ext cx="14109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자료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위키백과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43237330"/>
      </p:ext>
    </p:extLst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웹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16</a:t>
            </a:fld>
            <a:endParaRPr lang="en-US" altLang="ko-KR"/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US" altLang="ko-KR" dirty="0"/>
              <a:t>HTTP(Hyper Text Transfer Protocol)</a:t>
            </a:r>
          </a:p>
          <a:p>
            <a:pPr lvl="1">
              <a:lnSpc>
                <a:spcPct val="110000"/>
              </a:lnSpc>
            </a:pPr>
            <a:r>
              <a:rPr lang="ko-KR" altLang="en-US" dirty="0"/>
              <a:t>웹 서비스에 사용되는 통신 규격</a:t>
            </a:r>
            <a:endParaRPr lang="en-US" altLang="ko-KR" dirty="0"/>
          </a:p>
          <a:p>
            <a:pPr lvl="1">
              <a:lnSpc>
                <a:spcPct val="110000"/>
              </a:lnSpc>
            </a:pPr>
            <a:r>
              <a:rPr lang="ko-KR" altLang="en-US" dirty="0"/>
              <a:t>간단한 명령어와 헤더 규격으로 되어 있음</a:t>
            </a:r>
            <a:endParaRPr lang="en-US" altLang="ko-KR" dirty="0"/>
          </a:p>
          <a:p>
            <a:pPr lvl="1">
              <a:lnSpc>
                <a:spcPct val="110000"/>
              </a:lnSpc>
            </a:pPr>
            <a:r>
              <a:rPr lang="en-US" altLang="ko-KR" dirty="0"/>
              <a:t>HTTP</a:t>
            </a:r>
            <a:r>
              <a:rPr lang="ko-KR" altLang="en-US" dirty="0"/>
              <a:t>에 근거하여 만든 언어가 </a:t>
            </a:r>
            <a:r>
              <a:rPr lang="en-US" altLang="ko-KR" dirty="0"/>
              <a:t>HTML </a:t>
            </a:r>
            <a:r>
              <a:rPr lang="en-US" altLang="ko-KR" baseline="30000" dirty="0"/>
              <a:t>Hyper Text Markup Language</a:t>
            </a:r>
          </a:p>
          <a:p>
            <a:pPr>
              <a:lnSpc>
                <a:spcPct val="110000"/>
              </a:lnSpc>
            </a:pP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4295C54-762C-4E69-AA58-1D509C7B8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1047" y="3140968"/>
            <a:ext cx="5361905" cy="219047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5AA9B73-49E3-49B8-8682-66297D405AAB}"/>
              </a:ext>
            </a:extLst>
          </p:cNvPr>
          <p:cNvSpPr txBox="1"/>
          <p:nvPr/>
        </p:nvSpPr>
        <p:spPr>
          <a:xfrm>
            <a:off x="2283822" y="5642108"/>
            <a:ext cx="45985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그림 출처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http://innovationm.co/http-protocol/&gt;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66749365"/>
      </p:ext>
    </p:extLst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330DD-79F5-9925-E2E0-FE476C421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74F074-C4CA-5B79-55D5-BC8D31D34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3-tier</a:t>
            </a:r>
            <a:r>
              <a:rPr lang="ko-KR" altLang="en-US" dirty="0"/>
              <a:t> </a:t>
            </a:r>
            <a:r>
              <a:rPr lang="en-US" altLang="ko-KR" dirty="0"/>
              <a:t>architecture(3 </a:t>
            </a:r>
            <a:r>
              <a:rPr lang="ko-KR" altLang="en-US" dirty="0"/>
              <a:t>계층 구조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55EF1AF-5F61-6B1F-93E3-707C5F1E5AB7}"/>
              </a:ext>
            </a:extLst>
          </p:cNvPr>
          <p:cNvSpPr/>
          <p:nvPr/>
        </p:nvSpPr>
        <p:spPr>
          <a:xfrm>
            <a:off x="395536" y="1556794"/>
            <a:ext cx="2448272" cy="403210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137AD30-6686-8A69-88C6-F87496300221}"/>
              </a:ext>
            </a:extLst>
          </p:cNvPr>
          <p:cNvSpPr/>
          <p:nvPr/>
        </p:nvSpPr>
        <p:spPr>
          <a:xfrm>
            <a:off x="3347864" y="1556793"/>
            <a:ext cx="2448272" cy="403210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849FAED-A258-1994-640C-0BD6AA184955}"/>
              </a:ext>
            </a:extLst>
          </p:cNvPr>
          <p:cNvSpPr/>
          <p:nvPr/>
        </p:nvSpPr>
        <p:spPr>
          <a:xfrm>
            <a:off x="6300192" y="1556792"/>
            <a:ext cx="2448272" cy="403210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E111CB-8152-A5C6-EABF-4CA5DFC6D523}"/>
              </a:ext>
            </a:extLst>
          </p:cNvPr>
          <p:cNvSpPr txBox="1"/>
          <p:nvPr/>
        </p:nvSpPr>
        <p:spPr>
          <a:xfrm>
            <a:off x="693488" y="1700810"/>
            <a:ext cx="18523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Presentation Tier</a:t>
            </a:r>
            <a:endParaRPr lang="ko-KR" altLang="en-US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9AD0B3-A173-ED9A-D968-A595BEFD69A6}"/>
              </a:ext>
            </a:extLst>
          </p:cNvPr>
          <p:cNvSpPr txBox="1"/>
          <p:nvPr/>
        </p:nvSpPr>
        <p:spPr>
          <a:xfrm>
            <a:off x="4001170" y="1703010"/>
            <a:ext cx="11416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Logic Tier</a:t>
            </a:r>
            <a:endParaRPr lang="ko-KR" altLang="en-US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0FDBB7-9345-06F7-0780-FE69391C65DF}"/>
              </a:ext>
            </a:extLst>
          </p:cNvPr>
          <p:cNvSpPr txBox="1"/>
          <p:nvPr/>
        </p:nvSpPr>
        <p:spPr>
          <a:xfrm>
            <a:off x="6983955" y="1705002"/>
            <a:ext cx="10807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Data Tier</a:t>
            </a:r>
            <a:endParaRPr lang="ko-KR" altLang="en-US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7C625E1C-6659-5284-DABD-5E0667F8D8B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3833" y="2216930"/>
            <a:ext cx="1284070" cy="89884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6E437FE-49A0-0EC6-993A-BC6782136D6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79425" y="2784464"/>
            <a:ext cx="732127" cy="89884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9CA0FE1A-850E-268B-2F60-2A8529E89C4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801594" y="2039364"/>
            <a:ext cx="1563035" cy="192161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A32850EF-0773-E220-B681-5998691DB273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D"/>
              </a:clrFrom>
              <a:clrTo>
                <a:srgbClr val="FFFF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799295" y="2196739"/>
            <a:ext cx="1450063" cy="144248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EB06421-C5BC-EF62-994C-00F0B73F5236}"/>
              </a:ext>
            </a:extLst>
          </p:cNvPr>
          <p:cNvSpPr txBox="1"/>
          <p:nvPr/>
        </p:nvSpPr>
        <p:spPr>
          <a:xfrm>
            <a:off x="735642" y="4381141"/>
            <a:ext cx="1758366" cy="7850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Web Client</a:t>
            </a: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 </a:t>
            </a:r>
            <a:r>
              <a:rPr lang="en-US" altLang="ko-KR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Web Browser</a:t>
            </a:r>
            <a:endParaRPr lang="ko-KR" altLang="en-US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9650C5-4A01-5BFE-EF4E-A2435B403C71}"/>
              </a:ext>
            </a:extLst>
          </p:cNvPr>
          <p:cNvSpPr txBox="1"/>
          <p:nvPr/>
        </p:nvSpPr>
        <p:spPr>
          <a:xfrm>
            <a:off x="3393511" y="4381141"/>
            <a:ext cx="2356991" cy="11526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Web Server</a:t>
            </a:r>
          </a:p>
          <a:p>
            <a:pPr marL="285750" indent="-285750" algn="ctr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Tomcat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,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IIS</a:t>
            </a:r>
            <a:r>
              <a:rPr lang="en-US" altLang="ko-K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(Internet </a:t>
            </a:r>
          </a:p>
          <a:p>
            <a:pPr algn="ctr">
              <a:lnSpc>
                <a:spcPct val="150000"/>
              </a:lnSpc>
            </a:pPr>
            <a:r>
              <a:rPr lang="en-US" altLang="ko-K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Information Services)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등</a:t>
            </a:r>
            <a:endParaRPr lang="ko-KR" altLang="en-US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2859F8-1849-229F-5A08-0FC9664C220C}"/>
              </a:ext>
            </a:extLst>
          </p:cNvPr>
          <p:cNvSpPr txBox="1"/>
          <p:nvPr/>
        </p:nvSpPr>
        <p:spPr>
          <a:xfrm>
            <a:off x="6254558" y="4476999"/>
            <a:ext cx="24482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Database Server</a:t>
            </a:r>
          </a:p>
          <a:p>
            <a:pPr marL="285750" indent="-285750" algn="ctr">
              <a:buFont typeface="Wingdings" panose="05000000000000000000" pitchFamily="2" charset="2"/>
              <a:buChar char="à"/>
            </a:pPr>
            <a:r>
              <a:rPr lang="en-US" altLang="ko-KR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SQL</a:t>
            </a:r>
            <a:r>
              <a:rPr lang="ko-KR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</a:t>
            </a:r>
            <a:r>
              <a:rPr lang="en-US" altLang="ko-KR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Server </a:t>
            </a:r>
          </a:p>
          <a:p>
            <a:pPr algn="ctr"/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MySQL(MariaDB),</a:t>
            </a:r>
          </a:p>
          <a:p>
            <a:pPr algn="ctr"/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Oracle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등</a:t>
            </a:r>
            <a:endParaRPr lang="ko-KR" altLang="en-US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10E9B8EB-BC3E-7E91-D0D0-D70C8CD1AD3D}"/>
              </a:ext>
            </a:extLst>
          </p:cNvPr>
          <p:cNvCxnSpPr/>
          <p:nvPr/>
        </p:nvCxnSpPr>
        <p:spPr>
          <a:xfrm>
            <a:off x="2411552" y="2420890"/>
            <a:ext cx="139004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7300D729-E818-9155-F6FD-DFC2DA4E2656}"/>
              </a:ext>
            </a:extLst>
          </p:cNvPr>
          <p:cNvCxnSpPr/>
          <p:nvPr/>
        </p:nvCxnSpPr>
        <p:spPr>
          <a:xfrm>
            <a:off x="2411552" y="3456734"/>
            <a:ext cx="1390042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B5D9ADE-E1F7-E521-EFCC-EEAB5E98C708}"/>
              </a:ext>
            </a:extLst>
          </p:cNvPr>
          <p:cNvSpPr txBox="1"/>
          <p:nvPr/>
        </p:nvSpPr>
        <p:spPr>
          <a:xfrm>
            <a:off x="2624325" y="2463863"/>
            <a:ext cx="9644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Request</a:t>
            </a:r>
            <a:endParaRPr lang="ko-KR" altLang="en-US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B84CF25-F610-A068-BD22-364F33D6A9B9}"/>
              </a:ext>
            </a:extLst>
          </p:cNvPr>
          <p:cNvSpPr txBox="1"/>
          <p:nvPr/>
        </p:nvSpPr>
        <p:spPr>
          <a:xfrm>
            <a:off x="2549301" y="3452914"/>
            <a:ext cx="11071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Response</a:t>
            </a:r>
          </a:p>
          <a:p>
            <a:pPr algn="ctr"/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(HTML)</a:t>
            </a:r>
            <a:endParaRPr lang="ko-KR" altLang="en-US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C09E456E-5C92-A03B-EDDD-5ED1C4AE935F}"/>
              </a:ext>
            </a:extLst>
          </p:cNvPr>
          <p:cNvCxnSpPr/>
          <p:nvPr/>
        </p:nvCxnSpPr>
        <p:spPr>
          <a:xfrm>
            <a:off x="5339594" y="2395322"/>
            <a:ext cx="139004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ED98AF62-8967-6B3D-D626-CF1FFC7797CA}"/>
              </a:ext>
            </a:extLst>
          </p:cNvPr>
          <p:cNvCxnSpPr/>
          <p:nvPr/>
        </p:nvCxnSpPr>
        <p:spPr>
          <a:xfrm>
            <a:off x="5339594" y="3431166"/>
            <a:ext cx="1390042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D2C3E21-FD44-DA7B-7C5E-028B5984D260}"/>
              </a:ext>
            </a:extLst>
          </p:cNvPr>
          <p:cNvSpPr txBox="1"/>
          <p:nvPr/>
        </p:nvSpPr>
        <p:spPr>
          <a:xfrm>
            <a:off x="5644506" y="2438295"/>
            <a:ext cx="7802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Query</a:t>
            </a:r>
            <a:endParaRPr lang="ko-KR" altLang="en-US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7E3E2F6-1027-3DDC-CCB3-DC33383F4D54}"/>
              </a:ext>
            </a:extLst>
          </p:cNvPr>
          <p:cNvSpPr txBox="1"/>
          <p:nvPr/>
        </p:nvSpPr>
        <p:spPr>
          <a:xfrm>
            <a:off x="5640849" y="3427346"/>
            <a:ext cx="7801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Result</a:t>
            </a:r>
            <a:endParaRPr lang="ko-KR" altLang="en-US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4AE84B-EDC5-CBE9-10B2-1F16ACB7B50C}"/>
              </a:ext>
            </a:extLst>
          </p:cNvPr>
          <p:cNvSpPr txBox="1"/>
          <p:nvPr/>
        </p:nvSpPr>
        <p:spPr>
          <a:xfrm>
            <a:off x="3150040" y="5664678"/>
            <a:ext cx="2843919" cy="78508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JSP </a:t>
            </a:r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개발도구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 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JDK, Eclipse</a:t>
            </a: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Spring </a:t>
            </a:r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개발도구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 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STS</a:t>
            </a:r>
            <a:endParaRPr lang="ko-KR" altLang="en-US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A786251E-6D06-8F2E-45CD-D017078C2194}"/>
              </a:ext>
            </a:extLst>
          </p:cNvPr>
          <p:cNvCxnSpPr>
            <a:cxnSpLocks/>
          </p:cNvCxnSpPr>
          <p:nvPr/>
        </p:nvCxnSpPr>
        <p:spPr>
          <a:xfrm flipV="1">
            <a:off x="3146501" y="3488195"/>
            <a:ext cx="993451" cy="217648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1822820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웹 프로그래밍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18</a:t>
            </a:fld>
            <a:endParaRPr lang="en-US" altLang="ko-KR"/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prstClr val="black"/>
                </a:solidFill>
              </a:rPr>
              <a:t> </a:t>
            </a:r>
            <a:r>
              <a:rPr lang="ko-KR" altLang="en-US" dirty="0"/>
              <a:t>일반적인 프로그램</a:t>
            </a:r>
            <a:endParaRPr lang="en-US" altLang="ko-KR" dirty="0"/>
          </a:p>
          <a:p>
            <a:pPr lvl="1"/>
            <a:r>
              <a:rPr lang="ko-KR" altLang="en-US" dirty="0"/>
              <a:t>컴퓨터에 설치 후 사용</a:t>
            </a:r>
            <a:r>
              <a:rPr lang="en-US" altLang="ko-KR" dirty="0"/>
              <a:t>(</a:t>
            </a:r>
            <a:r>
              <a:rPr lang="ko-KR" altLang="en-US" dirty="0"/>
              <a:t>스마트폰</a:t>
            </a:r>
            <a:r>
              <a:rPr lang="en-US" altLang="ko-KR" dirty="0"/>
              <a:t>, </a:t>
            </a:r>
            <a:r>
              <a:rPr lang="ko-KR" altLang="en-US" dirty="0"/>
              <a:t>태블릿도 동일함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해당 디바이스에서 프로그램 실행</a:t>
            </a:r>
            <a:r>
              <a:rPr lang="en-US" altLang="ko-KR" dirty="0"/>
              <a:t>, </a:t>
            </a:r>
            <a:r>
              <a:rPr lang="ko-KR" altLang="en-US" dirty="0"/>
              <a:t>데이터는 서버로부터 수신할</a:t>
            </a:r>
            <a:r>
              <a:rPr lang="en-US" altLang="ko-KR" dirty="0"/>
              <a:t> </a:t>
            </a:r>
            <a:r>
              <a:rPr lang="ko-KR" altLang="en-US" dirty="0"/>
              <a:t>수도 있음</a:t>
            </a:r>
            <a:endParaRPr lang="en-US" altLang="ko-KR" dirty="0"/>
          </a:p>
          <a:p>
            <a:r>
              <a:rPr lang="ko-KR" altLang="en-US" dirty="0"/>
              <a:t>웹 프로그램</a:t>
            </a:r>
            <a:endParaRPr lang="en-US" altLang="ko-KR" dirty="0"/>
          </a:p>
          <a:p>
            <a:pPr lvl="1"/>
            <a:r>
              <a:rPr lang="ko-KR" altLang="en-US" dirty="0"/>
              <a:t>별도의 설치 없이 서버 접속만으로 필요한 기능</a:t>
            </a:r>
            <a:r>
              <a:rPr lang="en-US" altLang="ko-KR" dirty="0"/>
              <a:t>/</a:t>
            </a:r>
            <a:r>
              <a:rPr lang="ko-KR" altLang="en-US" dirty="0"/>
              <a:t>서비스 이용</a:t>
            </a:r>
            <a:endParaRPr lang="en-US" altLang="ko-KR" dirty="0"/>
          </a:p>
          <a:p>
            <a:pPr lvl="1"/>
            <a:r>
              <a:rPr lang="ko-KR" altLang="en-US" dirty="0"/>
              <a:t>프로그램은 서버에서 실행되고 실행 결과만 컴퓨터의 브라우저를 통해 보여짐</a:t>
            </a:r>
            <a:endParaRPr lang="en-US" altLang="ko-KR" dirty="0"/>
          </a:p>
          <a:p>
            <a:pPr lvl="1"/>
            <a:r>
              <a:rPr lang="ko-KR" altLang="en-US" dirty="0"/>
              <a:t>웹 프로그램은 서버와 클라이언트의 협력에 의해 구현</a:t>
            </a:r>
            <a:endParaRPr lang="en-US" altLang="ko-KR" dirty="0"/>
          </a:p>
          <a:p>
            <a:pPr lvl="2"/>
            <a:r>
              <a:rPr lang="ko-KR" altLang="en-US" dirty="0"/>
              <a:t>서버 프로그래밍 </a:t>
            </a:r>
            <a:r>
              <a:rPr lang="en-US" altLang="ko-KR" dirty="0"/>
              <a:t>: </a:t>
            </a:r>
            <a:r>
              <a:rPr lang="ko-KR" altLang="en-US" dirty="0" err="1"/>
              <a:t>서블릿</a:t>
            </a:r>
            <a:r>
              <a:rPr lang="en-US" altLang="ko-KR" dirty="0"/>
              <a:t>, </a:t>
            </a:r>
            <a:r>
              <a:rPr lang="en-US" altLang="ko-KR" dirty="0">
                <a:solidFill>
                  <a:srgbClr val="C00000"/>
                </a:solidFill>
              </a:rPr>
              <a:t>JSP</a:t>
            </a:r>
            <a:r>
              <a:rPr lang="en-US" altLang="ko-KR" dirty="0"/>
              <a:t>, ASP, PHP, ASP.NET</a:t>
            </a:r>
          </a:p>
          <a:p>
            <a:pPr lvl="2"/>
            <a:r>
              <a:rPr lang="ko-KR" altLang="en-US" dirty="0"/>
              <a:t>클라이언트 프로그래밍 </a:t>
            </a:r>
            <a:r>
              <a:rPr lang="en-US" altLang="ko-KR" dirty="0"/>
              <a:t>: </a:t>
            </a:r>
            <a:r>
              <a:rPr lang="en-US" altLang="ko-KR" dirty="0">
                <a:solidFill>
                  <a:srgbClr val="C00000"/>
                </a:solidFill>
              </a:rPr>
              <a:t>HTML</a:t>
            </a:r>
            <a:r>
              <a:rPr lang="en-US" altLang="ko-KR" dirty="0"/>
              <a:t>, JavaScript, CSS</a:t>
            </a:r>
          </a:p>
          <a:p>
            <a:pPr lvl="2"/>
            <a:r>
              <a:rPr lang="ko-KR" altLang="en-US" dirty="0"/>
              <a:t>공통</a:t>
            </a:r>
            <a:r>
              <a:rPr lang="en-US" altLang="ko-KR" dirty="0"/>
              <a:t>(</a:t>
            </a:r>
            <a:r>
              <a:rPr lang="ko-KR" altLang="en-US" dirty="0"/>
              <a:t>기반</a:t>
            </a:r>
            <a:r>
              <a:rPr lang="en-US" altLang="ko-KR" dirty="0"/>
              <a:t>) </a:t>
            </a:r>
            <a:r>
              <a:rPr lang="ko-KR" altLang="en-US" dirty="0"/>
              <a:t>기술 </a:t>
            </a:r>
            <a:r>
              <a:rPr lang="en-US" altLang="ko-KR" dirty="0"/>
              <a:t>: </a:t>
            </a:r>
            <a:r>
              <a:rPr lang="en-US" altLang="ko-KR" dirty="0">
                <a:solidFill>
                  <a:srgbClr val="C00000"/>
                </a:solidFill>
              </a:rPr>
              <a:t>Java</a:t>
            </a:r>
            <a:r>
              <a:rPr lang="en-US" altLang="ko-KR" dirty="0"/>
              <a:t>, C, C#.NET</a:t>
            </a:r>
          </a:p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91812311"/>
      </p:ext>
    </p:extLst>
  </p:cSld>
  <p:clrMapOvr>
    <a:masterClrMapping/>
  </p:clrMapOvr>
  <p:transition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웹</a:t>
            </a:r>
            <a:r>
              <a:rPr lang="en-US" altLang="ko-KR" dirty="0"/>
              <a:t> </a:t>
            </a:r>
            <a:r>
              <a:rPr lang="ko-KR" altLang="en-US" dirty="0"/>
              <a:t>프로그래밍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ko-KR" altLang="en-US" dirty="0"/>
              <a:t>서버 프로그래밍</a:t>
            </a:r>
            <a:endParaRPr lang="en-US" altLang="ko-KR" dirty="0"/>
          </a:p>
          <a:p>
            <a:pPr lvl="1">
              <a:lnSpc>
                <a:spcPct val="110000"/>
              </a:lnSpc>
            </a:pPr>
            <a:r>
              <a:rPr lang="en-US" altLang="ko-KR" dirty="0"/>
              <a:t>ASP.NET</a:t>
            </a:r>
          </a:p>
          <a:p>
            <a:pPr lvl="2">
              <a:lnSpc>
                <a:spcPct val="110000"/>
              </a:lnSpc>
            </a:pPr>
            <a:r>
              <a:rPr lang="en-US" altLang="ko-KR" dirty="0"/>
              <a:t>MS </a:t>
            </a:r>
            <a:r>
              <a:rPr lang="ko-KR" altLang="en-US" dirty="0"/>
              <a:t>윈도우 기반의 서버 프로그램 기술로 </a:t>
            </a:r>
            <a:r>
              <a:rPr lang="en-US" altLang="ko-KR" dirty="0"/>
              <a:t>.NET </a:t>
            </a:r>
            <a:r>
              <a:rPr lang="ko-KR" altLang="en-US" dirty="0"/>
              <a:t>기반의 컴포넌트 사용 가능</a:t>
            </a:r>
            <a:endParaRPr lang="en-US" altLang="ko-KR" dirty="0"/>
          </a:p>
          <a:p>
            <a:pPr lvl="2">
              <a:lnSpc>
                <a:spcPct val="110000"/>
              </a:lnSpc>
            </a:pPr>
            <a:r>
              <a:rPr lang="en-US" altLang="ko-KR" dirty="0"/>
              <a:t>MS </a:t>
            </a:r>
            <a:r>
              <a:rPr lang="ko-KR" altLang="en-US" dirty="0"/>
              <a:t>윈도우 </a:t>
            </a:r>
            <a:r>
              <a:rPr lang="en-US" altLang="ko-KR" dirty="0"/>
              <a:t>OS</a:t>
            </a:r>
            <a:r>
              <a:rPr lang="ko-KR" altLang="en-US" dirty="0"/>
              <a:t> 종속 문제와 상용 라이선스 정책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/>
              <a:t>대규모 공개 웹 서비스 개발에는 거의 사용되지 않음</a:t>
            </a:r>
            <a:endParaRPr lang="en-US" altLang="ko-KR" dirty="0"/>
          </a:p>
          <a:p>
            <a:pPr lvl="1">
              <a:lnSpc>
                <a:spcPct val="110000"/>
              </a:lnSpc>
            </a:pPr>
            <a:r>
              <a:rPr lang="en-US" altLang="ko-KR" dirty="0"/>
              <a:t>PHP(Professional Hypertext Preprocessor)</a:t>
            </a:r>
          </a:p>
          <a:p>
            <a:pPr lvl="2">
              <a:lnSpc>
                <a:spcPct val="110000"/>
              </a:lnSpc>
            </a:pPr>
            <a:r>
              <a:rPr lang="ko-KR" altLang="en-US" dirty="0"/>
              <a:t>처리속도가 빠르고 다양한 운영체제와 웹 서버 환경에서 실행 가능</a:t>
            </a:r>
            <a:endParaRPr lang="en-US" altLang="ko-KR" dirty="0"/>
          </a:p>
          <a:p>
            <a:pPr lvl="2">
              <a:lnSpc>
                <a:spcPct val="110000"/>
              </a:lnSpc>
            </a:pPr>
            <a:r>
              <a:rPr lang="en-US" altLang="ko-KR" dirty="0"/>
              <a:t>APM </a:t>
            </a:r>
            <a:r>
              <a:rPr lang="en-US" altLang="ko-KR" dirty="0">
                <a:sym typeface="Wingdings" panose="05000000000000000000" pitchFamily="2" charset="2"/>
              </a:rPr>
              <a:t></a:t>
            </a:r>
            <a:r>
              <a:rPr lang="en-US" altLang="ko-KR" dirty="0"/>
              <a:t> Apache + PHP + MySQL</a:t>
            </a:r>
          </a:p>
          <a:p>
            <a:pPr lvl="2">
              <a:lnSpc>
                <a:spcPct val="110000"/>
              </a:lnSpc>
            </a:pPr>
            <a:r>
              <a:rPr lang="ko-KR" altLang="en-US" dirty="0"/>
              <a:t>무료 다운로드 가능</a:t>
            </a:r>
            <a:r>
              <a:rPr lang="en-US" altLang="ko-KR" dirty="0"/>
              <a:t>, </a:t>
            </a:r>
            <a:r>
              <a:rPr lang="ko-KR" altLang="en-US" dirty="0"/>
              <a:t>오픈소스 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en-US" altLang="ko-KR" dirty="0"/>
              <a:t> </a:t>
            </a:r>
            <a:r>
              <a:rPr lang="ko-KR" altLang="en-US" dirty="0"/>
              <a:t>위키 프로그램</a:t>
            </a:r>
            <a:r>
              <a:rPr lang="en-US" altLang="ko-KR" dirty="0"/>
              <a:t>, </a:t>
            </a:r>
            <a:r>
              <a:rPr lang="ko-KR" altLang="en-US" dirty="0"/>
              <a:t>연구용으로 널리 사용</a:t>
            </a:r>
            <a:endParaRPr lang="en-US" altLang="ko-KR" dirty="0"/>
          </a:p>
          <a:p>
            <a:pPr lvl="1">
              <a:lnSpc>
                <a:spcPct val="110000"/>
              </a:lnSpc>
            </a:pPr>
            <a:r>
              <a:rPr lang="en-US" altLang="ko-KR" dirty="0">
                <a:solidFill>
                  <a:srgbClr val="C00000"/>
                </a:solidFill>
              </a:rPr>
              <a:t>JSP(Java Server Page)</a:t>
            </a:r>
          </a:p>
          <a:p>
            <a:pPr lvl="2">
              <a:lnSpc>
                <a:spcPct val="110000"/>
              </a:lnSpc>
            </a:pPr>
            <a:r>
              <a:rPr lang="ko-KR" altLang="en-US" dirty="0"/>
              <a:t>자바 </a:t>
            </a:r>
            <a:r>
              <a:rPr lang="ko-KR" altLang="en-US" dirty="0" err="1"/>
              <a:t>서블릿</a:t>
            </a:r>
            <a:r>
              <a:rPr lang="ko-KR" altLang="en-US" dirty="0"/>
              <a:t> 기반의 웹 프로그래밍 기술</a:t>
            </a:r>
            <a:endParaRPr lang="en-US" altLang="ko-KR" dirty="0"/>
          </a:p>
          <a:p>
            <a:pPr lvl="2">
              <a:lnSpc>
                <a:spcPct val="110000"/>
              </a:lnSpc>
            </a:pPr>
            <a:r>
              <a:rPr lang="ko-KR" altLang="en-US" dirty="0"/>
              <a:t>자바의 모든 기능을 사용할 수 있으며 안정성과 확장성이 뛰어나 가장 많이 사용되고 있는 웹 프로그래밍 기술</a:t>
            </a:r>
            <a:endParaRPr lang="en-US" altLang="ko-KR" dirty="0"/>
          </a:p>
          <a:p>
            <a:pPr lvl="2">
              <a:lnSpc>
                <a:spcPct val="110000"/>
              </a:lnSpc>
            </a:pPr>
            <a:r>
              <a:rPr lang="ko-KR" altLang="en-US" dirty="0"/>
              <a:t>전자정부 프레임워크는 </a:t>
            </a:r>
            <a:r>
              <a:rPr lang="en-US" altLang="ko-KR" dirty="0"/>
              <a:t>Java </a:t>
            </a:r>
            <a:r>
              <a:rPr lang="ko-KR" altLang="en-US" dirty="0"/>
              <a:t>기반</a:t>
            </a:r>
            <a:endParaRPr lang="en-US" altLang="ko-KR" dirty="0"/>
          </a:p>
          <a:p>
            <a:pPr>
              <a:lnSpc>
                <a:spcPct val="110000"/>
              </a:lnSpc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89394577"/>
      </p:ext>
    </p:extLst>
  </p:cSld>
  <p:clrMapOvr>
    <a:masterClrMapping/>
  </p:clrMapOvr>
  <p:transition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20</a:t>
            </a:fld>
            <a:endParaRPr lang="en-US" altLang="ko-KR"/>
          </a:p>
        </p:txBody>
      </p:sp>
      <p:sp>
        <p:nvSpPr>
          <p:cNvPr id="6" name="직사각형 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720" y="1238672"/>
            <a:ext cx="5040560" cy="4380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234454"/>
      </p:ext>
    </p:extLst>
  </p:cSld>
  <p:clrMapOvr>
    <a:masterClrMapping/>
  </p:clrMapOvr>
  <p:transition>
    <p:zo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JSP </a:t>
            </a:r>
            <a:r>
              <a:rPr lang="ko-KR" altLang="en-US" dirty="0"/>
              <a:t>개발환경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JSP </a:t>
            </a:r>
            <a:r>
              <a:rPr lang="ko-KR" altLang="en-US" dirty="0"/>
              <a:t>개발환경</a:t>
            </a:r>
            <a:endParaRPr lang="en-US" altLang="ko-KR" dirty="0"/>
          </a:p>
          <a:p>
            <a:pPr lvl="1"/>
            <a:r>
              <a:rPr lang="ko-KR" altLang="en-US" dirty="0"/>
              <a:t>여러 개발 툴을 상호 연동하여 설치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JDK </a:t>
            </a:r>
            <a:r>
              <a:rPr lang="en-US" altLang="ko-KR" b="0" baseline="300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Java Development Kit </a:t>
            </a:r>
            <a:r>
              <a:rPr lang="en-US" altLang="ko-KR" dirty="0"/>
              <a:t>11 </a:t>
            </a:r>
            <a:r>
              <a:rPr lang="ko-KR" altLang="en-US" dirty="0"/>
              <a:t>사용 이유</a:t>
            </a:r>
            <a:endParaRPr lang="en-US" altLang="ko-KR" dirty="0"/>
          </a:p>
          <a:p>
            <a:pPr lvl="1"/>
            <a:r>
              <a:rPr lang="ko-KR" altLang="en-US" dirty="0"/>
              <a:t>동작이</a:t>
            </a:r>
            <a:r>
              <a:rPr lang="en-US" altLang="ko-KR" dirty="0"/>
              <a:t> </a:t>
            </a:r>
            <a:r>
              <a:rPr lang="ko-KR" altLang="en-US" dirty="0"/>
              <a:t>검증된</a:t>
            </a:r>
            <a:r>
              <a:rPr lang="en-US" altLang="ko-KR" dirty="0"/>
              <a:t> JDK</a:t>
            </a:r>
            <a:r>
              <a:rPr lang="ko-KR" altLang="en-US" dirty="0"/>
              <a:t>를 사용하면 문제 발생 가능성 거의</a:t>
            </a:r>
            <a:r>
              <a:rPr lang="en-US" altLang="ko-KR" dirty="0"/>
              <a:t> </a:t>
            </a:r>
            <a:r>
              <a:rPr lang="ko-KR" altLang="en-US" dirty="0"/>
              <a:t>없음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21</a:t>
            </a:fld>
            <a:endParaRPr lang="en-US" altLang="ko-KR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1056929"/>
              </p:ext>
            </p:extLst>
          </p:nvPr>
        </p:nvGraphicFramePr>
        <p:xfrm>
          <a:off x="153686" y="1988840"/>
          <a:ext cx="8882364" cy="3210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7580">
                  <a:extLst>
                    <a:ext uri="{9D8B030D-6E8A-4147-A177-3AD203B41FA5}">
                      <a16:colId xmlns:a16="http://schemas.microsoft.com/office/drawing/2014/main" val="3338577749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2328907752"/>
                    </a:ext>
                  </a:extLst>
                </a:gridCol>
                <a:gridCol w="4270528">
                  <a:extLst>
                    <a:ext uri="{9D8B030D-6E8A-4147-A177-3AD203B41FA5}">
                      <a16:colId xmlns:a16="http://schemas.microsoft.com/office/drawing/2014/main" val="165734528"/>
                    </a:ext>
                  </a:extLst>
                </a:gridCol>
              </a:tblGrid>
              <a:tr h="5040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필요한 프로그램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다운로드 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0486600"/>
                  </a:ext>
                </a:extLst>
              </a:tr>
              <a:tr h="70027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자바 개발환경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JDK11</a:t>
                      </a:r>
                      <a:endParaRPr lang="ko-KR" altLang="en-US" sz="20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oracle.com</a:t>
                      </a:r>
                      <a:endParaRPr lang="ko-KR" altLang="en-US" sz="20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9341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JSP</a:t>
                      </a:r>
                      <a:r>
                        <a:rPr lang="ko-KR" altLang="en-US" sz="2000" b="1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운영환경</a:t>
                      </a:r>
                      <a:endParaRPr lang="en-US" altLang="ko-KR" sz="20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latinLnBrk="1"/>
                      <a:r>
                        <a:rPr lang="en-US" altLang="ko-KR" sz="20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2000" b="1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서블릿</a:t>
                      </a:r>
                      <a:r>
                        <a:rPr lang="ko-KR" altLang="en-US" sz="20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컨테이너</a:t>
                      </a:r>
                      <a:r>
                        <a:rPr lang="en-US" altLang="ko-KR" sz="20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20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Apache Tomcat</a:t>
                      </a:r>
                      <a:endParaRPr lang="ko-KR" altLang="en-US" sz="20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tomcat.apache.org</a:t>
                      </a:r>
                      <a:endParaRPr lang="ko-KR" altLang="en-US" sz="20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5199326"/>
                  </a:ext>
                </a:extLst>
              </a:tr>
              <a:tr h="6038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통합 개발환경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Eclipse2024-06-R</a:t>
                      </a:r>
                      <a:endParaRPr lang="ko-KR" altLang="en-US" sz="20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eclipse.org</a:t>
                      </a:r>
                      <a:endParaRPr lang="ko-KR" altLang="en-US" sz="20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3459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데이터베이스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MS-SQL</a:t>
                      </a:r>
                    </a:p>
                    <a:p>
                      <a:pPr latinLnBrk="1"/>
                      <a:r>
                        <a:rPr lang="en-US" altLang="ko-KR" sz="2000" b="1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MySql</a:t>
                      </a:r>
                      <a:endParaRPr lang="en-US" altLang="ko-KR" sz="20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MS</a:t>
                      </a:r>
                      <a:r>
                        <a:rPr lang="en-US" altLang="ko-KR" sz="2000" b="1" baseline="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download</a:t>
                      </a:r>
                      <a:endParaRPr lang="en-US" altLang="ko-KR" sz="20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latinLnBrk="1"/>
                      <a:r>
                        <a:rPr lang="en-US" altLang="ko-KR" sz="20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dev.mysql.com/downloads/</a:t>
                      </a:r>
                      <a:r>
                        <a:rPr lang="en-US" altLang="ko-KR" sz="2000" b="1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mysql</a:t>
                      </a:r>
                      <a:endParaRPr lang="ko-KR" altLang="en-US" sz="20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85868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4357134"/>
      </p:ext>
    </p:extLst>
  </p:cSld>
  <p:clrMapOvr>
    <a:masterClrMapping/>
  </p:clrMapOvr>
  <p:transition>
    <p:zo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7F731-DDDC-C378-9C8F-9EEDC0347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CE3162-EACA-AE83-6193-A54DF20DA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개발환경</a:t>
            </a:r>
            <a:r>
              <a:rPr lang="en-US" altLang="ko-KR" dirty="0"/>
              <a:t>] JDK11 download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AEA3C1-2751-16DB-9D20-4A2BB82F82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sym typeface="Wingdings" panose="05000000000000000000" pitchFamily="2" charset="2"/>
              </a:rPr>
              <a:t>www.oracle.com/kr/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C0C4292-EA33-3C79-F60F-473C47E15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727" y="1564993"/>
            <a:ext cx="5010961" cy="471685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F65D16D-CD23-57E1-B43C-98FC50275D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1907" y="1994908"/>
            <a:ext cx="5790573" cy="444736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6E108767-80D5-E01C-20A6-4187C3B7E306}"/>
              </a:ext>
            </a:extLst>
          </p:cNvPr>
          <p:cNvSpPr/>
          <p:nvPr/>
        </p:nvSpPr>
        <p:spPr>
          <a:xfrm>
            <a:off x="1619672" y="2054573"/>
            <a:ext cx="360040" cy="19942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5170C60-6DA9-CA0F-AF34-FAD3E77CD3B8}"/>
              </a:ext>
            </a:extLst>
          </p:cNvPr>
          <p:cNvSpPr/>
          <p:nvPr/>
        </p:nvSpPr>
        <p:spPr>
          <a:xfrm>
            <a:off x="5940152" y="5147673"/>
            <a:ext cx="780976" cy="31103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698188-CB9A-B080-27BB-9E79A46C34C0}"/>
              </a:ext>
            </a:extLst>
          </p:cNvPr>
          <p:cNvSpPr txBox="1"/>
          <p:nvPr/>
        </p:nvSpPr>
        <p:spPr>
          <a:xfrm>
            <a:off x="1401503" y="1731399"/>
            <a:ext cx="4363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solidFill>
                  <a:srgbClr val="C00000"/>
                </a:solidFill>
              </a:rPr>
              <a:t>②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DDD068-AFCD-1763-D054-A7ABB8496259}"/>
              </a:ext>
            </a:extLst>
          </p:cNvPr>
          <p:cNvSpPr txBox="1"/>
          <p:nvPr/>
        </p:nvSpPr>
        <p:spPr>
          <a:xfrm>
            <a:off x="5652120" y="4822257"/>
            <a:ext cx="4363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solidFill>
                  <a:srgbClr val="C00000"/>
                </a:solidFill>
              </a:rPr>
              <a:t>③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3FCEC5-662E-A926-652E-7540AD6BD883}"/>
              </a:ext>
            </a:extLst>
          </p:cNvPr>
          <p:cNvSpPr txBox="1"/>
          <p:nvPr/>
        </p:nvSpPr>
        <p:spPr>
          <a:xfrm>
            <a:off x="527220" y="1442508"/>
            <a:ext cx="4363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solidFill>
                  <a:srgbClr val="C00000"/>
                </a:solidFill>
              </a:rPr>
              <a:t>①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BF2D16F-562F-D51D-B032-994D801EE79B}"/>
              </a:ext>
            </a:extLst>
          </p:cNvPr>
          <p:cNvSpPr/>
          <p:nvPr/>
        </p:nvSpPr>
        <p:spPr>
          <a:xfrm>
            <a:off x="941044" y="1493639"/>
            <a:ext cx="789943" cy="31103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424E46-45CB-FBAD-43B6-65F3F68D66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4400" y="6534150"/>
            <a:ext cx="533400" cy="282723"/>
          </a:xfrm>
        </p:spPr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58173447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6" grpId="0"/>
      <p:bldP spid="17" grpId="0"/>
      <p:bldP spid="14" grpId="0"/>
      <p:bldP spid="1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58D7D-D4B1-B039-56B0-0244F26CE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455A8A-6654-0EFB-2506-7A642454F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개발환경</a:t>
            </a:r>
            <a:r>
              <a:rPr lang="en-US" altLang="ko-KR" dirty="0"/>
              <a:t>] JDK11 download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09133B39-F616-32CF-D257-BF7C4991BE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JDK11</a:t>
            </a:r>
            <a:r>
              <a:rPr lang="ko-KR" altLang="en-US" dirty="0"/>
              <a:t>을 다운로드하기 위해 아래로 스크롤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82BC996-1B2D-C2E1-F4D1-56ED51EE02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1656885"/>
            <a:ext cx="6912768" cy="422004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CD210B6B-E9E1-28E3-D34C-1DF8D04CFCCA}"/>
              </a:ext>
            </a:extLst>
          </p:cNvPr>
          <p:cNvSpPr/>
          <p:nvPr/>
        </p:nvSpPr>
        <p:spPr>
          <a:xfrm>
            <a:off x="2292343" y="4573908"/>
            <a:ext cx="506201" cy="19942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35466ED-5211-BD17-9CB9-B73A2B69F865}"/>
              </a:ext>
            </a:extLst>
          </p:cNvPr>
          <p:cNvSpPr/>
          <p:nvPr/>
        </p:nvSpPr>
        <p:spPr>
          <a:xfrm>
            <a:off x="5446801" y="5102125"/>
            <a:ext cx="2088232" cy="31103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093CE8-E47B-88FC-EB65-254DEAAA454F}"/>
              </a:ext>
            </a:extLst>
          </p:cNvPr>
          <p:cNvSpPr txBox="1"/>
          <p:nvPr/>
        </p:nvSpPr>
        <p:spPr>
          <a:xfrm>
            <a:off x="2074175" y="4250734"/>
            <a:ext cx="4363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solidFill>
                  <a:srgbClr val="C00000"/>
                </a:solidFill>
              </a:rPr>
              <a:t>⑤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C79618-D90E-390C-4614-47D92D9D42A7}"/>
              </a:ext>
            </a:extLst>
          </p:cNvPr>
          <p:cNvSpPr txBox="1"/>
          <p:nvPr/>
        </p:nvSpPr>
        <p:spPr>
          <a:xfrm>
            <a:off x="5086761" y="4902070"/>
            <a:ext cx="4363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solidFill>
                  <a:srgbClr val="C00000"/>
                </a:solidFill>
              </a:rPr>
              <a:t>⑥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A77F5B-E751-AA24-2673-2B29AA33F2AC}"/>
              </a:ext>
            </a:extLst>
          </p:cNvPr>
          <p:cNvSpPr txBox="1"/>
          <p:nvPr/>
        </p:nvSpPr>
        <p:spPr>
          <a:xfrm>
            <a:off x="2025323" y="2621039"/>
            <a:ext cx="4363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solidFill>
                  <a:srgbClr val="C00000"/>
                </a:solidFill>
              </a:rPr>
              <a:t>④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9C2D45F-DAA9-7CB8-BAF3-6E25077A61EF}"/>
              </a:ext>
            </a:extLst>
          </p:cNvPr>
          <p:cNvSpPr/>
          <p:nvPr/>
        </p:nvSpPr>
        <p:spPr>
          <a:xfrm>
            <a:off x="2385363" y="2832017"/>
            <a:ext cx="436338" cy="24931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6556C7A-3FF8-E745-64F9-B39CBA22E4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8321" y="2708920"/>
            <a:ext cx="4972102" cy="169349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51BEA316-7EAD-0F3C-4B4E-DB301EC1B9BB}"/>
              </a:ext>
            </a:extLst>
          </p:cNvPr>
          <p:cNvSpPr/>
          <p:nvPr/>
        </p:nvSpPr>
        <p:spPr>
          <a:xfrm>
            <a:off x="3757558" y="3116381"/>
            <a:ext cx="4342834" cy="31103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1BCE5080-FE41-D50E-0A0C-2695DE6BEE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4400" y="6534150"/>
            <a:ext cx="533400" cy="282723"/>
          </a:xfrm>
        </p:spPr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71360540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6" grpId="0"/>
      <p:bldP spid="17" grpId="0"/>
      <p:bldP spid="14" grpId="0"/>
      <p:bldP spid="15" grpId="0" animBg="1"/>
      <p:bldP spid="2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041DA-5D0D-9B49-42C7-9683ED791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926EDC-103B-0FA4-D4DC-61A5100B9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개발환경</a:t>
            </a:r>
            <a:r>
              <a:rPr lang="en-US" altLang="ko-KR" dirty="0"/>
              <a:t>] JDK11 download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6477AE40-5E48-DD95-066E-DB0EFD3A1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오라클 계정 로그인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48F4087-AF40-9F55-7433-0008A00FB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090" y="1700808"/>
            <a:ext cx="5017819" cy="462321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FD3989E9-B5CD-B095-888B-D36CA42701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4400" y="6534150"/>
            <a:ext cx="533400" cy="282723"/>
          </a:xfrm>
        </p:spPr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98795380"/>
      </p:ext>
    </p:extLst>
  </p:cSld>
  <p:clrMapOvr>
    <a:masterClrMapping/>
  </p:clrMapOvr>
  <p:transition>
    <p:zo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7418E-B40D-7BAD-2994-260026FB5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158FD9-362E-7EA4-510C-7F1F6DBD6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개발환경</a:t>
            </a:r>
            <a:r>
              <a:rPr lang="en-US" altLang="ko-KR" dirty="0"/>
              <a:t>] JDK11 download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A15103-EC67-1028-9040-A1B0729790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JDK-11.0.22 </a:t>
            </a:r>
            <a:r>
              <a:rPr lang="ko-KR" altLang="en-US" dirty="0"/>
              <a:t>설치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DAA9A1D2-FB9D-3620-D41B-3D409A0B1F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205" y="1509067"/>
            <a:ext cx="6663590" cy="477527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85CB84ED-7EA0-7C50-809D-935A9A2B8B91}"/>
              </a:ext>
            </a:extLst>
          </p:cNvPr>
          <p:cNvSpPr/>
          <p:nvPr/>
        </p:nvSpPr>
        <p:spPr>
          <a:xfrm>
            <a:off x="3419872" y="3295890"/>
            <a:ext cx="4464496" cy="31103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415FD8C-52EC-EE24-5CF8-E20B014B85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555"/>
          <a:stretch>
            <a:fillRect/>
          </a:stretch>
        </p:blipFill>
        <p:spPr>
          <a:xfrm>
            <a:off x="5580112" y="3725033"/>
            <a:ext cx="1008112" cy="12488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D509351-CC08-20E5-0E43-8407D820D0C3}"/>
              </a:ext>
            </a:extLst>
          </p:cNvPr>
          <p:cNvSpPr txBox="1"/>
          <p:nvPr/>
        </p:nvSpPr>
        <p:spPr>
          <a:xfrm>
            <a:off x="4996370" y="5037069"/>
            <a:ext cx="21755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마우스 좌측 더블클릭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1314E1-B1C4-B2D7-AED7-2E17237CFD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4400" y="6534150"/>
            <a:ext cx="533400" cy="282723"/>
          </a:xfrm>
        </p:spPr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7525375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88AFE-51C8-3493-8F36-7494C7CF5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64E6E3-B7E9-1B75-4D3F-D8814BEBF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개발환경</a:t>
            </a:r>
            <a:r>
              <a:rPr lang="en-US" altLang="ko-KR" dirty="0"/>
              <a:t>] JDK </a:t>
            </a:r>
            <a:r>
              <a:rPr lang="ko-KR" altLang="en-US" dirty="0"/>
              <a:t>설치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D7D33DC-B2EE-5DF9-2EA2-8A0C0D9B5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124744"/>
            <a:ext cx="4723809" cy="36000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E79CF2D6-5DE2-A79E-4C1B-5805C56A0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2049" y="1732681"/>
            <a:ext cx="4714286" cy="359047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26011AF8-DD00-301F-D78D-512BCA2CC1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3055" y="2331094"/>
            <a:ext cx="4714286" cy="358095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BB8BDC41-B52C-3D71-ED52-2DE0690B2F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4062" y="2919982"/>
            <a:ext cx="4723809" cy="360952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917638F4-9AD6-F228-21C8-62D130CB16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4400" y="6534150"/>
            <a:ext cx="533400" cy="282723"/>
          </a:xfrm>
        </p:spPr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11045119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AD928-1687-858A-E02D-6C4C4E331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7DC735-E317-DB90-99A5-39D7959C0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개발환경</a:t>
            </a:r>
            <a:r>
              <a:rPr lang="en-US" altLang="ko-KR" dirty="0"/>
              <a:t>] JDK </a:t>
            </a:r>
            <a:r>
              <a:rPr lang="ko-KR" altLang="en-US" dirty="0"/>
              <a:t>설치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BD47D557-F9DD-8CDD-3267-CFACA2567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설치된 위치 확인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pt-BR" altLang="ko-KR" dirty="0">
                <a:sym typeface="Wingdings" panose="05000000000000000000" pitchFamily="2" charset="2"/>
              </a:rPr>
              <a:t>C:\Program Files\Java\jdk-11</a:t>
            </a:r>
            <a:r>
              <a:rPr lang="ko-KR" altLang="en-US" dirty="0"/>
              <a:t> 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E269AE2-08C4-BBF5-1C57-69435AB3F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975" y="1628800"/>
            <a:ext cx="6510050" cy="467798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E39E46B5-3E20-820E-8A25-DB11DDCC94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4400" y="6534150"/>
            <a:ext cx="533400" cy="282723"/>
          </a:xfrm>
        </p:spPr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85407422"/>
      </p:ext>
    </p:extLst>
  </p:cSld>
  <p:clrMapOvr>
    <a:masterClrMapping/>
  </p:clrMapOvr>
  <p:transition>
    <p:zo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AD928-1687-858A-E02D-6C4C4E331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7DC735-E317-DB90-99A5-39D7959C0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개발환경</a:t>
            </a:r>
            <a:r>
              <a:rPr lang="en-US" altLang="ko-KR" dirty="0"/>
              <a:t>] Tomcat </a:t>
            </a:r>
            <a:r>
              <a:rPr lang="ko-KR" altLang="en-US" dirty="0"/>
              <a:t>설치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BD47D557-F9DD-8CDD-3267-CFACA2567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다운로드위치</a:t>
            </a:r>
            <a:r>
              <a:rPr lang="en-US" altLang="ko-KR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sz="2000" dirty="0">
                <a:sym typeface="Wingdings" panose="05000000000000000000" pitchFamily="2" charset="2"/>
              </a:rPr>
              <a:t>https://tomcat.apache.org/download-90.cgi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3F26AA5-D608-820C-D170-D857C0A4C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56" y="1732715"/>
            <a:ext cx="8208912" cy="428934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F3A6C9A2-C861-1EF4-F709-2D9D98659CD9}"/>
              </a:ext>
            </a:extLst>
          </p:cNvPr>
          <p:cNvSpPr/>
          <p:nvPr/>
        </p:nvSpPr>
        <p:spPr>
          <a:xfrm>
            <a:off x="491232" y="3303713"/>
            <a:ext cx="1128440" cy="19729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346D5BA-B267-15FF-A7A0-77F393B874BC}"/>
              </a:ext>
            </a:extLst>
          </p:cNvPr>
          <p:cNvSpPr/>
          <p:nvPr/>
        </p:nvSpPr>
        <p:spPr>
          <a:xfrm>
            <a:off x="2195736" y="5373216"/>
            <a:ext cx="2520280" cy="21602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슬라이드 번호 개체 틀 3">
            <a:extLst>
              <a:ext uri="{FF2B5EF4-FFF2-40B4-BE49-F238E27FC236}">
                <a16:creationId xmlns:a16="http://schemas.microsoft.com/office/drawing/2014/main" id="{D7EDCEEB-B76F-52EB-D9F0-48E22180D5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4400" y="6534150"/>
            <a:ext cx="533400" cy="282723"/>
          </a:xfrm>
        </p:spPr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28</a:t>
            </a:fld>
            <a:endParaRPr lang="en-US" altLang="ko-K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25FDCC-DE83-6678-8FE4-B4AC6D969992}"/>
              </a:ext>
            </a:extLst>
          </p:cNvPr>
          <p:cNvSpPr txBox="1"/>
          <p:nvPr/>
        </p:nvSpPr>
        <p:spPr>
          <a:xfrm>
            <a:off x="395536" y="6106446"/>
            <a:ext cx="20696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※tomcat : </a:t>
            </a:r>
            <a:r>
              <a:rPr lang="ko-KR" alt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수코양이</a:t>
            </a:r>
            <a:endParaRPr lang="ko-KR" altLang="en-US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3C434262-2BE9-48D0-E2BA-5EDAD5B985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5205" y="6047289"/>
            <a:ext cx="604274" cy="451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97113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AD928-1687-858A-E02D-6C4C4E331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7DC735-E317-DB90-99A5-39D7959C0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개발환경</a:t>
            </a:r>
            <a:r>
              <a:rPr lang="en-US" altLang="ko-KR" dirty="0"/>
              <a:t>] Tomcat </a:t>
            </a:r>
            <a:r>
              <a:rPr lang="ko-KR" altLang="en-US" dirty="0"/>
              <a:t>설치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BD47D557-F9DD-8CDD-3267-CFACA2567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설치파일</a:t>
            </a:r>
            <a:r>
              <a:rPr lang="en-US" altLang="ko-KR" dirty="0"/>
              <a:t> </a:t>
            </a:r>
            <a:r>
              <a:rPr lang="ko-KR" altLang="en-US" dirty="0"/>
              <a:t>실행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0F61D8C-88DA-F845-D547-46EFF04F33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469963"/>
            <a:ext cx="3083439" cy="241826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7263F81-ABEE-72A1-CD04-C2B47EE9E2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077" y="1469963"/>
            <a:ext cx="3077223" cy="241826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AFA37B6-709E-8A8E-D5F4-E7CCD69B2B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536" y="4004038"/>
            <a:ext cx="3102089" cy="238096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B7ABD2E-9413-2369-D550-F8ECA460C8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6077" y="4004037"/>
            <a:ext cx="3064790" cy="238096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3280AD5A-53FA-4EDA-CC31-FBA33DB48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4400" y="6534150"/>
            <a:ext cx="533400" cy="282723"/>
          </a:xfrm>
        </p:spPr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1926445"/>
      </p:ext>
    </p:extLst>
  </p:cSld>
  <p:clrMapOvr>
    <a:masterClrMapping/>
  </p:clrMapOvr>
  <p:transition>
    <p:zo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AD928-1687-858A-E02D-6C4C4E331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7DC735-E317-DB90-99A5-39D7959C0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개발환경</a:t>
            </a:r>
            <a:r>
              <a:rPr lang="en-US" altLang="ko-KR" dirty="0"/>
              <a:t>] Tomcat </a:t>
            </a:r>
            <a:r>
              <a:rPr lang="ko-KR" altLang="en-US" dirty="0"/>
              <a:t>설치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BD47D557-F9DD-8CDD-3267-CFACA2567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설치파일</a:t>
            </a:r>
            <a:r>
              <a:rPr lang="en-US" altLang="ko-KR" dirty="0"/>
              <a:t> </a:t>
            </a:r>
            <a:r>
              <a:rPr lang="ko-KR" altLang="en-US" dirty="0"/>
              <a:t>실행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6DAF5613-6293-5AF8-F62E-D5A8F922C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491190"/>
            <a:ext cx="3190222" cy="244711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4CF6AB5-F87B-632A-4DA5-3B61AA69DF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484784"/>
            <a:ext cx="3158192" cy="245352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ED3BB27-33AB-7A6D-A525-EEAB16F4F9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770" y="4046220"/>
            <a:ext cx="3171004" cy="244711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1832DECB-E407-881E-CAD0-D66F8C374D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4400" y="6534150"/>
            <a:ext cx="533400" cy="282723"/>
          </a:xfrm>
        </p:spPr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67205544"/>
      </p:ext>
    </p:extLst>
  </p:cSld>
  <p:clrMapOvr>
    <a:masterClrMapping/>
  </p:clrMapOvr>
  <p:transition>
    <p:zo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AD928-1687-858A-E02D-6C4C4E331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7DC735-E317-DB90-99A5-39D7959C0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개발환경</a:t>
            </a:r>
            <a:r>
              <a:rPr lang="en-US" altLang="ko-KR" dirty="0"/>
              <a:t>] Tomcat </a:t>
            </a:r>
            <a:r>
              <a:rPr lang="ko-KR" altLang="en-US" dirty="0"/>
              <a:t>설치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BD47D557-F9DD-8CDD-3267-CFACA2567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설치 확인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6AE7440-F339-C9C2-B26C-84AD730D2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1628800"/>
            <a:ext cx="6912768" cy="443386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4A3C838F-0464-833F-B49D-06EA85368E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4400" y="6534150"/>
            <a:ext cx="533400" cy="282723"/>
          </a:xfrm>
        </p:spPr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41369745"/>
      </p:ext>
    </p:extLst>
  </p:cSld>
  <p:clrMapOvr>
    <a:masterClrMapping/>
  </p:clrMapOvr>
  <p:transition>
    <p:zo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51552-6EF7-E505-895C-C2B940F63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72C423-1437-AC2B-0FF0-4DF09D1F8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개발환경</a:t>
            </a:r>
            <a:r>
              <a:rPr lang="en-US" altLang="ko-KR" dirty="0"/>
              <a:t>] </a:t>
            </a:r>
            <a:r>
              <a:rPr lang="ko-KR" altLang="en-US" dirty="0"/>
              <a:t>실습 폴더 생성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03516354-5AA3-BA62-334C-F411FBF54F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) D:\Programming\jsp\jsp2025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0624850-2FFA-FCB4-1DEA-4EA530A6CC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871" y="1634538"/>
            <a:ext cx="6314482" cy="471350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25358CFA-516A-D6D3-43BB-9BDB6955E5EA}"/>
              </a:ext>
            </a:extLst>
          </p:cNvPr>
          <p:cNvSpPr/>
          <p:nvPr/>
        </p:nvSpPr>
        <p:spPr>
          <a:xfrm>
            <a:off x="1425871" y="4238997"/>
            <a:ext cx="1800201" cy="33855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B690513-95D9-38F5-49F3-6996C0923FB4}"/>
              </a:ext>
            </a:extLst>
          </p:cNvPr>
          <p:cNvSpPr/>
          <p:nvPr/>
        </p:nvSpPr>
        <p:spPr>
          <a:xfrm>
            <a:off x="3659211" y="5077350"/>
            <a:ext cx="4058917" cy="25776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슬라이드 번호 개체 틀 3">
            <a:extLst>
              <a:ext uri="{FF2B5EF4-FFF2-40B4-BE49-F238E27FC236}">
                <a16:creationId xmlns:a16="http://schemas.microsoft.com/office/drawing/2014/main" id="{7786DF4E-7731-6E80-207E-A1F9D07780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4400" y="6534150"/>
            <a:ext cx="533400" cy="282723"/>
          </a:xfrm>
        </p:spPr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1568511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82277-4590-E28A-1922-B86EB9330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5A87A1-489C-D983-8C62-EF7FC6AD4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개발환경</a:t>
            </a:r>
            <a:r>
              <a:rPr lang="en-US" altLang="ko-KR" dirty="0"/>
              <a:t>] Eclipse download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966297-1BDC-F0DA-9122-10350DE48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www.eclipse.org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BF8F35B-A27B-C6A5-8D39-C01682B53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556792"/>
            <a:ext cx="5688632" cy="410845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31FBB454-589F-E4D3-FB14-5EAD5FDE01AF}"/>
              </a:ext>
            </a:extLst>
          </p:cNvPr>
          <p:cNvSpPr/>
          <p:nvPr/>
        </p:nvSpPr>
        <p:spPr>
          <a:xfrm>
            <a:off x="4716016" y="2468311"/>
            <a:ext cx="720080" cy="36004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3B8ACF-F2FE-612D-DD62-9C092C24F159}"/>
              </a:ext>
            </a:extLst>
          </p:cNvPr>
          <p:cNvSpPr txBox="1"/>
          <p:nvPr/>
        </p:nvSpPr>
        <p:spPr>
          <a:xfrm>
            <a:off x="4341426" y="2269498"/>
            <a:ext cx="4363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solidFill>
                  <a:srgbClr val="C00000"/>
                </a:solidFill>
              </a:rPr>
              <a:t>②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44718F-2EDF-609D-2DDC-362EFCC21738}"/>
              </a:ext>
            </a:extLst>
          </p:cNvPr>
          <p:cNvSpPr txBox="1"/>
          <p:nvPr/>
        </p:nvSpPr>
        <p:spPr>
          <a:xfrm>
            <a:off x="695942" y="1505661"/>
            <a:ext cx="4363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solidFill>
                  <a:srgbClr val="C00000"/>
                </a:solidFill>
              </a:rPr>
              <a:t>①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9E4A08F-7FC0-A68A-D23F-70E11A5AF918}"/>
              </a:ext>
            </a:extLst>
          </p:cNvPr>
          <p:cNvSpPr/>
          <p:nvPr/>
        </p:nvSpPr>
        <p:spPr>
          <a:xfrm>
            <a:off x="1109766" y="1556792"/>
            <a:ext cx="789943" cy="31103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6748D1E-D281-3BE4-1417-C47C34095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016" y="2936106"/>
            <a:ext cx="4240215" cy="364066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2F4921A6-F340-5F3B-5405-E838CE922163}"/>
              </a:ext>
            </a:extLst>
          </p:cNvPr>
          <p:cNvSpPr/>
          <p:nvPr/>
        </p:nvSpPr>
        <p:spPr>
          <a:xfrm>
            <a:off x="5940152" y="5929932"/>
            <a:ext cx="1152128" cy="31103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588947-9DA5-0E69-6AE0-D7D9E2D4C1F6}"/>
              </a:ext>
            </a:extLst>
          </p:cNvPr>
          <p:cNvSpPr txBox="1"/>
          <p:nvPr/>
        </p:nvSpPr>
        <p:spPr>
          <a:xfrm>
            <a:off x="5560234" y="5893863"/>
            <a:ext cx="5015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rgbClr val="C00000"/>
                </a:solidFill>
              </a:rPr>
              <a:t>③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D8E342-899F-76CF-E26A-A6CEAFD749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4400" y="6534150"/>
            <a:ext cx="533400" cy="282723"/>
          </a:xfrm>
        </p:spPr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6728742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/>
      <p:bldP spid="11" grpId="0" animBg="1"/>
      <p:bldP spid="14" grpId="0" animBg="1"/>
      <p:bldP spid="1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A98D0-5930-B2B9-E08F-9F3A31CE7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EF2002-3C97-A7D2-4226-573130E31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개발환경</a:t>
            </a:r>
            <a:r>
              <a:rPr lang="en-US" altLang="ko-KR" dirty="0"/>
              <a:t>] Eclipse download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128E961-1E76-EF29-6033-4A57607215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991" y="1091060"/>
            <a:ext cx="8148018" cy="532995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F7614471-8B40-AE39-1F76-18BB82DAA1C5}"/>
              </a:ext>
            </a:extLst>
          </p:cNvPr>
          <p:cNvSpPr/>
          <p:nvPr/>
        </p:nvSpPr>
        <p:spPr>
          <a:xfrm>
            <a:off x="1043608" y="3126868"/>
            <a:ext cx="3286836" cy="43204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BBEC41E7-DE3F-DE89-3C35-31EBD1A8034A}"/>
              </a:ext>
            </a:extLst>
          </p:cNvPr>
          <p:cNvCxnSpPr>
            <a:cxnSpLocks/>
            <a:stCxn id="18" idx="3"/>
            <a:endCxn id="21" idx="1"/>
          </p:cNvCxnSpPr>
          <p:nvPr/>
        </p:nvCxnSpPr>
        <p:spPr>
          <a:xfrm flipV="1">
            <a:off x="4330444" y="2793467"/>
            <a:ext cx="745612" cy="549425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DE9E492-0AC0-9022-C45F-791E24CF8586}"/>
              </a:ext>
            </a:extLst>
          </p:cNvPr>
          <p:cNvSpPr/>
          <p:nvPr/>
        </p:nvSpPr>
        <p:spPr>
          <a:xfrm>
            <a:off x="5076056" y="2621049"/>
            <a:ext cx="2808312" cy="344836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 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 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Release, </a:t>
            </a:r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검증된 </a:t>
            </a:r>
            <a:r>
              <a:rPr lang="ko-KR" altLang="en-US" b="1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배포판</a:t>
            </a:r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34A32DD-44A4-D748-8A33-DA51966CF87D}"/>
              </a:ext>
            </a:extLst>
          </p:cNvPr>
          <p:cNvSpPr/>
          <p:nvPr/>
        </p:nvSpPr>
        <p:spPr>
          <a:xfrm>
            <a:off x="6764290" y="5642282"/>
            <a:ext cx="1124617" cy="24931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9169EB0A-0D20-783A-F433-CF03033FA2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4400" y="6534150"/>
            <a:ext cx="533400" cy="282723"/>
          </a:xfrm>
        </p:spPr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65742284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1" grpId="0" animBg="1"/>
      <p:bldP spid="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A98D0-5930-B2B9-E08F-9F3A31CE7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EF2002-3C97-A7D2-4226-573130E31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개발환경</a:t>
            </a:r>
            <a:r>
              <a:rPr lang="en-US" altLang="ko-KR" dirty="0"/>
              <a:t>] Eclipse download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34A32DD-44A4-D748-8A33-DA51966CF87D}"/>
              </a:ext>
            </a:extLst>
          </p:cNvPr>
          <p:cNvSpPr/>
          <p:nvPr/>
        </p:nvSpPr>
        <p:spPr>
          <a:xfrm>
            <a:off x="6300192" y="5521986"/>
            <a:ext cx="1124617" cy="24931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08B4809-5DD8-7873-ADED-7BE410670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0" y="1093650"/>
            <a:ext cx="4704762" cy="348571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E23F422-1066-B4FA-531D-EDBD392158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1760" y="1268760"/>
            <a:ext cx="6322144" cy="515030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C78311A-E5C6-48F2-B198-C9D20CDF8CC1}"/>
              </a:ext>
            </a:extLst>
          </p:cNvPr>
          <p:cNvSpPr txBox="1"/>
          <p:nvPr/>
        </p:nvSpPr>
        <p:spPr>
          <a:xfrm>
            <a:off x="6967092" y="5130438"/>
            <a:ext cx="4363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solidFill>
                  <a:srgbClr val="C00000"/>
                </a:solidFill>
              </a:rPr>
              <a:t>④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09BDFEA-464C-8D66-8AE8-1C584E15030F}"/>
              </a:ext>
            </a:extLst>
          </p:cNvPr>
          <p:cNvSpPr/>
          <p:nvPr/>
        </p:nvSpPr>
        <p:spPr>
          <a:xfrm>
            <a:off x="7424809" y="5254996"/>
            <a:ext cx="1124617" cy="24931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DC156E-43E7-0513-79FD-496DEA41A339}"/>
              </a:ext>
            </a:extLst>
          </p:cNvPr>
          <p:cNvSpPr txBox="1"/>
          <p:nvPr/>
        </p:nvSpPr>
        <p:spPr>
          <a:xfrm>
            <a:off x="2123728" y="6018955"/>
            <a:ext cx="4365298" cy="40011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동작이 검증된 </a:t>
            </a:r>
            <a:r>
              <a:rPr lang="en-US" altLang="ko-KR" sz="2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2022-06 </a:t>
            </a:r>
            <a:r>
              <a:rPr lang="ko-KR" altLang="en-US" sz="2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버전을 이용</a:t>
            </a:r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6581DE6E-AB2A-BD25-3733-C76E14A67D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4400" y="6534150"/>
            <a:ext cx="533400" cy="282723"/>
          </a:xfrm>
        </p:spPr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7047591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/>
      <p:bldP spid="12" grpId="0" animBg="1"/>
      <p:bldP spid="1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096C9-8E86-BD90-48EB-0AF579650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44A901-3FAF-1EC6-DE37-8660FAD69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개발환경</a:t>
            </a:r>
            <a:r>
              <a:rPr lang="en-US" altLang="ko-KR" dirty="0"/>
              <a:t>] Eclipse download</a:t>
            </a:r>
            <a:endParaRPr lang="ko-KR" altLang="en-US" dirty="0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C94B2E00-10FA-EC93-89D1-E3DD8C5D8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0" y="980728"/>
            <a:ext cx="5831950" cy="309270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F1EBC4AA-B1A0-78BF-4AE6-8FB1214DD6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0000" y="2507587"/>
            <a:ext cx="5726113" cy="303970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E97E1194-8AE5-254C-A9B6-A875AC8A5267}"/>
              </a:ext>
            </a:extLst>
          </p:cNvPr>
          <p:cNvSpPr/>
          <p:nvPr/>
        </p:nvSpPr>
        <p:spPr>
          <a:xfrm>
            <a:off x="4053627" y="5226254"/>
            <a:ext cx="4968552" cy="1148927"/>
          </a:xfrm>
          <a:prstGeom prst="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 indent="-180000">
              <a:buFont typeface="Arial" panose="020B0604020202020204" pitchFamily="34" charset="0"/>
              <a:buChar char="•"/>
            </a:pPr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이클립스는 설치파일</a:t>
            </a:r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압축파일로도 제공</a:t>
            </a:r>
            <a:endParaRPr lang="en-US" altLang="ko-KR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압축파일로 제공되는 경우</a:t>
            </a:r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압축 해제하면 기본 설치 종료 </a:t>
            </a:r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 </a:t>
            </a:r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“C:\</a:t>
            </a:r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</a:t>
            </a:r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\hrkim”(</a:t>
            </a:r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기본사용자</a:t>
            </a:r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권장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9FFC722-770E-63C6-7D5D-B4F7028483E9}"/>
              </a:ext>
            </a:extLst>
          </p:cNvPr>
          <p:cNvSpPr/>
          <p:nvPr/>
        </p:nvSpPr>
        <p:spPr>
          <a:xfrm>
            <a:off x="1723940" y="2312998"/>
            <a:ext cx="2923125" cy="21408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649EF564-93DD-CC0E-6FB2-A4DFACF422AF}"/>
              </a:ext>
            </a:extLst>
          </p:cNvPr>
          <p:cNvCxnSpPr>
            <a:cxnSpLocks/>
            <a:stCxn id="10" idx="2"/>
            <a:endCxn id="19" idx="0"/>
          </p:cNvCxnSpPr>
          <p:nvPr/>
        </p:nvCxnSpPr>
        <p:spPr>
          <a:xfrm flipH="1">
            <a:off x="6537903" y="5226254"/>
            <a:ext cx="7586" cy="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1BE3545-E68D-C430-841A-FBD93CDD76A0}"/>
              </a:ext>
            </a:extLst>
          </p:cNvPr>
          <p:cNvSpPr/>
          <p:nvPr/>
        </p:nvSpPr>
        <p:spPr>
          <a:xfrm>
            <a:off x="4961536" y="4960832"/>
            <a:ext cx="3167906" cy="26542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FE5833-D95B-2956-6531-1CB537F55DD6}"/>
              </a:ext>
            </a:extLst>
          </p:cNvPr>
          <p:cNvSpPr txBox="1"/>
          <p:nvPr/>
        </p:nvSpPr>
        <p:spPr>
          <a:xfrm>
            <a:off x="2200298" y="3073758"/>
            <a:ext cx="19704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복사 혹은 이동하여</a:t>
            </a:r>
            <a:endParaRPr lang="en-US" altLang="ko-KR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관련 파일 보관</a:t>
            </a: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410EDE41-30DB-92FF-9040-3FBE2B78D7EB}"/>
              </a:ext>
            </a:extLst>
          </p:cNvPr>
          <p:cNvCxnSpPr>
            <a:cxnSpLocks/>
            <a:stCxn id="5" idx="2"/>
            <a:endCxn id="10" idx="1"/>
          </p:cNvCxnSpPr>
          <p:nvPr/>
        </p:nvCxnSpPr>
        <p:spPr>
          <a:xfrm>
            <a:off x="3185503" y="2527078"/>
            <a:ext cx="1776033" cy="256646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12BDC62A-BA89-EBF3-1A82-A754539FA0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4400" y="6534150"/>
            <a:ext cx="533400" cy="282723"/>
          </a:xfrm>
        </p:spPr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31489198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5" grpId="0" animBg="1"/>
      <p:bldP spid="10" grpId="0" animBg="1"/>
      <p:bldP spid="1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096C9-8E86-BD90-48EB-0AF579650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44A901-3FAF-1EC6-DE37-8660FAD69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개발환경</a:t>
            </a:r>
            <a:r>
              <a:rPr lang="en-US" altLang="ko-KR" dirty="0"/>
              <a:t>] Eclipse </a:t>
            </a:r>
            <a:r>
              <a:rPr lang="ko-KR" altLang="en-US" dirty="0"/>
              <a:t>압축풀기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B15F7F5-7A1D-5351-AAAB-631868966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728" y="1412776"/>
            <a:ext cx="4896544" cy="360417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1ADF773E-73A6-94E3-990C-4EC6042FE6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4400" y="6534150"/>
            <a:ext cx="533400" cy="282723"/>
          </a:xfrm>
        </p:spPr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49649823"/>
      </p:ext>
    </p:extLst>
  </p:cSld>
  <p:clrMapOvr>
    <a:masterClrMapping/>
  </p:clrMapOvr>
  <p:transition>
    <p:zo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096C9-8E86-BD90-48EB-0AF579650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44A901-3FAF-1EC6-DE37-8660FAD69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개발환경</a:t>
            </a:r>
            <a:r>
              <a:rPr lang="en-US" altLang="ko-KR" dirty="0"/>
              <a:t>] Eclipse </a:t>
            </a:r>
            <a:r>
              <a:rPr lang="ko-KR" altLang="en-US" dirty="0"/>
              <a:t>압축풀기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93D314E-7F44-3B24-C8F9-2ACFDD7486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762" y="1248047"/>
            <a:ext cx="8190476" cy="436190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0751FE4-2B9E-3848-4A93-751DC6F719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104" y="980728"/>
            <a:ext cx="2952328" cy="551349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1AF586BF-764B-A3EA-AF16-B58C03ADAA62}"/>
              </a:ext>
            </a:extLst>
          </p:cNvPr>
          <p:cNvSpPr/>
          <p:nvPr/>
        </p:nvSpPr>
        <p:spPr>
          <a:xfrm>
            <a:off x="2987825" y="4437112"/>
            <a:ext cx="1584176" cy="2880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A75AF0B-B5B8-7B6B-6368-B747559B55C9}"/>
              </a:ext>
            </a:extLst>
          </p:cNvPr>
          <p:cNvSpPr/>
          <p:nvPr/>
        </p:nvSpPr>
        <p:spPr>
          <a:xfrm>
            <a:off x="5652120" y="4208817"/>
            <a:ext cx="1584176" cy="2880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2AAE2C3-38A4-6BAD-052D-FBAFB30C84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431" y="5944258"/>
            <a:ext cx="8847619" cy="44761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2F241817-AAA0-E178-1CC5-B66282E7D29D}"/>
              </a:ext>
            </a:extLst>
          </p:cNvPr>
          <p:cNvSpPr/>
          <p:nvPr/>
        </p:nvSpPr>
        <p:spPr>
          <a:xfrm>
            <a:off x="8572680" y="5942085"/>
            <a:ext cx="463369" cy="44761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6F8407C6-7992-1C9D-03D1-51DA560CB0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4400" y="6534150"/>
            <a:ext cx="533400" cy="282723"/>
          </a:xfrm>
        </p:spPr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33861003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D4934-93CD-1A70-0F91-3A2889BA0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187880-CC7F-6166-CCC7-193E129AC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개발환경</a:t>
            </a:r>
            <a:r>
              <a:rPr lang="en-US" altLang="ko-KR" dirty="0"/>
              <a:t>] Eclipse </a:t>
            </a:r>
            <a:r>
              <a:rPr lang="ko-KR" altLang="en-US" dirty="0"/>
              <a:t>설정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AF93374-B99E-77EF-0848-A49D6DB01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826" y="1196752"/>
            <a:ext cx="4276190" cy="2857143"/>
          </a:xfrm>
          <a:prstGeom prst="rect">
            <a:avLst/>
          </a:prstGeom>
        </p:spPr>
      </p:pic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4D715865-5C36-6D25-6B20-41452F6219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4400" y="6534150"/>
            <a:ext cx="533400" cy="282723"/>
          </a:xfrm>
        </p:spPr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39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A744D7C-C12B-A1AF-CB6D-71BFF4D965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640" y="3573016"/>
            <a:ext cx="5790476" cy="255238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729087498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D4934-93CD-1A70-0F91-3A2889BA0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187880-CC7F-6166-CCC7-193E129AC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개발환경</a:t>
            </a:r>
            <a:r>
              <a:rPr lang="en-US" altLang="ko-KR" dirty="0"/>
              <a:t>] Eclipse </a:t>
            </a:r>
            <a:r>
              <a:rPr lang="ko-KR" altLang="en-US" dirty="0"/>
              <a:t>설정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2F4384F-278D-C726-5E57-156C65B80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420" y="1268760"/>
            <a:ext cx="6153160" cy="465313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2C015620-488E-1641-1EC9-0C41B88C9531}"/>
              </a:ext>
            </a:extLst>
          </p:cNvPr>
          <p:cNvSpPr/>
          <p:nvPr/>
        </p:nvSpPr>
        <p:spPr>
          <a:xfrm>
            <a:off x="7092280" y="2132857"/>
            <a:ext cx="463369" cy="36004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17FB95F5-AF94-3403-959E-9DAEF21622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4400" y="6534150"/>
            <a:ext cx="533400" cy="282723"/>
          </a:xfrm>
        </p:spPr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40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2576988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D4934-93CD-1A70-0F91-3A2889BA0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187880-CC7F-6166-CCC7-193E129AC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개발환경</a:t>
            </a:r>
            <a:r>
              <a:rPr lang="en-US" altLang="ko-KR" dirty="0"/>
              <a:t>] Eclipse </a:t>
            </a:r>
            <a:r>
              <a:rPr lang="ko-KR" altLang="en-US" dirty="0"/>
              <a:t>설정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8BB9493-A6EC-4D47-67D2-3B9315E79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212" y="1124744"/>
            <a:ext cx="6849576" cy="513207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CAFB6157-00B3-650A-823E-7B8B31E396EE}"/>
              </a:ext>
            </a:extLst>
          </p:cNvPr>
          <p:cNvSpPr/>
          <p:nvPr/>
        </p:nvSpPr>
        <p:spPr>
          <a:xfrm>
            <a:off x="2958791" y="1271992"/>
            <a:ext cx="356937" cy="18955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90AF349-5C48-915F-0F5A-43E5EA2A7A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384" y="1518693"/>
            <a:ext cx="1580952" cy="196190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E3F94E8A-CFB0-1BD9-08EA-720EC00B97A0}"/>
              </a:ext>
            </a:extLst>
          </p:cNvPr>
          <p:cNvSpPr/>
          <p:nvPr/>
        </p:nvSpPr>
        <p:spPr>
          <a:xfrm>
            <a:off x="2993533" y="3235782"/>
            <a:ext cx="1546277" cy="23229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94044599-7CF1-6667-9B1B-E29FDB4E25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4400" y="6534150"/>
            <a:ext cx="533400" cy="282723"/>
          </a:xfrm>
        </p:spPr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41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2552763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18905-1FE4-F861-FAAD-CFD32309B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874781-E45D-8A2F-B0CD-366A7F9CA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개발환경</a:t>
            </a:r>
            <a:r>
              <a:rPr lang="en-US" altLang="ko-KR" dirty="0"/>
              <a:t>] </a:t>
            </a:r>
            <a:r>
              <a:rPr lang="ko-KR" altLang="en-US" dirty="0"/>
              <a:t>이클립스 설정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B9DC9548-F206-7B46-D9C1-7D6FF6865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JDK </a:t>
            </a:r>
            <a:r>
              <a:rPr lang="ko-KR" altLang="en-US" dirty="0"/>
              <a:t>버전 설치 </a:t>
            </a:r>
            <a:r>
              <a:rPr lang="en-US" altLang="ko-KR" dirty="0"/>
              <a:t>: JDK17</a:t>
            </a:r>
            <a:r>
              <a:rPr lang="en-US" altLang="ko-KR" dirty="0">
                <a:sym typeface="Wingdings" panose="05000000000000000000" pitchFamily="2" charset="2"/>
              </a:rPr>
              <a:t> JDK11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EA20DE3-E101-08EE-F0B9-FEBD8DFFA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075" y="1472733"/>
            <a:ext cx="5933660" cy="494617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0D4CC555-FD42-F71C-7882-B10F91A3D5CB}"/>
              </a:ext>
            </a:extLst>
          </p:cNvPr>
          <p:cNvSpPr/>
          <p:nvPr/>
        </p:nvSpPr>
        <p:spPr>
          <a:xfrm>
            <a:off x="2734222" y="3081486"/>
            <a:ext cx="3240360" cy="216024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FCF438DB-5B30-31B5-D08B-6E61C462402A}"/>
              </a:ext>
            </a:extLst>
          </p:cNvPr>
          <p:cNvCxnSpPr>
            <a:cxnSpLocks/>
            <a:stCxn id="8" idx="0"/>
            <a:endCxn id="13" idx="2"/>
          </p:cNvCxnSpPr>
          <p:nvPr/>
        </p:nvCxnSpPr>
        <p:spPr>
          <a:xfrm flipV="1">
            <a:off x="4354402" y="1988841"/>
            <a:ext cx="2755093" cy="1092645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835EBB4-3864-68A3-D2D0-6A4ADED1BCDA}"/>
              </a:ext>
            </a:extLst>
          </p:cNvPr>
          <p:cNvSpPr/>
          <p:nvPr/>
        </p:nvSpPr>
        <p:spPr>
          <a:xfrm>
            <a:off x="5974582" y="1361237"/>
            <a:ext cx="2269826" cy="627604"/>
          </a:xfrm>
          <a:prstGeom prst="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Eclipse</a:t>
            </a:r>
            <a:r>
              <a:rPr lang="ko-KR" altLang="en-US" sz="18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포함된</a:t>
            </a:r>
            <a:r>
              <a:rPr lang="en-US" altLang="ko-KR" sz="18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JDK17 </a:t>
            </a:r>
            <a:r>
              <a:rPr lang="ko-KR" altLang="en-US" sz="18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버전의</a:t>
            </a:r>
            <a:r>
              <a:rPr lang="en-US" altLang="ko-KR" sz="18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8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경로</a:t>
            </a:r>
            <a:r>
              <a:rPr lang="en-US" altLang="ko-KR" sz="18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1800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B805E10-8EDB-A378-2E03-AD4497063B3C}"/>
              </a:ext>
            </a:extLst>
          </p:cNvPr>
          <p:cNvSpPr/>
          <p:nvPr/>
        </p:nvSpPr>
        <p:spPr>
          <a:xfrm>
            <a:off x="5974582" y="2836086"/>
            <a:ext cx="756084" cy="30255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9F81ADC0-E38B-3BCE-C1BE-C03F2B66B9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4400" y="6534150"/>
            <a:ext cx="533400" cy="282723"/>
          </a:xfrm>
        </p:spPr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42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67463160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9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0093E-FBA5-22BC-5951-72C4A3E06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1A6954-3273-6834-A7D9-08C6C972E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개발환경</a:t>
            </a:r>
            <a:r>
              <a:rPr lang="en-US" altLang="ko-KR" dirty="0"/>
              <a:t>] </a:t>
            </a:r>
            <a:r>
              <a:rPr lang="ko-KR" altLang="en-US" dirty="0"/>
              <a:t>이클립스 설정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1116AD6-1697-F969-9FF4-9A082D8FBD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JDK </a:t>
            </a:r>
            <a:r>
              <a:rPr lang="ko-KR" altLang="en-US" dirty="0"/>
              <a:t>버전 설치 </a:t>
            </a:r>
            <a:r>
              <a:rPr lang="en-US" altLang="ko-KR" dirty="0"/>
              <a:t>: JDK17</a:t>
            </a:r>
            <a:r>
              <a:rPr lang="en-US" altLang="ko-KR" dirty="0">
                <a:sym typeface="Wingdings" panose="05000000000000000000" pitchFamily="2" charset="2"/>
              </a:rPr>
              <a:t> JDK11</a:t>
            </a:r>
            <a:endParaRPr lang="ko-KR" altLang="en-US" dirty="0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A71CBA37-B6EE-1810-8CF7-6CB5C63D3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628800"/>
            <a:ext cx="4595538" cy="403244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978DEAE-E3FC-D25F-B3F9-1BC8B5691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1497" y="1628800"/>
            <a:ext cx="4366255" cy="439214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19935DAE-4A69-2E8D-8F4D-58FA759C0DA7}"/>
              </a:ext>
            </a:extLst>
          </p:cNvPr>
          <p:cNvSpPr/>
          <p:nvPr/>
        </p:nvSpPr>
        <p:spPr>
          <a:xfrm>
            <a:off x="5364088" y="2492896"/>
            <a:ext cx="3233664" cy="30255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DCBC94F1-3CFF-0B73-1B79-B0CC38D62B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4400" y="6534150"/>
            <a:ext cx="533400" cy="282723"/>
          </a:xfrm>
        </p:spPr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43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1478893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63A26-94A6-997A-5727-87DE6EF53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E5811-A4CE-38E6-0F07-86D7E688C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개발환경</a:t>
            </a:r>
            <a:r>
              <a:rPr lang="en-US" altLang="ko-KR" dirty="0"/>
              <a:t>] </a:t>
            </a:r>
            <a:r>
              <a:rPr lang="ko-KR" altLang="en-US" dirty="0"/>
              <a:t>이클립스 설정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6995D1BE-307A-4B7E-2E04-BDDBB8D614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JDK </a:t>
            </a:r>
            <a:r>
              <a:rPr lang="ko-KR" altLang="en-US" dirty="0"/>
              <a:t>버전 설치 </a:t>
            </a:r>
            <a:r>
              <a:rPr lang="en-US" altLang="ko-KR" dirty="0"/>
              <a:t>: JDK17</a:t>
            </a:r>
            <a:r>
              <a:rPr lang="en-US" altLang="ko-KR" dirty="0">
                <a:sym typeface="Wingdings" panose="05000000000000000000" pitchFamily="2" charset="2"/>
              </a:rPr>
              <a:t> JDK11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9DF5EEB-1440-29F7-3331-060582CCD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328" y="1484784"/>
            <a:ext cx="5883344" cy="491729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17851B5E-C245-A4EC-BCFA-BCCC13C73A08}"/>
              </a:ext>
            </a:extLst>
          </p:cNvPr>
          <p:cNvSpPr/>
          <p:nvPr/>
        </p:nvSpPr>
        <p:spPr>
          <a:xfrm>
            <a:off x="3391404" y="3051294"/>
            <a:ext cx="3233664" cy="30255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24E31A8C-A2F3-9816-3457-4273DAB6A899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5008236" y="3353844"/>
            <a:ext cx="1698889" cy="109266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02744D2-FC09-05F7-D847-1B87F339A7E9}"/>
              </a:ext>
            </a:extLst>
          </p:cNvPr>
          <p:cNvSpPr/>
          <p:nvPr/>
        </p:nvSpPr>
        <p:spPr>
          <a:xfrm>
            <a:off x="6156176" y="4503657"/>
            <a:ext cx="2269826" cy="627604"/>
          </a:xfrm>
          <a:prstGeom prst="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8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맨 좌측 체크하여</a:t>
            </a:r>
            <a:endParaRPr lang="en-US" altLang="ko-KR" sz="1800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en-US" altLang="ko-KR" sz="18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Default</a:t>
            </a:r>
            <a:r>
              <a:rPr lang="ko-KR" altLang="en-US" sz="18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</a:t>
            </a:r>
            <a:r>
              <a:rPr lang="en-US" altLang="ko-KR" sz="18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8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설정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5892FB7-5BF1-9497-7FAD-6498287F10B4}"/>
              </a:ext>
            </a:extLst>
          </p:cNvPr>
          <p:cNvSpPr/>
          <p:nvPr/>
        </p:nvSpPr>
        <p:spPr>
          <a:xfrm>
            <a:off x="5575479" y="6048388"/>
            <a:ext cx="1008112" cy="30255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7F01350A-5081-2224-69FD-FFF7ECC31F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4400" y="6534150"/>
            <a:ext cx="533400" cy="282723"/>
          </a:xfrm>
        </p:spPr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44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9127181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4" grpId="0" animBg="1"/>
      <p:bldP spid="3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63A26-94A6-997A-5727-87DE6EF53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E5811-A4CE-38E6-0F07-86D7E688C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개발환경</a:t>
            </a:r>
            <a:r>
              <a:rPr lang="en-US" altLang="ko-KR" dirty="0"/>
              <a:t>] </a:t>
            </a:r>
            <a:r>
              <a:rPr lang="ko-KR" altLang="en-US" dirty="0"/>
              <a:t>이클립스 설정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6995D1BE-307A-4B7E-2E04-BDDBB8D614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Java Compiler </a:t>
            </a:r>
            <a:r>
              <a:rPr lang="en-US" altLang="ko-KR" dirty="0">
                <a:sym typeface="Wingdings" panose="05000000000000000000" pitchFamily="2" charset="2"/>
              </a:rPr>
              <a:t> Preferences-Java-Compiler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779C8DF-6423-78F1-B837-731F4261E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1780092"/>
            <a:ext cx="6828571" cy="40000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17851B5E-C245-A4EC-BCFA-BCCC13C73A08}"/>
              </a:ext>
            </a:extLst>
          </p:cNvPr>
          <p:cNvSpPr/>
          <p:nvPr/>
        </p:nvSpPr>
        <p:spPr>
          <a:xfrm>
            <a:off x="2840454" y="2780928"/>
            <a:ext cx="4971905" cy="30255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22086D13-F7CD-B2CE-0678-C1A6AED2BD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4400" y="6534150"/>
            <a:ext cx="533400" cy="282723"/>
          </a:xfrm>
        </p:spPr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45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7913724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63A26-94A6-997A-5727-87DE6EF53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E5811-A4CE-38E6-0F07-86D7E688C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개발환경</a:t>
            </a:r>
            <a:r>
              <a:rPr lang="en-US" altLang="ko-KR" dirty="0"/>
              <a:t>] </a:t>
            </a:r>
            <a:r>
              <a:rPr lang="ko-KR" altLang="en-US" dirty="0"/>
              <a:t>이클립스 설정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6995D1BE-307A-4B7E-2E04-BDDBB8D614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Eclipse-Tomcat </a:t>
            </a:r>
            <a:r>
              <a:rPr lang="ko-KR" altLang="en-US" dirty="0"/>
              <a:t>연동 </a:t>
            </a:r>
            <a:r>
              <a:rPr lang="en-US" altLang="ko-KR" dirty="0">
                <a:sym typeface="Wingdings" panose="05000000000000000000" pitchFamily="2" charset="2"/>
              </a:rPr>
              <a:t> Preferences-Server-Runtime Env.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6124C76-4CC3-6B72-F8AD-454C6A3F33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628800"/>
            <a:ext cx="6048672" cy="363087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17851B5E-C245-A4EC-BCFA-BCCC13C73A08}"/>
              </a:ext>
            </a:extLst>
          </p:cNvPr>
          <p:cNvSpPr/>
          <p:nvPr/>
        </p:nvSpPr>
        <p:spPr>
          <a:xfrm>
            <a:off x="5580112" y="2594127"/>
            <a:ext cx="720081" cy="30255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ED287A45-70D1-74A1-0000-0345DEF28C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4400" y="6534150"/>
            <a:ext cx="533400" cy="282723"/>
          </a:xfrm>
        </p:spPr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46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79127808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63A26-94A6-997A-5727-87DE6EF53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E5811-A4CE-38E6-0F07-86D7E688C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개발환경</a:t>
            </a:r>
            <a:r>
              <a:rPr lang="en-US" altLang="ko-KR" dirty="0"/>
              <a:t>] </a:t>
            </a:r>
            <a:r>
              <a:rPr lang="ko-KR" altLang="en-US" dirty="0"/>
              <a:t>이클립스 설정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6995D1BE-307A-4B7E-2E04-BDDBB8D614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Eclipse-Tomcat </a:t>
            </a:r>
            <a:r>
              <a:rPr lang="ko-KR" altLang="en-US" dirty="0"/>
              <a:t>연동 </a:t>
            </a:r>
            <a:r>
              <a:rPr lang="en-US" altLang="ko-KR" dirty="0">
                <a:sym typeface="Wingdings" panose="05000000000000000000" pitchFamily="2" charset="2"/>
              </a:rPr>
              <a:t> Preferences-Server-Runtime Env.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0879792-541B-909B-F072-FE01F7A59D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447" y="1664145"/>
            <a:ext cx="3941237" cy="421277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DB0A17C1-3933-5B56-83AA-53CF7CE08AFA}"/>
              </a:ext>
            </a:extLst>
          </p:cNvPr>
          <p:cNvSpPr/>
          <p:nvPr/>
        </p:nvSpPr>
        <p:spPr>
          <a:xfrm>
            <a:off x="683568" y="3573016"/>
            <a:ext cx="1151682" cy="20042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315B3E3-365B-E99B-470C-6717AF8C16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016" y="1664146"/>
            <a:ext cx="3931927" cy="421277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4F182A36-FD51-637C-F4C0-B5144DC2EFE2}"/>
              </a:ext>
            </a:extLst>
          </p:cNvPr>
          <p:cNvSpPr/>
          <p:nvPr/>
        </p:nvSpPr>
        <p:spPr>
          <a:xfrm>
            <a:off x="4684518" y="2996952"/>
            <a:ext cx="3931927" cy="21602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B9CADDB4-EF21-D27F-BF7C-5D82C9EA3A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4400" y="6534150"/>
            <a:ext cx="533400" cy="282723"/>
          </a:xfrm>
        </p:spPr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47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60074283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1780E-466B-432B-70CE-071123802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22DFB0-B8A7-2BCC-7773-B0818762E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개발환경</a:t>
            </a:r>
            <a:r>
              <a:rPr lang="en-US" altLang="ko-KR" dirty="0"/>
              <a:t>] </a:t>
            </a:r>
            <a:r>
              <a:rPr lang="ko-KR" altLang="en-US" dirty="0"/>
              <a:t>이클립스 설정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CD864424-A5E4-2711-E224-57CD49D673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편집기 행 번호 설정</a:t>
            </a:r>
            <a:endParaRPr lang="en-US" altLang="ko-KR" dirty="0"/>
          </a:p>
          <a:p>
            <a:pPr lvl="1"/>
            <a:r>
              <a:rPr lang="en-US" altLang="ko-KR" dirty="0"/>
              <a:t>Window – Preferences </a:t>
            </a:r>
            <a:r>
              <a:rPr lang="en-US" altLang="ko-KR" dirty="0">
                <a:sym typeface="Wingdings" panose="05000000000000000000" pitchFamily="2" charset="2"/>
              </a:rPr>
              <a:t> General – Editors – Text Editors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838AFDA-B046-678C-357D-D3F5632BE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190" y="1988840"/>
            <a:ext cx="6447619" cy="403809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D01E9026-520D-9E2B-FA42-2A8580EC0AD2}"/>
              </a:ext>
            </a:extLst>
          </p:cNvPr>
          <p:cNvSpPr/>
          <p:nvPr/>
        </p:nvSpPr>
        <p:spPr>
          <a:xfrm>
            <a:off x="3131840" y="5373216"/>
            <a:ext cx="1548585" cy="27323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3C5F2FF0-4CEB-2817-E504-FFC0AB3E08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4400" y="6534150"/>
            <a:ext cx="533400" cy="282723"/>
          </a:xfrm>
        </p:spPr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48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98020177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1E918-B53F-CD25-A228-9C36A3652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917614-A1A6-9340-C38A-1DB7040CC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개발환경</a:t>
            </a:r>
            <a:r>
              <a:rPr lang="en-US" altLang="ko-KR" dirty="0"/>
              <a:t>] </a:t>
            </a:r>
            <a:r>
              <a:rPr lang="ko-KR" altLang="en-US" dirty="0"/>
              <a:t>이클립스 설정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5A7A968A-1FEE-E4DD-D73F-B2FAE4084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자동 </a:t>
            </a:r>
            <a:r>
              <a:rPr lang="ko-KR" altLang="en-US" dirty="0" err="1"/>
              <a:t>줄바꿈</a:t>
            </a:r>
            <a:endParaRPr lang="en-US" altLang="ko-KR" dirty="0"/>
          </a:p>
          <a:p>
            <a:pPr lvl="1"/>
            <a:r>
              <a:rPr lang="en-US" altLang="ko-KR" dirty="0"/>
              <a:t>Window – Preferences </a:t>
            </a:r>
            <a:r>
              <a:rPr lang="en-US" altLang="ko-KR" dirty="0">
                <a:sym typeface="Wingdings" panose="05000000000000000000" pitchFamily="2" charset="2"/>
              </a:rPr>
              <a:t> Java – Code Style - Formatter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D2F1485-4500-7A27-6F81-6D8459A72BE6}"/>
              </a:ext>
            </a:extLst>
          </p:cNvPr>
          <p:cNvSpPr/>
          <p:nvPr/>
        </p:nvSpPr>
        <p:spPr>
          <a:xfrm>
            <a:off x="3131840" y="5505045"/>
            <a:ext cx="1548585" cy="27323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620F679-F2AE-C0EF-E6FD-BC0FB2B43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53" y="1904645"/>
            <a:ext cx="5032374" cy="462069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9405777-9802-EC21-58DA-EA40EBC99B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024" y="3133616"/>
            <a:ext cx="3609524" cy="237142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6A2C957E-CB53-B602-C529-511B8A444C4A}"/>
              </a:ext>
            </a:extLst>
          </p:cNvPr>
          <p:cNvSpPr/>
          <p:nvPr/>
        </p:nvSpPr>
        <p:spPr>
          <a:xfrm>
            <a:off x="971600" y="4352917"/>
            <a:ext cx="494932" cy="21602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E93BFB3-303D-8B68-4509-AFFD77B0D193}"/>
              </a:ext>
            </a:extLst>
          </p:cNvPr>
          <p:cNvSpPr/>
          <p:nvPr/>
        </p:nvSpPr>
        <p:spPr>
          <a:xfrm>
            <a:off x="2024840" y="2883882"/>
            <a:ext cx="602944" cy="21602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DBD1D00-BC71-6794-6C56-D9E062A2FA07}"/>
              </a:ext>
            </a:extLst>
          </p:cNvPr>
          <p:cNvSpPr/>
          <p:nvPr/>
        </p:nvSpPr>
        <p:spPr>
          <a:xfrm>
            <a:off x="4860032" y="3687705"/>
            <a:ext cx="1080120" cy="23316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6EC00F41-C300-68F3-7A29-16BA77129F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4400" y="6534150"/>
            <a:ext cx="533400" cy="282723"/>
          </a:xfrm>
        </p:spPr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49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00714359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7AA9F-C145-DEE9-8591-2FF2AEDC2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8CB13C-EBF2-6353-3FA5-B041B53D4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개발환경</a:t>
            </a:r>
            <a:r>
              <a:rPr lang="en-US" altLang="ko-KR" dirty="0"/>
              <a:t>] </a:t>
            </a:r>
            <a:r>
              <a:rPr lang="ko-KR" altLang="en-US" dirty="0"/>
              <a:t>이클립스 설정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35CD2B1B-978A-211C-6C15-3C163A9B14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자동 </a:t>
            </a:r>
            <a:r>
              <a:rPr lang="ko-KR" altLang="en-US" dirty="0" err="1"/>
              <a:t>줄바꿈</a:t>
            </a:r>
            <a:endParaRPr lang="en-US" altLang="ko-KR" dirty="0"/>
          </a:p>
          <a:p>
            <a:pPr lvl="1"/>
            <a:r>
              <a:rPr lang="en-US" altLang="ko-KR" dirty="0"/>
              <a:t>Window – Preferences </a:t>
            </a:r>
            <a:r>
              <a:rPr lang="en-US" altLang="ko-KR" dirty="0">
                <a:sym typeface="Wingdings" panose="05000000000000000000" pitchFamily="2" charset="2"/>
              </a:rPr>
              <a:t> Java – Code Style - Formatter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65D48DE-8537-6DB7-FCAB-E75EE4D69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872" y="1988840"/>
            <a:ext cx="4331553" cy="254044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6ED5DEA6-D6F2-AED7-5F49-53BF8FB10795}"/>
              </a:ext>
            </a:extLst>
          </p:cNvPr>
          <p:cNvSpPr/>
          <p:nvPr/>
        </p:nvSpPr>
        <p:spPr>
          <a:xfrm>
            <a:off x="1475657" y="2603898"/>
            <a:ext cx="1152128" cy="21602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4621B18-08D0-2814-A2A5-E4B3876A0B87}"/>
              </a:ext>
            </a:extLst>
          </p:cNvPr>
          <p:cNvSpPr/>
          <p:nvPr/>
        </p:nvSpPr>
        <p:spPr>
          <a:xfrm>
            <a:off x="3491879" y="2603898"/>
            <a:ext cx="655343" cy="21602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1B6C702-A5B6-29F2-DB50-93F702A27C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8489" y="3068960"/>
            <a:ext cx="5119141" cy="320753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3DD5434E-F89B-8D86-6CE1-AAFA6B4E99CC}"/>
              </a:ext>
            </a:extLst>
          </p:cNvPr>
          <p:cNvSpPr/>
          <p:nvPr/>
        </p:nvSpPr>
        <p:spPr>
          <a:xfrm>
            <a:off x="5364088" y="4221088"/>
            <a:ext cx="511327" cy="21602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30472A54-EA66-0E2D-E8D3-87FBD64552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4400" y="6534150"/>
            <a:ext cx="533400" cy="282723"/>
          </a:xfrm>
        </p:spPr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50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1585738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9013A-01B1-4511-6089-13C4E1567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EB17E5-3E3A-04FD-EB42-001DECC24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개발환경</a:t>
            </a:r>
            <a:r>
              <a:rPr lang="en-US" altLang="ko-KR" dirty="0"/>
              <a:t>] </a:t>
            </a:r>
            <a:r>
              <a:rPr lang="ko-KR" altLang="en-US" dirty="0"/>
              <a:t>이클립스 설정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B2514448-0428-1DB7-DA3B-30E1F17AE5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자바 소스 기본 주석 설정</a:t>
            </a:r>
            <a:endParaRPr lang="en-US" altLang="ko-KR" dirty="0"/>
          </a:p>
          <a:p>
            <a:pPr lvl="1"/>
            <a:r>
              <a:rPr lang="en-US" altLang="ko-KR" dirty="0" err="1"/>
              <a:t>javaDoc</a:t>
            </a:r>
            <a:r>
              <a:rPr lang="ko-KR" altLang="en-US" dirty="0"/>
              <a:t>이라는 특별한 형태의 주석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소스에 주석 자동 생성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Window-Preferences  Java - Code Style – Code Templates</a:t>
            </a:r>
            <a:endParaRPr lang="ko-KR" altLang="en-US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5D595515-F8CA-AE95-C4B1-34DD2CA954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2492896"/>
            <a:ext cx="5400600" cy="324513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3A3643EB-C9DB-0D72-0F54-1A0F0DDE07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3928" y="4005064"/>
            <a:ext cx="4970976" cy="239280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F1D3EC4C-1612-457F-89F2-48992CFE9E69}"/>
              </a:ext>
            </a:extLst>
          </p:cNvPr>
          <p:cNvSpPr/>
          <p:nvPr/>
        </p:nvSpPr>
        <p:spPr>
          <a:xfrm>
            <a:off x="1691681" y="3356992"/>
            <a:ext cx="1152128" cy="36004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2C45493-DBF3-4B6F-413D-33EFD0258B49}"/>
              </a:ext>
            </a:extLst>
          </p:cNvPr>
          <p:cNvSpPr/>
          <p:nvPr/>
        </p:nvSpPr>
        <p:spPr>
          <a:xfrm>
            <a:off x="4744892" y="3325968"/>
            <a:ext cx="864096" cy="26380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3FFE212-0EB1-6D8E-BE15-C681639D1A52}"/>
              </a:ext>
            </a:extLst>
          </p:cNvPr>
          <p:cNvSpPr/>
          <p:nvPr/>
        </p:nvSpPr>
        <p:spPr>
          <a:xfrm>
            <a:off x="4583112" y="4581128"/>
            <a:ext cx="2005112" cy="64807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8A6DCA8-99DE-EAFE-18BE-3142C3EFE242}"/>
              </a:ext>
            </a:extLst>
          </p:cNvPr>
          <p:cNvSpPr/>
          <p:nvPr/>
        </p:nvSpPr>
        <p:spPr>
          <a:xfrm>
            <a:off x="4549483" y="5413992"/>
            <a:ext cx="886613" cy="32403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5C9DB45A-E828-3F23-0406-5B59BD56BA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4400" y="6534150"/>
            <a:ext cx="533400" cy="282723"/>
          </a:xfrm>
        </p:spPr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51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6793231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7A935-C54F-DC96-BA48-C9DC688D9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5A92D9-F67B-6007-722A-4482C7B70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개발환경</a:t>
            </a:r>
            <a:r>
              <a:rPr lang="en-US" altLang="ko-KR" dirty="0"/>
              <a:t>] </a:t>
            </a:r>
            <a:r>
              <a:rPr lang="ko-KR" altLang="en-US" dirty="0"/>
              <a:t>이클립스 설정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2F99FCAD-0E73-2356-9E3B-4B6FB751E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텍스트 인코딩 </a:t>
            </a:r>
            <a:r>
              <a:rPr lang="en-US" altLang="ko-KR" dirty="0"/>
              <a:t>(UTF-8)</a:t>
            </a:r>
            <a:r>
              <a:rPr lang="ko-KR" altLang="en-US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/>
              <a:t>기존 파일</a:t>
            </a:r>
            <a:r>
              <a:rPr lang="en-US" altLang="ko-KR" dirty="0"/>
              <a:t> </a:t>
            </a:r>
            <a:r>
              <a:rPr lang="ko-KR" altLang="en-US" dirty="0"/>
              <a:t>한글 인코딩 오류 제거</a:t>
            </a:r>
            <a:endParaRPr lang="en-US" altLang="ko-KR" dirty="0"/>
          </a:p>
          <a:p>
            <a:pPr lvl="1"/>
            <a:r>
              <a:rPr lang="en-US" altLang="ko-KR" dirty="0"/>
              <a:t>Window-Preferences </a:t>
            </a:r>
            <a:r>
              <a:rPr lang="en-US" altLang="ko-KR" dirty="0">
                <a:sym typeface="Wingdings" panose="05000000000000000000" pitchFamily="2" charset="2"/>
              </a:rPr>
              <a:t> General - Workspace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4716839-C000-70D1-251A-402D7EA7D9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614" y="1988840"/>
            <a:ext cx="5228772" cy="437183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DF8607AE-3E2E-6C56-9037-0944822EAE32}"/>
              </a:ext>
            </a:extLst>
          </p:cNvPr>
          <p:cNvSpPr/>
          <p:nvPr/>
        </p:nvSpPr>
        <p:spPr>
          <a:xfrm>
            <a:off x="3386452" y="6021288"/>
            <a:ext cx="1257556" cy="26207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82DE4F8B-1AB8-2684-2BAF-4277C09091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4400" y="6534150"/>
            <a:ext cx="533400" cy="282723"/>
          </a:xfrm>
        </p:spPr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52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68375147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8B04F-3AF4-8E60-7D16-965DC8D0A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3DD54A-C2F1-ACBD-C46B-4AFDD14E3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개발환경</a:t>
            </a:r>
            <a:r>
              <a:rPr lang="en-US" altLang="ko-KR" dirty="0"/>
              <a:t>] </a:t>
            </a:r>
            <a:r>
              <a:rPr lang="ko-KR" altLang="en-US" dirty="0"/>
              <a:t>이클립스 설정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34FA6C53-2559-137C-C871-9A5D04363F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인코딩 설정 변경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/>
              <a:t>클래스</a:t>
            </a:r>
            <a:endParaRPr lang="en-US" altLang="ko-KR" dirty="0"/>
          </a:p>
          <a:p>
            <a:pPr lvl="1"/>
            <a:r>
              <a:rPr lang="en-US" altLang="ko-KR" dirty="0"/>
              <a:t>Window-Preferences </a:t>
            </a:r>
            <a:r>
              <a:rPr lang="en-US" altLang="ko-KR" dirty="0">
                <a:sym typeface="Wingdings" panose="05000000000000000000" pitchFamily="2" charset="2"/>
              </a:rPr>
              <a:t> General - Content Types  Java Class File</a:t>
            </a:r>
            <a:endParaRPr lang="ko-KR" altLang="en-US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D2196F0-1829-22C0-7A89-B54DFAF6B6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4697" y="1916832"/>
            <a:ext cx="4594606" cy="453079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61B7F50A-4DF5-9474-E253-2094E25B81FC}"/>
              </a:ext>
            </a:extLst>
          </p:cNvPr>
          <p:cNvSpPr/>
          <p:nvPr/>
        </p:nvSpPr>
        <p:spPr>
          <a:xfrm>
            <a:off x="3563888" y="3016202"/>
            <a:ext cx="1257556" cy="26207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73B1C0F-70DE-6A67-CCAC-10046183AFEE}"/>
              </a:ext>
            </a:extLst>
          </p:cNvPr>
          <p:cNvSpPr/>
          <p:nvPr/>
        </p:nvSpPr>
        <p:spPr>
          <a:xfrm>
            <a:off x="4164153" y="5876925"/>
            <a:ext cx="2705150" cy="26207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67A1720D-BBCB-6BD4-3156-2C95691EEB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4400" y="6534150"/>
            <a:ext cx="533400" cy="282723"/>
          </a:xfrm>
        </p:spPr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53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62889123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38148-9021-F24C-C583-7EDC7B229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A4DAE1-88C8-E620-DFE8-7919EA1AD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개발환경</a:t>
            </a:r>
            <a:r>
              <a:rPr lang="en-US" altLang="ko-KR" dirty="0"/>
              <a:t>] </a:t>
            </a:r>
            <a:r>
              <a:rPr lang="ko-KR" altLang="en-US" dirty="0"/>
              <a:t>이클립스 설정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6156697B-AF4B-4220-7CA9-6C88C37F3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인코딩 설정 변경 </a:t>
            </a:r>
            <a:r>
              <a:rPr lang="en-US" altLang="ko-KR" dirty="0">
                <a:sym typeface="Wingdings" panose="05000000000000000000" pitchFamily="2" charset="2"/>
              </a:rPr>
              <a:t> JSP </a:t>
            </a:r>
            <a:r>
              <a:rPr lang="ko-KR" altLang="en-US" dirty="0">
                <a:sym typeface="Wingdings" panose="05000000000000000000" pitchFamily="2" charset="2"/>
              </a:rPr>
              <a:t>관련</a:t>
            </a:r>
            <a:endParaRPr lang="en-US" altLang="ko-KR" dirty="0"/>
          </a:p>
          <a:p>
            <a:pPr lvl="1"/>
            <a:r>
              <a:rPr lang="en-US" altLang="ko-KR" dirty="0"/>
              <a:t>Window-Preferences </a:t>
            </a:r>
            <a:r>
              <a:rPr lang="en-US" altLang="ko-KR" dirty="0">
                <a:sym typeface="Wingdings" panose="05000000000000000000" pitchFamily="2" charset="2"/>
              </a:rPr>
              <a:t> General - Content Types  Text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BED0855-3C94-E8CC-A3C5-9DBE7A000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44" y="1916832"/>
            <a:ext cx="4608512" cy="455074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C8AFBE7F-002B-7B89-5B38-0E6BA220AF35}"/>
              </a:ext>
            </a:extLst>
          </p:cNvPr>
          <p:cNvSpPr/>
          <p:nvPr/>
        </p:nvSpPr>
        <p:spPr>
          <a:xfrm>
            <a:off x="3563888" y="2636912"/>
            <a:ext cx="1257556" cy="36004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A69579A-57C1-4BC9-B3A2-635961738729}"/>
              </a:ext>
            </a:extLst>
          </p:cNvPr>
          <p:cNvSpPr/>
          <p:nvPr/>
        </p:nvSpPr>
        <p:spPr>
          <a:xfrm>
            <a:off x="3563888" y="3082977"/>
            <a:ext cx="1257556" cy="18000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9775E3B-E538-3D8D-2F57-5650AACF38E8}"/>
              </a:ext>
            </a:extLst>
          </p:cNvPr>
          <p:cNvSpPr/>
          <p:nvPr/>
        </p:nvSpPr>
        <p:spPr>
          <a:xfrm>
            <a:off x="3573513" y="4005064"/>
            <a:ext cx="1257556" cy="16326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378FD7C-E748-67BD-2ED3-961B043353DA}"/>
              </a:ext>
            </a:extLst>
          </p:cNvPr>
          <p:cNvSpPr/>
          <p:nvPr/>
        </p:nvSpPr>
        <p:spPr>
          <a:xfrm>
            <a:off x="4164516" y="5876924"/>
            <a:ext cx="2711740" cy="28837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슬라이드 번호 개체 틀 3">
            <a:extLst>
              <a:ext uri="{FF2B5EF4-FFF2-40B4-BE49-F238E27FC236}">
                <a16:creationId xmlns:a16="http://schemas.microsoft.com/office/drawing/2014/main" id="{B1493C36-791E-CBAC-7480-24DD6B1248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4400" y="6534150"/>
            <a:ext cx="533400" cy="282723"/>
          </a:xfrm>
        </p:spPr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54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54632050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A70CF-DEAA-5E03-8959-F2E1DBAA2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C237CB-6F8A-1841-1E43-BBEAC395F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개발환경</a:t>
            </a:r>
            <a:r>
              <a:rPr lang="en-US" altLang="ko-KR" dirty="0"/>
              <a:t>] </a:t>
            </a:r>
            <a:r>
              <a:rPr lang="ko-KR" altLang="en-US" dirty="0"/>
              <a:t>이클립스 설정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9359ABDA-8A29-526D-2428-563B98F70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인코딩 설정 변경</a:t>
            </a:r>
            <a:endParaRPr lang="en-US" altLang="ko-KR" dirty="0"/>
          </a:p>
          <a:p>
            <a:pPr lvl="1"/>
            <a:r>
              <a:rPr lang="en-US" altLang="ko-KR" dirty="0"/>
              <a:t>Window-Preferences </a:t>
            </a:r>
            <a:r>
              <a:rPr lang="en-US" altLang="ko-KR" dirty="0">
                <a:sym typeface="Wingdings" panose="05000000000000000000" pitchFamily="2" charset="2"/>
              </a:rPr>
              <a:t> Web - CSS/HTML/JSP Files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5B2D73F-42DE-6D68-365D-58AE02C40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44" y="1844824"/>
            <a:ext cx="4608512" cy="459565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BB944221-B184-C11F-5753-2C26B3A4D5D3}"/>
              </a:ext>
            </a:extLst>
          </p:cNvPr>
          <p:cNvSpPr/>
          <p:nvPr/>
        </p:nvSpPr>
        <p:spPr>
          <a:xfrm>
            <a:off x="2267744" y="5229200"/>
            <a:ext cx="1080120" cy="2880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D6CE048-C671-0B27-61C6-1230E3A7DACF}"/>
              </a:ext>
            </a:extLst>
          </p:cNvPr>
          <p:cNvSpPr/>
          <p:nvPr/>
        </p:nvSpPr>
        <p:spPr>
          <a:xfrm>
            <a:off x="2280999" y="5690824"/>
            <a:ext cx="1080120" cy="18610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8C508BE-1EC7-EBB1-61D3-5F0212BE21AA}"/>
              </a:ext>
            </a:extLst>
          </p:cNvPr>
          <p:cNvSpPr/>
          <p:nvPr/>
        </p:nvSpPr>
        <p:spPr>
          <a:xfrm>
            <a:off x="3502992" y="2780928"/>
            <a:ext cx="3229248" cy="21602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6C17F0D3-E1BC-05DD-0B37-C98337786F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4400" y="6534150"/>
            <a:ext cx="533400" cy="282723"/>
          </a:xfrm>
        </p:spPr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55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15121753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3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Eclipse</a:t>
            </a:r>
            <a:r>
              <a:rPr lang="ko-KR" altLang="en-US" dirty="0"/>
              <a:t> 환경 설정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Tomcat</a:t>
            </a:r>
            <a:r>
              <a:rPr lang="ko-KR" altLang="en-US" dirty="0"/>
              <a:t> 및 </a:t>
            </a:r>
            <a:r>
              <a:rPr lang="en-US" altLang="ko-KR" dirty="0"/>
              <a:t>Eclipse </a:t>
            </a:r>
            <a:r>
              <a:rPr lang="ko-KR" altLang="en-US" dirty="0"/>
              <a:t>연동</a:t>
            </a:r>
            <a:endParaRPr lang="en-US" altLang="ko-KR" dirty="0"/>
          </a:p>
          <a:p>
            <a:pPr lvl="1"/>
            <a:r>
              <a:rPr lang="en-US" altLang="ko-KR" dirty="0"/>
              <a:t>Window-Preferences </a:t>
            </a:r>
            <a:r>
              <a:rPr lang="en-US" altLang="ko-KR" dirty="0">
                <a:sym typeface="Wingdings" panose="05000000000000000000" pitchFamily="2" charset="2"/>
              </a:rPr>
              <a:t> Server-Runtime Environment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56</a:t>
            </a:fld>
            <a:endParaRPr lang="en-US" altLang="ko-KR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D341462-39C2-4DB2-3A87-0514E67DB4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951" y="1925626"/>
            <a:ext cx="4874322" cy="432042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72731123"/>
      </p:ext>
    </p:extLst>
  </p:cSld>
  <p:clrMapOvr>
    <a:masterClrMapping/>
  </p:clrMapOvr>
  <p:transition>
    <p:zoom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57</a:t>
            </a:fld>
            <a:endParaRPr lang="en-US" altLang="ko-KR"/>
          </a:p>
        </p:txBody>
      </p:sp>
      <p:sp>
        <p:nvSpPr>
          <p:cNvPr id="6" name="직사각형 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720" y="1238672"/>
            <a:ext cx="5040560" cy="4380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415192"/>
      </p:ext>
    </p:extLst>
  </p:cSld>
  <p:clrMapOvr>
    <a:masterClrMapping/>
  </p:clrMapOvr>
  <p:transition>
    <p:zoom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JSP </a:t>
            </a:r>
            <a:r>
              <a:rPr lang="ko-KR" altLang="en-US" dirty="0"/>
              <a:t>맛보기 </a:t>
            </a:r>
            <a:r>
              <a:rPr lang="en-US" altLang="ko-KR" dirty="0"/>
              <a:t>– Hello World JSP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이클립스</a:t>
            </a:r>
            <a:r>
              <a:rPr lang="en-US" altLang="ko-KR" dirty="0"/>
              <a:t> </a:t>
            </a:r>
            <a:r>
              <a:rPr lang="ko-KR" altLang="en-US" dirty="0"/>
              <a:t>프로젝트 생성</a:t>
            </a:r>
            <a:endParaRPr lang="en-US" altLang="ko-KR" dirty="0"/>
          </a:p>
          <a:p>
            <a:pPr lvl="1"/>
            <a:r>
              <a:rPr lang="en-US" altLang="ko-KR" dirty="0"/>
              <a:t>[File] – [New] – [Project]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58</a:t>
            </a:fld>
            <a:endParaRPr lang="en-US" altLang="ko-KR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0" y="2132856"/>
            <a:ext cx="4339540" cy="4195454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179512" y="4653136"/>
            <a:ext cx="1656184" cy="360040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FCAFD56-8F3F-4F3F-8292-5551259F65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130" y="1079491"/>
            <a:ext cx="3863970" cy="542018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8" name="직사각형 7"/>
          <p:cNvSpPr/>
          <p:nvPr/>
        </p:nvSpPr>
        <p:spPr>
          <a:xfrm>
            <a:off x="5580112" y="1815615"/>
            <a:ext cx="1656184" cy="360040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7208994" y="6134972"/>
            <a:ext cx="831748" cy="364705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84041865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1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JSP </a:t>
            </a:r>
            <a:r>
              <a:rPr lang="ko-KR" altLang="en-US" dirty="0"/>
              <a:t>맛보기 </a:t>
            </a:r>
            <a:r>
              <a:rPr lang="en-US" altLang="ko-KR" dirty="0"/>
              <a:t>– Hello World JSP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파일이 위치할 폴더 생성</a:t>
            </a:r>
            <a:endParaRPr lang="en-US" altLang="ko-KR" dirty="0"/>
          </a:p>
          <a:p>
            <a:pPr lvl="1"/>
            <a:r>
              <a:rPr lang="en-US" altLang="ko-KR" dirty="0"/>
              <a:t>[</a:t>
            </a:r>
            <a:r>
              <a:rPr lang="en-US" altLang="ko-KR" dirty="0" err="1"/>
              <a:t>src</a:t>
            </a:r>
            <a:r>
              <a:rPr lang="en-US" altLang="ko-KR" dirty="0"/>
              <a:t>]-[main]-[webapp]-[</a:t>
            </a:r>
            <a:r>
              <a:rPr lang="ko-KR" altLang="en-US" dirty="0"/>
              <a:t>오른 마우스</a:t>
            </a:r>
            <a:r>
              <a:rPr lang="en-US" altLang="ko-KR" dirty="0"/>
              <a:t>]-[New]-[Folder]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59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0058264-4421-2A63-18FC-A65D88927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1988840"/>
            <a:ext cx="5760640" cy="432477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8F45F37-11A4-1D51-F30C-C4B4A9CA7A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8255" y="3645024"/>
            <a:ext cx="4588002" cy="112856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978439825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JSP </a:t>
            </a:r>
            <a:r>
              <a:rPr lang="ko-KR" altLang="en-US" dirty="0"/>
              <a:t>맛보기 </a:t>
            </a:r>
            <a:r>
              <a:rPr lang="en-US" altLang="ko-KR" dirty="0"/>
              <a:t>– Hello World JSP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파일이 위치할 폴더 생성</a:t>
            </a:r>
            <a:endParaRPr lang="en-US" altLang="ko-KR" dirty="0"/>
          </a:p>
          <a:p>
            <a:pPr lvl="1"/>
            <a:r>
              <a:rPr lang="en-US" altLang="ko-KR" dirty="0"/>
              <a:t>Folder Name</a:t>
            </a:r>
            <a:r>
              <a:rPr lang="ko-KR" altLang="en-US" dirty="0"/>
              <a:t>에 </a:t>
            </a:r>
            <a:r>
              <a:rPr lang="en-US" altLang="ko-KR" dirty="0"/>
              <a:t>“ch02＂</a:t>
            </a:r>
            <a:r>
              <a:rPr lang="ko-KR" altLang="en-US" dirty="0"/>
              <a:t>로 지정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60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31E4C05-D74B-4825-B933-9AF092DAFE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7442" y="1988840"/>
            <a:ext cx="3589116" cy="419672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7B946796-17F6-40AA-B266-39F071DD6374}"/>
              </a:ext>
            </a:extLst>
          </p:cNvPr>
          <p:cNvSpPr/>
          <p:nvPr/>
        </p:nvSpPr>
        <p:spPr>
          <a:xfrm>
            <a:off x="3275856" y="4941168"/>
            <a:ext cx="1656184" cy="360040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2618866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JSP </a:t>
            </a:r>
            <a:r>
              <a:rPr lang="ko-KR" altLang="en-US" dirty="0"/>
              <a:t>맛보기 </a:t>
            </a:r>
            <a:r>
              <a:rPr lang="en-US" altLang="ko-KR" dirty="0"/>
              <a:t>– Hello World JSP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생성된 폴더에 </a:t>
            </a:r>
            <a:r>
              <a:rPr lang="en-US" altLang="ko-KR" dirty="0"/>
              <a:t>JSP </a:t>
            </a:r>
            <a:r>
              <a:rPr lang="ko-KR" altLang="en-US" dirty="0"/>
              <a:t>파일 생성</a:t>
            </a:r>
            <a:endParaRPr lang="en-US" altLang="ko-KR" dirty="0"/>
          </a:p>
          <a:p>
            <a:pPr lvl="1"/>
            <a:r>
              <a:rPr lang="en-US" altLang="ko-KR" dirty="0"/>
              <a:t>Ch02 </a:t>
            </a:r>
            <a:r>
              <a:rPr lang="ko-KR" altLang="en-US" dirty="0"/>
              <a:t>폴더 </a:t>
            </a:r>
            <a:r>
              <a:rPr lang="en-US" altLang="ko-KR" dirty="0"/>
              <a:t>– [</a:t>
            </a:r>
            <a:r>
              <a:rPr lang="ko-KR" altLang="en-US" dirty="0"/>
              <a:t>오른 마우스</a:t>
            </a:r>
            <a:r>
              <a:rPr lang="en-US" altLang="ko-KR" dirty="0"/>
              <a:t>]-[New]-[JSP File]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61</a:t>
            </a:fld>
            <a:endParaRPr lang="en-US" altLang="ko-KR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D158227-5BDC-2972-3D8A-809B69F62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7" y="1942429"/>
            <a:ext cx="5976664" cy="450182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0647202-B9E4-9A06-01B5-FF43D1D880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857" y="3742239"/>
            <a:ext cx="4550272" cy="172083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7" name="직사각형 6"/>
          <p:cNvSpPr/>
          <p:nvPr/>
        </p:nvSpPr>
        <p:spPr>
          <a:xfrm>
            <a:off x="4283968" y="5103029"/>
            <a:ext cx="792088" cy="360040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6778829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JSP </a:t>
            </a:r>
            <a:r>
              <a:rPr lang="ko-KR" altLang="en-US" dirty="0"/>
              <a:t>맛보기 </a:t>
            </a:r>
            <a:r>
              <a:rPr lang="en-US" altLang="ko-KR" dirty="0"/>
              <a:t>– Hello World JSP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템플릿</a:t>
            </a:r>
            <a:r>
              <a:rPr lang="en-US" altLang="ko-KR" dirty="0"/>
              <a:t> </a:t>
            </a:r>
            <a:r>
              <a:rPr lang="ko-KR" altLang="en-US" dirty="0"/>
              <a:t>코드 지정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기본 항목 선택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62</a:t>
            </a:fld>
            <a:endParaRPr lang="en-US" altLang="ko-KR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2963" y="1556792"/>
            <a:ext cx="3853712" cy="415537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87C85FB-3828-1E4A-73FB-93E21A7E90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709" y="1556792"/>
            <a:ext cx="3858560" cy="415537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04E81596-8ADC-E0B5-22C7-C03E308334A0}"/>
              </a:ext>
            </a:extLst>
          </p:cNvPr>
          <p:cNvSpPr/>
          <p:nvPr/>
        </p:nvSpPr>
        <p:spPr>
          <a:xfrm>
            <a:off x="4800767" y="3277822"/>
            <a:ext cx="3175875" cy="302355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025488" y="4725144"/>
            <a:ext cx="3175875" cy="302355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20396790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JSP </a:t>
            </a:r>
            <a:r>
              <a:rPr lang="ko-KR" altLang="en-US" dirty="0"/>
              <a:t>맛보기 </a:t>
            </a:r>
            <a:r>
              <a:rPr lang="en-US" altLang="ko-KR" dirty="0"/>
              <a:t>– Hello World JSP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생성된 코드 확인 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63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4DDCF8D-7618-43CA-8B24-BB2420B856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302" y="1556792"/>
            <a:ext cx="6169395" cy="465313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64908850"/>
      </p:ext>
    </p:extLst>
  </p:cSld>
  <p:clrMapOvr>
    <a:masterClrMapping/>
  </p:clrMapOvr>
  <p:transition>
    <p:zoom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JSP </a:t>
            </a:r>
            <a:r>
              <a:rPr lang="ko-KR" altLang="en-US" dirty="0"/>
              <a:t>맛보기 </a:t>
            </a:r>
            <a:r>
              <a:rPr lang="en-US" altLang="ko-KR" dirty="0"/>
              <a:t>– Hello World JSP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소스코드 편집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64</a:t>
            </a:fld>
            <a:endParaRPr lang="en-US" altLang="ko-KR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37" y="1455066"/>
            <a:ext cx="8683126" cy="499827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7" name="직사각형 6"/>
          <p:cNvSpPr/>
          <p:nvPr/>
        </p:nvSpPr>
        <p:spPr>
          <a:xfrm>
            <a:off x="754431" y="3920864"/>
            <a:ext cx="8085979" cy="1992160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16677414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431783"/>
            <a:ext cx="6776372" cy="4949545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JSP </a:t>
            </a:r>
            <a:r>
              <a:rPr lang="ko-KR" altLang="en-US" dirty="0"/>
              <a:t>맛보기 </a:t>
            </a:r>
            <a:r>
              <a:rPr lang="en-US" altLang="ko-KR" dirty="0"/>
              <a:t>– Hello World JSP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실행 </a:t>
            </a:r>
            <a:r>
              <a:rPr lang="en-US" altLang="ko-KR" dirty="0"/>
              <a:t>: </a:t>
            </a:r>
            <a:r>
              <a:rPr lang="ko-KR" altLang="en-US" dirty="0"/>
              <a:t>코드 화면 </a:t>
            </a:r>
            <a:r>
              <a:rPr lang="en-US" altLang="ko-KR" dirty="0"/>
              <a:t>– </a:t>
            </a:r>
            <a:r>
              <a:rPr lang="ko-KR" altLang="en-US" dirty="0"/>
              <a:t>오른 마우스 </a:t>
            </a:r>
            <a:r>
              <a:rPr lang="en-US" altLang="ko-KR" dirty="0"/>
              <a:t>– Run As – Run on Server</a:t>
            </a:r>
            <a:r>
              <a:rPr lang="ko-KR" altLang="en-US" dirty="0"/>
              <a:t> 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65</a:t>
            </a:fld>
            <a:endParaRPr lang="en-US" altLang="ko-KR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3768" y="4437112"/>
            <a:ext cx="188150" cy="216024"/>
          </a:xfrm>
          <a:prstGeom prst="rect">
            <a:avLst/>
          </a:prstGeom>
          <a:ln w="57150">
            <a:solidFill>
              <a:srgbClr val="C00000"/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3808" y="1849400"/>
            <a:ext cx="2253414" cy="4086937"/>
          </a:xfrm>
          <a:prstGeom prst="rect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790" y="4278457"/>
            <a:ext cx="2676190" cy="533333"/>
          </a:xfrm>
          <a:prstGeom prst="rect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0" name="직사각형 9"/>
          <p:cNvSpPr/>
          <p:nvPr/>
        </p:nvSpPr>
        <p:spPr>
          <a:xfrm>
            <a:off x="2808249" y="4379491"/>
            <a:ext cx="2288973" cy="273646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5392818" y="4272579"/>
            <a:ext cx="2288973" cy="273646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4048626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JSP </a:t>
            </a:r>
            <a:r>
              <a:rPr lang="ko-KR" altLang="en-US" dirty="0"/>
              <a:t>맛보기 </a:t>
            </a:r>
            <a:r>
              <a:rPr lang="en-US" altLang="ko-KR" dirty="0"/>
              <a:t>– Hello World JSP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실행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66</a:t>
            </a:fld>
            <a:endParaRPr lang="en-US" altLang="ko-KR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9" y="1916833"/>
            <a:ext cx="4032448" cy="109552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9231" y="1007327"/>
            <a:ext cx="4520407" cy="566513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80537218"/>
      </p:ext>
    </p:extLst>
  </p:cSld>
  <p:clrMapOvr>
    <a:masterClrMapping/>
  </p:clrMapOvr>
  <p:transition>
    <p:zoom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JSP </a:t>
            </a:r>
            <a:r>
              <a:rPr lang="ko-KR" altLang="en-US" dirty="0"/>
              <a:t>맛보기 </a:t>
            </a:r>
            <a:r>
              <a:rPr lang="en-US" altLang="ko-KR" dirty="0"/>
              <a:t>– Hello World JSP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포트가 충돌 시 </a:t>
            </a:r>
            <a:r>
              <a:rPr lang="en-US" altLang="ko-KR" dirty="0"/>
              <a:t>Tomcat</a:t>
            </a:r>
            <a:r>
              <a:rPr lang="ko-KR" altLang="en-US" dirty="0"/>
              <a:t> 중지</a:t>
            </a:r>
            <a:endParaRPr lang="en-US" altLang="ko-KR" dirty="0"/>
          </a:p>
          <a:p>
            <a:pPr lvl="1"/>
            <a:r>
              <a:rPr lang="ko-KR" altLang="en-US" dirty="0"/>
              <a:t>서비스를 위한 </a:t>
            </a:r>
            <a:r>
              <a:rPr lang="en-US" altLang="ko-KR" dirty="0"/>
              <a:t>Tomcat </a:t>
            </a:r>
            <a:r>
              <a:rPr lang="ko-KR" altLang="en-US" dirty="0"/>
              <a:t>서버가 동작 중이면 </a:t>
            </a:r>
            <a:r>
              <a:rPr lang="en-US" altLang="ko-KR" dirty="0"/>
              <a:t>Port </a:t>
            </a:r>
            <a:r>
              <a:rPr lang="ko-KR" altLang="en-US" dirty="0"/>
              <a:t>충돌로 에러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67</a:t>
            </a:fld>
            <a:endParaRPr lang="en-US" altLang="ko-KR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EFA810F-0060-FE08-3E97-38E87DD30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2573" y="2348880"/>
            <a:ext cx="4761078" cy="288032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51798883"/>
      </p:ext>
    </p:extLst>
  </p:cSld>
  <p:clrMapOvr>
    <a:masterClrMapping/>
  </p:clrMapOvr>
  <p:transition>
    <p:zoom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JSP </a:t>
            </a:r>
            <a:r>
              <a:rPr lang="ko-KR" altLang="en-US" dirty="0"/>
              <a:t>맛보기 </a:t>
            </a:r>
            <a:r>
              <a:rPr lang="en-US" altLang="ko-KR" dirty="0"/>
              <a:t>– Hello World JSP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서비스용 </a:t>
            </a:r>
            <a:r>
              <a:rPr lang="en-US" altLang="ko-KR" dirty="0"/>
              <a:t>Tomcat</a:t>
            </a:r>
            <a:r>
              <a:rPr lang="ko-KR" altLang="en-US" dirty="0"/>
              <a:t> 중지</a:t>
            </a:r>
            <a:endParaRPr lang="en-US" altLang="ko-KR" dirty="0"/>
          </a:p>
          <a:p>
            <a:pPr lvl="1"/>
            <a:r>
              <a:rPr lang="ko-KR" altLang="en-US" dirty="0"/>
              <a:t>윈도우 탐색기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내</a:t>
            </a:r>
            <a:r>
              <a:rPr lang="en-US" altLang="ko-KR" dirty="0">
                <a:sym typeface="Wingdings" panose="05000000000000000000" pitchFamily="2" charset="2"/>
              </a:rPr>
              <a:t>PC – </a:t>
            </a:r>
            <a:r>
              <a:rPr lang="ko-KR" altLang="en-US" dirty="0">
                <a:sym typeface="Wingdings" panose="05000000000000000000" pitchFamily="2" charset="2"/>
              </a:rPr>
              <a:t>오른 마우스 </a:t>
            </a:r>
            <a:r>
              <a:rPr lang="en-US" altLang="ko-KR" dirty="0">
                <a:sym typeface="Wingdings" panose="05000000000000000000" pitchFamily="2" charset="2"/>
              </a:rPr>
              <a:t>– </a:t>
            </a:r>
            <a:r>
              <a:rPr lang="ko-KR" altLang="en-US" dirty="0">
                <a:sym typeface="Wingdings" panose="05000000000000000000" pitchFamily="2" charset="2"/>
              </a:rPr>
              <a:t>관리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68</a:t>
            </a:fld>
            <a:endParaRPr lang="en-US" altLang="ko-KR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943454"/>
            <a:ext cx="6912770" cy="496084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8393" y="3933056"/>
            <a:ext cx="1438095" cy="217142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1" name="직사각형 10"/>
          <p:cNvSpPr/>
          <p:nvPr/>
        </p:nvSpPr>
        <p:spPr>
          <a:xfrm>
            <a:off x="6319968" y="4138656"/>
            <a:ext cx="1438095" cy="214873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9229239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JSP </a:t>
            </a:r>
            <a:r>
              <a:rPr lang="ko-KR" altLang="en-US" dirty="0"/>
              <a:t>맛보기 </a:t>
            </a:r>
            <a:r>
              <a:rPr lang="en-US" altLang="ko-KR" dirty="0"/>
              <a:t>– Hello World JSP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포트 관련 오류 발생시 조치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69</a:t>
            </a:fld>
            <a:endParaRPr lang="en-US" altLang="ko-KR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26F8BDC-DFA8-BCB8-E1AB-36CF01091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1325" y="2060849"/>
            <a:ext cx="4461350" cy="3685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258297"/>
      </p:ext>
    </p:extLst>
  </p:cSld>
  <p:clrMapOvr>
    <a:masterClrMapping/>
  </p:clrMapOvr>
  <p:transition>
    <p:zoom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JSP </a:t>
            </a:r>
            <a:r>
              <a:rPr lang="ko-KR" altLang="en-US" dirty="0"/>
              <a:t>맛보기 </a:t>
            </a:r>
            <a:r>
              <a:rPr lang="en-US" altLang="ko-KR" dirty="0"/>
              <a:t>– Hello World JSP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관리용 포트 지정</a:t>
            </a:r>
            <a:endParaRPr lang="en-US" altLang="ko-KR" dirty="0"/>
          </a:p>
          <a:p>
            <a:pPr lvl="1"/>
            <a:r>
              <a:rPr lang="ko-KR" altLang="en-US" dirty="0"/>
              <a:t>아래 </a:t>
            </a:r>
            <a:r>
              <a:rPr lang="en-US" altLang="ko-KR" dirty="0"/>
              <a:t>“Servers” </a:t>
            </a:r>
            <a:r>
              <a:rPr lang="ko-KR" altLang="en-US" dirty="0"/>
              <a:t>탭을 선택</a:t>
            </a:r>
            <a:r>
              <a:rPr lang="en-US" altLang="ko-KR" dirty="0"/>
              <a:t>, “Tomcat</a:t>
            </a:r>
            <a:r>
              <a:rPr lang="ko-KR" altLang="en-US" dirty="0"/>
              <a:t> </a:t>
            </a:r>
            <a:r>
              <a:rPr lang="en-US" altLang="ko-KR" dirty="0"/>
              <a:t>v9.0 …”</a:t>
            </a:r>
            <a:r>
              <a:rPr lang="ko-KR" altLang="en-US" dirty="0"/>
              <a:t>을 더블 클릭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70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AA350E2-E1A7-413C-FF21-31FF83561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731" y="2204864"/>
            <a:ext cx="6628762" cy="417646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3CE435E8-E968-760B-911C-5D6324E94C0E}"/>
              </a:ext>
            </a:extLst>
          </p:cNvPr>
          <p:cNvSpPr/>
          <p:nvPr/>
        </p:nvSpPr>
        <p:spPr>
          <a:xfrm>
            <a:off x="4427984" y="3420749"/>
            <a:ext cx="3312368" cy="216024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24623977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JSP </a:t>
            </a:r>
            <a:r>
              <a:rPr lang="ko-KR" altLang="en-US" dirty="0"/>
              <a:t>맛보기 </a:t>
            </a:r>
            <a:r>
              <a:rPr lang="en-US" altLang="ko-KR" dirty="0"/>
              <a:t>– Hello World JSP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재실행 </a:t>
            </a:r>
            <a:r>
              <a:rPr lang="en-US" altLang="ko-KR" dirty="0"/>
              <a:t>: </a:t>
            </a:r>
            <a:r>
              <a:rPr lang="ko-KR" altLang="en-US" dirty="0"/>
              <a:t>코드 화면 </a:t>
            </a:r>
            <a:r>
              <a:rPr lang="en-US" altLang="ko-KR" dirty="0"/>
              <a:t>– </a:t>
            </a:r>
            <a:r>
              <a:rPr lang="ko-KR" altLang="en-US" dirty="0"/>
              <a:t>오른 마우스 </a:t>
            </a:r>
            <a:r>
              <a:rPr lang="en-US" altLang="ko-KR" dirty="0"/>
              <a:t>– Run As – Run on Server</a:t>
            </a:r>
          </a:p>
          <a:p>
            <a:pPr lvl="1"/>
            <a:r>
              <a:rPr lang="en-US" altLang="ko-KR" dirty="0"/>
              <a:t>Windows </a:t>
            </a:r>
            <a:r>
              <a:rPr lang="ko-KR" altLang="en-US" dirty="0"/>
              <a:t>보안 경고가 발생하면</a:t>
            </a:r>
            <a:r>
              <a:rPr lang="en-US" altLang="ko-KR" dirty="0"/>
              <a:t>, “</a:t>
            </a:r>
            <a:r>
              <a:rPr lang="ko-KR" altLang="en-US" dirty="0"/>
              <a:t>액세스 허용</a:t>
            </a:r>
            <a:r>
              <a:rPr lang="en-US" altLang="ko-KR" dirty="0"/>
              <a:t>“ </a:t>
            </a:r>
            <a:r>
              <a:rPr lang="ko-KR" altLang="en-US" dirty="0"/>
              <a:t>버튼 클릭 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71</a:t>
            </a:fld>
            <a:endParaRPr lang="en-US" altLang="ko-KR"/>
          </a:p>
        </p:txBody>
      </p:sp>
      <p:pic>
        <p:nvPicPr>
          <p:cNvPr id="7" name="Picture 3" descr="C:\Users\orize\Downloads\이미지 파일\3장\3장\ch03_14.bmp">
            <a:extLst>
              <a:ext uri="{FF2B5EF4-FFF2-40B4-BE49-F238E27FC236}">
                <a16:creationId xmlns:a16="http://schemas.microsoft.com/office/drawing/2014/main" id="{E188A81E-FDC0-485F-B097-027381D3CA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6285" y="2817619"/>
            <a:ext cx="4273654" cy="2451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2462058"/>
      </p:ext>
    </p:extLst>
  </p:cSld>
  <p:clrMapOvr>
    <a:masterClrMapping/>
  </p:clrMapOvr>
  <p:transition>
    <p:zoom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JSP </a:t>
            </a:r>
            <a:r>
              <a:rPr lang="ko-KR" altLang="en-US" dirty="0"/>
              <a:t>맛보기 </a:t>
            </a:r>
            <a:r>
              <a:rPr lang="en-US" altLang="ko-KR" dirty="0"/>
              <a:t>– Hello World JSP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실행 결과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웹 브라우저를 통해 결과가 나타남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72</a:t>
            </a:fld>
            <a:endParaRPr lang="en-US" altLang="ko-KR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72BB12C-A5D1-6290-E9A4-FB18FCBBF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333" y="1700808"/>
            <a:ext cx="6733333" cy="437142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781759648"/>
      </p:ext>
    </p:extLst>
  </p:cSld>
  <p:clrMapOvr>
    <a:masterClrMapping/>
  </p:clrMapOvr>
  <p:transition>
    <p:zoom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JSP </a:t>
            </a:r>
            <a:r>
              <a:rPr lang="ko-KR" altLang="en-US" dirty="0"/>
              <a:t>맛보기 </a:t>
            </a:r>
            <a:r>
              <a:rPr lang="en-US" altLang="ko-KR" dirty="0"/>
              <a:t>– Hello World JSP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실행 결과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웹 브라우저 변경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Window – Web Browser – Internal Web Browser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73</a:t>
            </a:fld>
            <a:endParaRPr lang="en-US" altLang="ko-KR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CFACDD95-5444-4442-1F0A-E6B05743CA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2006" y="1878639"/>
            <a:ext cx="4371429" cy="92381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50682B3-0838-FF2F-E133-9B4DBB7499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7458" y="2332400"/>
            <a:ext cx="1514286" cy="224761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74D6DB3-9000-48AC-2AEE-76DE82DBF7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84" y="3837875"/>
            <a:ext cx="2457143" cy="107619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8733897F-2633-BBA7-8720-EFD5E463DE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358" y="3895011"/>
            <a:ext cx="3557476" cy="242923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3C793CCC-8A07-9235-5D14-16068DC6B925}"/>
              </a:ext>
            </a:extLst>
          </p:cNvPr>
          <p:cNvSpPr/>
          <p:nvPr/>
        </p:nvSpPr>
        <p:spPr>
          <a:xfrm>
            <a:off x="1763688" y="4293096"/>
            <a:ext cx="1955600" cy="1254462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376865"/>
      </p:ext>
    </p:extLst>
  </p:cSld>
  <p:clrMapOvr>
    <a:masterClrMapping/>
  </p:clrMapOvr>
  <p:transition>
    <p:zoom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작업환경 </a:t>
            </a:r>
            <a:endParaRPr lang="ko-KR" altLang="en-US" dirty="0">
              <a:solidFill>
                <a:srgbClr val="0070C0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Eclipse</a:t>
            </a:r>
            <a:r>
              <a:rPr lang="ko-KR" altLang="en-US" dirty="0"/>
              <a:t> 환경 설정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74</a:t>
            </a:fld>
            <a:endParaRPr lang="en-US" altLang="ko-KR"/>
          </a:p>
        </p:txBody>
      </p:sp>
      <p:sp>
        <p:nvSpPr>
          <p:cNvPr id="16" name="TextBox 15"/>
          <p:cNvSpPr txBox="1"/>
          <p:nvPr/>
        </p:nvSpPr>
        <p:spPr>
          <a:xfrm>
            <a:off x="2187120" y="6290284"/>
            <a:ext cx="63779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★Perspective </a:t>
            </a:r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b="1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특정작업</a:t>
            </a:r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(Java, J2EE,</a:t>
            </a:r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디버그 등</a:t>
            </a:r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</a:t>
            </a:r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맞게 뷰를 배치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3E41852-A2D8-B5AF-F1FD-9A12A477D4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133" y="1734197"/>
            <a:ext cx="6289734" cy="430676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8" name="직사각형 7"/>
          <p:cNvSpPr/>
          <p:nvPr/>
        </p:nvSpPr>
        <p:spPr>
          <a:xfrm>
            <a:off x="1427132" y="2348880"/>
            <a:ext cx="1560691" cy="3744416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</a:t>
            </a:r>
            <a:endParaRPr lang="en-US" altLang="ko-KR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탐색기</a:t>
            </a:r>
            <a:endParaRPr lang="en-US" altLang="ko-KR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3042322" y="2348880"/>
            <a:ext cx="3329878" cy="2664296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편집기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7204397" y="2106623"/>
            <a:ext cx="564032" cy="250591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7204397" y="1055935"/>
            <a:ext cx="1656184" cy="288032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Perspective</a:t>
            </a:r>
            <a:endParaRPr lang="ko-KR" altLang="en-US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화살표 연결선 11"/>
          <p:cNvCxnSpPr>
            <a:stCxn id="10" idx="0"/>
            <a:endCxn id="11" idx="2"/>
          </p:cNvCxnSpPr>
          <p:nvPr/>
        </p:nvCxnSpPr>
        <p:spPr>
          <a:xfrm flipV="1">
            <a:off x="7486413" y="1343967"/>
            <a:ext cx="546076" cy="762656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/>
          <p:cNvSpPr/>
          <p:nvPr/>
        </p:nvSpPr>
        <p:spPr>
          <a:xfrm>
            <a:off x="6372200" y="2365549"/>
            <a:ext cx="1344667" cy="2647627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아웃라인</a:t>
            </a:r>
          </a:p>
        </p:txBody>
      </p:sp>
    </p:spTree>
    <p:extLst>
      <p:ext uri="{BB962C8B-B14F-4D97-AF65-F5344CB8AC3E}">
        <p14:creationId xmlns:p14="http://schemas.microsoft.com/office/powerpoint/2010/main" val="3705268256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4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 </a:t>
            </a:r>
            <a:r>
              <a:rPr lang="en-US" altLang="ko-KR" dirty="0"/>
              <a:t>: </a:t>
            </a:r>
            <a:r>
              <a:rPr lang="ko-KR" altLang="en-US" dirty="0"/>
              <a:t>프로젝트 생성시 오류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첫 줄에 오류 발생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/>
              <a:t>Java Build Path </a:t>
            </a:r>
            <a:r>
              <a:rPr lang="ko-KR" altLang="en-US" dirty="0"/>
              <a:t>지정</a:t>
            </a:r>
            <a:endParaRPr lang="en-US" altLang="ko-KR" dirty="0"/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오류가 있어도 실행 후 없어지는 경우가 대부분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75</a:t>
            </a:fld>
            <a:endParaRPr lang="en-US" altLang="ko-KR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2204864"/>
            <a:ext cx="6171239" cy="273630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0" name="직사각형 9"/>
          <p:cNvSpPr/>
          <p:nvPr/>
        </p:nvSpPr>
        <p:spPr>
          <a:xfrm>
            <a:off x="385296" y="2492896"/>
            <a:ext cx="3600400" cy="50405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5612533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 </a:t>
            </a:r>
            <a:r>
              <a:rPr lang="en-US" altLang="ko-KR" dirty="0"/>
              <a:t>: </a:t>
            </a:r>
            <a:r>
              <a:rPr lang="ko-KR" altLang="en-US" dirty="0"/>
              <a:t>프로젝트 생성시 오류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첫 줄에 오류 발생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/>
              <a:t>Java Build Path </a:t>
            </a:r>
            <a:r>
              <a:rPr lang="ko-KR" altLang="en-US" dirty="0"/>
              <a:t>지정</a:t>
            </a:r>
            <a:endParaRPr lang="en-US" altLang="ko-KR" dirty="0"/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Project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Explorer – </a:t>
            </a:r>
            <a:r>
              <a:rPr lang="en-US" altLang="ko-KR" dirty="0" err="1">
                <a:sym typeface="Wingdings" panose="05000000000000000000" pitchFamily="2" charset="2"/>
              </a:rPr>
              <a:t>jspproject</a:t>
            </a:r>
            <a:r>
              <a:rPr lang="en-US" altLang="ko-KR" dirty="0">
                <a:sym typeface="Wingdings" panose="05000000000000000000" pitchFamily="2" charset="2"/>
              </a:rPr>
              <a:t>  </a:t>
            </a:r>
            <a:r>
              <a:rPr lang="ko-KR" altLang="en-US" dirty="0">
                <a:sym typeface="Wingdings" panose="05000000000000000000" pitchFamily="2" charset="2"/>
              </a:rPr>
              <a:t>오른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마우스 </a:t>
            </a:r>
            <a:r>
              <a:rPr lang="en-US" altLang="ko-KR" dirty="0">
                <a:sym typeface="Wingdings" panose="05000000000000000000" pitchFamily="2" charset="2"/>
              </a:rPr>
              <a:t>– Properties</a:t>
            </a:r>
            <a:r>
              <a:rPr lang="ko-KR" altLang="en-US" dirty="0"/>
              <a:t> 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76</a:t>
            </a:fld>
            <a:endParaRPr lang="en-US" altLang="ko-KR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1988840"/>
            <a:ext cx="6336704" cy="441698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8" name="직사각형 7"/>
          <p:cNvSpPr/>
          <p:nvPr/>
        </p:nvSpPr>
        <p:spPr>
          <a:xfrm>
            <a:off x="1421898" y="2959669"/>
            <a:ext cx="989862" cy="36004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4077069" y="2530179"/>
            <a:ext cx="989862" cy="21602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3087206" y="3061719"/>
            <a:ext cx="2492905" cy="25798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6300192" y="3635224"/>
            <a:ext cx="1406661" cy="29783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042889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  <p:bldP spid="12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 요약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  <a:defRPr/>
            </a:pPr>
            <a:r>
              <a:rPr lang="ko-KR" altLang="en-US" dirty="0"/>
              <a:t>웹 프로그래밍의 개념</a:t>
            </a:r>
            <a:endParaRPr lang="en-US" altLang="ko-KR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ko-KR" altLang="en-US" dirty="0"/>
              <a:t>서버 </a:t>
            </a:r>
            <a:r>
              <a:rPr lang="en-US" altLang="ko-KR" dirty="0"/>
              <a:t>/ </a:t>
            </a:r>
            <a:r>
              <a:rPr lang="ko-KR" altLang="en-US" dirty="0"/>
              <a:t>클라이언트</a:t>
            </a:r>
            <a:endParaRPr lang="en-US" altLang="ko-KR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ko-KR" altLang="en-US" dirty="0"/>
              <a:t>서버 프로그래밍 </a:t>
            </a:r>
            <a:r>
              <a:rPr lang="en-US" altLang="ko-KR" dirty="0">
                <a:sym typeface="Wingdings" panose="05000000000000000000" pitchFamily="2" charset="2"/>
              </a:rPr>
              <a:t> JSP, </a:t>
            </a:r>
            <a:r>
              <a:rPr lang="en-US" altLang="ko-KR" dirty="0" err="1">
                <a:sym typeface="Wingdings" panose="05000000000000000000" pitchFamily="2" charset="2"/>
              </a:rPr>
              <a:t>php</a:t>
            </a:r>
            <a:r>
              <a:rPr lang="en-US" altLang="ko-KR" dirty="0">
                <a:sym typeface="Wingdings" panose="05000000000000000000" pitchFamily="2" charset="2"/>
              </a:rPr>
              <a:t>, ASP.NET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ko-KR" altLang="en-US" dirty="0">
                <a:sym typeface="Wingdings" panose="05000000000000000000" pitchFamily="2" charset="2"/>
              </a:rPr>
              <a:t>클라이언트 프로그래밍 </a:t>
            </a:r>
            <a:r>
              <a:rPr lang="en-US" altLang="ko-KR" dirty="0">
                <a:sym typeface="Wingdings" panose="05000000000000000000" pitchFamily="2" charset="2"/>
              </a:rPr>
              <a:t> HTML, Java Script, CSS</a:t>
            </a:r>
            <a:endParaRPr lang="en-US" altLang="ko-KR" dirty="0"/>
          </a:p>
          <a:p>
            <a:pPr eaLnBrk="1" hangingPunct="1">
              <a:lnSpc>
                <a:spcPct val="110000"/>
              </a:lnSpc>
              <a:defRPr/>
            </a:pPr>
            <a:r>
              <a:rPr lang="en-US" altLang="ko-KR" dirty="0"/>
              <a:t>JSP </a:t>
            </a:r>
            <a:r>
              <a:rPr lang="ko-KR" altLang="en-US" dirty="0"/>
              <a:t>개발환경</a:t>
            </a:r>
            <a:endParaRPr lang="en-US" altLang="ko-KR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altLang="ko-KR" dirty="0"/>
              <a:t>JDK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altLang="ko-KR" dirty="0"/>
              <a:t>Tomcat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altLang="ko-KR" dirty="0"/>
              <a:t>Eclipse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en-US" altLang="ko-KR" dirty="0"/>
              <a:t>JSP</a:t>
            </a:r>
            <a:r>
              <a:rPr lang="ko-KR" altLang="en-US" dirty="0"/>
              <a:t>와의 첫 만남</a:t>
            </a:r>
            <a:endParaRPr lang="en-US" altLang="ko-KR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altLang="ko-KR" dirty="0"/>
              <a:t>Hello World JSP !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77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1945914"/>
      </p:ext>
    </p:extLst>
  </p:cSld>
  <p:clrMapOvr>
    <a:masterClrMapping/>
  </p:clrMapOvr>
  <p:transition>
    <p:zoom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B99434-1B14-2404-098C-D7D703BB7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단어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6DB3AD-6C87-B882-EE85-EE02260C26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78</a:t>
            </a:fld>
            <a:endParaRPr lang="en-US" altLang="ko-KR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6B2980F-E053-0D1A-7E68-F437292B2B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9076182"/>
              </p:ext>
            </p:extLst>
          </p:nvPr>
        </p:nvGraphicFramePr>
        <p:xfrm>
          <a:off x="608847" y="1124744"/>
          <a:ext cx="7925553" cy="5328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2833">
                  <a:extLst>
                    <a:ext uri="{9D8B030D-6E8A-4147-A177-3AD203B41FA5}">
                      <a16:colId xmlns:a16="http://schemas.microsoft.com/office/drawing/2014/main" val="1618027104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3562019252"/>
                    </a:ext>
                  </a:extLst>
                </a:gridCol>
                <a:gridCol w="1757011">
                  <a:extLst>
                    <a:ext uri="{9D8B030D-6E8A-4147-A177-3AD203B41FA5}">
                      <a16:colId xmlns:a16="http://schemas.microsoft.com/office/drawing/2014/main" val="2601636457"/>
                    </a:ext>
                  </a:extLst>
                </a:gridCol>
                <a:gridCol w="1123309">
                  <a:extLst>
                    <a:ext uri="{9D8B030D-6E8A-4147-A177-3AD203B41FA5}">
                      <a16:colId xmlns:a16="http://schemas.microsoft.com/office/drawing/2014/main" val="3321599066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593363002"/>
                    </a:ext>
                  </a:extLst>
                </a:gridCol>
                <a:gridCol w="1658144">
                  <a:extLst>
                    <a:ext uri="{9D8B030D-6E8A-4147-A177-3AD203B41FA5}">
                      <a16:colId xmlns:a16="http://schemas.microsoft.com/office/drawing/2014/main" val="3346794764"/>
                    </a:ext>
                  </a:extLst>
                </a:gridCol>
              </a:tblGrid>
              <a:tr h="1689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단어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발음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뜻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단어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발음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뜻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7482299"/>
                  </a:ext>
                </a:extLst>
              </a:tr>
              <a:tr h="1719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align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invalid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3140568"/>
                  </a:ext>
                </a:extLst>
              </a:tr>
              <a:tr h="1719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back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logic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9340998"/>
                  </a:ext>
                </a:extLst>
              </a:tr>
              <a:tr h="1719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cancel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main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6129597"/>
                  </a:ext>
                </a:extLst>
              </a:tr>
              <a:tr h="1719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change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manually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517223"/>
                  </a:ext>
                </a:extLst>
              </a:tr>
              <a:tr h="1719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choose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modify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8257222"/>
                  </a:ext>
                </a:extLst>
              </a:tr>
              <a:tr h="1719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client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next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6197910"/>
                  </a:ext>
                </a:extLst>
              </a:tr>
              <a:tr h="1719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compile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other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4571663"/>
                  </a:ext>
                </a:extLst>
              </a:tr>
              <a:tr h="1719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configuration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package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7418486"/>
                  </a:ext>
                </a:extLst>
              </a:tr>
              <a:tr h="1719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connection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port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4717463"/>
                  </a:ext>
                </a:extLst>
              </a:tr>
              <a:tr h="1719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content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preference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6718191"/>
                  </a:ext>
                </a:extLst>
              </a:tr>
              <a:tr h="1719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control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presentation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2187203"/>
                  </a:ext>
                </a:extLst>
              </a:tr>
              <a:tr h="1719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database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project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9920665"/>
                  </a:ext>
                </a:extLst>
              </a:tr>
              <a:tr h="1719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protocol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4058081"/>
                  </a:ext>
                </a:extLst>
              </a:tr>
              <a:tr h="1719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define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query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478884"/>
                  </a:ext>
                </a:extLst>
              </a:tr>
              <a:tr h="1719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detail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reply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069384"/>
                  </a:ext>
                </a:extLst>
              </a:tr>
              <a:tr h="1719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domain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request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4846429"/>
                  </a:ext>
                </a:extLst>
              </a:tr>
              <a:tr h="1719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download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require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5868871"/>
                  </a:ext>
                </a:extLst>
              </a:tr>
              <a:tr h="1719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dynamic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response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9905277"/>
                  </a:ext>
                </a:extLst>
              </a:tr>
              <a:tr h="1719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edit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result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3699664"/>
                  </a:ext>
                </a:extLst>
              </a:tr>
              <a:tr h="1719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encounter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run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955274"/>
                  </a:ext>
                </a:extLst>
              </a:tr>
              <a:tr h="1719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environment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runtime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2352588"/>
                  </a:ext>
                </a:extLst>
              </a:tr>
              <a:tr h="1719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exist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save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9642677"/>
                  </a:ext>
                </a:extLst>
              </a:tr>
              <a:tr h="1719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finish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server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323220"/>
                  </a:ext>
                </a:extLst>
              </a:tr>
              <a:tr h="1719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folder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start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540189"/>
                  </a:ext>
                </a:extLst>
              </a:tr>
              <a:tr h="1719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format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style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9870610"/>
                  </a:ext>
                </a:extLst>
              </a:tr>
              <a:tr h="1719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general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template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4744901"/>
                  </a:ext>
                </a:extLst>
              </a:tr>
              <a:tr h="1719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hello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text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7502603"/>
                  </a:ext>
                </a:extLst>
              </a:tr>
              <a:tr h="1719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index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transmission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532712"/>
                  </a:ext>
                </a:extLst>
              </a:tr>
              <a:tr h="1719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install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utility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8185423"/>
                  </a:ext>
                </a:extLst>
              </a:tr>
              <a:tr h="1719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internal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workspace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09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5611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8379939"/>
      </p:ext>
    </p:extLst>
  </p:cSld>
  <p:clrMapOvr>
    <a:masterClrMapping/>
  </p:clrMapOvr>
  <p:transition>
    <p:zoom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B0C76-EA45-83A7-9D10-F609EE407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D148DC-D404-9FE8-B347-EF2397D52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용어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6E41DF-D836-7C05-BCF5-1DC4B9C408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79</a:t>
            </a:fld>
            <a:endParaRPr lang="en-US" altLang="ko-KR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F5B58FB-FFCB-C075-69B1-8F29481D34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2511369"/>
              </p:ext>
            </p:extLst>
          </p:nvPr>
        </p:nvGraphicFramePr>
        <p:xfrm>
          <a:off x="467544" y="1052736"/>
          <a:ext cx="7920880" cy="540059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56184">
                  <a:extLst>
                    <a:ext uri="{9D8B030D-6E8A-4147-A177-3AD203B41FA5}">
                      <a16:colId xmlns:a16="http://schemas.microsoft.com/office/drawing/2014/main" val="3000730897"/>
                    </a:ext>
                  </a:extLst>
                </a:gridCol>
                <a:gridCol w="6264696">
                  <a:extLst>
                    <a:ext uri="{9D8B030D-6E8A-4147-A177-3AD203B41FA5}">
                      <a16:colId xmlns:a16="http://schemas.microsoft.com/office/drawing/2014/main" val="1284432967"/>
                    </a:ext>
                  </a:extLst>
                </a:gridCol>
              </a:tblGrid>
              <a:tr h="20002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용어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292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의미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2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4098924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3-tier architecture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292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2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223619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Apache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292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2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7910411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Class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292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2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7064714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CSS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292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2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7705986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DNS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292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2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7014396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Eclipse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292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2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3781376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End Point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292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2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942923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HTML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292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2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1509577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HTTP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292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2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1933404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IP address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292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2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1784403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JDK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292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2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5220170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JSP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292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2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1123743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localhost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292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2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1842712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MySQL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292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2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5297435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network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292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2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375606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port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292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2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9174839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protocol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292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2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2691033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SQL Server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292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2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7792164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292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2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7868005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TCP/IP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292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2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1383783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Tomcat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292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2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6810698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UTF-8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292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2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502651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web browser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292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2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7579969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www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292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2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940390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공인 </a:t>
                      </a:r>
                      <a:r>
                        <a:rPr lang="en-US" sz="10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IP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292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2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9756916"/>
                  </a:ext>
                </a:extLst>
              </a:tr>
              <a:tr h="20002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사설 </a:t>
                      </a:r>
                      <a:r>
                        <a:rPr lang="en-US" sz="10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IP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292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29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38722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7593628"/>
      </p:ext>
    </p:extLst>
  </p:cSld>
  <p:clrMapOvr>
    <a:masterClrMapping/>
  </p:clrMapOvr>
  <p:transition>
    <p:zoom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질의 응답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dirty="0"/>
              <a:t>No question, no learning !!!</a:t>
            </a:r>
          </a:p>
          <a:p>
            <a:pPr eaLnBrk="1" hangingPunct="1">
              <a:defRPr/>
            </a:pPr>
            <a:r>
              <a:rPr lang="en-US" altLang="ko-KR" dirty="0"/>
              <a:t>No dumb question !!!</a:t>
            </a:r>
          </a:p>
          <a:p>
            <a:pPr eaLnBrk="1" hangingPunct="1">
              <a:defRPr/>
            </a:pPr>
            <a:r>
              <a:rPr lang="en-US" altLang="ko-KR" dirty="0"/>
              <a:t>I</a:t>
            </a:r>
            <a:r>
              <a:rPr lang="en-US" altLang="ko-KR" dirty="0">
                <a:latin typeface="Times New Roman" pitchFamily="18" charset="0"/>
              </a:rPr>
              <a:t>’</a:t>
            </a:r>
            <a:r>
              <a:rPr lang="en-US" altLang="ko-KR" dirty="0"/>
              <a:t>m here to be interrupted.</a:t>
            </a:r>
          </a:p>
          <a:p>
            <a:pPr eaLnBrk="1" hangingPunct="1">
              <a:defRPr/>
            </a:pPr>
            <a:r>
              <a:rPr lang="en-US" altLang="ko-KR" dirty="0"/>
              <a:t>I</a:t>
            </a:r>
            <a:r>
              <a:rPr lang="en-US" altLang="ko-KR" dirty="0">
                <a:latin typeface="Times New Roman" pitchFamily="18" charset="0"/>
              </a:rPr>
              <a:t>’</a:t>
            </a:r>
            <a:r>
              <a:rPr lang="en-US" altLang="ko-KR" dirty="0"/>
              <a:t>m an interrupt-driven professor.</a:t>
            </a:r>
          </a:p>
          <a:p>
            <a:pPr eaLnBrk="1" hangingPunct="1">
              <a:defRPr/>
            </a:pPr>
            <a:r>
              <a:rPr lang="en-US" altLang="ko-KR" dirty="0"/>
              <a:t>I teach less, students learn more.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A63119-A075-4A06-B8B9-191AF54DF5F5}" type="slidenum">
              <a:rPr lang="en-US" altLang="ko-KR" smtClean="0"/>
              <a:pPr>
                <a:defRPr/>
              </a:pPr>
              <a:t>80</a:t>
            </a:fld>
            <a:endParaRPr lang="en-US" altLang="ko-KR"/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8938" y="3714750"/>
            <a:ext cx="2752725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6055139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HY견고딕"/>
        <a:ea typeface="HY견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21040</TotalTime>
  <Words>2035</Words>
  <Application>Microsoft Office PowerPoint</Application>
  <PresentationFormat>화면 슬라이드 쇼(4:3)</PresentationFormat>
  <Paragraphs>508</Paragraphs>
  <Slides>80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80</vt:i4>
      </vt:variant>
    </vt:vector>
  </HeadingPairs>
  <TitlesOfParts>
    <vt:vector size="88" baseType="lpstr">
      <vt:lpstr>HY견고딕</vt:lpstr>
      <vt:lpstr>굴림</vt:lpstr>
      <vt:lpstr>맑은 고딕</vt:lpstr>
      <vt:lpstr>휴먼엑스포</vt:lpstr>
      <vt:lpstr>Arial</vt:lpstr>
      <vt:lpstr>Times New Roman</vt:lpstr>
      <vt:lpstr>Wingdings</vt:lpstr>
      <vt:lpstr>기본 디자인</vt:lpstr>
      <vt:lpstr>JSP 개발환경</vt:lpstr>
      <vt:lpstr>PowerPoint 프레젠테이션</vt:lpstr>
      <vt:lpstr>행복한 경영 이야기(happyceo.or.kr)</vt:lpstr>
      <vt:lpstr>학습목표</vt:lpstr>
      <vt:lpstr>네트워크</vt:lpstr>
      <vt:lpstr>네트워크</vt:lpstr>
      <vt:lpstr>네트워크</vt:lpstr>
      <vt:lpstr>컴퓨터의 주소체계</vt:lpstr>
      <vt:lpstr>네트워크</vt:lpstr>
      <vt:lpstr>네트워크</vt:lpstr>
      <vt:lpstr>네트워크</vt:lpstr>
      <vt:lpstr>네트워크 (ipconfig /all)</vt:lpstr>
      <vt:lpstr>월드 와이드 웹 (www)</vt:lpstr>
      <vt:lpstr>웹 </vt:lpstr>
      <vt:lpstr>웹 </vt:lpstr>
      <vt:lpstr>웹 </vt:lpstr>
      <vt:lpstr>3-tier architecture(3 계층 구조)</vt:lpstr>
      <vt:lpstr>웹 프로그래밍 </vt:lpstr>
      <vt:lpstr>웹 프로그래밍</vt:lpstr>
      <vt:lpstr>PowerPoint 프레젠테이션</vt:lpstr>
      <vt:lpstr>JSP 개발환경</vt:lpstr>
      <vt:lpstr>[개발환경] JDK11 download</vt:lpstr>
      <vt:lpstr>[개발환경] JDK11 download</vt:lpstr>
      <vt:lpstr>[개발환경] JDK11 download</vt:lpstr>
      <vt:lpstr>[개발환경] JDK11 download</vt:lpstr>
      <vt:lpstr>[개발환경] JDK 설치</vt:lpstr>
      <vt:lpstr>[개발환경] JDK 설치</vt:lpstr>
      <vt:lpstr>[개발환경] Tomcat 설치</vt:lpstr>
      <vt:lpstr>[개발환경] Tomcat 설치</vt:lpstr>
      <vt:lpstr>[개발환경] Tomcat 설치</vt:lpstr>
      <vt:lpstr>[개발환경] Tomcat 설치</vt:lpstr>
      <vt:lpstr>[개발환경] 실습 폴더 생성</vt:lpstr>
      <vt:lpstr>[개발환경] Eclipse download</vt:lpstr>
      <vt:lpstr>[개발환경] Eclipse download</vt:lpstr>
      <vt:lpstr>[개발환경] Eclipse download</vt:lpstr>
      <vt:lpstr>[개발환경] Eclipse download</vt:lpstr>
      <vt:lpstr>[개발환경] Eclipse 압축풀기</vt:lpstr>
      <vt:lpstr>[개발환경] Eclipse 압축풀기</vt:lpstr>
      <vt:lpstr>[개발환경] Eclipse 설정</vt:lpstr>
      <vt:lpstr>[개발환경] Eclipse 설정</vt:lpstr>
      <vt:lpstr>[개발환경] Eclipse 설정</vt:lpstr>
      <vt:lpstr>[개발환경] 이클립스 설정</vt:lpstr>
      <vt:lpstr>[개발환경] 이클립스 설정</vt:lpstr>
      <vt:lpstr>[개발환경] 이클립스 설정</vt:lpstr>
      <vt:lpstr>[개발환경] 이클립스 설정</vt:lpstr>
      <vt:lpstr>[개발환경] 이클립스 설정</vt:lpstr>
      <vt:lpstr>[개발환경] 이클립스 설정</vt:lpstr>
      <vt:lpstr>[개발환경] 이클립스 설정</vt:lpstr>
      <vt:lpstr>[개발환경] 이클립스 설정</vt:lpstr>
      <vt:lpstr>[개발환경] 이클립스 설정</vt:lpstr>
      <vt:lpstr>[개발환경] 이클립스 설정</vt:lpstr>
      <vt:lpstr>[개발환경] 이클립스 설정</vt:lpstr>
      <vt:lpstr>[개발환경] 이클립스 설정</vt:lpstr>
      <vt:lpstr>[개발환경] 이클립스 설정</vt:lpstr>
      <vt:lpstr>[개발환경] 이클립스 설정</vt:lpstr>
      <vt:lpstr>Eclipse 환경 설정</vt:lpstr>
      <vt:lpstr>PowerPoint 프레젠테이션</vt:lpstr>
      <vt:lpstr>JSP 맛보기 – Hello World JSP</vt:lpstr>
      <vt:lpstr>JSP 맛보기 – Hello World JSP</vt:lpstr>
      <vt:lpstr>JSP 맛보기 – Hello World JSP</vt:lpstr>
      <vt:lpstr>JSP 맛보기 – Hello World JSP</vt:lpstr>
      <vt:lpstr>JSP 맛보기 – Hello World JSP</vt:lpstr>
      <vt:lpstr>JSP 맛보기 – Hello World JSP</vt:lpstr>
      <vt:lpstr>JSP 맛보기 – Hello World JSP</vt:lpstr>
      <vt:lpstr>JSP 맛보기 – Hello World JSP</vt:lpstr>
      <vt:lpstr>JSP 맛보기 – Hello World JSP</vt:lpstr>
      <vt:lpstr>JSP 맛보기 – Hello World JSP</vt:lpstr>
      <vt:lpstr>JSP 맛보기 – Hello World JSP</vt:lpstr>
      <vt:lpstr>JSP 맛보기 – Hello World JSP</vt:lpstr>
      <vt:lpstr>JSP 맛보기 – Hello World JSP</vt:lpstr>
      <vt:lpstr>JSP 맛보기 – Hello World JSP</vt:lpstr>
      <vt:lpstr>JSP 맛보기 – Hello World JSP</vt:lpstr>
      <vt:lpstr>JSP 맛보기 – Hello World JSP</vt:lpstr>
      <vt:lpstr>Eclipse 환경 설정</vt:lpstr>
      <vt:lpstr>참고 : 프로젝트 생성시 오류</vt:lpstr>
      <vt:lpstr>참고 : 프로젝트 생성시 오류</vt:lpstr>
      <vt:lpstr>학습 요약</vt:lpstr>
      <vt:lpstr>단어</vt:lpstr>
      <vt:lpstr>용어</vt:lpstr>
      <vt:lpstr>질의 응답</vt:lpstr>
    </vt:vector>
  </TitlesOfParts>
  <Company>두원공과대학 인터넷프로그래밍과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김형래</dc:creator>
  <cp:lastModifiedBy>Windows 사용자</cp:lastModifiedBy>
  <cp:revision>498</cp:revision>
  <dcterms:created xsi:type="dcterms:W3CDTF">2003-05-07T20:17:23Z</dcterms:created>
  <dcterms:modified xsi:type="dcterms:W3CDTF">2025-09-03T02:38:08Z</dcterms:modified>
</cp:coreProperties>
</file>