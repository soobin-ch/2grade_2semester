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632" r:id="rId2"/>
    <p:sldId id="648" r:id="rId3"/>
    <p:sldId id="704" r:id="rId4"/>
    <p:sldId id="682" r:id="rId5"/>
    <p:sldId id="768" r:id="rId6"/>
    <p:sldId id="769" r:id="rId7"/>
    <p:sldId id="770" r:id="rId8"/>
    <p:sldId id="771" r:id="rId9"/>
    <p:sldId id="772" r:id="rId10"/>
    <p:sldId id="773" r:id="rId11"/>
    <p:sldId id="823" r:id="rId12"/>
    <p:sldId id="830" r:id="rId13"/>
    <p:sldId id="824" r:id="rId14"/>
    <p:sldId id="825" r:id="rId15"/>
    <p:sldId id="828" r:id="rId16"/>
    <p:sldId id="827" r:id="rId17"/>
    <p:sldId id="826" r:id="rId18"/>
    <p:sldId id="829" r:id="rId19"/>
    <p:sldId id="779" r:id="rId20"/>
    <p:sldId id="831" r:id="rId21"/>
    <p:sldId id="832" r:id="rId22"/>
    <p:sldId id="835" r:id="rId23"/>
    <p:sldId id="836" r:id="rId24"/>
    <p:sldId id="853" r:id="rId25"/>
    <p:sldId id="890" r:id="rId26"/>
    <p:sldId id="837" r:id="rId27"/>
    <p:sldId id="838" r:id="rId28"/>
    <p:sldId id="839" r:id="rId29"/>
    <p:sldId id="840" r:id="rId30"/>
    <p:sldId id="844" r:id="rId31"/>
    <p:sldId id="854" r:id="rId32"/>
    <p:sldId id="856" r:id="rId33"/>
    <p:sldId id="847" r:id="rId34"/>
    <p:sldId id="848" r:id="rId35"/>
    <p:sldId id="849" r:id="rId36"/>
    <p:sldId id="846" r:id="rId37"/>
    <p:sldId id="857" r:id="rId38"/>
    <p:sldId id="845" r:id="rId39"/>
    <p:sldId id="850" r:id="rId40"/>
    <p:sldId id="851" r:id="rId41"/>
    <p:sldId id="781" r:id="rId42"/>
    <p:sldId id="767" r:id="rId43"/>
    <p:sldId id="892" r:id="rId44"/>
    <p:sldId id="893" r:id="rId45"/>
    <p:sldId id="891" r:id="rId46"/>
    <p:sldId id="703" r:id="rId47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6CC"/>
    <a:srgbClr val="CC3300"/>
    <a:srgbClr val="CC6600"/>
    <a:srgbClr val="6600CC"/>
    <a:srgbClr val="CC0000"/>
    <a:srgbClr val="FFFF00"/>
    <a:srgbClr val="FFCC66"/>
    <a:srgbClr val="FFCC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6" autoAdjust="0"/>
    <p:restoredTop sz="94148" autoAdjust="0"/>
  </p:normalViewPr>
  <p:slideViewPr>
    <p:cSldViewPr>
      <p:cViewPr varScale="1">
        <p:scale>
          <a:sx n="82" d="100"/>
          <a:sy n="82" d="100"/>
        </p:scale>
        <p:origin x="90" y="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5568" y="-1"/>
            <a:ext cx="11735136" cy="6858002"/>
          </a:xfrm>
          <a:prstGeom prst="rect">
            <a:avLst/>
          </a:prstGeom>
        </p:spPr>
      </p:pic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589240"/>
            <a:ext cx="6400800" cy="555362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1165222"/>
            <a:ext cx="7514232" cy="111165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 </a:t>
            </a:r>
            <a:r>
              <a:rPr lang="ko-KR" altLang="en-US" sz="4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7245" y="90871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JSP</a:t>
            </a:r>
            <a:endParaRPr lang="ko-KR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06" y="0"/>
            <a:ext cx="5364388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173ADF4-3301-3948-A403-5D211E748672}"/>
              </a:ext>
            </a:extLst>
          </p:cNvPr>
          <p:cNvSpPr/>
          <p:nvPr/>
        </p:nvSpPr>
        <p:spPr>
          <a:xfrm>
            <a:off x="827584" y="1988840"/>
            <a:ext cx="7848872" cy="2880320"/>
          </a:xfrm>
          <a:prstGeom prst="rect">
            <a:avLst/>
          </a:prstGeom>
          <a:solidFill>
            <a:srgbClr val="FFFFFF">
              <a:alpha val="69804"/>
            </a:srgb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굳은 살의 두께</a:t>
            </a:r>
            <a:r>
              <a:rPr lang="ko-KR" altLang="en-US" sz="3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endParaRPr lang="en-US" altLang="ko-KR" sz="3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ko-KR" altLang="en-US" sz="36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삶의 질</a:t>
            </a:r>
            <a:r>
              <a:rPr lang="ko-KR" altLang="en-US" sz="3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결정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영원한 학생이 되라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.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 lvl="0" eaLnBrk="0" latinLnBrk="0" hangingPunct="0">
              <a:lnSpc>
                <a:spcPct val="130000"/>
              </a:lnSpc>
            </a:pP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성공을 준비하는 사람은 늘 도서관을 끼고 다닌다.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성공하는 사람은 다른 사람에게서 배운다.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직업을 갖고 일을 시작하면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책은 더욱 중요하게 다뤄져야 한다.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존 </a:t>
            </a:r>
            <a:r>
              <a:rPr kumimoji="0" lang="ko-KR" altLang="ko-KR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템플턴</a:t>
            </a: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0" eaLnBrk="0" fontAlgn="t" latinLnBrk="0" hangingPunct="0">
              <a:lnSpc>
                <a:spcPct val="130000"/>
              </a:lnSpc>
            </a:pP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  <a:p>
            <a:pPr lvl="0" eaLnBrk="0" latinLnBrk="0" hangingPunct="0">
              <a:lnSpc>
                <a:spcPct val="130000"/>
              </a:lnSpc>
            </a:pP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직업을 갖게 되면 </a:t>
            </a:r>
            <a:endParaRPr kumimoji="0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eaLnBrk="0" latinLnBrk="0" hangingPunct="0">
              <a:lnSpc>
                <a:spcPct val="130000"/>
              </a:lnSpc>
            </a:pP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이제 공부는 안해도 된다고 생각하고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책에서 손을 떼는 사람들이 많습니다.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직업을 갖고 일을 시작하면 진짜 공부가 시작됩니다.</a:t>
            </a:r>
            <a:b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책에서 손을 떼는 순간 퇴보가 시작됩니다.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평생 도서관을 끼고 사는 사람만이 성공하는</a:t>
            </a:r>
            <a:r>
              <a:rPr kumimoji="0"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그야말로 평생학습 시대</a:t>
            </a:r>
            <a:r>
              <a:rPr kumimoji="0" lang="ko-KR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열렸습니다. </a:t>
            </a:r>
          </a:p>
          <a:p>
            <a:pPr lvl="0" eaLnBrk="0" latinLnBrk="0" hangingPunct="0">
              <a:lnSpc>
                <a:spcPct val="130000"/>
              </a:lnSpc>
            </a:pPr>
            <a:endParaRPr kumimoji="0" lang="ko-KR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eaLnBrk="0" fontAlgn="t" latinLnBrk="0" hangingPunct="0">
              <a:lnSpc>
                <a:spcPct val="130000"/>
              </a:lnSpc>
            </a:pPr>
            <a:endParaRPr kumimoji="0" lang="ko-KR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촌철활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-436563"/>
            <a:ext cx="1933575" cy="16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행복한 경영 이야기</a:t>
            </a:r>
            <a:r>
              <a:rPr lang="en-US" altLang="ko-KR"/>
              <a:t>(www.happyceo.or.kr)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900" y="1549853"/>
            <a:ext cx="2933079" cy="295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4788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강좌를 성공적으로 이수하면 학생들은 다음 내용을 설명할 수 있다</a:t>
            </a:r>
            <a:r>
              <a:rPr lang="en-US" altLang="ko-KR" dirty="0"/>
              <a:t>.</a:t>
            </a:r>
            <a:r>
              <a:rPr lang="ko-KR" altLang="en-US" sz="2800" dirty="0"/>
              <a:t> </a:t>
            </a:r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프로그램 기술 변천</a:t>
            </a:r>
            <a:endParaRPr lang="en-US" altLang="ko-KR" dirty="0"/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처리 과정</a:t>
            </a:r>
            <a:endParaRPr lang="en-US" altLang="ko-KR" dirty="0"/>
          </a:p>
          <a:p>
            <a:r>
              <a:rPr lang="ko-KR" altLang="en-US" dirty="0"/>
              <a:t>또한 다음 </a:t>
            </a:r>
            <a:r>
              <a:rPr lang="en-US" altLang="ko-KR" dirty="0"/>
              <a:t>JSP </a:t>
            </a:r>
            <a:r>
              <a:rPr lang="ko-KR" altLang="en-US" dirty="0" err="1"/>
              <a:t>에제</a:t>
            </a:r>
            <a:r>
              <a:rPr lang="ko-KR" altLang="en-US" dirty="0"/>
              <a:t> 프로그램을 작성할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 err="1"/>
              <a:t>스크립트릿을</a:t>
            </a:r>
            <a:r>
              <a:rPr lang="ko-KR" altLang="en-US" dirty="0"/>
              <a:t> 이용한 계산기 구현</a:t>
            </a:r>
            <a:endParaRPr lang="en-US" altLang="ko-KR" dirty="0"/>
          </a:p>
          <a:p>
            <a:pPr lvl="1"/>
            <a:r>
              <a:rPr lang="ko-KR" altLang="en-US" dirty="0" err="1"/>
              <a:t>빈즈</a:t>
            </a:r>
            <a:r>
              <a:rPr lang="ko-KR" altLang="en-US" dirty="0"/>
              <a:t> 클래스를 이용한 계산기 구현</a:t>
            </a:r>
            <a:endParaRPr lang="en-US" altLang="ko-KR" dirty="0"/>
          </a:p>
          <a:p>
            <a:endParaRPr lang="en-US" altLang="ko-K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1B553-ABE3-6194-697C-B5B53ECCEF06}"/>
              </a:ext>
            </a:extLst>
          </p:cNvPr>
          <p:cNvSpPr txBox="1"/>
          <p:nvPr/>
        </p:nvSpPr>
        <p:spPr>
          <a:xfrm>
            <a:off x="251521" y="5686484"/>
            <a:ext cx="6768752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아직 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공부를 하지 않았기에 오늘 강의는 오히려 어렵게 느껴질 수 있습니다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이해가 잘 안 가더라도 따라해 보기 바랍니다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en-US" altLang="ko-KR" dirty="0"/>
              <a:t>(Servlet)</a:t>
            </a:r>
            <a:r>
              <a:rPr lang="ko-KR" altLang="en-US" dirty="0"/>
              <a:t>과 </a:t>
            </a:r>
            <a:r>
              <a:rPr lang="en-US" altLang="ko-KR" dirty="0"/>
              <a:t>JSP(Java Server Page)</a:t>
            </a:r>
            <a:endParaRPr lang="ko-KR" altLang="en-US" dirty="0"/>
          </a:p>
          <a:p>
            <a:pPr lvl="1"/>
            <a:r>
              <a:rPr lang="ko-KR" altLang="en-US" dirty="0" err="1"/>
              <a:t>서블릿</a:t>
            </a:r>
            <a:endParaRPr lang="en-US" altLang="ko-KR" dirty="0"/>
          </a:p>
          <a:p>
            <a:pPr lvl="2"/>
            <a:r>
              <a:rPr lang="ko-KR" altLang="en-US" dirty="0"/>
              <a:t>자바를 이용한 서버 프로그래밍 기술</a:t>
            </a:r>
            <a:endParaRPr lang="en-US" altLang="ko-KR" dirty="0"/>
          </a:p>
          <a:p>
            <a:pPr lvl="2"/>
            <a:r>
              <a:rPr lang="ko-KR" altLang="en-US" dirty="0"/>
              <a:t>일반 애플리케이션을 개발하기 위해 만든 자바를 웹 환경에서 사용하게 함</a:t>
            </a:r>
            <a:endParaRPr lang="en-US" altLang="ko-KR" dirty="0"/>
          </a:p>
          <a:p>
            <a:pPr lvl="2"/>
            <a:r>
              <a:rPr lang="ko-KR" altLang="en-US" dirty="0"/>
              <a:t>초기 웹 프로그래밍 기술인 </a:t>
            </a:r>
            <a:r>
              <a:rPr lang="en-US" altLang="ko-KR" dirty="0"/>
              <a:t>CGI(Common Gateway Interface)</a:t>
            </a:r>
            <a:r>
              <a:rPr lang="ko-KR" altLang="en-US" dirty="0"/>
              <a:t>를 대체</a:t>
            </a:r>
            <a:endParaRPr lang="en-US" altLang="ko-KR" dirty="0"/>
          </a:p>
          <a:p>
            <a:pPr lvl="2"/>
            <a:r>
              <a:rPr lang="ko-KR" altLang="en-US" dirty="0"/>
              <a:t>느린 처리 속도</a:t>
            </a:r>
            <a:r>
              <a:rPr lang="en-US" altLang="ko-KR" dirty="0"/>
              <a:t>, </a:t>
            </a:r>
            <a:r>
              <a:rPr lang="ko-KR" altLang="en-US" dirty="0"/>
              <a:t>많은 메모리 요구</a:t>
            </a:r>
            <a:r>
              <a:rPr lang="en-US" altLang="ko-KR" dirty="0"/>
              <a:t>, </a:t>
            </a:r>
            <a:r>
              <a:rPr lang="ko-KR" altLang="en-US" dirty="0"/>
              <a:t>불편한 화면 제어 등의 한계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 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PHP, ASP </a:t>
            </a:r>
            <a:r>
              <a:rPr lang="ko-KR" altLang="en-US" dirty="0"/>
              <a:t>등에 주도권 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 Sun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JSP 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개발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하였고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현재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 JSP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는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대표 웹 프로그래밍 언어</a:t>
            </a:r>
            <a:endParaRPr lang="en-US" altLang="ko-KR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7794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JSP</a:t>
            </a:r>
          </a:p>
          <a:p>
            <a:pPr lvl="2"/>
            <a:r>
              <a:rPr lang="en-US" altLang="ko-KR" dirty="0"/>
              <a:t>PHP</a:t>
            </a:r>
            <a:r>
              <a:rPr lang="ko-KR" altLang="en-US" dirty="0"/>
              <a:t>와 유사한 형태</a:t>
            </a:r>
            <a:endParaRPr lang="en-US" altLang="ko-KR" dirty="0"/>
          </a:p>
          <a:p>
            <a:pPr lvl="2"/>
            <a:r>
              <a:rPr lang="en-US" altLang="ko-KR" dirty="0"/>
              <a:t>HTML</a:t>
            </a:r>
            <a:r>
              <a:rPr lang="ko-KR" altLang="en-US" dirty="0"/>
              <a:t>을 중심으로 자바 프로그램과의 유기적인 연결을 지원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JSP 2.0 </a:t>
            </a:r>
            <a:r>
              <a:rPr lang="ko-KR" altLang="en-US" dirty="0">
                <a:sym typeface="Wingdings" panose="05000000000000000000" pitchFamily="2" charset="2"/>
              </a:rPr>
              <a:t>이후 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java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 클래스를 이용</a:t>
            </a:r>
            <a:r>
              <a:rPr lang="ko-KR" altLang="en-US" dirty="0">
                <a:sym typeface="Wingdings" panose="05000000000000000000" pitchFamily="2" charset="2"/>
              </a:rPr>
              <a:t>하게 되면서 획기적 변모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033951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950" y="908720"/>
            <a:ext cx="8950325" cy="5519738"/>
          </a:xfrm>
        </p:spPr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코드 및 </a:t>
            </a:r>
            <a:r>
              <a:rPr lang="en-US" altLang="ko-KR" dirty="0"/>
              <a:t>JSP </a:t>
            </a:r>
            <a:r>
              <a:rPr lang="ko-KR" altLang="en-US" dirty="0"/>
              <a:t>코드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7" name="TextBox 6"/>
          <p:cNvSpPr txBox="1"/>
          <p:nvPr/>
        </p:nvSpPr>
        <p:spPr>
          <a:xfrm>
            <a:off x="522685" y="4509120"/>
            <a:ext cx="8011715" cy="1800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wrap="none" lIns="91440" tIns="45720" rIns="91440" bIns="45720" numCol="1" spcCol="180000" rtlCol="0" anchor="t" anchorCtr="0">
            <a:no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&lt;%@ page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contentType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="text/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html;charset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=utf-8" %&gt;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&lt;HTML&gt;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&lt;HEAD&gt;&lt;TITLE&gt;Hello World&lt;/TITLE&gt;&lt;/HEAD&gt;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&lt;BODY&gt;&lt;H2&gt;Hello World :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헬로월드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&lt;/H2&gt;</a:t>
            </a:r>
          </a:p>
          <a:p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오늘의 날짜와 시간은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&lt;%= new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java.util.Date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 %&gt;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&lt;/BODY&gt;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&lt;/HTML&gt;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686" y="1536116"/>
            <a:ext cx="8038354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public class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HelloWorldServlet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extends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HttpServlet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{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public void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doGet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HttpServletRequest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request,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HttpServletResponse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response)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throws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ServletException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,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IOException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{              	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  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response.setContentType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("text/html; charset=EUC_KR");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  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PrintWrite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out =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response.getWriter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();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  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out.println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("&lt;HTML&gt;&lt;HEAD&gt;&lt;TITLE&gt;Hello World&lt;/TITLE&gt;&lt;/HEAD&gt;");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  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out.println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("&lt;BODY&gt;&lt;H2&gt;Hello World :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헬로월드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&lt;/H2&gt;");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  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out.println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("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오늘의 날짜와 시간은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: "+ new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java.util.Date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());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  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out.println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("&lt;/BODY&gt;&lt;/HTML&gt;");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   }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Vrinda" panose="020B0502040204020203" pitchFamily="34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0147" y="3740944"/>
            <a:ext cx="547032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서블릿은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 클래스의 형태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화면에 출력하기 위해 </a:t>
            </a:r>
            <a:r>
              <a:rPr lang="en-US" altLang="ko-KR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out.println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메서드 이용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표현해야 하는 내용이 많을수록 상당히 비효율적</a:t>
            </a:r>
          </a:p>
        </p:txBody>
      </p:sp>
    </p:spTree>
    <p:extLst>
      <p:ext uri="{BB962C8B-B14F-4D97-AF65-F5344CB8AC3E}">
        <p14:creationId xmlns:p14="http://schemas.microsoft.com/office/powerpoint/2010/main" val="27091750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6"/>
              </a:buClr>
            </a:pPr>
            <a:r>
              <a:rPr lang="en-US" altLang="ko-KR" dirty="0"/>
              <a:t>JSP</a:t>
            </a:r>
            <a:r>
              <a:rPr lang="ko-KR" altLang="en-US" dirty="0"/>
              <a:t>의 특징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ko-KR" altLang="en-US" dirty="0"/>
              <a:t>자바의 모든 기능을 사용할 수 있어 발전 가능성이 무한함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ko-KR" altLang="en-US" dirty="0" err="1"/>
              <a:t>서블릿으로</a:t>
            </a:r>
            <a:r>
              <a:rPr lang="ko-KR" altLang="en-US" dirty="0"/>
              <a:t> </a:t>
            </a:r>
            <a:r>
              <a:rPr lang="ko-KR" altLang="en-US" dirty="0" err="1"/>
              <a:t>컴파일된</a:t>
            </a:r>
            <a:r>
              <a:rPr lang="ko-KR" altLang="en-US" dirty="0"/>
              <a:t> 후 메모리에서 처리되기 때문에 많은 사용자의 접속도 원활하게 처리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en-US" altLang="ko-KR" dirty="0"/>
              <a:t>JSP </a:t>
            </a:r>
            <a:r>
              <a:rPr lang="ko-KR" altLang="en-US" dirty="0"/>
              <a:t>또는 다른 </a:t>
            </a:r>
            <a:r>
              <a:rPr lang="ko-KR" altLang="en-US" dirty="0" err="1"/>
              <a:t>서블릿</a:t>
            </a:r>
            <a:r>
              <a:rPr lang="ko-KR" altLang="en-US" dirty="0"/>
              <a:t> 간의 </a:t>
            </a:r>
            <a:r>
              <a:rPr lang="ko-KR" altLang="en-US" dirty="0">
                <a:solidFill>
                  <a:srgbClr val="C00000"/>
                </a:solidFill>
              </a:rPr>
              <a:t>데이터 공유 </a:t>
            </a:r>
            <a:r>
              <a:rPr lang="ko-KR" altLang="en-US" dirty="0"/>
              <a:t>용이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ko-KR" altLang="en-US" dirty="0" err="1"/>
              <a:t>빈즈</a:t>
            </a:r>
            <a:r>
              <a:rPr lang="en-US" altLang="ko-KR" dirty="0"/>
              <a:t>(Beans)</a:t>
            </a:r>
            <a:r>
              <a:rPr lang="ko-KR" altLang="en-US" dirty="0"/>
              <a:t>라는 </a:t>
            </a:r>
            <a:r>
              <a:rPr lang="ko-KR" altLang="en-US" dirty="0">
                <a:solidFill>
                  <a:srgbClr val="C00000"/>
                </a:solidFill>
              </a:rPr>
              <a:t>자바 컴포넌트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클래스로 만든 객체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r>
              <a:rPr lang="ko-KR" altLang="en-US" dirty="0">
                <a:solidFill>
                  <a:srgbClr val="C00000"/>
                </a:solidFill>
              </a:rPr>
              <a:t> 사용 가능</a:t>
            </a:r>
            <a:endParaRPr lang="en-US" altLang="ko-KR" dirty="0">
              <a:solidFill>
                <a:srgbClr val="C00000"/>
              </a:solidFill>
            </a:endParaRPr>
          </a:p>
          <a:p>
            <a:pPr lvl="1">
              <a:buClr>
                <a:schemeClr val="accent6"/>
              </a:buClr>
            </a:pPr>
            <a:r>
              <a:rPr lang="ko-KR" altLang="en-US" dirty="0" err="1">
                <a:solidFill>
                  <a:srgbClr val="C00000"/>
                </a:solidFill>
              </a:rPr>
              <a:t>커스텀</a:t>
            </a:r>
            <a:r>
              <a:rPr lang="ko-KR" altLang="en-US" dirty="0">
                <a:solidFill>
                  <a:srgbClr val="C00000"/>
                </a:solidFill>
              </a:rPr>
              <a:t> 태그 </a:t>
            </a:r>
            <a:r>
              <a:rPr lang="ko-KR" altLang="en-US" dirty="0"/>
              <a:t>및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JSTL</a:t>
            </a:r>
            <a:r>
              <a:rPr lang="en-US" altLang="ko-KR" dirty="0"/>
              <a:t>(JSP Standard Tag Library)</a:t>
            </a:r>
            <a:r>
              <a:rPr lang="ko-KR" altLang="en-US" dirty="0"/>
              <a:t> 태그 라이브러리 이용 가능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ko-KR" altLang="en-US" dirty="0" err="1"/>
              <a:t>스트러츠</a:t>
            </a:r>
            <a:r>
              <a:rPr lang="en-US" altLang="ko-KR" dirty="0"/>
              <a:t>, </a:t>
            </a:r>
            <a:r>
              <a:rPr lang="ko-KR" altLang="en-US" dirty="0"/>
              <a:t>스프링 </a:t>
            </a:r>
            <a:r>
              <a:rPr lang="en-US" altLang="ko-KR" dirty="0"/>
              <a:t>@MVC </a:t>
            </a:r>
            <a:r>
              <a:rPr lang="ko-KR" altLang="en-US" dirty="0"/>
              <a:t>등 다양한 </a:t>
            </a:r>
            <a:r>
              <a:rPr lang="ko-KR" altLang="en-US" dirty="0">
                <a:solidFill>
                  <a:srgbClr val="C00000"/>
                </a:solidFill>
              </a:rPr>
              <a:t>프레임워크</a:t>
            </a:r>
            <a:r>
              <a:rPr lang="ko-KR" altLang="en-US" dirty="0"/>
              <a:t>와 결합하여 개발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8917380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6"/>
              </a:buClr>
            </a:pPr>
            <a:r>
              <a:rPr lang="en-US" altLang="ko-KR" dirty="0"/>
              <a:t>JSP </a:t>
            </a:r>
            <a:r>
              <a:rPr lang="ko-KR" altLang="en-US" dirty="0"/>
              <a:t>학습에 필요한 기본 기술 </a:t>
            </a:r>
            <a:r>
              <a:rPr lang="en-US" altLang="ko-KR" dirty="0">
                <a:sym typeface="Wingdings" panose="05000000000000000000" pitchFamily="2" charset="2"/>
              </a:rPr>
              <a:t> Front-End </a:t>
            </a:r>
            <a:r>
              <a:rPr lang="ko-KR" altLang="en-US" dirty="0">
                <a:sym typeface="Wingdings" panose="05000000000000000000" pitchFamily="2" charset="2"/>
              </a:rPr>
              <a:t>영역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5"/>
          <a:stretch/>
        </p:blipFill>
        <p:spPr bwMode="auto">
          <a:xfrm>
            <a:off x="32408" y="1662651"/>
            <a:ext cx="9099702" cy="299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24FEFB-E6F5-F87E-8849-BA992885F622}"/>
              </a:ext>
            </a:extLst>
          </p:cNvPr>
          <p:cNvSpPr txBox="1"/>
          <p:nvPr/>
        </p:nvSpPr>
        <p:spPr>
          <a:xfrm>
            <a:off x="142270" y="5853166"/>
            <a:ext cx="2529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★CSS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웹디자이너 영역</a:t>
            </a:r>
          </a:p>
        </p:txBody>
      </p:sp>
    </p:spTree>
    <p:extLst>
      <p:ext uri="{BB962C8B-B14F-4D97-AF65-F5344CB8AC3E}">
        <p14:creationId xmlns:p14="http://schemas.microsoft.com/office/powerpoint/2010/main" val="140766494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6"/>
              </a:buClr>
            </a:pPr>
            <a:r>
              <a:rPr lang="ko-KR" altLang="en-US" dirty="0"/>
              <a:t>자바 활용을 위한 기본 기술 </a:t>
            </a:r>
            <a:r>
              <a:rPr lang="en-US" altLang="ko-KR" dirty="0">
                <a:sym typeface="Wingdings" panose="05000000000000000000" pitchFamily="2" charset="2"/>
              </a:rPr>
              <a:t> Back-End </a:t>
            </a:r>
            <a:r>
              <a:rPr lang="ko-KR" altLang="en-US" dirty="0">
                <a:sym typeface="Wingdings" panose="05000000000000000000" pitchFamily="2" charset="2"/>
              </a:rPr>
              <a:t>영역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8"/>
          <a:stretch/>
        </p:blipFill>
        <p:spPr bwMode="auto">
          <a:xfrm>
            <a:off x="107949" y="1556792"/>
            <a:ext cx="8906911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544853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6"/>
              </a:buClr>
            </a:pPr>
            <a:r>
              <a:rPr lang="ko-KR" altLang="en-US" dirty="0"/>
              <a:t>고급 웹 프로그래밍을 위한 주변 기술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3"/>
          <a:stretch/>
        </p:blipFill>
        <p:spPr bwMode="auto">
          <a:xfrm>
            <a:off x="107950" y="1613700"/>
            <a:ext cx="8922680" cy="4551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55164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6"/>
              </a:buClr>
            </a:pPr>
            <a:r>
              <a:rPr lang="en-US" altLang="ko-KR" dirty="0"/>
              <a:t>JSP </a:t>
            </a:r>
            <a:r>
              <a:rPr lang="ko-KR" altLang="en-US" dirty="0"/>
              <a:t>동작 과정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ko-KR" altLang="en-US" dirty="0"/>
              <a:t>서버에서의 실행 결과를 웹 브라우저로 전달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HTML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형식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en-US" altLang="ko-KR" dirty="0"/>
              <a:t>HTML</a:t>
            </a:r>
            <a:r>
              <a:rPr lang="ko-KR" altLang="en-US" dirty="0"/>
              <a:t>과 달리 소스 자체로 실행이 불가능</a:t>
            </a:r>
            <a:endParaRPr lang="en-US" altLang="ko-KR" dirty="0"/>
          </a:p>
          <a:p>
            <a:pPr lvl="2">
              <a:buClr>
                <a:schemeClr val="accent6"/>
              </a:buClr>
            </a:pPr>
            <a:r>
              <a:rPr lang="ko-KR" altLang="en-US" dirty="0" err="1"/>
              <a:t>서블릿으로</a:t>
            </a:r>
            <a:r>
              <a:rPr lang="ko-KR" altLang="en-US" dirty="0"/>
              <a:t> 변환하고</a:t>
            </a:r>
            <a:r>
              <a:rPr lang="en-US" altLang="ko-KR" dirty="0"/>
              <a:t>, </a:t>
            </a:r>
            <a:r>
              <a:rPr lang="ko-KR" altLang="en-US" dirty="0"/>
              <a:t>컴파일한 후에 실행됨</a:t>
            </a:r>
            <a:endParaRPr lang="en-US" altLang="ko-KR" dirty="0"/>
          </a:p>
          <a:p>
            <a:pPr lvl="1">
              <a:buClr>
                <a:schemeClr val="accent6"/>
              </a:buClr>
            </a:pPr>
            <a:r>
              <a:rPr lang="ko-KR" altLang="en-US" dirty="0"/>
              <a:t>웹 브라우저</a:t>
            </a:r>
            <a:r>
              <a:rPr lang="en-US" altLang="ko-KR" dirty="0"/>
              <a:t>, </a:t>
            </a:r>
            <a:r>
              <a:rPr lang="ko-KR" altLang="en-US" dirty="0" err="1"/>
              <a:t>웹서버</a:t>
            </a:r>
            <a:r>
              <a:rPr lang="en-US" altLang="ko-KR" dirty="0"/>
              <a:t>,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</a:t>
            </a:r>
            <a:r>
              <a:rPr lang="en-US" altLang="ko-KR" dirty="0"/>
              <a:t>, JSP, </a:t>
            </a:r>
            <a:r>
              <a:rPr lang="ko-KR" altLang="en-US" dirty="0" err="1"/>
              <a:t>서블릿</a:t>
            </a:r>
            <a:r>
              <a:rPr lang="en-US" altLang="ko-KR" dirty="0"/>
              <a:t>, </a:t>
            </a:r>
            <a:r>
              <a:rPr lang="ko-KR" altLang="en-US" dirty="0" err="1"/>
              <a:t>빈즈</a:t>
            </a:r>
            <a:r>
              <a:rPr lang="ko-KR" altLang="en-US" dirty="0"/>
              <a:t> 클래스 등 요소 간 흐름을 알아야 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FE7911-E2A4-4738-BAB0-4DC2217C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470" y="3717032"/>
            <a:ext cx="4213060" cy="2599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BCDBB9-9E5A-4560-994A-682738FDAF56}"/>
              </a:ext>
            </a:extLst>
          </p:cNvPr>
          <p:cNvSpPr txBox="1"/>
          <p:nvPr/>
        </p:nvSpPr>
        <p:spPr>
          <a:xfrm>
            <a:off x="1641896" y="6217494"/>
            <a:ext cx="5882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https://www.slideshare.net/jainaashish/asp-aspnet-jsp-comdcom&gt;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9374896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6"/>
              </a:buClr>
            </a:pPr>
            <a:r>
              <a:rPr lang="en-US" altLang="ko-KR" dirty="0"/>
              <a:t>JSP</a:t>
            </a:r>
            <a:r>
              <a:rPr lang="ko-KR" altLang="en-US" dirty="0"/>
              <a:t> 동작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0"/>
          <a:stretch/>
        </p:blipFill>
        <p:spPr bwMode="auto">
          <a:xfrm>
            <a:off x="1134666" y="1479754"/>
            <a:ext cx="6876764" cy="500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3688854" y="5238725"/>
            <a:ext cx="576064" cy="360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0940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4F81BD"/>
              </a:buClr>
            </a:pPr>
            <a:r>
              <a:rPr lang="ko-KR" altLang="en-US" dirty="0" err="1">
                <a:solidFill>
                  <a:prstClr val="black"/>
                </a:solidFill>
              </a:rPr>
              <a:t>서블릿</a:t>
            </a:r>
            <a:r>
              <a:rPr lang="ko-KR" altLang="en-US" dirty="0">
                <a:solidFill>
                  <a:prstClr val="black"/>
                </a:solidFill>
              </a:rPr>
              <a:t> 컨테이너 내부 과정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와 </a:t>
            </a:r>
            <a:r>
              <a:rPr lang="ko-KR" altLang="en-US" dirty="0" err="1"/>
              <a:t>서블릿</a:t>
            </a:r>
            <a:r>
              <a:rPr lang="ko-KR" altLang="en-US" dirty="0"/>
              <a:t> 차이</a:t>
            </a:r>
            <a:endParaRPr lang="en-US" altLang="ko-KR" dirty="0"/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en-US" altLang="ko-KR" dirty="0"/>
              <a:t>HTML</a:t>
            </a:r>
            <a:r>
              <a:rPr lang="ko-KR" altLang="en-US" dirty="0"/>
              <a:t>과 같은 일반적인 텍스트 파일 구조</a:t>
            </a:r>
            <a:endParaRPr lang="en-US" altLang="ko-KR" dirty="0"/>
          </a:p>
          <a:p>
            <a:pPr lvl="2"/>
            <a:r>
              <a:rPr lang="ko-KR" altLang="en-US" dirty="0" err="1"/>
              <a:t>서블릿은</a:t>
            </a:r>
            <a:r>
              <a:rPr lang="ko-KR" altLang="en-US" dirty="0"/>
              <a:t> 자바 소스로 작성된 클래스 파일 구조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컨테이너에 의해 </a:t>
            </a:r>
            <a:r>
              <a:rPr lang="ko-KR" altLang="en-US" dirty="0" err="1">
                <a:solidFill>
                  <a:srgbClr val="C00000"/>
                </a:solidFill>
              </a:rPr>
              <a:t>서블릿</a:t>
            </a:r>
            <a:r>
              <a:rPr lang="ko-KR" altLang="en-US" dirty="0">
                <a:solidFill>
                  <a:srgbClr val="C00000"/>
                </a:solidFill>
              </a:rPr>
              <a:t> 형태의 자바 소스로 변환</a:t>
            </a:r>
            <a:r>
              <a:rPr lang="ko-KR" altLang="en-US" dirty="0"/>
              <a:t>되어 클래스로 컴파일 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 err="1"/>
              <a:t>서블릿</a:t>
            </a:r>
            <a:r>
              <a:rPr lang="ko-KR" altLang="en-US" dirty="0"/>
              <a:t> 컨테이너</a:t>
            </a:r>
            <a:endParaRPr lang="en-US" altLang="ko-KR" dirty="0"/>
          </a:p>
          <a:p>
            <a:pPr lvl="2"/>
            <a:r>
              <a:rPr lang="en-US" altLang="ko-KR" dirty="0"/>
              <a:t>JSP </a:t>
            </a:r>
            <a:r>
              <a:rPr lang="ko-KR" altLang="en-US" dirty="0"/>
              <a:t>파일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서블릿으로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변환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컴파일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컨테이너에서 </a:t>
            </a:r>
            <a:r>
              <a:rPr lang="ko-KR" altLang="en-US" dirty="0" err="1"/>
              <a:t>서블릿</a:t>
            </a:r>
            <a:r>
              <a:rPr lang="ko-KR" altLang="en-US" dirty="0"/>
              <a:t> 객체로 관리</a:t>
            </a:r>
            <a:endParaRPr lang="en-US" altLang="ko-KR" dirty="0"/>
          </a:p>
          <a:p>
            <a:pPr lvl="2"/>
            <a:r>
              <a:rPr lang="ko-KR" altLang="en-US" dirty="0"/>
              <a:t>최초 접속에는 시간이 소요되나</a:t>
            </a:r>
            <a:r>
              <a:rPr lang="en-US" altLang="ko-KR" dirty="0"/>
              <a:t>, </a:t>
            </a:r>
            <a:r>
              <a:rPr lang="ko-KR" altLang="en-US" dirty="0"/>
              <a:t>이후부터는 빠르게 실행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2601421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4F81BD"/>
              </a:buClr>
            </a:pPr>
            <a:r>
              <a:rPr lang="ko-KR" altLang="en-US" dirty="0" err="1">
                <a:solidFill>
                  <a:prstClr val="black"/>
                </a:solidFill>
              </a:rPr>
              <a:t>서블릿</a:t>
            </a:r>
            <a:r>
              <a:rPr lang="ko-KR" altLang="en-US" dirty="0">
                <a:solidFill>
                  <a:prstClr val="black"/>
                </a:solidFill>
              </a:rPr>
              <a:t> 컴파일과 처리과정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42"/>
          <a:stretch/>
        </p:blipFill>
        <p:spPr bwMode="auto">
          <a:xfrm>
            <a:off x="1475656" y="1475276"/>
            <a:ext cx="5446953" cy="490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814220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9"/>
          <a:stretch/>
        </p:blipFill>
        <p:spPr bwMode="auto">
          <a:xfrm>
            <a:off x="1648247" y="1995882"/>
            <a:ext cx="5851698" cy="449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4F81BD"/>
              </a:buClr>
            </a:pPr>
            <a:r>
              <a:rPr lang="en-US" altLang="ko-KR" dirty="0">
                <a:solidFill>
                  <a:prstClr val="black"/>
                </a:solidFill>
              </a:rPr>
              <a:t>JSP</a:t>
            </a:r>
            <a:r>
              <a:rPr lang="ko-KR" altLang="en-US" dirty="0">
                <a:solidFill>
                  <a:prstClr val="black"/>
                </a:solidFill>
              </a:rPr>
              <a:t>와 </a:t>
            </a:r>
            <a:r>
              <a:rPr lang="ko-KR" altLang="en-US" dirty="0" err="1">
                <a:solidFill>
                  <a:prstClr val="black"/>
                </a:solidFill>
              </a:rPr>
              <a:t>서블릿</a:t>
            </a:r>
            <a:r>
              <a:rPr lang="ko-KR" altLang="en-US" dirty="0">
                <a:solidFill>
                  <a:prstClr val="black"/>
                </a:solidFill>
              </a:rPr>
              <a:t> 상태 변화</a:t>
            </a:r>
            <a:endParaRPr lang="en-US" altLang="ko-KR" dirty="0">
              <a:solidFill>
                <a:prstClr val="black"/>
              </a:solidFill>
            </a:endParaRPr>
          </a:p>
          <a:p>
            <a:pPr lvl="1">
              <a:buClr>
                <a:srgbClr val="4F81BD"/>
              </a:buClr>
            </a:pPr>
            <a:r>
              <a:rPr lang="en-US" altLang="ko-KR" dirty="0"/>
              <a:t>JSP(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텍스트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+HTML+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특수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Tag+Java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서블릿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클래스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컴파일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클래스 파일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6733925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4F81BD"/>
              </a:buClr>
            </a:pPr>
            <a:r>
              <a:rPr lang="en-US" altLang="ko-KR" dirty="0">
                <a:solidFill>
                  <a:prstClr val="black"/>
                </a:solidFill>
              </a:rPr>
              <a:t>JSP </a:t>
            </a:r>
            <a:r>
              <a:rPr lang="ko-KR" altLang="en-US" dirty="0">
                <a:solidFill>
                  <a:prstClr val="black"/>
                </a:solidFill>
              </a:rPr>
              <a:t>관련 필수 기억 사항</a:t>
            </a:r>
            <a:endParaRPr lang="en-US" altLang="ko-KR" dirty="0">
              <a:solidFill>
                <a:prstClr val="black"/>
              </a:solidFill>
            </a:endParaRPr>
          </a:p>
          <a:p>
            <a:pPr lvl="1">
              <a:buClr>
                <a:srgbClr val="4F81BD"/>
              </a:buClr>
            </a:pPr>
            <a:r>
              <a:rPr lang="en-US" altLang="ko-KR" dirty="0"/>
              <a:t>JSP</a:t>
            </a:r>
            <a:r>
              <a:rPr lang="ko-KR" altLang="en-US" dirty="0"/>
              <a:t>는 일반 텍스트 파일</a:t>
            </a:r>
            <a:endParaRPr lang="en-US" altLang="ko-KR" dirty="0"/>
          </a:p>
          <a:p>
            <a:pPr lvl="2">
              <a:buClr>
                <a:srgbClr val="4F81BD"/>
              </a:buClr>
            </a:pPr>
            <a:r>
              <a:rPr lang="ko-KR" altLang="en-US" dirty="0"/>
              <a:t>실행 가능한 프로그램이 아님</a:t>
            </a:r>
            <a:endParaRPr lang="en-US" altLang="ko-KR" dirty="0"/>
          </a:p>
          <a:p>
            <a:pPr lvl="2">
              <a:buClr>
                <a:srgbClr val="4F81BD"/>
              </a:buClr>
            </a:pPr>
            <a:r>
              <a:rPr lang="en-US" altLang="ko-KR" dirty="0"/>
              <a:t>HTML </a:t>
            </a:r>
            <a:r>
              <a:rPr lang="ko-KR" altLang="en-US" dirty="0"/>
              <a:t>코드와 몇몇 특수한 태그</a:t>
            </a:r>
            <a:r>
              <a:rPr lang="en-US" altLang="ko-KR" dirty="0"/>
              <a:t>, </a:t>
            </a:r>
            <a:r>
              <a:rPr lang="ko-KR" altLang="en-US" dirty="0"/>
              <a:t>그리고 자바 코드가 섞여 있음</a:t>
            </a:r>
            <a:endParaRPr lang="en-US" altLang="ko-KR" dirty="0"/>
          </a:p>
          <a:p>
            <a:pPr lvl="2">
              <a:buClr>
                <a:srgbClr val="4F81BD"/>
              </a:buClr>
            </a:pPr>
            <a:endParaRPr lang="en-US" altLang="ko-KR" dirty="0"/>
          </a:p>
          <a:p>
            <a:pPr lvl="1">
              <a:buClr>
                <a:srgbClr val="4F81BD"/>
              </a:buClr>
            </a:pPr>
            <a:r>
              <a:rPr lang="ko-KR" altLang="en-US" dirty="0"/>
              <a:t>처리과정</a:t>
            </a:r>
            <a:endParaRPr lang="en-US" altLang="ko-KR" dirty="0"/>
          </a:p>
          <a:p>
            <a:pPr lvl="2">
              <a:buClr>
                <a:srgbClr val="4F81BD"/>
              </a:buClr>
            </a:pPr>
            <a:r>
              <a:rPr lang="ko-KR" altLang="en-US" dirty="0"/>
              <a:t>사용자가 요청할 경우 </a:t>
            </a:r>
            <a:r>
              <a:rPr lang="en-US" altLang="ko-KR" dirty="0"/>
              <a:t>JSP</a:t>
            </a:r>
            <a:r>
              <a:rPr lang="ko-KR" altLang="en-US" dirty="0"/>
              <a:t>는 컨테이너</a:t>
            </a:r>
            <a:r>
              <a:rPr lang="en-US" altLang="ko-KR" dirty="0"/>
              <a:t>(</a:t>
            </a:r>
            <a:r>
              <a:rPr lang="ko-KR" altLang="en-US" dirty="0" err="1"/>
              <a:t>톰캣</a:t>
            </a:r>
            <a:r>
              <a:rPr lang="en-US" altLang="ko-KR" dirty="0"/>
              <a:t>)</a:t>
            </a:r>
            <a:r>
              <a:rPr lang="ko-KR" altLang="en-US" dirty="0"/>
              <a:t>에 의해 </a:t>
            </a:r>
            <a:r>
              <a:rPr lang="ko-KR" altLang="en-US" dirty="0" err="1"/>
              <a:t>서블릿</a:t>
            </a:r>
            <a:r>
              <a:rPr lang="ko-KR" altLang="en-US" dirty="0"/>
              <a:t> 형태의 </a:t>
            </a:r>
            <a:r>
              <a:rPr lang="en-US" altLang="ko-KR" dirty="0"/>
              <a:t>.java </a:t>
            </a:r>
            <a:r>
              <a:rPr lang="ko-KR" altLang="en-US" dirty="0"/>
              <a:t>소스로 변환되고 컴파일을 실행</a:t>
            </a:r>
            <a:endParaRPr lang="en-US" altLang="ko-KR" dirty="0"/>
          </a:p>
          <a:p>
            <a:pPr lvl="2">
              <a:buClr>
                <a:srgbClr val="4F81BD"/>
              </a:buClr>
            </a:pPr>
            <a:r>
              <a:rPr lang="ko-KR" altLang="en-US" dirty="0" err="1"/>
              <a:t>컴파일된</a:t>
            </a:r>
            <a:r>
              <a:rPr lang="ko-KR" altLang="en-US" dirty="0"/>
              <a:t> </a:t>
            </a:r>
            <a:r>
              <a:rPr lang="en-US" altLang="ko-KR" dirty="0"/>
              <a:t>.class</a:t>
            </a:r>
            <a:r>
              <a:rPr lang="ko-KR" altLang="en-US" dirty="0"/>
              <a:t>는 컴퓨터에서 실행할 수 있는 형태로 특정한 기능을 수행</a:t>
            </a:r>
            <a:endParaRPr lang="en-US" altLang="ko-KR" dirty="0"/>
          </a:p>
          <a:p>
            <a:pPr lvl="2">
              <a:buClr>
                <a:srgbClr val="4F81BD"/>
              </a:buClr>
            </a:pPr>
            <a:r>
              <a:rPr lang="ko-KR" altLang="en-US" dirty="0"/>
              <a:t>소스가 변경되지 않으면 해당 파일은 메모리에 상주하면서 다시 컴파일 되지 않고 서비스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8235451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처리과정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4F81BD"/>
              </a:buClr>
            </a:pPr>
            <a:r>
              <a:rPr lang="en-US" altLang="ko-KR" dirty="0" err="1">
                <a:solidFill>
                  <a:prstClr val="black"/>
                </a:solidFill>
              </a:rPr>
              <a:t>HelloWorldJsp</a:t>
            </a:r>
            <a:r>
              <a:rPr lang="ko-KR" altLang="en-US" dirty="0">
                <a:solidFill>
                  <a:prstClr val="black"/>
                </a:solidFill>
              </a:rPr>
              <a:t>예제에서 생성된 </a:t>
            </a:r>
            <a:r>
              <a:rPr lang="en-US" altLang="ko-KR" dirty="0">
                <a:solidFill>
                  <a:prstClr val="black"/>
                </a:solidFill>
              </a:rPr>
              <a:t>.java </a:t>
            </a:r>
            <a:r>
              <a:rPr lang="ko-KR" altLang="en-US" dirty="0">
                <a:solidFill>
                  <a:prstClr val="black"/>
                </a:solidFill>
              </a:rPr>
              <a:t>및 </a:t>
            </a:r>
            <a:r>
              <a:rPr lang="en-US" altLang="ko-KR" dirty="0">
                <a:solidFill>
                  <a:prstClr val="black"/>
                </a:solidFill>
              </a:rPr>
              <a:t>.class</a:t>
            </a:r>
          </a:p>
          <a:p>
            <a:pPr lvl="1">
              <a:buClr>
                <a:srgbClr val="4F81BD"/>
              </a:buClr>
            </a:pPr>
            <a:r>
              <a:rPr lang="en-US" altLang="ko-KR" dirty="0"/>
              <a:t>D:\Programming\jsp2024\.metadata\.plugins\org.eclipse.wst.server.core\tmp0\work\Catalina\localhost\jspproject\org\apache\jsp\ch02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852936"/>
            <a:ext cx="5028192" cy="3489986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718" y="2838764"/>
            <a:ext cx="3665082" cy="35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943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웹 프로그래밍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좋은 프로그램</a:t>
            </a:r>
            <a:endParaRPr lang="en-US" altLang="ko-KR" dirty="0"/>
          </a:p>
          <a:p>
            <a:pPr lvl="1"/>
            <a:r>
              <a:rPr lang="ko-KR" altLang="en-US" dirty="0"/>
              <a:t>사용자 입장 </a:t>
            </a:r>
            <a:r>
              <a:rPr lang="en-US" altLang="ko-KR" dirty="0"/>
              <a:t>: </a:t>
            </a:r>
            <a:r>
              <a:rPr lang="ko-KR" altLang="en-US" dirty="0"/>
              <a:t>편리하고 기능이 많아야 함</a:t>
            </a:r>
            <a:endParaRPr lang="en-US" altLang="ko-KR" dirty="0"/>
          </a:p>
          <a:p>
            <a:pPr lvl="1"/>
            <a:r>
              <a:rPr lang="ko-KR" altLang="en-US" dirty="0"/>
              <a:t>개발자 입장 </a:t>
            </a:r>
            <a:r>
              <a:rPr lang="en-US" altLang="ko-KR" dirty="0"/>
              <a:t>: </a:t>
            </a:r>
            <a:r>
              <a:rPr lang="ko-KR" altLang="en-US" dirty="0"/>
              <a:t>생산성</a:t>
            </a:r>
            <a:r>
              <a:rPr lang="en-US" altLang="ko-KR" dirty="0"/>
              <a:t>, </a:t>
            </a:r>
            <a:r>
              <a:rPr lang="ko-KR" altLang="en-US" dirty="0"/>
              <a:t>확장성</a:t>
            </a:r>
            <a:r>
              <a:rPr lang="en-US" altLang="ko-KR" dirty="0"/>
              <a:t>, </a:t>
            </a:r>
            <a:r>
              <a:rPr lang="ko-KR" altLang="en-US" dirty="0"/>
              <a:t>유지보수 편리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MVC </a:t>
            </a:r>
            <a:r>
              <a:rPr lang="ko-KR" altLang="en-US" dirty="0"/>
              <a:t>패턴</a:t>
            </a:r>
            <a:r>
              <a:rPr lang="en-US" altLang="ko-KR" dirty="0"/>
              <a:t>(JSP </a:t>
            </a:r>
            <a:r>
              <a:rPr lang="ko-KR" altLang="en-US" dirty="0"/>
              <a:t>모델</a:t>
            </a:r>
            <a:r>
              <a:rPr lang="en-US" altLang="ko-KR" dirty="0"/>
              <a:t>-2)</a:t>
            </a:r>
            <a:r>
              <a:rPr lang="ko-KR" altLang="en-US" dirty="0"/>
              <a:t>을 널리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5721F-3E4B-43BB-B6A6-F0C3203F0697}"/>
              </a:ext>
            </a:extLst>
          </p:cNvPr>
          <p:cNvSpPr txBox="1"/>
          <p:nvPr/>
        </p:nvSpPr>
        <p:spPr>
          <a:xfrm>
            <a:off x="2271092" y="6209896"/>
            <a:ext cx="460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https://cloudstudying.kr/lectures/235&gt;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43F483-6EE3-1F23-EAEF-481ADEC526FA}"/>
              </a:ext>
            </a:extLst>
          </p:cNvPr>
          <p:cNvGrpSpPr/>
          <p:nvPr/>
        </p:nvGrpSpPr>
        <p:grpSpPr>
          <a:xfrm>
            <a:off x="1259631" y="3351772"/>
            <a:ext cx="6624737" cy="2770454"/>
            <a:chOff x="1979711" y="3459832"/>
            <a:chExt cx="6624737" cy="277045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E223C9B-63DB-4060-9AD0-91F0E01E2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1" y="3459832"/>
              <a:ext cx="5184578" cy="2770454"/>
            </a:xfrm>
            <a:prstGeom prst="rect">
              <a:avLst/>
            </a:prstGeom>
          </p:spPr>
        </p:pic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6B809B3-4EA0-7FFE-3A9F-569BE0BE96B0}"/>
                </a:ext>
              </a:extLst>
            </p:cNvPr>
            <p:cNvGrpSpPr/>
            <p:nvPr/>
          </p:nvGrpSpPr>
          <p:grpSpPr>
            <a:xfrm>
              <a:off x="4211960" y="3459832"/>
              <a:ext cx="4392488" cy="2201416"/>
              <a:chOff x="4211960" y="3459832"/>
              <a:chExt cx="4392488" cy="2201416"/>
            </a:xfrm>
          </p:grpSpPr>
          <p:sp>
            <p:nvSpPr>
              <p:cNvPr id="8" name="원통형 7">
                <a:extLst>
                  <a:ext uri="{FF2B5EF4-FFF2-40B4-BE49-F238E27FC236}">
                    <a16:creationId xmlns:a16="http://schemas.microsoft.com/office/drawing/2014/main" id="{1012BA6B-7749-4659-B1B2-AD7582CA746E}"/>
                  </a:ext>
                </a:extLst>
              </p:cNvPr>
              <p:cNvSpPr/>
              <p:nvPr/>
            </p:nvSpPr>
            <p:spPr>
              <a:xfrm>
                <a:off x="7884368" y="3621233"/>
                <a:ext cx="720080" cy="360040"/>
              </a:xfrm>
              <a:prstGeom prst="can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DB</a:t>
                </a:r>
                <a:endPara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88DB6A2D-09CA-4B8C-9D94-1924B032B60D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7092280" y="3801253"/>
                <a:ext cx="792088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96D91283-553D-4D37-8BCB-0B377401A9AC}"/>
                  </a:ext>
                </a:extLst>
              </p:cNvPr>
              <p:cNvSpPr/>
              <p:nvPr/>
            </p:nvSpPr>
            <p:spPr>
              <a:xfrm>
                <a:off x="4211960" y="3459832"/>
                <a:ext cx="3096344" cy="2201416"/>
              </a:xfrm>
              <a:prstGeom prst="roundRect">
                <a:avLst/>
              </a:prstGeom>
              <a:noFill/>
              <a:ln w="3175">
                <a:solidFill>
                  <a:srgbClr val="0070C0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252710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835696" y="846197"/>
            <a:ext cx="5544616" cy="601180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프로그램 기술 변천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990" y="846197"/>
            <a:ext cx="4963956" cy="2563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022" y="3396638"/>
            <a:ext cx="4963956" cy="3382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9539922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서블릿의</a:t>
            </a:r>
            <a:r>
              <a:rPr lang="ko-KR" altLang="en-US" dirty="0"/>
              <a:t> 장점</a:t>
            </a:r>
            <a:endParaRPr lang="en-US" altLang="ko-KR" dirty="0"/>
          </a:p>
          <a:p>
            <a:pPr lvl="1"/>
            <a:r>
              <a:rPr lang="ko-KR" altLang="en-US" dirty="0"/>
              <a:t>자바 기반이라 자바 </a:t>
            </a:r>
            <a:r>
              <a:rPr lang="en-US" altLang="ko-KR" dirty="0"/>
              <a:t>API</a:t>
            </a:r>
            <a:r>
              <a:rPr lang="ko-KR" altLang="en-US" dirty="0"/>
              <a:t> 모두 사용 가능</a:t>
            </a:r>
            <a:endParaRPr lang="en-US" altLang="ko-KR" dirty="0"/>
          </a:p>
          <a:p>
            <a:pPr lvl="1"/>
            <a:r>
              <a:rPr lang="ko-KR" altLang="en-US" dirty="0"/>
              <a:t>운영체제나 하드웨어에 영향을 받지 않아</a:t>
            </a:r>
            <a:r>
              <a:rPr lang="en-US" altLang="ko-KR" dirty="0"/>
              <a:t>, </a:t>
            </a:r>
            <a:r>
              <a:rPr lang="ko-KR" altLang="en-US" dirty="0"/>
              <a:t>한 번 개발된 애플리케이션은 다양한 서버 환경에서 실행 가능</a:t>
            </a:r>
            <a:endParaRPr lang="en-US" altLang="ko-KR" dirty="0"/>
          </a:p>
          <a:p>
            <a:pPr lvl="1"/>
            <a:r>
              <a:rPr lang="ko-KR" altLang="en-US" dirty="0"/>
              <a:t>웹 애플리케이션에서 효율적인 자료 공유 방법을 제공</a:t>
            </a:r>
            <a:endParaRPr lang="en-US" altLang="ko-KR" dirty="0"/>
          </a:p>
          <a:p>
            <a:pPr lvl="1"/>
            <a:r>
              <a:rPr lang="ko-KR" altLang="en-US" dirty="0"/>
              <a:t>다양한 오픈소스 라이브러리와 개발도구 활용 가능</a:t>
            </a:r>
            <a:endParaRPr lang="en-US" altLang="ko-KR" dirty="0"/>
          </a:p>
          <a:p>
            <a:r>
              <a:rPr lang="ko-KR" altLang="en-US" dirty="0" err="1"/>
              <a:t>서블릿의</a:t>
            </a:r>
            <a:r>
              <a:rPr lang="ko-KR" altLang="en-US" dirty="0"/>
              <a:t> 단점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HTML </a:t>
            </a:r>
            <a:r>
              <a:rPr lang="ko-KR" altLang="en-US" dirty="0">
                <a:sym typeface="Wingdings" panose="05000000000000000000" pitchFamily="2" charset="2"/>
              </a:rPr>
              <a:t>표현 상의 문제점 발생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간단한 태그의 변화에도 다시 컴파일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HTML </a:t>
            </a:r>
            <a:r>
              <a:rPr lang="ko-KR" altLang="en-US" dirty="0">
                <a:sym typeface="Wingdings" panose="05000000000000000000" pitchFamily="2" charset="2"/>
              </a:rPr>
              <a:t>소스도 프로그래머가 </a:t>
            </a:r>
            <a:r>
              <a:rPr lang="ko-KR" altLang="en-US" dirty="0" err="1">
                <a:sym typeface="Wingdings" panose="05000000000000000000" pitchFamily="2" charset="2"/>
              </a:rPr>
              <a:t>서블릿</a:t>
            </a:r>
            <a:r>
              <a:rPr lang="ko-KR" altLang="en-US" dirty="0">
                <a:sym typeface="Wingdings" panose="05000000000000000000" pitchFamily="2" charset="2"/>
              </a:rPr>
              <a:t> 클래스에서 관리해야 함</a:t>
            </a:r>
            <a:endParaRPr lang="en-US" altLang="ko-KR" dirty="0"/>
          </a:p>
          <a:p>
            <a:pPr marL="0" indent="0">
              <a:buClr>
                <a:srgbClr val="4F81BD"/>
              </a:buClr>
              <a:buNone/>
            </a:pPr>
            <a:r>
              <a:rPr lang="en-US" altLang="ko-KR" dirty="0">
                <a:sym typeface="Wingdings" panose="05000000000000000000" pitchFamily="2" charset="2"/>
              </a:rPr>
              <a:t>     JSP </a:t>
            </a:r>
            <a:r>
              <a:rPr lang="ko-KR" altLang="en-US" dirty="0">
                <a:sym typeface="Wingdings" panose="05000000000000000000" pitchFamily="2" charset="2"/>
              </a:rPr>
              <a:t>등장 </a:t>
            </a:r>
            <a:r>
              <a:rPr lang="en-US" altLang="ko-KR" dirty="0">
                <a:sym typeface="Wingdings" panose="05000000000000000000" pitchFamily="2" charset="2"/>
              </a:rPr>
              <a:t>(JSP </a:t>
            </a:r>
            <a:r>
              <a:rPr lang="ko-KR" altLang="en-US" dirty="0">
                <a:sym typeface="Wingdings" panose="05000000000000000000" pitchFamily="2" charset="2"/>
              </a:rPr>
              <a:t>모델 </a:t>
            </a:r>
            <a:r>
              <a:rPr lang="en-US" altLang="ko-KR" dirty="0">
                <a:sym typeface="Wingdings" panose="05000000000000000000" pitchFamily="2" charset="2"/>
              </a:rPr>
              <a:t>1  JSP </a:t>
            </a:r>
            <a:r>
              <a:rPr lang="ko-KR" altLang="en-US" dirty="0">
                <a:sym typeface="Wingdings" panose="05000000000000000000" pitchFamily="2" charset="2"/>
              </a:rPr>
              <a:t>모델 </a:t>
            </a:r>
            <a:r>
              <a:rPr lang="en-US" altLang="ko-KR" dirty="0">
                <a:sym typeface="Wingdings" panose="05000000000000000000" pitchFamily="2" charset="2"/>
              </a:rPr>
              <a:t>2(MVC))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3308209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프로그래밍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r>
              <a:rPr lang="ko-KR" altLang="en-US" dirty="0"/>
              <a:t>와 </a:t>
            </a:r>
            <a:r>
              <a:rPr lang="ko-KR" altLang="en-US" dirty="0" err="1"/>
              <a:t>서블릿</a:t>
            </a:r>
            <a:r>
              <a:rPr lang="en-US" altLang="ko-KR" dirty="0"/>
              <a:t>(Servlet)</a:t>
            </a:r>
          </a:p>
          <a:p>
            <a:pPr lvl="1"/>
            <a:r>
              <a:rPr lang="ko-KR" altLang="en-US" dirty="0" err="1"/>
              <a:t>서블릿은</a:t>
            </a:r>
            <a:r>
              <a:rPr lang="ko-KR" altLang="en-US" dirty="0"/>
              <a:t> 자바 플랫폼에서 컴포넌트를 기반으로 하는 웹 애플리케이션 개발의 핵심 기술</a:t>
            </a:r>
            <a:endParaRPr lang="en-US" altLang="ko-KR" dirty="0"/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ko-KR" altLang="en-US" dirty="0" err="1"/>
              <a:t>서블릿</a:t>
            </a:r>
            <a:r>
              <a:rPr lang="ko-KR" altLang="en-US" dirty="0"/>
              <a:t> 기반의 웹 프로그래밍 기술로 내부적으로 </a:t>
            </a:r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ko-KR" altLang="en-US" dirty="0" err="1"/>
              <a:t>서블릿으로</a:t>
            </a:r>
            <a:r>
              <a:rPr lang="ko-KR" altLang="en-US" dirty="0"/>
              <a:t> 변환 되어 실행</a:t>
            </a:r>
            <a:endParaRPr lang="en-US" altLang="ko-KR" dirty="0"/>
          </a:p>
          <a:p>
            <a:pPr lvl="1"/>
            <a:r>
              <a:rPr lang="ko-KR" altLang="en-US" dirty="0"/>
              <a:t>고급 웹 프로그래밍 개발을 위해 </a:t>
            </a:r>
            <a:r>
              <a:rPr lang="ko-KR" altLang="en-US" dirty="0" err="1"/>
              <a:t>서블릿에</a:t>
            </a:r>
            <a:r>
              <a:rPr lang="ko-KR" altLang="en-US" dirty="0"/>
              <a:t> 대한 이해가 필요</a:t>
            </a:r>
            <a:endParaRPr lang="en-US" altLang="ko-KR" dirty="0"/>
          </a:p>
          <a:p>
            <a:pPr>
              <a:buClr>
                <a:srgbClr val="4F81BD"/>
              </a:buClr>
            </a:pPr>
            <a:r>
              <a:rPr lang="en-US" altLang="ko-KR" dirty="0">
                <a:solidFill>
                  <a:prstClr val="black"/>
                </a:solidFill>
              </a:rPr>
              <a:t>JSP </a:t>
            </a:r>
            <a:r>
              <a:rPr lang="ko-KR" altLang="en-US" dirty="0">
                <a:solidFill>
                  <a:prstClr val="black"/>
                </a:solidFill>
              </a:rPr>
              <a:t>프로그램 모델 유형 비교 </a:t>
            </a:r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 JSP-1</a:t>
            </a:r>
            <a:r>
              <a:rPr lang="ko-KR" altLang="en-US" dirty="0">
                <a:solidFill>
                  <a:prstClr val="black"/>
                </a:solidFill>
                <a:sym typeface="Wingdings" panose="05000000000000000000" pitchFamily="2" charset="2"/>
              </a:rPr>
              <a:t>과 </a:t>
            </a:r>
            <a:r>
              <a:rPr lang="en-US" altLang="ko-KR" dirty="0">
                <a:solidFill>
                  <a:prstClr val="black"/>
                </a:solidFill>
                <a:sym typeface="Wingdings" panose="05000000000000000000" pitchFamily="2" charset="2"/>
              </a:rPr>
              <a:t>JSP-2</a:t>
            </a:r>
            <a:r>
              <a:rPr lang="ko-KR" altLang="en-US" dirty="0">
                <a:solidFill>
                  <a:prstClr val="black"/>
                </a:solidFill>
                <a:sym typeface="Wingdings" panose="05000000000000000000" pitchFamily="2" charset="2"/>
              </a:rPr>
              <a:t>의 차이</a:t>
            </a:r>
            <a:endParaRPr lang="en-US" altLang="ko-KR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JSP-1 </a:t>
            </a:r>
            <a:r>
              <a:rPr lang="ko-KR" altLang="en-US" dirty="0"/>
              <a:t>활용</a:t>
            </a:r>
            <a:r>
              <a:rPr lang="en-US" altLang="ko-KR" dirty="0"/>
              <a:t> </a:t>
            </a:r>
            <a:r>
              <a:rPr lang="ko-KR" altLang="en-US" dirty="0"/>
              <a:t>계산기</a:t>
            </a:r>
            <a:r>
              <a:rPr lang="en-US" altLang="ko-KR" dirty="0"/>
              <a:t>(calc1.jsp)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ko-KR" altLang="en-US" dirty="0" err="1"/>
              <a:t>빈즈</a:t>
            </a:r>
            <a:r>
              <a:rPr lang="ko-KR" altLang="en-US" dirty="0"/>
              <a:t> 클래스를 사용하지 않고 </a:t>
            </a:r>
            <a:r>
              <a:rPr lang="ko-KR" altLang="en-US" dirty="0" err="1"/>
              <a:t>스크립트릿</a:t>
            </a:r>
            <a:r>
              <a:rPr lang="ko-KR" altLang="en-US" dirty="0"/>
              <a:t> 만을 사용하는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JSP-2 </a:t>
            </a:r>
            <a:r>
              <a:rPr lang="ko-KR" altLang="en-US" dirty="0"/>
              <a:t>활용</a:t>
            </a:r>
            <a:r>
              <a:rPr lang="en-US" altLang="ko-KR" dirty="0"/>
              <a:t> </a:t>
            </a:r>
            <a:r>
              <a:rPr lang="ko-KR" altLang="en-US" dirty="0"/>
              <a:t>계산기</a:t>
            </a:r>
            <a:r>
              <a:rPr lang="en-US" altLang="ko-KR" dirty="0"/>
              <a:t>(calc2.jsp)</a:t>
            </a:r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ko-KR" altLang="en-US" dirty="0" err="1"/>
              <a:t>빈즈</a:t>
            </a:r>
            <a:r>
              <a:rPr lang="ko-KR" altLang="en-US" dirty="0"/>
              <a:t> 클래스와  </a:t>
            </a:r>
            <a:r>
              <a:rPr lang="en-US" altLang="ko-KR" dirty="0"/>
              <a:t>&lt;</a:t>
            </a:r>
            <a:r>
              <a:rPr lang="en-US" altLang="ko-KR" dirty="0" err="1"/>
              <a:t>jsp:useBean</a:t>
            </a:r>
            <a:r>
              <a:rPr lang="en-US" altLang="ko-KR" dirty="0"/>
              <a:t>&gt; </a:t>
            </a:r>
            <a:r>
              <a:rPr lang="ko-KR" altLang="en-US" dirty="0"/>
              <a:t>액션을 적극적으로 사용하는 방법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5493881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Project Explorer</a:t>
            </a:r>
            <a:r>
              <a:rPr lang="ko-KR" altLang="en-US" dirty="0"/>
              <a:t>에 새 폴더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D6C86A-E512-DF4F-02A2-E700D4107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57" y="1431507"/>
            <a:ext cx="8208912" cy="52440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7ED31-E859-53DC-0DD6-3ECAF46CC8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780" t="45452"/>
          <a:stretch/>
        </p:blipFill>
        <p:spPr>
          <a:xfrm>
            <a:off x="1259632" y="3356992"/>
            <a:ext cx="3708747" cy="27346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DB09E88-62CF-D9D4-114E-17E0F8F62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136" y="1821739"/>
            <a:ext cx="3897260" cy="45710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230048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C6AE19-7462-F048-9878-12BE09C97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22290"/>
            <a:ext cx="1657143" cy="27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16" y="3467543"/>
            <a:ext cx="4089651" cy="21216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FE1B06-884F-9D34-85EC-BE48FC215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767" y="1761289"/>
            <a:ext cx="4211306" cy="45162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5004047" y="5198288"/>
            <a:ext cx="648073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146278" y="5931350"/>
            <a:ext cx="873994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84535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61" y="1497621"/>
            <a:ext cx="4649877" cy="499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35583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실행할 때의 </a:t>
            </a:r>
            <a:r>
              <a:rPr lang="en-US" altLang="ko-KR" dirty="0"/>
              <a:t>UI </a:t>
            </a:r>
            <a:r>
              <a:rPr lang="ko-KR" altLang="en-US" dirty="0"/>
              <a:t>및 입력 요소의 </a:t>
            </a:r>
            <a:r>
              <a:rPr lang="en-US" altLang="ko-KR" dirty="0"/>
              <a:t>Name </a:t>
            </a:r>
            <a:r>
              <a:rPr lang="ko-KR" altLang="en-US" dirty="0"/>
              <a:t>속성</a:t>
            </a:r>
            <a:r>
              <a:rPr lang="en-US" altLang="ko-KR" dirty="0"/>
              <a:t>(Attribute)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63" y="1556792"/>
            <a:ext cx="5974273" cy="46704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349497" y="4177901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0070C0"/>
                </a:solidFill>
              </a:rPr>
              <a:t>num1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51814" y="4173796"/>
            <a:ext cx="1124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0070C0"/>
                </a:solidFill>
              </a:rPr>
              <a:t>operator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07741" y="4177208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0070C0"/>
                </a:solidFill>
              </a:rPr>
              <a:t>num2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01555" y="4173796"/>
            <a:ext cx="449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0070C0"/>
                </a:solidFill>
              </a:rPr>
              <a:t>b1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0192" y="4173796"/>
            <a:ext cx="449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0070C0"/>
                </a:solidFill>
              </a:rPr>
              <a:t>b2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13" name="직선 화살표 연결선 12"/>
          <p:cNvCxnSpPr>
            <a:endCxn id="7" idx="0"/>
          </p:cNvCxnSpPr>
          <p:nvPr/>
        </p:nvCxnSpPr>
        <p:spPr>
          <a:xfrm flipH="1">
            <a:off x="2740791" y="3068960"/>
            <a:ext cx="679081" cy="1108941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endCxn id="8" idx="0"/>
          </p:cNvCxnSpPr>
          <p:nvPr/>
        </p:nvCxnSpPr>
        <p:spPr>
          <a:xfrm flipH="1">
            <a:off x="3813827" y="3064855"/>
            <a:ext cx="117069" cy="1108941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endCxn id="9" idx="0"/>
          </p:cNvCxnSpPr>
          <p:nvPr/>
        </p:nvCxnSpPr>
        <p:spPr>
          <a:xfrm>
            <a:off x="4492043" y="3064855"/>
            <a:ext cx="306992" cy="111235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endCxn id="10" idx="0"/>
          </p:cNvCxnSpPr>
          <p:nvPr/>
        </p:nvCxnSpPr>
        <p:spPr>
          <a:xfrm>
            <a:off x="5170259" y="3064855"/>
            <a:ext cx="555877" cy="1108941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endCxn id="11" idx="0"/>
          </p:cNvCxnSpPr>
          <p:nvPr/>
        </p:nvCxnSpPr>
        <p:spPr>
          <a:xfrm>
            <a:off x="5848475" y="3064855"/>
            <a:ext cx="676298" cy="1108941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83130" y="5149230"/>
            <a:ext cx="1502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FF0000"/>
                </a:solidFill>
              </a:rPr>
              <a:t>result (</a:t>
            </a:r>
            <a:r>
              <a:rPr lang="ko-KR" altLang="en-US" i="1" dirty="0">
                <a:solidFill>
                  <a:srgbClr val="FF0000"/>
                </a:solidFill>
              </a:rPr>
              <a:t>변수</a:t>
            </a:r>
            <a:r>
              <a:rPr lang="en-US" altLang="ko-KR" i="1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5" name="직선 화살표 연결선 24"/>
          <p:cNvCxnSpPr>
            <a:endCxn id="24" idx="0"/>
          </p:cNvCxnSpPr>
          <p:nvPr/>
        </p:nvCxnSpPr>
        <p:spPr>
          <a:xfrm>
            <a:off x="5035660" y="3586989"/>
            <a:ext cx="698637" cy="1562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3625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소스코드 작성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9" y="1556790"/>
            <a:ext cx="8905482" cy="43204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E92FD7C-6878-4587-A6C4-A19AC216B305}"/>
              </a:ext>
            </a:extLst>
          </p:cNvPr>
          <p:cNvSpPr/>
          <p:nvPr/>
        </p:nvSpPr>
        <p:spPr>
          <a:xfrm>
            <a:off x="539552" y="2420888"/>
            <a:ext cx="8280920" cy="3456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0409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1190382"/>
            <a:ext cx="8784978" cy="51189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A7AEEFE-A3D5-4711-B061-03FC3819A0D8}"/>
              </a:ext>
            </a:extLst>
          </p:cNvPr>
          <p:cNvSpPr/>
          <p:nvPr/>
        </p:nvSpPr>
        <p:spPr>
          <a:xfrm>
            <a:off x="755576" y="1214170"/>
            <a:ext cx="8280920" cy="3799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285276-F183-4493-8EF3-29A3E736EFFA}"/>
              </a:ext>
            </a:extLst>
          </p:cNvPr>
          <p:cNvSpPr/>
          <p:nvPr/>
        </p:nvSpPr>
        <p:spPr>
          <a:xfrm>
            <a:off x="1674262" y="5787846"/>
            <a:ext cx="1080120" cy="2706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81698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269BBF-C669-4DFF-94C4-827B8DA22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1358"/>
            <a:ext cx="7924800" cy="55339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D17A443-09AD-4FED-A9FC-D0457EB30DD3}"/>
              </a:ext>
            </a:extLst>
          </p:cNvPr>
          <p:cNvSpPr/>
          <p:nvPr/>
        </p:nvSpPr>
        <p:spPr>
          <a:xfrm>
            <a:off x="1111696" y="1277468"/>
            <a:ext cx="7422704" cy="4743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99714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1] </a:t>
            </a:r>
            <a:r>
              <a:rPr lang="ko-KR" altLang="en-US" dirty="0" err="1"/>
              <a:t>스크립트릿</a:t>
            </a:r>
            <a:r>
              <a:rPr lang="ko-KR" altLang="en-US" dirty="0"/>
              <a:t> 이용 계산기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코드 화면 </a:t>
            </a:r>
            <a:r>
              <a:rPr lang="en-US" altLang="ko-KR" dirty="0"/>
              <a:t>– </a:t>
            </a:r>
            <a:r>
              <a:rPr lang="ko-KR" altLang="en-US" dirty="0"/>
              <a:t>오른 마우스 </a:t>
            </a:r>
            <a:r>
              <a:rPr lang="en-US" altLang="ko-KR" dirty="0"/>
              <a:t>– Run As – Run on Server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4C7B24-82F5-47D6-B434-AA9216AB3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15" y="1628801"/>
            <a:ext cx="3462303" cy="25922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A5AF75-5B74-476A-A89C-096254552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963" y="2636911"/>
            <a:ext cx="3438750" cy="25922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B82567-4183-48DC-A5BF-F5A3977EC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740944"/>
            <a:ext cx="3456384" cy="25922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323FD33-819F-4D75-82E5-4DE108B95F12}"/>
              </a:ext>
            </a:extLst>
          </p:cNvPr>
          <p:cNvSpPr/>
          <p:nvPr/>
        </p:nvSpPr>
        <p:spPr>
          <a:xfrm>
            <a:off x="3649342" y="3348283"/>
            <a:ext cx="1440160" cy="216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9B3B5D-1EE4-4E15-8FB6-EBF3EFCA9948}"/>
              </a:ext>
            </a:extLst>
          </p:cNvPr>
          <p:cNvSpPr/>
          <p:nvPr/>
        </p:nvSpPr>
        <p:spPr>
          <a:xfrm>
            <a:off x="6304713" y="4689961"/>
            <a:ext cx="809722" cy="216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867ED-0AFE-4652-A600-D5C0A02887A6}"/>
              </a:ext>
            </a:extLst>
          </p:cNvPr>
          <p:cNvSpPr txBox="1"/>
          <p:nvPr/>
        </p:nvSpPr>
        <p:spPr>
          <a:xfrm>
            <a:off x="633715" y="5795903"/>
            <a:ext cx="7888826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학습하기 위해서는 </a:t>
            </a:r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html5, java script, </a:t>
            </a:r>
            <a:r>
              <a:rPr lang="en-US" altLang="ko-KR" sz="18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css</a:t>
            </a:r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등의 사전 학습이 요구됨</a:t>
            </a:r>
          </a:p>
        </p:txBody>
      </p:sp>
    </p:spTree>
    <p:extLst>
      <p:ext uri="{BB962C8B-B14F-4D97-AF65-F5344CB8AC3E}">
        <p14:creationId xmlns:p14="http://schemas.microsoft.com/office/powerpoint/2010/main" val="284756655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클래스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5E2059-6745-B378-D21B-E77B5DFBD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22290"/>
            <a:ext cx="1657143" cy="27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579410"/>
            <a:ext cx="4176464" cy="166584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054" y="1196752"/>
            <a:ext cx="4876190" cy="4714286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4225114" y="2639780"/>
            <a:ext cx="2376264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6091461" y="5480671"/>
            <a:ext cx="1006152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2236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클래스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E677F8-3ACC-9964-957A-4B60719C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20" y="1554495"/>
            <a:ext cx="4098462" cy="48824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1431890" y="2566313"/>
            <a:ext cx="2052229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450940" y="3171700"/>
            <a:ext cx="2052229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450940" y="4705255"/>
            <a:ext cx="2052229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450940" y="5343053"/>
            <a:ext cx="2052229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0ECBDD-8108-4F52-0A22-311974EE5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954" y="1412776"/>
            <a:ext cx="2219048" cy="48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2" name="직사각형 21"/>
          <p:cNvSpPr/>
          <p:nvPr/>
        </p:nvSpPr>
        <p:spPr>
          <a:xfrm>
            <a:off x="5776809" y="2392224"/>
            <a:ext cx="2216193" cy="8831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DA03D3-B17F-8F85-F18C-D2E856161767}"/>
              </a:ext>
            </a:extLst>
          </p:cNvPr>
          <p:cNvSpPr/>
          <p:nvPr/>
        </p:nvSpPr>
        <p:spPr>
          <a:xfrm>
            <a:off x="5773954" y="3740945"/>
            <a:ext cx="2216193" cy="7681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30955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0" grpId="0" animBg="1"/>
      <p:bldP spid="21" grpId="0" animBg="1"/>
      <p:bldP spid="2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</a:t>
            </a:r>
            <a:r>
              <a:rPr lang="en-US" altLang="ko-KR" dirty="0"/>
              <a:t> Java </a:t>
            </a:r>
            <a:r>
              <a:rPr lang="ko-KR" altLang="en-US" dirty="0"/>
              <a:t>클래스</a:t>
            </a:r>
            <a:r>
              <a:rPr lang="en-US" altLang="ko-KR" dirty="0"/>
              <a:t>(CalcBean.java)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03CE55-BDBA-49AF-9613-1E7E0852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06" y="1484784"/>
            <a:ext cx="6653166" cy="49927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/>
          <p:cNvSpPr/>
          <p:nvPr/>
        </p:nvSpPr>
        <p:spPr>
          <a:xfrm>
            <a:off x="1403648" y="1781525"/>
            <a:ext cx="6120680" cy="8640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이클립스 환경설정에서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지정한 </a:t>
            </a:r>
            <a:r>
              <a:rPr lang="en-US" altLang="ko-KR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JavaDoc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</p:spTree>
    <p:extLst>
      <p:ext uri="{BB962C8B-B14F-4D97-AF65-F5344CB8AC3E}">
        <p14:creationId xmlns:p14="http://schemas.microsoft.com/office/powerpoint/2010/main" val="350132305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소스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683147-5E07-41FA-A253-7A19A1FE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7529460" cy="4891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직사각형 17"/>
          <p:cNvSpPr/>
          <p:nvPr/>
        </p:nvSpPr>
        <p:spPr>
          <a:xfrm>
            <a:off x="852477" y="4057318"/>
            <a:ext cx="7969249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초기값이 없으면 오류발생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851222" y="4489366"/>
            <a:ext cx="7969249" cy="18872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getters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setters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설정되어 있어야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/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jsp:setProperty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jsp:getProperty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algn="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가능 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r"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조금 어렵죠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!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추후 자세히 다룸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</a:p>
          <a:p>
            <a:pPr marL="285750" indent="-285750" algn="r">
              <a:buFont typeface="Wingdings" panose="05000000000000000000" pitchFamily="2" charset="2"/>
              <a:buChar char="à"/>
            </a:pP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C#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Property(get/set)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와 유사한 기능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349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소스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7" y="1484784"/>
            <a:ext cx="8850666" cy="44644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34411178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소스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10169"/>
          <a:stretch/>
        </p:blipFill>
        <p:spPr>
          <a:xfrm>
            <a:off x="143049" y="1556791"/>
            <a:ext cx="4385697" cy="37156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84" y="1556792"/>
            <a:ext cx="4378085" cy="39604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856159" y="1753766"/>
            <a:ext cx="3168352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75693" y="1753766"/>
            <a:ext cx="3168352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3953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B062BA-7165-C357-09B8-2B7AC804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50372"/>
            <a:ext cx="1657143" cy="27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447306"/>
            <a:ext cx="5066667" cy="26285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970" y="1346252"/>
            <a:ext cx="4459081" cy="478938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325970" y="5013176"/>
            <a:ext cx="1470167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084168" y="5734481"/>
            <a:ext cx="931127" cy="329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05682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파일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516" y="1515747"/>
            <a:ext cx="4513640" cy="486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58956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소스코드 작성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6" y="1556792"/>
            <a:ext cx="8632848" cy="46085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323528" y="2132856"/>
            <a:ext cx="8568506" cy="14401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425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18" y="980728"/>
            <a:ext cx="8733364" cy="56166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sp>
        <p:nvSpPr>
          <p:cNvPr id="9" name="직사각형 8"/>
          <p:cNvSpPr/>
          <p:nvPr/>
        </p:nvSpPr>
        <p:spPr>
          <a:xfrm>
            <a:off x="1043608" y="4159257"/>
            <a:ext cx="7895074" cy="504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043608" y="4888210"/>
            <a:ext cx="7895074" cy="9803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46152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빈즈</a:t>
            </a:r>
            <a:r>
              <a:rPr lang="ko-KR" altLang="en-US" dirty="0"/>
              <a:t> 클래스 이용 계산기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ko-KR" altLang="en-US" dirty="0">
                <a:sym typeface="Wingdings" panose="05000000000000000000" pitchFamily="2" charset="2"/>
              </a:rPr>
              <a:t>와</a:t>
            </a:r>
            <a:r>
              <a:rPr lang="en-US" altLang="ko-KR" dirty="0">
                <a:sym typeface="Wingdings" panose="05000000000000000000" pitchFamily="2" charset="2"/>
              </a:rPr>
              <a:t> 3</a:t>
            </a:r>
            <a:r>
              <a:rPr lang="ko-KR" altLang="en-US" dirty="0">
                <a:sym typeface="Wingdings" panose="05000000000000000000" pitchFamily="2" charset="2"/>
              </a:rPr>
              <a:t>을 입력 후 계산 버튼 클릭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09" y="1826658"/>
            <a:ext cx="5752381" cy="38285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9462004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프로그램 기술 변천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빈즈</a:t>
            </a:r>
            <a:r>
              <a:rPr lang="ko-KR" altLang="en-US" dirty="0"/>
              <a:t> 클래스를 이용한 </a:t>
            </a:r>
            <a:r>
              <a:rPr lang="en-US" altLang="ko-KR" dirty="0"/>
              <a:t>JSP </a:t>
            </a:r>
            <a:r>
              <a:rPr lang="ko-KR" altLang="en-US" dirty="0"/>
              <a:t>처리과정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java</a:t>
            </a:r>
            <a:r>
              <a:rPr lang="ko-KR" altLang="en-US" dirty="0"/>
              <a:t>로 정의해 둔 클래스의 객체를 생성하고</a:t>
            </a:r>
            <a:r>
              <a:rPr lang="en-US" altLang="ko-KR" dirty="0"/>
              <a:t>, </a:t>
            </a:r>
            <a:r>
              <a:rPr lang="ko-KR" altLang="en-US" dirty="0"/>
              <a:t>이를 활용하는 개념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현재 예제에서는 </a:t>
            </a:r>
            <a:r>
              <a:rPr lang="en-US" altLang="ko-KR" dirty="0" err="1"/>
              <a:t>src</a:t>
            </a:r>
            <a:r>
              <a:rPr lang="en-US" altLang="ko-KR" dirty="0"/>
              <a:t>/main/java/</a:t>
            </a:r>
            <a:r>
              <a:rPr lang="en-US" altLang="ko-KR" dirty="0" err="1"/>
              <a:t>jspproject</a:t>
            </a:r>
            <a:r>
              <a:rPr lang="en-US" altLang="ko-KR" dirty="0"/>
              <a:t>/ch03/CalcBean.java</a:t>
            </a:r>
            <a:r>
              <a:rPr lang="ko-KR" altLang="en-US" dirty="0"/>
              <a:t>를 이용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9"/>
          <a:stretch/>
        </p:blipFill>
        <p:spPr bwMode="auto">
          <a:xfrm>
            <a:off x="605731" y="2852936"/>
            <a:ext cx="7954762" cy="355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496714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와 </a:t>
            </a:r>
            <a:r>
              <a:rPr lang="ko-KR" altLang="en-US" dirty="0" err="1"/>
              <a:t>서블릿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JSP </a:t>
            </a:r>
            <a:r>
              <a:rPr lang="ko-KR" altLang="en-US" dirty="0"/>
              <a:t>기술 변천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의 처리과정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JSP </a:t>
            </a:r>
            <a:r>
              <a:rPr lang="ko-KR" altLang="en-US" dirty="0"/>
              <a:t>프로그래밍 예제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945914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0A4C2-CDB1-BD9D-5C17-796A11F2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A955FF-D1A6-C3F1-AF39-6BABFAAC57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B52C9C1-8E37-99B8-725E-1D65A6459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841437"/>
              </p:ext>
            </p:extLst>
          </p:nvPr>
        </p:nvGraphicFramePr>
        <p:xfrm>
          <a:off x="376164" y="1006985"/>
          <a:ext cx="8424936" cy="55183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492">
                  <a:extLst>
                    <a:ext uri="{9D8B030D-6E8A-4147-A177-3AD203B41FA5}">
                      <a16:colId xmlns:a16="http://schemas.microsoft.com/office/drawing/2014/main" val="94459632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73347212"/>
                    </a:ext>
                  </a:extLst>
                </a:gridCol>
                <a:gridCol w="1896166">
                  <a:extLst>
                    <a:ext uri="{9D8B030D-6E8A-4147-A177-3AD203B41FA5}">
                      <a16:colId xmlns:a16="http://schemas.microsoft.com/office/drawing/2014/main" val="2416978286"/>
                    </a:ext>
                  </a:extLst>
                </a:gridCol>
                <a:gridCol w="1344194">
                  <a:extLst>
                    <a:ext uri="{9D8B030D-6E8A-4147-A177-3AD203B41FA5}">
                      <a16:colId xmlns:a16="http://schemas.microsoft.com/office/drawing/2014/main" val="158845934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030901323"/>
                    </a:ext>
                  </a:extLst>
                </a:gridCol>
                <a:gridCol w="1708820">
                  <a:extLst>
                    <a:ext uri="{9D8B030D-6E8A-4147-A177-3AD203B41FA5}">
                      <a16:colId xmlns:a16="http://schemas.microsoft.com/office/drawing/2014/main" val="1554056421"/>
                    </a:ext>
                  </a:extLst>
                </a:gridCol>
              </a:tblGrid>
              <a:tr h="16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217567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align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622335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attribute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operator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851525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calculate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297107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calculator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855048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892226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298514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parse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58534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65021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prepare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76705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compile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615785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connectivity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property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891244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569998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755766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32678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demand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014774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destroy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738063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division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9030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758414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516173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exception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service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15141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execute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080517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size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04539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source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03362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framework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standard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529324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759153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617092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throw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45668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20615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903326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language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706481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library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097942"/>
                  </a:ext>
                </a:extLst>
              </a:tr>
              <a:tr h="167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6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4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867380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16C14-8FFE-083F-F288-194FB9F9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A508D-0792-55C7-B08B-90E7E6B21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92F05B-6698-EDF4-1E0B-DCC4B7F85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FB38804-34BE-870A-9B83-354EB031A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008995"/>
              </p:ext>
            </p:extLst>
          </p:nvPr>
        </p:nvGraphicFramePr>
        <p:xfrm>
          <a:off x="395536" y="1412776"/>
          <a:ext cx="8138864" cy="4320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546860243"/>
                    </a:ext>
                  </a:extLst>
                </a:gridCol>
                <a:gridCol w="5258544">
                  <a:extLst>
                    <a:ext uri="{9D8B030D-6E8A-4147-A177-3AD203B41FA5}">
                      <a16:colId xmlns:a16="http://schemas.microsoft.com/office/drawing/2014/main" val="2896542180"/>
                    </a:ext>
                  </a:extLst>
                </a:gridCol>
              </a:tblGrid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702019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Beans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842191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15257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124258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GET/POST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754281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22429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Javascript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429873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19238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JVM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6902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212216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public static void main(String[ ] args) { }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68843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servlet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860477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Servlet Container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754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822940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실습과제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스크립트릿</a:t>
            </a:r>
            <a:r>
              <a:rPr lang="ko-KR" altLang="en-US" dirty="0"/>
              <a:t> 이용 계산기 </a:t>
            </a:r>
            <a:r>
              <a:rPr lang="en-US" altLang="ko-KR" dirty="0"/>
              <a:t>: </a:t>
            </a:r>
            <a:r>
              <a:rPr lang="ko-KR" altLang="en-US" dirty="0"/>
              <a:t>강의록 </a:t>
            </a:r>
            <a:r>
              <a:rPr lang="en-US" altLang="ko-KR" dirty="0"/>
              <a:t>29</a:t>
            </a:r>
            <a:r>
              <a:rPr lang="ko-KR" altLang="en-US" dirty="0"/>
              <a:t>페이지 참고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빈즈</a:t>
            </a:r>
            <a:r>
              <a:rPr lang="ko-KR" altLang="en-US" dirty="0"/>
              <a:t> 클래스 이용 계산기 </a:t>
            </a:r>
            <a:r>
              <a:rPr lang="en-US" altLang="ko-KR" dirty="0"/>
              <a:t>: </a:t>
            </a:r>
            <a:r>
              <a:rPr lang="ko-KR" altLang="en-US" dirty="0"/>
              <a:t>강의록 </a:t>
            </a:r>
            <a:r>
              <a:rPr lang="en-US" altLang="ko-KR" dirty="0"/>
              <a:t>40</a:t>
            </a:r>
            <a:r>
              <a:rPr lang="ko-KR" altLang="en-US" dirty="0"/>
              <a:t>페이지 참고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4275588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30354</TotalTime>
  <Words>1604</Words>
  <Application>Microsoft Office PowerPoint</Application>
  <PresentationFormat>화면 슬라이드 쇼(4:3)</PresentationFormat>
  <Paragraphs>337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HY견고딕</vt:lpstr>
      <vt:lpstr>굴림</vt:lpstr>
      <vt:lpstr>맑은 고딕</vt:lpstr>
      <vt:lpstr>휴먼엑스포</vt:lpstr>
      <vt:lpstr>Times New Roman</vt:lpstr>
      <vt:lpstr>Wingdings</vt:lpstr>
      <vt:lpstr>기본 디자인</vt:lpstr>
      <vt:lpstr>JSP 동작 프로세스</vt:lpstr>
      <vt:lpstr>PowerPoint 프레젠테이션</vt:lpstr>
      <vt:lpstr>행복한 경영 이야기(www.happyceo.or.kr)</vt:lpstr>
      <vt:lpstr>학습목표</vt:lpstr>
      <vt:lpstr>JSP 개요</vt:lpstr>
      <vt:lpstr>JSP 개요</vt:lpstr>
      <vt:lpstr>JSP 개요</vt:lpstr>
      <vt:lpstr>JSP 개요</vt:lpstr>
      <vt:lpstr>JSP 개요</vt:lpstr>
      <vt:lpstr>JSP 개요</vt:lpstr>
      <vt:lpstr>JSP 처리과정</vt:lpstr>
      <vt:lpstr>JSP 처리과정</vt:lpstr>
      <vt:lpstr>JSP 처리과정</vt:lpstr>
      <vt:lpstr>JSP 처리과정</vt:lpstr>
      <vt:lpstr>JSP 처리과정</vt:lpstr>
      <vt:lpstr>JSP 처리과정</vt:lpstr>
      <vt:lpstr>JSP 처리과정</vt:lpstr>
      <vt:lpstr>JSP 웹 프로그래밍 모델</vt:lpstr>
      <vt:lpstr>JSP 프로그램 기술 변천</vt:lpstr>
      <vt:lpstr>서블릿</vt:lpstr>
      <vt:lpstr>JSP 프로그래밍 개요</vt:lpstr>
      <vt:lpstr>[실습 1] 스크립트릿 이용 계산기</vt:lpstr>
      <vt:lpstr>[실습 1] 스크립트릿 이용 계산기</vt:lpstr>
      <vt:lpstr>[실습 1] 스크립트릿 이용 계산기</vt:lpstr>
      <vt:lpstr>[실습 1] 스크립트릿 이용 계산기</vt:lpstr>
      <vt:lpstr>[실습 1] 스크립트릿 이용 계산기</vt:lpstr>
      <vt:lpstr>[실습 1] 스크립트릿 이용 계산기</vt:lpstr>
      <vt:lpstr>[실습 1] 스크립트릿 이용 계산기</vt:lpstr>
      <vt:lpstr>[실습 1] 스크립트릿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[실습 2] 빈즈 클래스 이용 계산기</vt:lpstr>
      <vt:lpstr>JSP 프로그램 기술 변천</vt:lpstr>
      <vt:lpstr>학습 요약</vt:lpstr>
      <vt:lpstr>단어</vt:lpstr>
      <vt:lpstr>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486</cp:revision>
  <dcterms:created xsi:type="dcterms:W3CDTF">2003-05-07T20:17:23Z</dcterms:created>
  <dcterms:modified xsi:type="dcterms:W3CDTF">2025-09-01T07:04:37Z</dcterms:modified>
</cp:coreProperties>
</file>