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632" r:id="rId2"/>
    <p:sldId id="648" r:id="rId3"/>
    <p:sldId id="704" r:id="rId4"/>
    <p:sldId id="682" r:id="rId5"/>
    <p:sldId id="768" r:id="rId6"/>
    <p:sldId id="893" r:id="rId7"/>
    <p:sldId id="785" r:id="rId8"/>
    <p:sldId id="786" r:id="rId9"/>
    <p:sldId id="787" r:id="rId10"/>
    <p:sldId id="788" r:id="rId11"/>
    <p:sldId id="790" r:id="rId12"/>
    <p:sldId id="791" r:id="rId13"/>
    <p:sldId id="792" r:id="rId14"/>
    <p:sldId id="793" r:id="rId15"/>
    <p:sldId id="794" r:id="rId16"/>
    <p:sldId id="858" r:id="rId17"/>
    <p:sldId id="894" r:id="rId18"/>
    <p:sldId id="897" r:id="rId19"/>
    <p:sldId id="898" r:id="rId20"/>
    <p:sldId id="895" r:id="rId21"/>
    <p:sldId id="896" r:id="rId22"/>
    <p:sldId id="859" r:id="rId23"/>
    <p:sldId id="863" r:id="rId24"/>
    <p:sldId id="861" r:id="rId25"/>
    <p:sldId id="862" r:id="rId26"/>
    <p:sldId id="801" r:id="rId27"/>
    <p:sldId id="803" r:id="rId28"/>
    <p:sldId id="891" r:id="rId29"/>
    <p:sldId id="865" r:id="rId30"/>
    <p:sldId id="1183" r:id="rId31"/>
    <p:sldId id="864" r:id="rId32"/>
    <p:sldId id="802" r:id="rId33"/>
    <p:sldId id="866" r:id="rId34"/>
    <p:sldId id="867" r:id="rId35"/>
    <p:sldId id="868" r:id="rId36"/>
    <p:sldId id="869" r:id="rId37"/>
    <p:sldId id="870" r:id="rId38"/>
    <p:sldId id="871" r:id="rId39"/>
    <p:sldId id="872" r:id="rId40"/>
    <p:sldId id="873" r:id="rId41"/>
    <p:sldId id="874" r:id="rId42"/>
    <p:sldId id="875" r:id="rId43"/>
    <p:sldId id="876" r:id="rId44"/>
    <p:sldId id="877" r:id="rId45"/>
    <p:sldId id="879" r:id="rId46"/>
    <p:sldId id="880" r:id="rId47"/>
    <p:sldId id="881" r:id="rId48"/>
    <p:sldId id="882" r:id="rId49"/>
    <p:sldId id="884" r:id="rId50"/>
    <p:sldId id="885" r:id="rId51"/>
    <p:sldId id="887" r:id="rId52"/>
    <p:sldId id="886" r:id="rId53"/>
    <p:sldId id="767" r:id="rId54"/>
    <p:sldId id="892" r:id="rId55"/>
    <p:sldId id="1184" r:id="rId56"/>
    <p:sldId id="703" r:id="rId57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  <a:srgbClr val="CC6600"/>
    <a:srgbClr val="6600CC"/>
    <a:srgbClr val="CC0000"/>
    <a:srgbClr val="FFFF00"/>
    <a:srgbClr val="FFCC66"/>
    <a:srgbClr val="FFCCCC"/>
    <a:srgbClr val="00CC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49" autoAdjust="0"/>
    <p:restoredTop sz="94148" autoAdjust="0"/>
  </p:normalViewPr>
  <p:slideViewPr>
    <p:cSldViewPr>
      <p:cViewPr varScale="1">
        <p:scale>
          <a:sx n="94" d="100"/>
          <a:sy n="94" d="100"/>
        </p:scale>
        <p:origin x="102" y="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89" y="414574"/>
            <a:ext cx="9204189" cy="611077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589240"/>
            <a:ext cx="6400800" cy="555362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1165222"/>
            <a:ext cx="7514232" cy="111165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ko-KR" altLang="en-US" sz="400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서블릿</a:t>
            </a:r>
            <a:r>
              <a:rPr lang="en-US" altLang="ko-KR" sz="4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(Servlet)</a:t>
            </a:r>
            <a:endParaRPr lang="ko-KR" altLang="en-US" sz="400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9792" y="97175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JSP</a:t>
            </a:r>
            <a:endParaRPr lang="ko-KR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716" y="0"/>
            <a:ext cx="5236568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DACE2B0-7610-EDE5-2528-D7D18BAE14A0}"/>
              </a:ext>
            </a:extLst>
          </p:cNvPr>
          <p:cNvSpPr/>
          <p:nvPr/>
        </p:nvSpPr>
        <p:spPr>
          <a:xfrm>
            <a:off x="1115616" y="2636912"/>
            <a:ext cx="6984776" cy="1656184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나는 아직도 그녀의 노래가 감미롭습니다</a:t>
            </a:r>
            <a:r>
              <a:rPr lang="en-US" altLang="ko-KR" sz="2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8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오늘 행복한 사람이 내일도 행복합니다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.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삶의 마지막 순간에</a:t>
            </a:r>
            <a:b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바다와 하늘과 별 또는 사랑하는 사람들을</a:t>
            </a:r>
            <a:b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마지막으로 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번만 더 볼 수 있게 해달라고 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기도하지 마십시오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지금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그들을 보러 </a:t>
            </a:r>
            <a:r>
              <a:rPr lang="ko-KR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가십시오</a:t>
            </a:r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엘리자베스 </a:t>
            </a:r>
            <a:r>
              <a:rPr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퀴를러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로스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‘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인생 </a:t>
            </a:r>
            <a:r>
              <a:rPr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수업‘에서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오늘 행복한 사람이 내일도 행복합니다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행복을 내일로 미루지 마십시오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0" eaLnBrk="0" latinLnBrk="0" hangingPunct="0">
              <a:lnSpc>
                <a:spcPct val="150000"/>
              </a:lnSpc>
            </a:pPr>
            <a:endParaRPr kumimoji="0" lang="ko-KR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eaLnBrk="0" fontAlgn="t" latinLnBrk="0" hangingPunct="0">
              <a:lnSpc>
                <a:spcPct val="150000"/>
              </a:lnSpc>
            </a:pPr>
            <a:endParaRPr kumimoji="0" lang="ko-KR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행복한 경영 이야기 </a:t>
            </a:r>
            <a:r>
              <a:rPr lang="en-US" altLang="ko-KR" dirty="0"/>
              <a:t>(www.happyceo.or.kr)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504" y="1555810"/>
            <a:ext cx="3698110" cy="352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4788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강좌를 성공적으로 이수하면 학생들은</a:t>
            </a:r>
            <a:r>
              <a:rPr lang="ko-KR" altLang="en-US" sz="2800" dirty="0"/>
              <a:t> </a:t>
            </a:r>
          </a:p>
          <a:p>
            <a:pPr lvl="1"/>
            <a:r>
              <a:rPr lang="ko-KR" altLang="en-US" dirty="0" err="1"/>
              <a:t>서블릿</a:t>
            </a:r>
            <a:r>
              <a:rPr lang="ko-KR" altLang="en-US" dirty="0"/>
              <a:t> 구조</a:t>
            </a:r>
          </a:p>
          <a:p>
            <a:pPr lvl="1"/>
            <a:r>
              <a:rPr lang="ko-KR" altLang="en-US" dirty="0" err="1"/>
              <a:t>서블릿</a:t>
            </a:r>
            <a:r>
              <a:rPr lang="ko-KR" altLang="en-US" dirty="0"/>
              <a:t> 프로그래밍</a:t>
            </a:r>
            <a:endParaRPr lang="en-US" altLang="ko-KR" dirty="0"/>
          </a:p>
          <a:p>
            <a:pPr lvl="2"/>
            <a:r>
              <a:rPr lang="en-US" altLang="ko-KR" dirty="0"/>
              <a:t>Hello World</a:t>
            </a:r>
          </a:p>
          <a:p>
            <a:pPr lvl="2"/>
            <a:r>
              <a:rPr lang="ko-KR" altLang="en-US" sz="1800" dirty="0" err="1"/>
              <a:t>서블릿</a:t>
            </a:r>
            <a:r>
              <a:rPr lang="ko-KR" altLang="en-US" sz="1800" dirty="0"/>
              <a:t> 만을 이용한 계산기 구현</a:t>
            </a:r>
            <a:endParaRPr lang="en-US" altLang="ko-KR" sz="1800" dirty="0"/>
          </a:p>
          <a:p>
            <a:pPr lvl="2"/>
            <a:r>
              <a:rPr lang="ko-KR" altLang="en-US" dirty="0"/>
              <a:t>클래스를 이용한 계산기 구현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서블릿</a:t>
            </a:r>
            <a:r>
              <a:rPr lang="en-US" altLang="ko-KR" dirty="0"/>
              <a:t>(Servlet)</a:t>
            </a:r>
            <a:r>
              <a:rPr lang="ko-KR" altLang="en-US" dirty="0"/>
              <a:t>은 이번 시간만 다루고</a:t>
            </a:r>
            <a:r>
              <a:rPr lang="en-US" altLang="ko-KR" dirty="0"/>
              <a:t>, </a:t>
            </a:r>
            <a:r>
              <a:rPr lang="ko-KR" altLang="en-US" dirty="0"/>
              <a:t>다음부터는 다루지 않음</a:t>
            </a:r>
            <a:endParaRPr lang="en-US" altLang="ko-KR" dirty="0"/>
          </a:p>
          <a:p>
            <a:endParaRPr lang="en-US" altLang="ko-KR" sz="2000" dirty="0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en-US" altLang="ko-KR" dirty="0"/>
              <a:t>(Servlet)</a:t>
            </a:r>
            <a:r>
              <a:rPr lang="ko-KR" altLang="en-US" dirty="0"/>
              <a:t>과 </a:t>
            </a:r>
            <a:r>
              <a:rPr lang="en-US" altLang="ko-KR" dirty="0"/>
              <a:t>JSP(Java Server Page)</a:t>
            </a:r>
            <a:endParaRPr lang="ko-KR" altLang="en-US" dirty="0"/>
          </a:p>
          <a:p>
            <a:pPr lvl="1"/>
            <a:r>
              <a:rPr lang="ko-KR" altLang="en-US" dirty="0" err="1"/>
              <a:t>서블릿</a:t>
            </a:r>
            <a:endParaRPr lang="en-US" altLang="ko-KR" dirty="0"/>
          </a:p>
          <a:p>
            <a:pPr lvl="2"/>
            <a:r>
              <a:rPr lang="ko-KR" altLang="en-US" dirty="0"/>
              <a:t>자바를 이용한 웹 서버 프로그래밍 기술 초기 웹 프로그래밍 기술인 </a:t>
            </a:r>
            <a:r>
              <a:rPr lang="en-US" altLang="ko-KR" dirty="0"/>
              <a:t>CGI(Common Gateway Interface)</a:t>
            </a:r>
            <a:r>
              <a:rPr lang="ko-KR" altLang="en-US" dirty="0"/>
              <a:t>를 대체</a:t>
            </a:r>
            <a:endParaRPr lang="en-US" altLang="ko-KR" dirty="0"/>
          </a:p>
          <a:p>
            <a:pPr lvl="2"/>
            <a:r>
              <a:rPr lang="ko-KR" altLang="en-US" dirty="0"/>
              <a:t>느린 처리 속도</a:t>
            </a:r>
            <a:r>
              <a:rPr lang="en-US" altLang="ko-KR" dirty="0"/>
              <a:t>, </a:t>
            </a:r>
            <a:r>
              <a:rPr lang="ko-KR" altLang="en-US" dirty="0"/>
              <a:t>많은 메모리 요구</a:t>
            </a:r>
            <a:r>
              <a:rPr lang="en-US" altLang="ko-KR" dirty="0"/>
              <a:t>, </a:t>
            </a:r>
            <a:r>
              <a:rPr lang="ko-KR" altLang="en-US" dirty="0"/>
              <a:t>불편한 화면 제어 등의 한계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 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PHP, ASP </a:t>
            </a:r>
            <a:r>
              <a:rPr lang="ko-KR" altLang="en-US" dirty="0"/>
              <a:t>등에 주도권 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 Sun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JSP 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개발</a:t>
            </a:r>
            <a:r>
              <a:rPr lang="en-US" altLang="ko-KR" dirty="0">
                <a:solidFill>
                  <a:srgbClr val="C00000"/>
                </a:solidFill>
                <a:sym typeface="Wingdings" panose="05000000000000000000" pitchFamily="2" charset="2"/>
              </a:rPr>
              <a:t>, JSP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는 대표 웹 프로그래밍 언어로 성장</a:t>
            </a:r>
            <a:endParaRPr lang="en-US" altLang="ko-KR" dirty="0"/>
          </a:p>
          <a:p>
            <a:pPr lvl="1"/>
            <a:r>
              <a:rPr lang="en-US" altLang="ko-KR" dirty="0"/>
              <a:t>JSP</a:t>
            </a:r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 </a:t>
            </a:r>
            <a:r>
              <a:rPr lang="en-US" altLang="ko-KR" dirty="0"/>
              <a:t>1.0</a:t>
            </a:r>
            <a:r>
              <a:rPr lang="ko-KR" altLang="en-US" dirty="0"/>
              <a:t>은 </a:t>
            </a:r>
            <a:r>
              <a:rPr lang="en-US" altLang="ko-KR" dirty="0"/>
              <a:t>PHP</a:t>
            </a:r>
            <a:r>
              <a:rPr lang="ko-KR" altLang="en-US" dirty="0"/>
              <a:t>와 유사한 형태 </a:t>
            </a:r>
            <a:r>
              <a:rPr lang="en-US" altLang="ko-KR" dirty="0">
                <a:sym typeface="Wingdings" panose="05000000000000000000" pitchFamily="2" charset="2"/>
              </a:rPr>
              <a:t> HTML </a:t>
            </a:r>
            <a:r>
              <a:rPr lang="ko-KR" altLang="en-US" dirty="0">
                <a:sym typeface="Wingdings" panose="05000000000000000000" pitchFamily="2" charset="2"/>
              </a:rPr>
              <a:t>소스 코드 속에 </a:t>
            </a:r>
            <a:r>
              <a:rPr lang="en-US" altLang="ko-KR" dirty="0">
                <a:sym typeface="Wingdings" panose="05000000000000000000" pitchFamily="2" charset="2"/>
              </a:rPr>
              <a:t>Java </a:t>
            </a:r>
            <a:r>
              <a:rPr lang="ko-KR" altLang="en-US" dirty="0">
                <a:sym typeface="Wingdings" panose="05000000000000000000" pitchFamily="2" charset="2"/>
              </a:rPr>
              <a:t>코드 포함</a:t>
            </a:r>
            <a:endParaRPr lang="en-US" altLang="ko-KR" dirty="0"/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컨테이너에 의해 </a:t>
            </a:r>
            <a:r>
              <a:rPr lang="ko-KR" altLang="en-US" dirty="0" err="1">
                <a:solidFill>
                  <a:srgbClr val="C00000"/>
                </a:solidFill>
              </a:rPr>
              <a:t>서블릿</a:t>
            </a:r>
            <a:r>
              <a:rPr lang="ko-KR" altLang="en-US" dirty="0">
                <a:solidFill>
                  <a:srgbClr val="C00000"/>
                </a:solidFill>
              </a:rPr>
              <a:t> 형태의 자바 소스로 변환</a:t>
            </a:r>
            <a:r>
              <a:rPr lang="ko-KR" altLang="en-US" dirty="0"/>
              <a:t>되어 클래스로 컴파일 됨</a:t>
            </a:r>
            <a:endParaRPr lang="en-US" altLang="ko-KR" dirty="0"/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JSP 2.0 </a:t>
            </a:r>
            <a:r>
              <a:rPr lang="ko-KR" altLang="en-US" dirty="0">
                <a:sym typeface="Wingdings" panose="05000000000000000000" pitchFamily="2" charset="2"/>
              </a:rPr>
              <a:t>이후 획기적 변모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HTML</a:t>
            </a:r>
            <a:r>
              <a:rPr lang="ko-KR" altLang="en-US" dirty="0"/>
              <a:t>을 중심으로 </a:t>
            </a:r>
            <a:r>
              <a:rPr lang="ko-KR" altLang="en-US" dirty="0">
                <a:solidFill>
                  <a:srgbClr val="FF0000"/>
                </a:solidFill>
              </a:rPr>
              <a:t>자바 프로그램과의 유기적인 연결</a:t>
            </a:r>
            <a:r>
              <a:rPr lang="ko-KR" altLang="en-US" dirty="0"/>
              <a:t>을 지원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033951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en-US" altLang="ko-KR" dirty="0"/>
              <a:t>(Servlet)</a:t>
            </a:r>
            <a:r>
              <a:rPr lang="ko-KR" altLang="en-US" dirty="0"/>
              <a:t>의 장단점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endParaRPr lang="en-US" altLang="ko-KR" dirty="0"/>
          </a:p>
          <a:p>
            <a:pPr lvl="2"/>
            <a:r>
              <a:rPr lang="ko-KR" altLang="en-US" dirty="0"/>
              <a:t>자바를 기반으로 하여 </a:t>
            </a:r>
            <a:r>
              <a:rPr lang="en-US" altLang="ko-KR" dirty="0"/>
              <a:t>JAVA API </a:t>
            </a:r>
            <a:r>
              <a:rPr lang="ko-KR" altLang="en-US" dirty="0"/>
              <a:t>이용 가능</a:t>
            </a:r>
            <a:endParaRPr lang="en-US" altLang="ko-KR" dirty="0"/>
          </a:p>
          <a:p>
            <a:pPr lvl="2"/>
            <a:r>
              <a:rPr lang="ko-KR" altLang="en-US" dirty="0"/>
              <a:t>운영체제나 하드웨어의 영향을 받지 않음</a:t>
            </a:r>
            <a:endParaRPr lang="en-US" altLang="ko-KR" dirty="0"/>
          </a:p>
          <a:p>
            <a:pPr lvl="2"/>
            <a:r>
              <a:rPr lang="ko-KR" altLang="en-US" dirty="0"/>
              <a:t>효율적인 자료 공유 방법을 제공</a:t>
            </a:r>
            <a:endParaRPr lang="en-US" altLang="ko-KR" dirty="0"/>
          </a:p>
          <a:p>
            <a:pPr lvl="2"/>
            <a:r>
              <a:rPr lang="ko-KR" altLang="en-US" dirty="0"/>
              <a:t>다양한 오픈소스 라이브러리와 개발도구 활용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endParaRPr lang="en-US" altLang="ko-KR" dirty="0"/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응답을 위해 출력문으로 문자열을 결합해야 함</a:t>
            </a:r>
            <a:endParaRPr lang="en-US" altLang="ko-KR" dirty="0"/>
          </a:p>
          <a:p>
            <a:pPr lvl="2"/>
            <a:r>
              <a:rPr lang="ko-KR" altLang="en-US" dirty="0" err="1"/>
              <a:t>서블릿에서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ko-KR" altLang="en-US" dirty="0"/>
              <a:t>을 출력함으로써 화면 수정이 어려움</a:t>
            </a:r>
            <a:endParaRPr lang="en-US" altLang="ko-KR" dirty="0"/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폼</a:t>
            </a:r>
            <a:r>
              <a:rPr lang="en-US" altLang="ko-KR" dirty="0"/>
              <a:t>(Form)</a:t>
            </a:r>
            <a:r>
              <a:rPr lang="ko-KR" altLang="en-US" dirty="0"/>
              <a:t>의 데이터 처리가 불편</a:t>
            </a:r>
            <a:endParaRPr lang="en-US" altLang="ko-KR" dirty="0"/>
          </a:p>
          <a:p>
            <a:pPr lvl="2"/>
            <a:r>
              <a:rPr lang="ko-KR" altLang="en-US" dirty="0"/>
              <a:t>기본적으로 단일 요청과 응답으로 처리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다양한 결로의 </a:t>
            </a:r>
            <a:r>
              <a:rPr lang="en-US" altLang="ko-KR" dirty="0">
                <a:sym typeface="Wingdings" panose="05000000000000000000" pitchFamily="2" charset="2"/>
              </a:rPr>
              <a:t>URL </a:t>
            </a:r>
            <a:r>
              <a:rPr lang="ko-KR" altLang="en-US" dirty="0">
                <a:sym typeface="Wingdings" panose="05000000000000000000" pitchFamily="2" charset="2"/>
              </a:rPr>
              <a:t>접근 처리 어려움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107332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dirty="0" err="1"/>
              <a:t>서블릿</a:t>
            </a:r>
            <a:r>
              <a:rPr lang="ko-KR" altLang="en-US" dirty="0"/>
              <a:t> 컨테이너</a:t>
            </a:r>
            <a:endParaRPr lang="en-US" altLang="ko-KR" dirty="0"/>
          </a:p>
          <a:p>
            <a:pPr lvl="1">
              <a:lnSpc>
                <a:spcPct val="130000"/>
              </a:lnSpc>
            </a:pPr>
            <a:r>
              <a:rPr lang="ko-KR" altLang="en-US" dirty="0" err="1"/>
              <a:t>서블릿을</a:t>
            </a:r>
            <a:r>
              <a:rPr lang="ko-KR" altLang="en-US" dirty="0"/>
              <a:t> 실행하기 위한 서버 소프트웨어</a:t>
            </a:r>
            <a:endParaRPr lang="en-US" altLang="ko-KR" dirty="0"/>
          </a:p>
          <a:p>
            <a:pPr lvl="1">
              <a:lnSpc>
                <a:spcPct val="130000"/>
              </a:lnSpc>
            </a:pPr>
            <a:r>
              <a:rPr lang="en-US" altLang="ko-KR" dirty="0"/>
              <a:t>JSP</a:t>
            </a:r>
            <a:r>
              <a:rPr lang="ko-KR" altLang="en-US" dirty="0"/>
              <a:t>나 </a:t>
            </a:r>
            <a:r>
              <a:rPr lang="ko-KR" altLang="en-US" dirty="0" err="1"/>
              <a:t>서블릿으로</a:t>
            </a:r>
            <a:r>
              <a:rPr lang="ko-KR" altLang="en-US" dirty="0"/>
              <a:t> 만들어진 웹 프로그램을 개발하고 실행</a:t>
            </a:r>
            <a:endParaRPr lang="en-US" altLang="ko-KR" dirty="0"/>
          </a:p>
          <a:p>
            <a:pPr lvl="1">
              <a:lnSpc>
                <a:spcPct val="130000"/>
              </a:lnSpc>
            </a:pPr>
            <a:r>
              <a:rPr lang="en-US" altLang="ko-KR" dirty="0"/>
              <a:t>WAS(Web Application Server)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아파치 </a:t>
            </a:r>
            <a:r>
              <a:rPr lang="ko-KR" altLang="en-US" dirty="0" err="1"/>
              <a:t>톰캣이</a:t>
            </a:r>
            <a:r>
              <a:rPr lang="ko-KR" altLang="en-US" dirty="0"/>
              <a:t> 대표적</a:t>
            </a:r>
            <a:endParaRPr lang="en-US" altLang="ko-KR" dirty="0"/>
          </a:p>
          <a:p>
            <a:pPr lvl="2">
              <a:lnSpc>
                <a:spcPct val="130000"/>
              </a:lnSpc>
            </a:pPr>
            <a:r>
              <a:rPr lang="en-US" altLang="ko-KR" dirty="0"/>
              <a:t>WAS</a:t>
            </a:r>
            <a:r>
              <a:rPr lang="ko-KR" altLang="en-US" dirty="0"/>
              <a:t>는 느리기는 하지만 웹서버의 기능도 갖고 있어 개발 과정에서는 </a:t>
            </a:r>
            <a:r>
              <a:rPr lang="ko-KR" altLang="en-US" dirty="0" err="1"/>
              <a:t>톰캣만으로</a:t>
            </a:r>
            <a:r>
              <a:rPr lang="ko-KR" altLang="en-US" dirty="0"/>
              <a:t> 작업 수행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024850"/>
            <a:ext cx="6048672" cy="2324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543562-93AB-4B41-BF13-9F631B49D9C5}"/>
              </a:ext>
            </a:extLst>
          </p:cNvPr>
          <p:cNvSpPr txBox="1"/>
          <p:nvPr/>
        </p:nvSpPr>
        <p:spPr>
          <a:xfrm>
            <a:off x="385408" y="6271696"/>
            <a:ext cx="8373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https://www.quora.com/What-information-is-received-by-the-web-server-if-we-request-for-a-servlet&gt;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DB4F0-BD4B-4820-9910-44DD83897F7B}"/>
              </a:ext>
            </a:extLst>
          </p:cNvPr>
          <p:cNvSpPr txBox="1"/>
          <p:nvPr/>
        </p:nvSpPr>
        <p:spPr>
          <a:xfrm rot="19086110">
            <a:off x="4845199" y="3737462"/>
            <a:ext cx="903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Apache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A1CEE-AC9C-4B83-9E36-22C283E789F5}"/>
              </a:ext>
            </a:extLst>
          </p:cNvPr>
          <p:cNvSpPr txBox="1"/>
          <p:nvPr/>
        </p:nvSpPr>
        <p:spPr>
          <a:xfrm rot="19086110">
            <a:off x="6296265" y="4223040"/>
            <a:ext cx="890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Tomcat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1566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서버와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9"/>
          <a:stretch/>
        </p:blipFill>
        <p:spPr bwMode="auto">
          <a:xfrm>
            <a:off x="13531" y="1556792"/>
            <a:ext cx="9130469" cy="480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D10A5-DB5D-431F-BEDF-32B6B0B4E5CD}"/>
              </a:ext>
            </a:extLst>
          </p:cNvPr>
          <p:cNvSpPr txBox="1"/>
          <p:nvPr/>
        </p:nvSpPr>
        <p:spPr>
          <a:xfrm rot="19086110">
            <a:off x="2193273" y="1527192"/>
            <a:ext cx="903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Apache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5E72C-2399-4747-8767-A690680C7304}"/>
              </a:ext>
            </a:extLst>
          </p:cNvPr>
          <p:cNvSpPr txBox="1"/>
          <p:nvPr/>
        </p:nvSpPr>
        <p:spPr>
          <a:xfrm rot="19086110">
            <a:off x="6634562" y="1522845"/>
            <a:ext cx="890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Tomcat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787726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</a:t>
            </a:r>
            <a:r>
              <a:rPr lang="ko-KR" altLang="en-US" dirty="0" err="1"/>
              <a:t>동작과정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39"/>
          <a:stretch/>
        </p:blipFill>
        <p:spPr bwMode="auto">
          <a:xfrm>
            <a:off x="877335" y="1484784"/>
            <a:ext cx="7411554" cy="473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811467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구조와 생명 주기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동작의 생명 주기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98"/>
          <a:stretch/>
        </p:blipFill>
        <p:spPr bwMode="auto">
          <a:xfrm>
            <a:off x="102915" y="1772816"/>
            <a:ext cx="8964648" cy="405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5047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구조와 생명 주기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Javax.servlet.http.HttpServlet</a:t>
            </a:r>
            <a:r>
              <a:rPr lang="en-US" altLang="ko-KR" dirty="0"/>
              <a:t> </a:t>
            </a:r>
            <a:r>
              <a:rPr lang="ko-KR" altLang="en-US" dirty="0"/>
              <a:t>동작 구조</a:t>
            </a:r>
            <a:endParaRPr lang="en-US" altLang="ko-KR" dirty="0"/>
          </a:p>
          <a:p>
            <a:pPr lvl="1"/>
            <a:r>
              <a:rPr lang="en-US" altLang="ko-KR" dirty="0"/>
              <a:t>GET, POST, PUT </a:t>
            </a:r>
            <a:r>
              <a:rPr lang="ko-KR" altLang="en-US" dirty="0"/>
              <a:t>등의 요청에 대응하는 </a:t>
            </a:r>
            <a:r>
              <a:rPr lang="en-US" altLang="ko-KR" dirty="0" err="1"/>
              <a:t>doGet</a:t>
            </a:r>
            <a:r>
              <a:rPr lang="en-US" altLang="ko-KR" dirty="0"/>
              <a:t>(), </a:t>
            </a:r>
            <a:r>
              <a:rPr lang="en-US" altLang="ko-KR" dirty="0" err="1"/>
              <a:t>DoPost</a:t>
            </a:r>
            <a:r>
              <a:rPr lang="en-US" altLang="ko-KR" dirty="0"/>
              <a:t>() </a:t>
            </a:r>
            <a:r>
              <a:rPr lang="ko-KR" altLang="en-US" dirty="0"/>
              <a:t>메서드 존재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61"/>
          <a:stretch/>
        </p:blipFill>
        <p:spPr bwMode="auto">
          <a:xfrm>
            <a:off x="94258" y="2420888"/>
            <a:ext cx="8955483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061342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구조와 생명 주기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 err="1"/>
              <a:t>입력전달</a:t>
            </a:r>
            <a:r>
              <a:rPr lang="ko-KR" altLang="en-US" dirty="0"/>
              <a:t> 방식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GET 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클라이언트에 있는 정보를 서버로 가져오기 위한 방법</a:t>
            </a:r>
            <a:endParaRPr lang="en-US" altLang="ko-KR" dirty="0"/>
          </a:p>
          <a:p>
            <a:pPr lvl="3">
              <a:lnSpc>
                <a:spcPct val="110000"/>
              </a:lnSpc>
            </a:pPr>
            <a:r>
              <a:rPr lang="ko-KR" altLang="en-US"/>
              <a:t>서버에는 </a:t>
            </a:r>
            <a:r>
              <a:rPr lang="ko-KR" altLang="en-US" dirty="0"/>
              <a:t>최대 </a:t>
            </a:r>
            <a:r>
              <a:rPr lang="en-US" altLang="ko-KR" dirty="0"/>
              <a:t>240Byte</a:t>
            </a:r>
            <a:r>
              <a:rPr lang="ko-KR" altLang="en-US" dirty="0"/>
              <a:t>까지 데이터 전달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QUERY_STRING </a:t>
            </a:r>
            <a:r>
              <a:rPr lang="ko-KR" altLang="en-US" dirty="0"/>
              <a:t>환경변수를 통해서 서버로 전달</a:t>
            </a:r>
            <a:endParaRPr lang="en-US" altLang="ko-KR" dirty="0"/>
          </a:p>
          <a:p>
            <a:pPr lvl="3">
              <a:lnSpc>
                <a:spcPct val="110000"/>
              </a:lnSpc>
            </a:pPr>
            <a:r>
              <a:rPr lang="en-US" altLang="ko-KR" dirty="0"/>
              <a:t>http://www.xxx.co.kr/servlet/login</a:t>
            </a:r>
            <a:r>
              <a:rPr lang="en-US" altLang="ko-KR" dirty="0">
                <a:solidFill>
                  <a:srgbClr val="C00000"/>
                </a:solidFill>
              </a:rPr>
              <a:t>?id=hj&amp;name=hong</a:t>
            </a:r>
          </a:p>
          <a:p>
            <a:pPr lvl="3">
              <a:lnSpc>
                <a:spcPct val="110000"/>
              </a:lnSpc>
            </a:pPr>
            <a:r>
              <a:rPr lang="en-US" altLang="ko-KR" dirty="0"/>
              <a:t>‘?’ </a:t>
            </a:r>
            <a:r>
              <a:rPr lang="ko-KR" altLang="en-US" dirty="0"/>
              <a:t>이후가 </a:t>
            </a:r>
            <a:r>
              <a:rPr lang="en-US" altLang="ko-KR" dirty="0"/>
              <a:t>QUERY_STRING, ‘</a:t>
            </a:r>
            <a:r>
              <a:rPr lang="ko-KR" altLang="en-US" dirty="0"/>
              <a:t>속성</a:t>
            </a:r>
            <a:r>
              <a:rPr lang="en-US" altLang="ko-KR" dirty="0"/>
              <a:t>=</a:t>
            </a:r>
            <a:r>
              <a:rPr lang="ko-KR" altLang="en-US" dirty="0"/>
              <a:t>값’ 형태</a:t>
            </a:r>
            <a:r>
              <a:rPr lang="en-US" altLang="ko-KR" dirty="0"/>
              <a:t>, ‘&amp;’</a:t>
            </a:r>
            <a:r>
              <a:rPr lang="ko-KR" altLang="en-US" dirty="0"/>
              <a:t>는 여러 속성 전달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URL</a:t>
            </a:r>
            <a:r>
              <a:rPr lang="ko-KR" altLang="en-US" dirty="0"/>
              <a:t>이 노출되기 때문에 보안에 문제 발생 가능성</a:t>
            </a: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POST</a:t>
            </a:r>
            <a:r>
              <a:rPr lang="en-US" altLang="ko-KR" sz="1200" dirty="0"/>
              <a:t> 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서버로 정보를 올리기 위해 설계된 방법</a:t>
            </a:r>
            <a:endParaRPr lang="en-US" altLang="ko-KR" dirty="0"/>
          </a:p>
          <a:p>
            <a:pPr lvl="3">
              <a:lnSpc>
                <a:spcPct val="110000"/>
              </a:lnSpc>
            </a:pPr>
            <a:r>
              <a:rPr lang="ko-KR" altLang="en-US" dirty="0"/>
              <a:t>예를 들어 </a:t>
            </a:r>
            <a:r>
              <a:rPr lang="en-US" altLang="ko-KR" dirty="0"/>
              <a:t>HTML </a:t>
            </a:r>
            <a:r>
              <a:rPr lang="ko-KR" altLang="en-US" dirty="0"/>
              <a:t>폼에 입력한 내용을 서버에 전달하기 위한 요청</a:t>
            </a:r>
            <a:endParaRPr lang="en-US" altLang="ko-KR" dirty="0"/>
          </a:p>
          <a:p>
            <a:pPr lvl="3">
              <a:lnSpc>
                <a:spcPct val="110000"/>
              </a:lnSpc>
            </a:pPr>
            <a:r>
              <a:rPr lang="ko-KR" altLang="en-US" dirty="0"/>
              <a:t>서버에 전달 할 수 있는 데이터 크기에는 제한이 없음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URL</a:t>
            </a:r>
            <a:r>
              <a:rPr lang="ko-KR" altLang="en-US" dirty="0"/>
              <a:t>에는 매개변수가 표시되지 않음</a:t>
            </a:r>
            <a:endParaRPr lang="en-US" altLang="ko-KR" dirty="0"/>
          </a:p>
          <a:p>
            <a:pPr>
              <a:lnSpc>
                <a:spcPct val="110000"/>
              </a:lnSpc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668517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구조와 생명 주기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생명 주기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6"/>
          <a:stretch/>
        </p:blipFill>
        <p:spPr bwMode="auto">
          <a:xfrm>
            <a:off x="299144" y="1578506"/>
            <a:ext cx="8449320" cy="482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5231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src</a:t>
            </a:r>
            <a:r>
              <a:rPr lang="en-US" altLang="ko-KR" dirty="0"/>
              <a:t>]-[main]-[WebApp] </a:t>
            </a:r>
            <a:r>
              <a:rPr lang="en-US" altLang="ko-KR" dirty="0">
                <a:sym typeface="Wingdings" panose="05000000000000000000" pitchFamily="2" charset="2"/>
              </a:rPr>
              <a:t> [ch04] </a:t>
            </a:r>
            <a:r>
              <a:rPr lang="ko-KR" altLang="en-US" dirty="0">
                <a:sym typeface="Wingdings" panose="05000000000000000000" pitchFamily="2" charset="2"/>
              </a:rPr>
              <a:t>폴더 생성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[ch04]-</a:t>
            </a:r>
            <a:r>
              <a:rPr lang="ko-KR" altLang="en-US" dirty="0">
                <a:sym typeface="Wingdings" panose="05000000000000000000" pitchFamily="2" charset="2"/>
              </a:rPr>
              <a:t>오른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마우스</a:t>
            </a:r>
            <a:r>
              <a:rPr lang="en-US" altLang="ko-KR" dirty="0">
                <a:sym typeface="Wingdings" panose="05000000000000000000" pitchFamily="2" charset="2"/>
              </a:rPr>
              <a:t>-[New]-[Other]  [Web]-[Servlet]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6" name="Picture 2" descr="C:\Users\orize\Downloads\이미지 파일\4장\4장\ch04_06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7"/>
            <a:ext cx="417646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539552" y="4869160"/>
            <a:ext cx="1368152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42F354-8358-7312-01EB-710A364E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646" y="2501702"/>
            <a:ext cx="4088802" cy="40324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/>
          <p:cNvSpPr/>
          <p:nvPr/>
        </p:nvSpPr>
        <p:spPr>
          <a:xfrm>
            <a:off x="4555939" y="3861048"/>
            <a:ext cx="3489325" cy="5040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25847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92" y="1719857"/>
            <a:ext cx="4115022" cy="430679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23528" y="2842047"/>
            <a:ext cx="2592288" cy="19833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869604" y="5617815"/>
            <a:ext cx="906694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703452"/>
            <a:ext cx="4103803" cy="4311388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932040" y="3917987"/>
            <a:ext cx="3602360" cy="2310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932040" y="4365104"/>
            <a:ext cx="3602360" cy="720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5943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</a:t>
            </a:r>
            <a:r>
              <a:rPr lang="ko-KR" altLang="en-US" dirty="0" err="1"/>
              <a:t>서블릿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HttpServlet</a:t>
            </a:r>
            <a:r>
              <a:rPr lang="ko-KR" altLang="en-US" dirty="0">
                <a:sym typeface="Wingdings" panose="05000000000000000000" pitchFamily="2" charset="2"/>
              </a:rPr>
              <a:t>을 상속받아 기본 틀을 제공함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6AE3C98-0DAC-E7FD-D743-5F7814271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84784"/>
            <a:ext cx="7632848" cy="49040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748500" y="2924944"/>
            <a:ext cx="1519244" cy="5040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339752" y="2276872"/>
            <a:ext cx="4824536" cy="25922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7BB820-1D1A-38B3-E011-8E82A0F76098}"/>
              </a:ext>
            </a:extLst>
          </p:cNvPr>
          <p:cNvSpPr/>
          <p:nvPr/>
        </p:nvSpPr>
        <p:spPr>
          <a:xfrm>
            <a:off x="748501" y="3717032"/>
            <a:ext cx="1519244" cy="720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56567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FDA939-7C48-1730-83BF-1AEFB853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서블릿 코드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8B7E1F-7B03-30C2-A30C-8A6B84AD2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12776"/>
            <a:ext cx="6190476" cy="4876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4DA95C-A810-B81E-9C27-45B96BCFF37F}"/>
              </a:ext>
            </a:extLst>
          </p:cNvPr>
          <p:cNvSpPr txBox="1"/>
          <p:nvPr/>
        </p:nvSpPr>
        <p:spPr>
          <a:xfrm>
            <a:off x="6355005" y="1988840"/>
            <a:ext cx="2444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에너테이션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(Annotation) </a:t>
            </a:r>
          </a:p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서블릿 정보 등록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3822734-D8C0-749A-D099-9BE370CC55BD}"/>
              </a:ext>
            </a:extLst>
          </p:cNvPr>
          <p:cNvCxnSpPr>
            <a:endCxn id="11" idx="1"/>
          </p:cNvCxnSpPr>
          <p:nvPr/>
        </p:nvCxnSpPr>
        <p:spPr>
          <a:xfrm flipV="1">
            <a:off x="5940152" y="2281228"/>
            <a:ext cx="414853" cy="931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363C8B-7C0A-9B02-F3FD-416D34515935}"/>
              </a:ext>
            </a:extLst>
          </p:cNvPr>
          <p:cNvSpPr txBox="1"/>
          <p:nvPr/>
        </p:nvSpPr>
        <p:spPr>
          <a:xfrm>
            <a:off x="6355005" y="3192517"/>
            <a:ext cx="244490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상속 지정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9D3B84C-69A1-BAD5-E12F-6244BCDBC38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067944" y="3361794"/>
            <a:ext cx="22870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5BDE24-A10E-77E3-489A-861E3F3D850C}"/>
              </a:ext>
            </a:extLst>
          </p:cNvPr>
          <p:cNvSpPr txBox="1"/>
          <p:nvPr/>
        </p:nvSpPr>
        <p:spPr>
          <a:xfrm>
            <a:off x="6355005" y="3738518"/>
            <a:ext cx="2444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방식의 요청에 대한 처리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58F13E4-AA78-CED2-5669-44D6D3A1FF2C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5940152" y="4030906"/>
            <a:ext cx="414853" cy="190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438D3A-E238-286D-FDAE-9D927D921FD8}"/>
              </a:ext>
            </a:extLst>
          </p:cNvPr>
          <p:cNvSpPr txBox="1"/>
          <p:nvPr/>
        </p:nvSpPr>
        <p:spPr>
          <a:xfrm>
            <a:off x="6355005" y="4924841"/>
            <a:ext cx="2444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방식의 요청에 대한 처리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A0B7221-056F-6566-B89C-31185E902337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5940152" y="5217229"/>
            <a:ext cx="414853" cy="190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209F7A-DCFD-AB86-EC1B-1C29BA4C3AA6}"/>
              </a:ext>
            </a:extLst>
          </p:cNvPr>
          <p:cNvSpPr txBox="1"/>
          <p:nvPr/>
        </p:nvSpPr>
        <p:spPr>
          <a:xfrm>
            <a:off x="2018852" y="5946860"/>
            <a:ext cx="331236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request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요청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정보를 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서블릿에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전달하기 위함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 JSP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내장객체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82D2F05-892E-FF48-CA08-8554C4F213E1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3675036" y="5509616"/>
            <a:ext cx="0" cy="437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D0F7BD-4162-5F11-1F0B-7A5C9D126C8E}"/>
              </a:ext>
            </a:extLst>
          </p:cNvPr>
          <p:cNvSpPr txBox="1"/>
          <p:nvPr/>
        </p:nvSpPr>
        <p:spPr>
          <a:xfrm>
            <a:off x="5643260" y="5946860"/>
            <a:ext cx="309076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response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클라이언트에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응답을 보내기 위함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 JSP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내장객체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41D0E3-8511-5321-9E30-6B58F3FD722E}"/>
              </a:ext>
            </a:extLst>
          </p:cNvPr>
          <p:cNvCxnSpPr>
            <a:cxnSpLocks/>
          </p:cNvCxnSpPr>
          <p:nvPr/>
        </p:nvCxnSpPr>
        <p:spPr>
          <a:xfrm>
            <a:off x="5868144" y="5627290"/>
            <a:ext cx="0" cy="31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098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2" grpId="0" animBg="1"/>
      <p:bldP spid="25" grpId="0" animBg="1"/>
      <p:bldP spid="27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9927-FDDC-8E39-89B9-0D5FF40D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FCDF7-DE71-2710-C76E-BFC4B256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B6E69B-E639-2CE1-2F1F-DA6A14F58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D3BFFE-CFDC-F969-F4FD-F0F079D8D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탐색기 서블릿 혹은 빈 공간 </a:t>
            </a:r>
            <a:r>
              <a:rPr lang="en-US" altLang="ko-KR" sz="2000" dirty="0">
                <a:sym typeface="Wingdings" panose="05000000000000000000" pitchFamily="2" charset="2"/>
              </a:rPr>
              <a:t>– </a:t>
            </a:r>
            <a:r>
              <a:rPr lang="ko-KR" altLang="en-US" sz="2000" dirty="0" err="1">
                <a:sym typeface="Wingdings" panose="05000000000000000000" pitchFamily="2" charset="2"/>
              </a:rPr>
              <a:t>우클릭</a:t>
            </a:r>
            <a:r>
              <a:rPr lang="ko-KR" altLang="en-US" sz="2000" dirty="0"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– Run As – Run On Server 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AEC3D3-553E-F885-29BC-390D6A8F5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70953"/>
            <a:ext cx="7632848" cy="35399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895024-5106-1B96-7B8C-445C09D6C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243" y="4797152"/>
            <a:ext cx="5342857" cy="9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22570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3864-8766-AF75-8568-1F74C54F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FACC7-E15F-5456-75E2-2187EAF3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260-552E-A3D6-36E1-A71C6857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56B96C-B406-85FB-DA81-8C51E2C1B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  <a:r>
              <a:rPr lang="en-US" altLang="ko-KR" dirty="0"/>
              <a:t> </a:t>
            </a:r>
            <a:endParaRPr lang="ko-KR" altLang="en-US" sz="2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BD8B73-9B85-CB8C-94F1-2BC888AD7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05" y="2060848"/>
            <a:ext cx="7886590" cy="20162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1060183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HttpServletRequest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FDA939-7C48-1730-83BF-1AEFB853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HttpServletRequest</a:t>
            </a:r>
            <a:endParaRPr lang="en-US" altLang="ko-KR" dirty="0"/>
          </a:p>
          <a:p>
            <a:pPr lvl="1"/>
            <a:r>
              <a:rPr lang="en-US" altLang="ko-KR" dirty="0"/>
              <a:t>request</a:t>
            </a:r>
            <a:r>
              <a:rPr lang="ko-KR" altLang="en-US" dirty="0"/>
              <a:t> 객체</a:t>
            </a:r>
            <a:r>
              <a:rPr lang="en-US" altLang="ko-KR" dirty="0"/>
              <a:t>(</a:t>
            </a:r>
            <a:r>
              <a:rPr lang="ko-KR" altLang="en-US" dirty="0"/>
              <a:t>요청정보 전달</a:t>
            </a:r>
            <a:r>
              <a:rPr lang="en-US" altLang="ko-KR" dirty="0"/>
              <a:t>)</a:t>
            </a:r>
            <a:r>
              <a:rPr lang="ko-KR" altLang="en-US" dirty="0"/>
              <a:t>를 생성하기 위한 클래스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8C0E5FC1-D499-3569-39FA-567B39604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760807"/>
              </p:ext>
            </p:extLst>
          </p:nvPr>
        </p:nvGraphicFramePr>
        <p:xfrm>
          <a:off x="115893" y="1988841"/>
          <a:ext cx="8892480" cy="439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891">
                  <a:extLst>
                    <a:ext uri="{9D8B030D-6E8A-4147-A177-3AD203B41FA5}">
                      <a16:colId xmlns:a16="http://schemas.microsoft.com/office/drawing/2014/main" val="3183313785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23164402"/>
                    </a:ext>
                  </a:extLst>
                </a:gridCol>
                <a:gridCol w="3212237">
                  <a:extLst>
                    <a:ext uri="{9D8B030D-6E8A-4147-A177-3AD203B41FA5}">
                      <a16:colId xmlns:a16="http://schemas.microsoft.com/office/drawing/2014/main" val="1938273387"/>
                    </a:ext>
                  </a:extLst>
                </a:gridCol>
              </a:tblGrid>
              <a:tr h="2888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예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544041"/>
                  </a:ext>
                </a:extLst>
              </a:tr>
              <a:tr h="28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getParameter</a:t>
                      </a:r>
                      <a:r>
                        <a:rPr lang="en-US" altLang="ko-KR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(name)</a:t>
                      </a:r>
                      <a:endParaRPr lang="ko-KR" alt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속성으로 전달된 값 추출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127124"/>
                  </a:ext>
                </a:extLst>
              </a:tr>
              <a:tr h="28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getParameterValues</a:t>
                      </a:r>
                      <a:r>
                        <a:rPr lang="en-US" altLang="ko-KR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(name)</a:t>
                      </a:r>
                      <a:endParaRPr lang="ko-KR" alt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{</a:t>
                      </a:r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hong,kim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}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속성으로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전달된 모든 값 추출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584620"/>
                  </a:ext>
                </a:extLst>
              </a:tr>
              <a:tr h="28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getRequestURL()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http://www.xxx.com/shop/test.jsp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URL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720011"/>
                  </a:ext>
                </a:extLst>
              </a:tr>
              <a:tr h="288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getRequestURI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/shop/</a:t>
                      </a:r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test.jsp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URL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스키마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 제외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35635"/>
                  </a:ext>
                </a:extLst>
              </a:tr>
              <a:tr h="28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getScheme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프로토콜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35457"/>
                  </a:ext>
                </a:extLst>
              </a:tr>
              <a:tr h="2888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getServerName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www.xxx.com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92575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getServerPort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8080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228241"/>
                  </a:ext>
                </a:extLst>
              </a:tr>
              <a:tr h="436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getContextPath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/shop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콘텍스트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208186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getMethod</a:t>
                      </a:r>
                      <a:r>
                        <a:rPr lang="en-US" altLang="ko-KR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 or POST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방법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75567"/>
                  </a:ext>
                </a:extLst>
              </a:tr>
              <a:tr h="287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isSecure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False or True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보안처리여부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(http, https)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229348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getLocale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ko_KR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697043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getProtocol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HTTP/1.1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사용하는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프로토콜 및 버전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2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getLocalAddr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127.0.0.1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서버의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로컬 주소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564061"/>
                  </a:ext>
                </a:extLst>
              </a:tr>
              <a:tr h="274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getRemoteAddr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210.119.160.2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클라이언트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IP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451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62796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HttpServletResponse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FDA939-7C48-1730-83BF-1AEFB853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HttpServletResponse</a:t>
            </a:r>
            <a:endParaRPr lang="en-US" altLang="ko-KR" dirty="0"/>
          </a:p>
          <a:p>
            <a:pPr lvl="1"/>
            <a:r>
              <a:rPr lang="ko-KR" altLang="en-US" dirty="0"/>
              <a:t>요청</a:t>
            </a:r>
            <a:r>
              <a:rPr lang="en-US" altLang="ko-KR" dirty="0"/>
              <a:t> </a:t>
            </a:r>
            <a:r>
              <a:rPr lang="ko-KR" altLang="en-US" dirty="0"/>
              <a:t>클라이언트에 응답을 보내기 위한 클래스</a:t>
            </a:r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8C0E5FC1-D499-3569-39FA-567B39604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168012"/>
              </p:ext>
            </p:extLst>
          </p:nvPr>
        </p:nvGraphicFramePr>
        <p:xfrm>
          <a:off x="115893" y="1988841"/>
          <a:ext cx="8776587" cy="3888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915">
                  <a:extLst>
                    <a:ext uri="{9D8B030D-6E8A-4147-A177-3AD203B41FA5}">
                      <a16:colId xmlns:a16="http://schemas.microsoft.com/office/drawing/2014/main" val="3183313785"/>
                    </a:ext>
                  </a:extLst>
                </a:gridCol>
                <a:gridCol w="6048672">
                  <a:extLst>
                    <a:ext uri="{9D8B030D-6E8A-4147-A177-3AD203B41FA5}">
                      <a16:colId xmlns:a16="http://schemas.microsoft.com/office/drawing/2014/main" val="1938273387"/>
                    </a:ext>
                  </a:extLst>
                </a:gridCol>
              </a:tblGrid>
              <a:tr h="4613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544041"/>
                  </a:ext>
                </a:extLst>
              </a:tr>
              <a:tr h="4613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sendRedirect</a:t>
                      </a:r>
                      <a:r>
                        <a:rPr lang="en-US" altLang="ko-KR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(location)</a:t>
                      </a:r>
                      <a:endParaRPr lang="ko-KR" alt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클라이언트에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리다이렉트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응답을 보낸 후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다시 요청하게 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127124"/>
                  </a:ext>
                </a:extLst>
              </a:tr>
              <a:tr h="4613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getWriter</a:t>
                      </a:r>
                      <a:r>
                        <a:rPr lang="en-US" altLang="ko-KR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클라이언트로 데이터를 보내기 위한 출력 스트림을 리턴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584620"/>
                  </a:ext>
                </a:extLst>
              </a:tr>
              <a:tr h="4613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setContentType</a:t>
                      </a:r>
                      <a:r>
                        <a:rPr lang="en-US" altLang="ko-KR" sz="1400" b="1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(type)</a:t>
                      </a:r>
                      <a:endParaRPr lang="ko-KR" altLang="en-US" sz="1400" b="1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클라이언트로 전달되는 콘텐트 타입을 지정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720011"/>
                  </a:ext>
                </a:extLst>
              </a:tr>
              <a:tr h="4613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addCookie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(cookie)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응답에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쿠키를 추가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35635"/>
                  </a:ext>
                </a:extLst>
              </a:tr>
              <a:tr h="4613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addHeader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(name, value)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 헤더에 이름과 값을 추가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35457"/>
                  </a:ext>
                </a:extLst>
              </a:tr>
              <a:tr h="6815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encodeURL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클라이언트가 쿠키를 지원하지 않을 때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 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포함한 특정 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인코딩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92575"/>
                  </a:ext>
                </a:extLst>
              </a:tr>
              <a:tr h="4382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getHeaderNames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헤더에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포한된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얻어 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228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755231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HelloWorldServlet.java </a:t>
            </a:r>
            <a:r>
              <a:rPr lang="ko-KR" altLang="en-US" dirty="0"/>
              <a:t>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D67495-C759-81B5-24BF-D81A28F8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78948"/>
            <a:ext cx="8352928" cy="37662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1331640" y="2780928"/>
            <a:ext cx="7202760" cy="25202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48213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t="43666" r="13680"/>
          <a:stretch/>
        </p:blipFill>
        <p:spPr>
          <a:xfrm>
            <a:off x="52082" y="1610488"/>
            <a:ext cx="8956708" cy="27363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참고</a:t>
            </a:r>
            <a:r>
              <a:rPr lang="en-US" altLang="ko-KR" dirty="0">
                <a:sym typeface="Wingdings" panose="05000000000000000000" pitchFamily="2" charset="2"/>
              </a:rPr>
              <a:t>] Ctrl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Shift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PrintWriter</a:t>
            </a:r>
            <a:r>
              <a:rPr lang="en-US" altLang="ko-KR" dirty="0"/>
              <a:t> </a:t>
            </a:r>
            <a:r>
              <a:rPr lang="ko-KR" altLang="en-US" dirty="0"/>
              <a:t>클래스가 포함된 패키지 불러오기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>
            <a:off x="44352" y="2837561"/>
            <a:ext cx="8920136" cy="3034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" y="2872560"/>
            <a:ext cx="10786407" cy="3076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1907704" y="3259078"/>
            <a:ext cx="3672408" cy="4070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433528" y="1761825"/>
            <a:ext cx="2304256" cy="55920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Ctrl + Shift + O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46507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참고</a:t>
            </a:r>
            <a:r>
              <a:rPr lang="en-US" altLang="ko-KR" dirty="0">
                <a:sym typeface="Wingdings" panose="05000000000000000000" pitchFamily="2" charset="2"/>
              </a:rPr>
              <a:t>] Ctrl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Shift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 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PrintWriter</a:t>
            </a:r>
            <a:r>
              <a:rPr lang="en-US" altLang="ko-KR" dirty="0"/>
              <a:t> </a:t>
            </a:r>
            <a:r>
              <a:rPr lang="ko-KR" altLang="en-US" dirty="0"/>
              <a:t>클래스가 포함된 패키지 포함된 모습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35" y="1916832"/>
            <a:ext cx="8392530" cy="30243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/>
          <p:cNvSpPr/>
          <p:nvPr/>
        </p:nvSpPr>
        <p:spPr>
          <a:xfrm>
            <a:off x="891208" y="2852936"/>
            <a:ext cx="7643192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075256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HelloWorldServlet.java </a:t>
            </a:r>
            <a:r>
              <a:rPr lang="ko-KR" altLang="en-US" dirty="0"/>
              <a:t>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83" y="1556792"/>
            <a:ext cx="8655434" cy="37444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891208" y="2132856"/>
            <a:ext cx="7643192" cy="10801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119037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 err="1"/>
              <a:t>서블릿</a:t>
            </a:r>
            <a:r>
              <a:rPr lang="ko-KR" altLang="en-US" dirty="0"/>
              <a:t> 프로그래밍 </a:t>
            </a:r>
            <a:r>
              <a:rPr lang="en-US" altLang="ko-KR" dirty="0">
                <a:sym typeface="Wingdings" panose="05000000000000000000" pitchFamily="2" charset="2"/>
              </a:rPr>
              <a:t> Hello World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HelloWorldServlet.java </a:t>
            </a:r>
            <a:r>
              <a:rPr lang="ko-KR" altLang="en-US" dirty="0"/>
              <a:t>소스 </a:t>
            </a:r>
            <a:r>
              <a:rPr lang="en-US" altLang="ko-KR" dirty="0"/>
              <a:t>– [</a:t>
            </a:r>
            <a:r>
              <a:rPr lang="ko-KR" altLang="en-US" dirty="0"/>
              <a:t>오른</a:t>
            </a:r>
            <a:r>
              <a:rPr lang="en-US" altLang="ko-KR" dirty="0"/>
              <a:t> </a:t>
            </a:r>
            <a:r>
              <a:rPr lang="ko-KR" altLang="en-US" dirty="0"/>
              <a:t>마우스</a:t>
            </a:r>
            <a:r>
              <a:rPr lang="en-US" altLang="ko-KR" dirty="0"/>
              <a:t>] – [Run As] – [Run on Server]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51" y="2348880"/>
            <a:ext cx="5990297" cy="41248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9750603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doGet</a:t>
            </a:r>
            <a:r>
              <a:rPr lang="en-US" altLang="ko-KR" dirty="0"/>
              <a:t> </a:t>
            </a:r>
            <a:r>
              <a:rPr lang="ko-KR" altLang="en-US" dirty="0"/>
              <a:t>메서드와 </a:t>
            </a:r>
            <a:r>
              <a:rPr lang="en-US" altLang="ko-KR" dirty="0" err="1"/>
              <a:t>doPost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  <a:endParaRPr lang="en-US" altLang="ko-KR" dirty="0"/>
          </a:p>
          <a:p>
            <a:pPr lvl="1"/>
            <a:r>
              <a:rPr lang="en-US" altLang="ko-KR" dirty="0" err="1"/>
              <a:t>HttpServletRequest</a:t>
            </a:r>
            <a:r>
              <a:rPr lang="ko-KR" altLang="en-US" dirty="0"/>
              <a:t>와 </a:t>
            </a:r>
            <a:r>
              <a:rPr lang="en-US" altLang="ko-KR" dirty="0" err="1"/>
              <a:t>HttpServletResponse</a:t>
            </a:r>
            <a:r>
              <a:rPr lang="en-US" altLang="ko-KR" dirty="0"/>
              <a:t> </a:t>
            </a:r>
            <a:r>
              <a:rPr lang="ko-KR" altLang="en-US" dirty="0"/>
              <a:t>객체를 매개변수</a:t>
            </a:r>
            <a:r>
              <a:rPr lang="en-US" altLang="ko-KR" dirty="0"/>
              <a:t>(argument)</a:t>
            </a:r>
            <a:r>
              <a:rPr lang="ko-KR" altLang="en-US" dirty="0"/>
              <a:t>로 가짐</a:t>
            </a:r>
            <a:endParaRPr lang="en-US" altLang="ko-KR" dirty="0"/>
          </a:p>
          <a:p>
            <a:pPr lvl="1"/>
            <a:r>
              <a:rPr lang="ko-KR" altLang="en-US" dirty="0" err="1"/>
              <a:t>서블릿과</a:t>
            </a:r>
            <a:r>
              <a:rPr lang="ko-KR" altLang="en-US" dirty="0"/>
              <a:t> 클라이언트 사이를 연결해주는 중요한 객체</a:t>
            </a:r>
            <a:endParaRPr lang="en-US" altLang="ko-KR" dirty="0"/>
          </a:p>
          <a:p>
            <a:pPr lvl="1"/>
            <a:r>
              <a:rPr lang="en-US" altLang="ko-KR" dirty="0" err="1"/>
              <a:t>HttpServletRequest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클라이언트로 부터 전달되는 정보 처리</a:t>
            </a:r>
            <a:endParaRPr lang="en-US" altLang="ko-KR" dirty="0"/>
          </a:p>
          <a:p>
            <a:pPr lvl="1"/>
            <a:r>
              <a:rPr lang="en-US" altLang="ko-KR" dirty="0" err="1"/>
              <a:t>HttpServletResponse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클라이언트에 응답하는 기능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945662"/>
            <a:ext cx="8209196" cy="11395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r="1579"/>
          <a:stretch/>
        </p:blipFill>
        <p:spPr>
          <a:xfrm>
            <a:off x="459513" y="5207906"/>
            <a:ext cx="8216943" cy="1162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8" name="직선 연결선 7"/>
          <p:cNvCxnSpPr/>
          <p:nvPr/>
        </p:nvCxnSpPr>
        <p:spPr>
          <a:xfrm>
            <a:off x="4079751" y="4365104"/>
            <a:ext cx="417003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979712" y="4653136"/>
            <a:ext cx="457157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443092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90" y="1124742"/>
            <a:ext cx="8767820" cy="489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46197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구글링</a:t>
            </a:r>
            <a:r>
              <a:rPr lang="ko-KR" altLang="en-US" dirty="0"/>
              <a:t> 과제</a:t>
            </a:r>
            <a:endParaRPr lang="en-US" altLang="ko-KR" dirty="0"/>
          </a:p>
          <a:p>
            <a:pPr lvl="1"/>
            <a:r>
              <a:rPr lang="en-US" altLang="ko-KR" dirty="0" err="1"/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조사</a:t>
            </a:r>
            <a:endParaRPr lang="en-US" altLang="ko-KR" dirty="0"/>
          </a:p>
          <a:p>
            <a:pPr lvl="1"/>
            <a:r>
              <a:rPr lang="en-US" altLang="ko-KR" dirty="0" err="1"/>
              <a:t>HttpServletRequest</a:t>
            </a:r>
            <a:r>
              <a:rPr lang="ko-KR" altLang="en-US" dirty="0"/>
              <a:t>와 </a:t>
            </a:r>
            <a:r>
              <a:rPr lang="en-US" altLang="ko-KR" dirty="0" err="1"/>
              <a:t>HttpServletResponse</a:t>
            </a:r>
            <a:r>
              <a:rPr lang="en-US" altLang="ko-KR" dirty="0"/>
              <a:t> </a:t>
            </a:r>
            <a:r>
              <a:rPr lang="ko-KR" altLang="en-US" dirty="0"/>
              <a:t>클래스의 속성과 메서드 조사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286940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073C2-EF3B-7A68-2143-2D49E479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내용 개체 틀 9" descr="그림, 스케치, 클립아트, 일러스트레이션이(가) 표시된 사진&#10;&#10;자동 생성된 설명">
            <a:extLst>
              <a:ext uri="{FF2B5EF4-FFF2-40B4-BE49-F238E27FC236}">
                <a16:creationId xmlns:a16="http://schemas.microsoft.com/office/drawing/2014/main" id="{01313F43-2966-9AD8-0360-04A2987DD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017" y="1379039"/>
            <a:ext cx="5676190" cy="472380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F66FCB-E30A-664D-A528-C565A2A76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E5CEA9-1785-416C-EE89-073831332AFE}"/>
              </a:ext>
            </a:extLst>
          </p:cNvPr>
          <p:cNvSpPr/>
          <p:nvPr/>
        </p:nvSpPr>
        <p:spPr>
          <a:xfrm>
            <a:off x="0" y="0"/>
            <a:ext cx="9144000" cy="6816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그림, 스케치, 클립아트, 일러스트레이션이(가) 표시된 사진&#10;&#10;자동 생성된 설명">
            <a:extLst>
              <a:ext uri="{FF2B5EF4-FFF2-40B4-BE49-F238E27FC236}">
                <a16:creationId xmlns:a16="http://schemas.microsoft.com/office/drawing/2014/main" id="{04AE79A5-F6B0-BC55-28BC-3D1CFB5B7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1066800"/>
            <a:ext cx="56769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75330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서블릿</a:t>
            </a:r>
            <a:r>
              <a:rPr lang="ko-KR" altLang="en-US" dirty="0"/>
              <a:t> 응용 프로그래밍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계산기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HttpServlet</a:t>
            </a:r>
            <a:r>
              <a:rPr lang="en-US" altLang="ko-KR" dirty="0"/>
              <a:t> </a:t>
            </a:r>
            <a:r>
              <a:rPr lang="ko-KR" altLang="en-US" dirty="0"/>
              <a:t>클래스를 이용한 프로그래밍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: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</a:t>
            </a:r>
            <a:r>
              <a:rPr lang="ko-KR" altLang="en-US" dirty="0" err="1"/>
              <a:t>로직과</a:t>
            </a:r>
            <a:r>
              <a:rPr lang="ko-KR" altLang="en-US" dirty="0"/>
              <a:t> 화면 처리 통합</a:t>
            </a:r>
            <a:endParaRPr lang="en-US" altLang="ko-KR" dirty="0"/>
          </a:p>
          <a:p>
            <a:pPr lvl="2"/>
            <a:r>
              <a:rPr lang="ko-KR" altLang="en-US" dirty="0"/>
              <a:t>계산기 사용자 인터페이스 </a:t>
            </a:r>
            <a:r>
              <a:rPr lang="en-US" altLang="ko-KR" dirty="0"/>
              <a:t>: Calc1.html</a:t>
            </a:r>
          </a:p>
          <a:p>
            <a:pPr lvl="2"/>
            <a:r>
              <a:rPr lang="ko-KR" altLang="en-US" dirty="0"/>
              <a:t>계산 </a:t>
            </a:r>
            <a:r>
              <a:rPr lang="ko-KR" altLang="en-US" dirty="0" err="1"/>
              <a:t>로직과</a:t>
            </a:r>
            <a:r>
              <a:rPr lang="ko-KR" altLang="en-US" dirty="0"/>
              <a:t> </a:t>
            </a:r>
            <a:r>
              <a:rPr lang="ko-KR" altLang="en-US" dirty="0" err="1"/>
              <a:t>화면처리가</a:t>
            </a:r>
            <a:r>
              <a:rPr lang="ko-KR" altLang="en-US" dirty="0"/>
              <a:t> 통합된 </a:t>
            </a:r>
            <a:r>
              <a:rPr lang="ko-KR" altLang="en-US" dirty="0" err="1"/>
              <a:t>서블릿</a:t>
            </a:r>
            <a:r>
              <a:rPr lang="ko-KR" altLang="en-US" dirty="0"/>
              <a:t> </a:t>
            </a:r>
            <a:r>
              <a:rPr lang="en-US" altLang="ko-KR" dirty="0"/>
              <a:t>: CalcServlet1.java</a:t>
            </a:r>
          </a:p>
          <a:p>
            <a:pPr marL="7794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: </a:t>
            </a:r>
            <a:r>
              <a:rPr lang="ko-KR" altLang="en-US" dirty="0" err="1"/>
              <a:t>자바클래스</a:t>
            </a:r>
            <a:r>
              <a:rPr lang="ko-KR" altLang="en-US" dirty="0"/>
              <a:t> 이용 계산 </a:t>
            </a:r>
            <a:r>
              <a:rPr lang="ko-KR" altLang="en-US" dirty="0" err="1"/>
              <a:t>로직과</a:t>
            </a:r>
            <a:r>
              <a:rPr lang="ko-KR" altLang="en-US" dirty="0"/>
              <a:t> 화면 처리 분리</a:t>
            </a:r>
            <a:endParaRPr lang="en-US" altLang="ko-KR" dirty="0"/>
          </a:p>
          <a:p>
            <a:pPr lvl="2"/>
            <a:r>
              <a:rPr lang="ko-KR" altLang="en-US" dirty="0"/>
              <a:t>계산기 사용자 인터페이스 </a:t>
            </a:r>
            <a:r>
              <a:rPr lang="en-US" altLang="ko-KR" dirty="0"/>
              <a:t>: Calc2.html (calc1.html</a:t>
            </a:r>
            <a:r>
              <a:rPr lang="ko-KR" altLang="en-US" dirty="0"/>
              <a:t>과 거의 동일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화면 처리를 위한 </a:t>
            </a:r>
            <a:r>
              <a:rPr lang="ko-KR" altLang="en-US" dirty="0" err="1"/>
              <a:t>서블릿</a:t>
            </a:r>
            <a:r>
              <a:rPr lang="ko-KR" altLang="en-US" dirty="0"/>
              <a:t> </a:t>
            </a:r>
            <a:r>
              <a:rPr lang="en-US" altLang="ko-KR" dirty="0"/>
              <a:t>: CalcServlet2.java</a:t>
            </a:r>
          </a:p>
          <a:p>
            <a:pPr lvl="2"/>
            <a:r>
              <a:rPr lang="ko-KR" altLang="en-US" dirty="0"/>
              <a:t>계산 </a:t>
            </a:r>
            <a:r>
              <a:rPr lang="ko-KR" altLang="en-US" dirty="0" err="1"/>
              <a:t>로직</a:t>
            </a:r>
            <a:r>
              <a:rPr lang="ko-KR" altLang="en-US" dirty="0"/>
              <a:t> 처리를 위한 자바 클래스 </a:t>
            </a:r>
            <a:r>
              <a:rPr lang="en-US" altLang="ko-KR" dirty="0"/>
              <a:t>: Calculator.java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209181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ko-KR" altLang="en-US" dirty="0"/>
              <a:t>설정 </a:t>
            </a:r>
            <a:r>
              <a:rPr lang="en-US" altLang="ko-KR" dirty="0">
                <a:sym typeface="Wingdings" panose="05000000000000000000" pitchFamily="2" charset="2"/>
              </a:rPr>
              <a:t> Calc1.html</a:t>
            </a:r>
            <a:endParaRPr lang="en-US" altLang="ko-KR" dirty="0"/>
          </a:p>
          <a:p>
            <a:pPr lvl="1"/>
            <a:r>
              <a:rPr lang="en-US" altLang="ko-KR" dirty="0"/>
              <a:t>[ch04]-[</a:t>
            </a:r>
            <a:r>
              <a:rPr lang="ko-KR" altLang="en-US" dirty="0"/>
              <a:t>오른</a:t>
            </a:r>
            <a:r>
              <a:rPr lang="en-US" altLang="ko-KR" dirty="0"/>
              <a:t> </a:t>
            </a:r>
            <a:r>
              <a:rPr lang="ko-KR" altLang="en-US" dirty="0"/>
              <a:t>마우스</a:t>
            </a:r>
            <a:r>
              <a:rPr lang="en-US" altLang="ko-KR" dirty="0"/>
              <a:t>]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[New]-[HTML File]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20192"/>
            <a:ext cx="4045860" cy="436194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23528" y="5464274"/>
            <a:ext cx="1368152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926754" y="6123534"/>
            <a:ext cx="864096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722" y="2120192"/>
            <a:ext cx="4103608" cy="439729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840982" y="3914006"/>
            <a:ext cx="3693418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7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Calc1.html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EC8B46-7BA6-43E9-91B1-9CA5044BF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25" y="1424961"/>
            <a:ext cx="7353374" cy="51845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3131840" y="3727192"/>
            <a:ext cx="4320480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9978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 err="1"/>
              <a:t>서블릿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r>
              <a:rPr lang="en-US" altLang="ko-KR" dirty="0"/>
              <a:t>[ch04]-[</a:t>
            </a:r>
            <a:r>
              <a:rPr lang="ko-KR" altLang="en-US" dirty="0"/>
              <a:t>오른</a:t>
            </a:r>
            <a:r>
              <a:rPr lang="en-US" altLang="ko-KR" dirty="0"/>
              <a:t> </a:t>
            </a:r>
            <a:r>
              <a:rPr lang="ko-KR" altLang="en-US" dirty="0"/>
              <a:t>마우스</a:t>
            </a:r>
            <a:r>
              <a:rPr lang="en-US" altLang="ko-KR" dirty="0"/>
              <a:t>]-[New]-[Other] </a:t>
            </a:r>
            <a:r>
              <a:rPr lang="en-US" altLang="ko-KR" dirty="0">
                <a:sym typeface="Wingdings" panose="05000000000000000000" pitchFamily="2" charset="2"/>
              </a:rPr>
              <a:t> [Web]-[Servlet]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348880"/>
            <a:ext cx="4161593" cy="403230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39552" y="5157192"/>
            <a:ext cx="864096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E32F3D-FB5D-9D95-464E-E3A35254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123" y="2347906"/>
            <a:ext cx="4188975" cy="40323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5327912" y="3742370"/>
            <a:ext cx="1364698" cy="5079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54351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 err="1"/>
              <a:t>서블릿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16832"/>
            <a:ext cx="3888432" cy="408474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559" y="1916832"/>
            <a:ext cx="3894541" cy="408359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99592" y="2924944"/>
            <a:ext cx="2232248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906559" y="3962822"/>
            <a:ext cx="2545760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906558" y="4562078"/>
            <a:ext cx="2545761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9502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 err="1"/>
              <a:t>서블릿</a:t>
            </a:r>
            <a:r>
              <a:rPr lang="en-US" altLang="ko-KR" dirty="0"/>
              <a:t> </a:t>
            </a:r>
            <a:r>
              <a:rPr lang="ko-KR" altLang="en-US" dirty="0"/>
              <a:t>추가된</a:t>
            </a:r>
            <a:r>
              <a:rPr lang="en-US" altLang="ko-KR" dirty="0"/>
              <a:t> </a:t>
            </a:r>
            <a:r>
              <a:rPr lang="ko-KR" altLang="en-US" dirty="0"/>
              <a:t>화면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CDC20A-BE56-C8DD-3059-59C627C6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964290"/>
            <a:ext cx="8640960" cy="38359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08889181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/>
              <a:t>소스 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1" y="2132856"/>
            <a:ext cx="11046875" cy="32378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187624" y="2564904"/>
            <a:ext cx="7128792" cy="5040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199828" y="4005065"/>
            <a:ext cx="7944172" cy="10081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362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/>
              <a:t>소스 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483626"/>
            <a:ext cx="8928100" cy="48977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1115616" y="2060848"/>
            <a:ext cx="7128792" cy="648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115616" y="3552070"/>
            <a:ext cx="7128792" cy="261323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048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/>
              <a:t>소스 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6" y="1484782"/>
            <a:ext cx="8724048" cy="47525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018716" y="1484782"/>
            <a:ext cx="7515684" cy="42484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7327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CalcServlet1.java </a:t>
            </a:r>
            <a:r>
              <a:rPr lang="ko-KR" altLang="en-US" dirty="0"/>
              <a:t>소스 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4" y="1628798"/>
            <a:ext cx="8772632" cy="403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018716" y="1595460"/>
            <a:ext cx="7515684" cy="38497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9881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2] </a:t>
            </a:r>
            <a:r>
              <a:rPr lang="ko-KR" altLang="en-US" dirty="0" err="1"/>
              <a:t>서블릿에서</a:t>
            </a:r>
            <a:r>
              <a:rPr lang="ko-KR" altLang="en-US" dirty="0"/>
              <a:t> 계산 화면처리 통합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[Calc1.html </a:t>
            </a:r>
            <a:r>
              <a:rPr lang="ko-KR" altLang="en-US" dirty="0"/>
              <a:t>소스코드</a:t>
            </a:r>
            <a:r>
              <a:rPr lang="en-US" altLang="ko-KR" dirty="0"/>
              <a:t>]-[</a:t>
            </a:r>
            <a:r>
              <a:rPr lang="ko-KR" altLang="en-US" dirty="0"/>
              <a:t>오른 마우스</a:t>
            </a:r>
            <a:r>
              <a:rPr lang="en-US" altLang="ko-KR" dirty="0"/>
              <a:t>]-[Run</a:t>
            </a:r>
            <a:r>
              <a:rPr lang="ko-KR" altLang="en-US" dirty="0"/>
              <a:t> </a:t>
            </a:r>
            <a:r>
              <a:rPr lang="en-US" altLang="ko-KR" dirty="0"/>
              <a:t>As]-[Run on Server]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044796"/>
            <a:ext cx="6085714" cy="25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835696" y="3320986"/>
            <a:ext cx="2376264" cy="5040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3858380"/>
            <a:ext cx="6076190" cy="25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42062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51" y="2082093"/>
            <a:ext cx="4111083" cy="44156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화면처리</a:t>
            </a:r>
            <a:r>
              <a:rPr lang="ko-KR" altLang="en-US" dirty="0"/>
              <a:t>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ko-KR" altLang="en-US" dirty="0"/>
              <a:t>설정 </a:t>
            </a:r>
            <a:r>
              <a:rPr lang="en-US" altLang="ko-KR" dirty="0">
                <a:sym typeface="Wingdings" panose="05000000000000000000" pitchFamily="2" charset="2"/>
              </a:rPr>
              <a:t> Calc2.html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WebContent</a:t>
            </a:r>
            <a:r>
              <a:rPr lang="en-US" altLang="ko-KR" dirty="0"/>
              <a:t>]-[ch04]-[</a:t>
            </a:r>
            <a:r>
              <a:rPr lang="ko-KR" altLang="en-US" dirty="0"/>
              <a:t>오른</a:t>
            </a:r>
            <a:r>
              <a:rPr lang="en-US" altLang="ko-KR" dirty="0"/>
              <a:t> </a:t>
            </a:r>
            <a:r>
              <a:rPr lang="ko-KR" altLang="en-US" dirty="0"/>
              <a:t>마우스</a:t>
            </a:r>
            <a:r>
              <a:rPr lang="en-US" altLang="ko-KR" dirty="0"/>
              <a:t>]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[New]-[HTML File]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>
            <a:off x="323528" y="5464274"/>
            <a:ext cx="1368152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926754" y="6123534"/>
            <a:ext cx="864096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722" y="2120192"/>
            <a:ext cx="4103608" cy="439729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840982" y="3914006"/>
            <a:ext cx="3693418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34505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ko-KR" altLang="en-US" dirty="0"/>
              <a:t>설정 </a:t>
            </a:r>
            <a:r>
              <a:rPr lang="en-US" altLang="ko-KR" dirty="0">
                <a:sym typeface="Wingdings" panose="05000000000000000000" pitchFamily="2" charset="2"/>
              </a:rPr>
              <a:t> Calc2.html  Calc1.html </a:t>
            </a:r>
            <a:r>
              <a:rPr lang="ko-KR" altLang="en-US" dirty="0">
                <a:sym typeface="Wingdings" panose="05000000000000000000" pitchFamily="2" charset="2"/>
              </a:rPr>
              <a:t>코드 복사 후 수정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E9B348-B058-4DA9-A5A0-2AEA6A55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150" y="1412084"/>
            <a:ext cx="6841700" cy="50412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1835697" y="3542536"/>
            <a:ext cx="5760640" cy="2106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1898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Calculator.java </a:t>
            </a:r>
            <a:r>
              <a:rPr lang="ko-KR" altLang="en-US" dirty="0"/>
              <a:t>클래스 추가</a:t>
            </a:r>
            <a:endParaRPr lang="en-US" altLang="ko-KR" dirty="0"/>
          </a:p>
          <a:p>
            <a:pPr lvl="1"/>
            <a:r>
              <a:rPr lang="en-US" altLang="ko-KR" dirty="0"/>
              <a:t>[ch04]-</a:t>
            </a:r>
            <a:r>
              <a:rPr lang="ko-KR" altLang="en-US" dirty="0" err="1"/>
              <a:t>오른마우스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[New]-[Other]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32" y="2060848"/>
            <a:ext cx="4298268" cy="414774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95313" y="3356992"/>
            <a:ext cx="3960664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581" y="2060848"/>
            <a:ext cx="3685462" cy="438514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4693580" y="3006477"/>
            <a:ext cx="2974987" cy="1908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704904" y="3552838"/>
            <a:ext cx="2974987" cy="1908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4704246" y="5507707"/>
            <a:ext cx="2974987" cy="19087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64385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</a:t>
            </a:r>
            <a:r>
              <a:rPr lang="en-US" altLang="ko-KR" dirty="0"/>
              <a:t>Calculator.java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988C23-B81E-D492-72BF-D4DB819253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678"/>
          <a:stretch/>
        </p:blipFill>
        <p:spPr>
          <a:xfrm>
            <a:off x="1406921" y="1556792"/>
            <a:ext cx="6352381" cy="46805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49351180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Calculator.java </a:t>
            </a:r>
            <a:r>
              <a:rPr lang="ko-KR" altLang="en-US" dirty="0"/>
              <a:t>소스 코드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36" y="1457572"/>
            <a:ext cx="7782752" cy="50405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331640" y="1706140"/>
            <a:ext cx="6336704" cy="4531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322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CalcServlet2.java </a:t>
            </a:r>
            <a:r>
              <a:rPr lang="ko-KR" altLang="en-US" dirty="0"/>
              <a:t>클래스 추가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WebContent</a:t>
            </a:r>
            <a:r>
              <a:rPr lang="en-US" altLang="ko-KR" dirty="0"/>
              <a:t>]-[ch04]-</a:t>
            </a:r>
            <a:r>
              <a:rPr lang="ko-KR" altLang="en-US" dirty="0" err="1"/>
              <a:t>오른마우스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[New]-[Other]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4242790" cy="409478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2111160"/>
            <a:ext cx="4248472" cy="411648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23528" y="4725144"/>
            <a:ext cx="3024336" cy="2106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716016" y="3530253"/>
            <a:ext cx="3672408" cy="47481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23197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CalcServlet2.java </a:t>
            </a:r>
            <a:r>
              <a:rPr lang="ko-KR" altLang="en-US" dirty="0"/>
              <a:t>클래스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6792"/>
            <a:ext cx="4190255" cy="439248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647" y="1551582"/>
            <a:ext cx="4176752" cy="4378723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78978" y="2708920"/>
            <a:ext cx="3500933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860033" y="3861048"/>
            <a:ext cx="3096344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860033" y="4422004"/>
            <a:ext cx="3096344" cy="3751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87990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CalcServlet2.java </a:t>
            </a:r>
            <a:r>
              <a:rPr lang="ko-KR" altLang="en-US" dirty="0"/>
              <a:t>소스 코드 수정</a:t>
            </a:r>
            <a:endParaRPr lang="en-US" altLang="ko-KR" dirty="0"/>
          </a:p>
          <a:p>
            <a:pPr lvl="1"/>
            <a:r>
              <a:rPr lang="en-US" altLang="ko-KR" dirty="0"/>
              <a:t>CalcServlet1.java</a:t>
            </a:r>
            <a:r>
              <a:rPr lang="ko-KR" altLang="en-US" dirty="0"/>
              <a:t>의 코드 복사하여 일부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3" y="1988840"/>
            <a:ext cx="8977274" cy="33123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958371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CalcServlet2.java </a:t>
            </a:r>
            <a:r>
              <a:rPr lang="ko-KR" altLang="en-US" dirty="0"/>
              <a:t>소스 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33383"/>
            <a:ext cx="6350489" cy="50674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6002865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CalcServlet2.java </a:t>
            </a:r>
            <a:r>
              <a:rPr lang="ko-KR" altLang="en-US" dirty="0"/>
              <a:t>소스 코드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63" y="1412776"/>
            <a:ext cx="8607074" cy="51845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467167" y="1412776"/>
            <a:ext cx="6921257" cy="20882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122483" y="5949280"/>
            <a:ext cx="7265941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76104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3] java </a:t>
            </a:r>
            <a:r>
              <a:rPr lang="ko-KR" altLang="en-US" dirty="0"/>
              <a:t>클래스 이용 계산</a:t>
            </a:r>
            <a:r>
              <a:rPr lang="en-US" altLang="ko-KR" dirty="0"/>
              <a:t>,</a:t>
            </a:r>
            <a:r>
              <a:rPr lang="ko-KR" altLang="en-US" dirty="0"/>
              <a:t> 화면처리 분리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결과는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동일</a:t>
            </a:r>
            <a:endParaRPr lang="en-US" altLang="ko-KR" dirty="0"/>
          </a:p>
          <a:p>
            <a:pPr lvl="1"/>
            <a:r>
              <a:rPr lang="en-US" altLang="ko-KR" dirty="0"/>
              <a:t>[ch04]-[Calc2.html]-[</a:t>
            </a:r>
            <a:r>
              <a:rPr lang="ko-KR" altLang="en-US" dirty="0"/>
              <a:t>오른 마우스</a:t>
            </a:r>
            <a:r>
              <a:rPr lang="en-US" altLang="ko-KR" dirty="0"/>
              <a:t>]-[Run As]-[Run on Server]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492896"/>
            <a:ext cx="5466667" cy="22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1475657" y="3621467"/>
            <a:ext cx="2448272" cy="38359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14853"/>
          <a:stretch/>
        </p:blipFill>
        <p:spPr>
          <a:xfrm>
            <a:off x="3353481" y="4144147"/>
            <a:ext cx="5447619" cy="21651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5589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서블릿</a:t>
            </a:r>
            <a:r>
              <a:rPr lang="ko-KR" altLang="en-US" dirty="0"/>
              <a:t> 구조와 생명주기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컨테이너에 의해 </a:t>
            </a:r>
            <a:r>
              <a:rPr lang="ko-KR" altLang="en-US" dirty="0" err="1">
                <a:solidFill>
                  <a:srgbClr val="C00000"/>
                </a:solidFill>
              </a:rPr>
              <a:t>서블릿</a:t>
            </a:r>
            <a:r>
              <a:rPr lang="ko-KR" altLang="en-US" dirty="0">
                <a:solidFill>
                  <a:srgbClr val="C00000"/>
                </a:solidFill>
              </a:rPr>
              <a:t> 형태의 자바 소스로 변환</a:t>
            </a:r>
            <a:r>
              <a:rPr lang="ko-KR" altLang="en-US" dirty="0"/>
              <a:t>되어 클래스로 </a:t>
            </a:r>
            <a:r>
              <a:rPr lang="ko-KR" altLang="en-US" dirty="0" err="1"/>
              <a:t>컴파일되고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ko-KR" altLang="en-US" dirty="0" err="1"/>
              <a:t>서블릿</a:t>
            </a:r>
            <a:r>
              <a:rPr lang="ko-KR" altLang="en-US" dirty="0"/>
              <a:t> 컨테이너에 저장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서블릿을</a:t>
            </a:r>
            <a:r>
              <a:rPr lang="ko-KR" altLang="en-US" dirty="0"/>
              <a:t> 이용한 예제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Hello World Servlet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서블릿에서</a:t>
            </a:r>
            <a:r>
              <a:rPr lang="en-US" altLang="ko-KR" dirty="0"/>
              <a:t> </a:t>
            </a:r>
            <a:r>
              <a:rPr lang="ko-KR" altLang="en-US" dirty="0"/>
              <a:t>계산과 결과를 모두 제시하는 예제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서블릿과</a:t>
            </a:r>
            <a:r>
              <a:rPr lang="ko-KR" altLang="en-US" dirty="0"/>
              <a:t>  </a:t>
            </a:r>
            <a:r>
              <a:rPr lang="en-US" altLang="ko-KR" dirty="0"/>
              <a:t>java</a:t>
            </a:r>
            <a:r>
              <a:rPr lang="ko-KR" altLang="en-US" dirty="0"/>
              <a:t> 클래스를 이용하여 계산과 </a:t>
            </a:r>
            <a:r>
              <a:rPr lang="en-US" altLang="ko-KR" dirty="0"/>
              <a:t>UI</a:t>
            </a:r>
            <a:r>
              <a:rPr lang="ko-KR" altLang="en-US" dirty="0"/>
              <a:t>를 분리한 예제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945914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0DC38-B5F8-4CD5-903A-37D28903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181BB-95B4-4122-86F9-52E7990ED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6B6020E-B585-64A3-71FD-EDD60C3B1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445962"/>
              </p:ext>
            </p:extLst>
          </p:nvPr>
        </p:nvGraphicFramePr>
        <p:xfrm>
          <a:off x="251520" y="669923"/>
          <a:ext cx="8642347" cy="603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50937942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348270110"/>
                    </a:ext>
                  </a:extLst>
                </a:gridCol>
                <a:gridCol w="2024433">
                  <a:extLst>
                    <a:ext uri="{9D8B030D-6E8A-4147-A177-3AD203B41FA5}">
                      <a16:colId xmlns:a16="http://schemas.microsoft.com/office/drawing/2014/main" val="1796347908"/>
                    </a:ext>
                  </a:extLst>
                </a:gridCol>
                <a:gridCol w="1215927">
                  <a:extLst>
                    <a:ext uri="{9D8B030D-6E8A-4147-A177-3AD203B41FA5}">
                      <a16:colId xmlns:a16="http://schemas.microsoft.com/office/drawing/2014/main" val="4052042237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33526796"/>
                    </a:ext>
                  </a:extLst>
                </a:gridCol>
                <a:gridCol w="2017611">
                  <a:extLst>
                    <a:ext uri="{9D8B030D-6E8A-4147-A177-3AD203B41FA5}">
                      <a16:colId xmlns:a16="http://schemas.microsoft.com/office/drawing/2014/main" val="3336172251"/>
                    </a:ext>
                  </a:extLst>
                </a:gridCol>
              </a:tblGrid>
              <a:tr h="1622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21778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abstract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5232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operator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46549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79827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align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7990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316872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argument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71386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calculate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82273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parttern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13772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private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24209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component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protected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5640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constructor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14134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contain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redirect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540993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807169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9133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26142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destination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456223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destroy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37390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35792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secure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49145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4405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31574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85150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finish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1016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specific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48724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gateway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specify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599022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99173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587425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information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stub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37634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inherit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submit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662290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throw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93629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initialization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70489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4683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354681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49582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98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32666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8EB49-F4D9-A2E9-6F96-DC734589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1F910-7C2C-1D28-05CA-0660343C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5FA9EC-9897-CAD5-5611-5299A19E2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057751A-E4C1-582F-2202-FAC6DEA4C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254388"/>
              </p:ext>
            </p:extLst>
          </p:nvPr>
        </p:nvGraphicFramePr>
        <p:xfrm>
          <a:off x="827584" y="1268760"/>
          <a:ext cx="7488832" cy="432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810349161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321695506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6555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88012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CGI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0995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19536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7921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59751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6962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70280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0423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query string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41921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Servlet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54503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text/html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7039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8537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26131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44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517999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20683</TotalTime>
  <Words>1777</Words>
  <Application>Microsoft Office PowerPoint</Application>
  <PresentationFormat>화면 슬라이드 쇼(4:3)</PresentationFormat>
  <Paragraphs>418</Paragraphs>
  <Slides>56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3" baseType="lpstr">
      <vt:lpstr>HY견고딕</vt:lpstr>
      <vt:lpstr>굴림</vt:lpstr>
      <vt:lpstr>맑은 고딕</vt:lpstr>
      <vt:lpstr>휴먼엑스포</vt:lpstr>
      <vt:lpstr>Times New Roman</vt:lpstr>
      <vt:lpstr>Wingdings</vt:lpstr>
      <vt:lpstr>기본 디자인</vt:lpstr>
      <vt:lpstr>서블릿(Servlet)</vt:lpstr>
      <vt:lpstr>PowerPoint 프레젠테이션</vt:lpstr>
      <vt:lpstr>행복한 경영 이야기 (www.happyceo.or.kr)</vt:lpstr>
      <vt:lpstr>학습목표</vt:lpstr>
      <vt:lpstr>JSP 개요</vt:lpstr>
      <vt:lpstr>JSP 개요</vt:lpstr>
      <vt:lpstr>서블릿 개요</vt:lpstr>
      <vt:lpstr>서블릿 개요</vt:lpstr>
      <vt:lpstr>서블릿 개요</vt:lpstr>
      <vt:lpstr>서블릿 구조와 생명 주기</vt:lpstr>
      <vt:lpstr>서블릿 구조와 생명 주기</vt:lpstr>
      <vt:lpstr>서블릿 구조와 생명 주기</vt:lpstr>
      <vt:lpstr>서블릿 구조와 생명 주기</vt:lpstr>
      <vt:lpstr>[실습1] 서블릿 프로그래밍  Hello World</vt:lpstr>
      <vt:lpstr>[실습1] 서블릿 프로그래밍  Hello World</vt:lpstr>
      <vt:lpstr>[실습1] 서블릿 프로그래밍  Hello World</vt:lpstr>
      <vt:lpstr>[실습1] 서블릿 프로그래밍  Hello World</vt:lpstr>
      <vt:lpstr>[실습1] 서블릿 프로그래밍  Hello World</vt:lpstr>
      <vt:lpstr>[실습1] 서블릿 프로그래밍  Hello World</vt:lpstr>
      <vt:lpstr>HttpServletRequest</vt:lpstr>
      <vt:lpstr>HttpServletResponse</vt:lpstr>
      <vt:lpstr>[실습1] 서블릿 프로그래밍  Hello World</vt:lpstr>
      <vt:lpstr>[참고] Ctrl + Shift + O</vt:lpstr>
      <vt:lpstr>[참고] Ctrl + Shift + O</vt:lpstr>
      <vt:lpstr>[실습1] 서블릿 프로그래밍  Hello World</vt:lpstr>
      <vt:lpstr>[실습1] 서블릿 프로그래밍  Hello World</vt:lpstr>
      <vt:lpstr>HttpServlet 클래스</vt:lpstr>
      <vt:lpstr>HttpServlet 클래스</vt:lpstr>
      <vt:lpstr>HttpServlet 클래스</vt:lpstr>
      <vt:lpstr>PowerPoint 프레젠테이션</vt:lpstr>
      <vt:lpstr>서블릿 응용 프로그래밍  계산기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2] 서블릿에서 계산 화면처리 통합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[실습 3] java 클래스 이용 계산, 화면처리 분리</vt:lpstr>
      <vt:lpstr>학습 요약</vt:lpstr>
      <vt:lpstr>단어</vt:lpstr>
      <vt:lpstr>용어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490</cp:revision>
  <dcterms:created xsi:type="dcterms:W3CDTF">2003-05-07T20:17:23Z</dcterms:created>
  <dcterms:modified xsi:type="dcterms:W3CDTF">2025-09-10T05:39:24Z</dcterms:modified>
</cp:coreProperties>
</file>