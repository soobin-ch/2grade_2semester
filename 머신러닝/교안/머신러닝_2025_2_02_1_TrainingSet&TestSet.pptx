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632" r:id="rId2"/>
    <p:sldId id="722" r:id="rId3"/>
    <p:sldId id="719" r:id="rId4"/>
    <p:sldId id="720" r:id="rId5"/>
    <p:sldId id="723" r:id="rId6"/>
    <p:sldId id="724" r:id="rId7"/>
    <p:sldId id="721" r:id="rId8"/>
    <p:sldId id="725" r:id="rId9"/>
    <p:sldId id="726" r:id="rId10"/>
    <p:sldId id="727" r:id="rId11"/>
    <p:sldId id="728" r:id="rId12"/>
    <p:sldId id="717" r:id="rId13"/>
    <p:sldId id="703" r:id="rId14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148" autoAdjust="0"/>
  </p:normalViewPr>
  <p:slideViewPr>
    <p:cSldViewPr>
      <p:cViewPr varScale="1">
        <p:scale>
          <a:sx n="87" d="100"/>
          <a:sy n="87" d="100"/>
        </p:scale>
        <p:origin x="1156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36512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컴퓨터소프트웨어과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6"/>
            <a:ext cx="7514232" cy="1669197"/>
          </a:xfrm>
        </p:spPr>
        <p:txBody>
          <a:bodyPr/>
          <a:lstStyle/>
          <a:p>
            <a:pPr algn="ctr">
              <a:defRPr/>
            </a:pPr>
            <a:r>
              <a:rPr lang="en-US" altLang="ko-KR" sz="4000"/>
              <a:t>Training Set</a:t>
            </a:r>
            <a:br>
              <a:rPr lang="en-US" altLang="ko-KR" sz="2400"/>
            </a:br>
            <a:r>
              <a:rPr lang="en-US" altLang="ko-KR" sz="2400"/>
              <a:t>&amp;</a:t>
            </a:r>
            <a:br>
              <a:rPr lang="en-US" altLang="ko-KR" sz="2400"/>
            </a:br>
            <a:r>
              <a:rPr lang="en-US" altLang="ko-KR" sz="4000"/>
              <a:t>Test Set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en-US" altLang="ko-KR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013176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https://www.mathworks.com/&gt;</a:t>
            </a:r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2" descr="Figure 1. Three broad categories of machine learning: unsupervised learning, supervised learning and reinforcement learning">
            <a:extLst>
              <a:ext uri="{FF2B5EF4-FFF2-40B4-BE49-F238E27FC236}">
                <a16:creationId xmlns:a16="http://schemas.microsoft.com/office/drawing/2014/main" id="{EEBABAA4-90E2-414E-A23C-5E35934D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777935"/>
            <a:ext cx="4464496" cy="226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F84D4-1220-4ACA-A103-F13EAF52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도미 데이터와 빙어 데이터 준비</a:t>
            </a:r>
            <a:endParaRPr lang="en-US" altLang="ko-KR"/>
          </a:p>
          <a:p>
            <a:r>
              <a:rPr lang="ko-KR" altLang="en-US"/>
              <a:t>도미 데이터와 빙어 데이터의 산점도</a:t>
            </a:r>
            <a:r>
              <a:rPr lang="en-US" altLang="ko-KR"/>
              <a:t>(scatter plot) </a:t>
            </a:r>
            <a:r>
              <a:rPr lang="ko-KR" altLang="en-US"/>
              <a:t>확인</a:t>
            </a:r>
            <a:endParaRPr lang="en-US" altLang="ko-KR"/>
          </a:p>
          <a:p>
            <a:r>
              <a:rPr lang="ko-KR" altLang="en-US"/>
              <a:t>독립변수</a:t>
            </a:r>
            <a:r>
              <a:rPr lang="en-US" altLang="ko-KR"/>
              <a:t>(</a:t>
            </a:r>
            <a:r>
              <a:rPr lang="ko-KR" altLang="en-US"/>
              <a:t>물고기의 특성</a:t>
            </a:r>
            <a:r>
              <a:rPr lang="en-US" altLang="ko-KR"/>
              <a:t>: [[</a:t>
            </a:r>
            <a:r>
              <a:rPr lang="ko-KR" altLang="en-US"/>
              <a:t>길이</a:t>
            </a:r>
            <a:r>
              <a:rPr lang="en-US" altLang="ko-KR"/>
              <a:t>, </a:t>
            </a:r>
            <a:r>
              <a:rPr lang="ko-KR" altLang="en-US"/>
              <a:t>무게</a:t>
            </a:r>
            <a:r>
              <a:rPr lang="en-US" altLang="ko-KR"/>
              <a:t>], ...]), </a:t>
            </a:r>
            <a:r>
              <a:rPr lang="ko-KR" altLang="en-US"/>
              <a:t>종속변수</a:t>
            </a:r>
            <a:r>
              <a:rPr lang="en-US" altLang="ko-KR"/>
              <a:t>(</a:t>
            </a:r>
            <a:r>
              <a:rPr lang="ko-KR" altLang="en-US"/>
              <a:t>도미 </a:t>
            </a:r>
            <a:r>
              <a:rPr lang="en-US" altLang="ko-KR"/>
              <a:t>or</a:t>
            </a:r>
            <a:r>
              <a:rPr lang="ko-KR" altLang="en-US"/>
              <a:t> 빙어</a:t>
            </a:r>
            <a:r>
              <a:rPr lang="en-US" altLang="ko-KR"/>
              <a:t>: [1/0, ...]) </a:t>
            </a:r>
            <a:r>
              <a:rPr lang="ko-KR" altLang="en-US"/>
              <a:t>준비</a:t>
            </a:r>
            <a:endParaRPr lang="en-US" altLang="ko-KR"/>
          </a:p>
          <a:p>
            <a:pPr lvl="1"/>
            <a:r>
              <a:rPr lang="en-US" altLang="ko-KR"/>
              <a:t>fish_data = [[l, w] for l, w in zip(length, weight)]</a:t>
            </a:r>
          </a:p>
          <a:p>
            <a:r>
              <a:rPr lang="en-US" altLang="ko-KR"/>
              <a:t>k-</a:t>
            </a:r>
            <a:r>
              <a:rPr lang="ko-KR" altLang="en-US"/>
              <a:t>최근접 이웃 알고리즘</a:t>
            </a:r>
            <a:endParaRPr lang="en-US" altLang="ko-KR"/>
          </a:p>
          <a:p>
            <a:pPr lvl="1"/>
            <a:r>
              <a:rPr lang="ko-KR" altLang="en-US"/>
              <a:t>인접한 </a:t>
            </a:r>
            <a:r>
              <a:rPr lang="en-US" altLang="ko-KR"/>
              <a:t>k</a:t>
            </a:r>
            <a:r>
              <a:rPr lang="ko-KR" altLang="en-US"/>
              <a:t>개의 분류에 따라 결정</a:t>
            </a:r>
            <a:endParaRPr lang="en-US" altLang="ko-KR"/>
          </a:p>
          <a:p>
            <a:pPr lvl="1"/>
            <a:r>
              <a:rPr lang="en-US" altLang="ko-KR"/>
              <a:t>sklearn.neighbors</a:t>
            </a:r>
            <a:r>
              <a:rPr lang="ko-KR" altLang="en-US"/>
              <a:t>의 </a:t>
            </a:r>
            <a:r>
              <a:rPr lang="en-US" altLang="ko-KR"/>
              <a:t>KNeighborsClassifier </a:t>
            </a:r>
            <a:r>
              <a:rPr lang="ko-KR" altLang="en-US"/>
              <a:t>클래스 이용</a:t>
            </a:r>
            <a:endParaRPr lang="en-US" altLang="ko-KR"/>
          </a:p>
          <a:p>
            <a:pPr lvl="1"/>
            <a:r>
              <a:rPr lang="ko-KR" altLang="en-US"/>
              <a:t>훈련</a:t>
            </a:r>
            <a:r>
              <a:rPr lang="en-US" altLang="ko-KR"/>
              <a:t>: fit(fish_data, fish_target)</a:t>
            </a:r>
          </a:p>
          <a:p>
            <a:pPr lvl="1"/>
            <a:r>
              <a:rPr lang="ko-KR" altLang="en-US"/>
              <a:t>평가</a:t>
            </a:r>
            <a:r>
              <a:rPr lang="en-US" altLang="ko-KR"/>
              <a:t>: score(fish_data, fish_target)</a:t>
            </a:r>
          </a:p>
          <a:p>
            <a:pPr lvl="1"/>
            <a:r>
              <a:rPr lang="ko-KR" altLang="en-US"/>
              <a:t>예측</a:t>
            </a:r>
            <a:r>
              <a:rPr lang="en-US" altLang="ko-KR"/>
              <a:t>: predict(new_fish)</a:t>
            </a:r>
          </a:p>
          <a:p>
            <a:pPr lvl="1"/>
            <a:r>
              <a:rPr lang="ko-KR" altLang="en-US"/>
              <a:t>참조 </a:t>
            </a:r>
            <a:r>
              <a:rPr lang="en-US" altLang="ko-KR"/>
              <a:t>data</a:t>
            </a:r>
            <a:r>
              <a:rPr lang="ko-KR" altLang="en-US"/>
              <a:t>의 수</a:t>
            </a:r>
            <a:r>
              <a:rPr lang="en-US" altLang="ko-KR"/>
              <a:t>: n_neighbors (default=5)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1E4D7-BB54-4FF2-8452-113620F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 시간이 종료되면 학생들은</a:t>
            </a:r>
            <a:endParaRPr lang="en-US" altLang="ko-KR"/>
          </a:p>
          <a:p>
            <a:pPr lvl="1"/>
            <a:r>
              <a:rPr lang="ko-KR" altLang="en-US"/>
              <a:t>지도학습과 비지도학습의 차이점을 설명할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샘플링 편향을 이해하고</a:t>
            </a:r>
            <a:r>
              <a:rPr lang="en-US" altLang="ko-KR"/>
              <a:t>, </a:t>
            </a:r>
            <a:r>
              <a:rPr lang="ko-KR" altLang="en-US"/>
              <a:t>이를 극복할 수 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A54BA-95FC-4607-A7F0-92D809D2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지도학습과 비지도학습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C93FD-C0DC-4A8D-BD20-7DABF0A80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첫 번째 모델의 문제점</a:t>
            </a:r>
            <a:endParaRPr lang="en-US" altLang="ko-KR" dirty="0"/>
          </a:p>
          <a:p>
            <a:pPr lvl="1"/>
            <a:r>
              <a:rPr lang="ko-KR" altLang="en-US" dirty="0"/>
              <a:t>주어진 모든 데이터를 저장하고 있으면서</a:t>
            </a:r>
            <a:r>
              <a:rPr lang="en-US" altLang="ko-KR" dirty="0"/>
              <a:t>, </a:t>
            </a:r>
            <a:r>
              <a:rPr lang="ko-KR" altLang="en-US" dirty="0"/>
              <a:t>가장 가까운 이웃을 찾는 것</a:t>
            </a:r>
            <a:r>
              <a:rPr lang="en-US" altLang="ko-KR" dirty="0"/>
              <a:t>(k-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100% </a:t>
            </a:r>
            <a:r>
              <a:rPr lang="ko-KR" altLang="en-US" dirty="0"/>
              <a:t>정확도가 당연함</a:t>
            </a:r>
            <a:endParaRPr lang="en-US" altLang="ko-KR" dirty="0"/>
          </a:p>
          <a:p>
            <a:r>
              <a:rPr lang="ko-KR" altLang="en-US" dirty="0"/>
              <a:t>지도학습</a:t>
            </a:r>
            <a:r>
              <a:rPr lang="en-US" altLang="ko-KR" dirty="0"/>
              <a:t>(</a:t>
            </a:r>
            <a:r>
              <a:rPr lang="en-US" altLang="ko-KR" dirty="0" err="1"/>
              <a:t>Supervisd</a:t>
            </a:r>
            <a:r>
              <a:rPr lang="en-US" altLang="ko-KR" dirty="0"/>
              <a:t> Learning)</a:t>
            </a:r>
            <a:r>
              <a:rPr lang="ko-KR" altLang="en-US" dirty="0"/>
              <a:t>과 비지도학습</a:t>
            </a:r>
            <a:r>
              <a:rPr lang="en-US" altLang="ko-KR" dirty="0"/>
              <a:t>(Unsupervised Learning)</a:t>
            </a:r>
          </a:p>
          <a:p>
            <a:pPr lvl="1"/>
            <a:r>
              <a:rPr lang="ko-KR" altLang="en-US" dirty="0"/>
              <a:t>지도학습</a:t>
            </a:r>
            <a:endParaRPr lang="en-US" altLang="ko-KR" dirty="0"/>
          </a:p>
          <a:p>
            <a:pPr lvl="2"/>
            <a:r>
              <a:rPr lang="en-US" altLang="ko-KR" dirty="0"/>
              <a:t>Labeled</a:t>
            </a:r>
            <a:r>
              <a:rPr lang="ko-KR" altLang="en-US" dirty="0"/>
              <a:t> </a:t>
            </a:r>
            <a:r>
              <a:rPr lang="en-US" altLang="ko-KR" dirty="0"/>
              <a:t>data(</a:t>
            </a:r>
            <a:r>
              <a:rPr lang="ko-KR" altLang="en-US" dirty="0"/>
              <a:t>분류된 </a:t>
            </a:r>
            <a:r>
              <a:rPr lang="en-US" altLang="ko-KR" dirty="0"/>
              <a:t>data) </a:t>
            </a:r>
            <a:r>
              <a:rPr lang="ko-KR" altLang="en-US" dirty="0"/>
              <a:t>이용 학습</a:t>
            </a:r>
            <a:r>
              <a:rPr lang="en-US" altLang="ko-KR" dirty="0"/>
              <a:t>: </a:t>
            </a:r>
            <a:r>
              <a:rPr lang="ko-KR" altLang="en-US" dirty="0"/>
              <a:t>훈련 데이터 셋</a:t>
            </a:r>
            <a:r>
              <a:rPr lang="en-US" altLang="ko-KR" dirty="0"/>
              <a:t>(Training data set)</a:t>
            </a:r>
          </a:p>
          <a:p>
            <a:pPr lvl="3"/>
            <a:r>
              <a:rPr lang="ko-KR" altLang="en-US" dirty="0"/>
              <a:t>예</a:t>
            </a:r>
            <a:r>
              <a:rPr lang="en-US" altLang="ko-KR" dirty="0"/>
              <a:t>: Image Labeling, Email Spam Filter, AlphaGo Lee, ...</a:t>
            </a:r>
          </a:p>
          <a:p>
            <a:pPr lvl="2"/>
            <a:r>
              <a:rPr lang="ko-KR" altLang="en-US" dirty="0"/>
              <a:t>예측에 사용</a:t>
            </a:r>
            <a:endParaRPr lang="en-US" altLang="ko-KR" dirty="0"/>
          </a:p>
          <a:p>
            <a:pPr lvl="2"/>
            <a:r>
              <a:rPr lang="ko-KR" altLang="en-US" dirty="0"/>
              <a:t>분류</a:t>
            </a:r>
            <a:r>
              <a:rPr lang="en-US" altLang="ko-KR" dirty="0"/>
              <a:t>(classification)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회기분석</a:t>
            </a:r>
            <a:r>
              <a:rPr lang="en-US" altLang="ko-KR" dirty="0"/>
              <a:t>(regression)</a:t>
            </a:r>
            <a:r>
              <a:rPr lang="ko-KR" altLang="en-US" dirty="0"/>
              <a:t>으로 나뉨</a:t>
            </a:r>
            <a:endParaRPr lang="en-US" altLang="ko-KR" dirty="0"/>
          </a:p>
          <a:p>
            <a:pPr lvl="1"/>
            <a:r>
              <a:rPr lang="ko-KR" altLang="en-US" dirty="0"/>
              <a:t>비지도학습</a:t>
            </a:r>
            <a:endParaRPr lang="en-US" altLang="ko-KR" dirty="0"/>
          </a:p>
          <a:p>
            <a:pPr lvl="2"/>
            <a:r>
              <a:rPr lang="en-US" altLang="ko-KR" dirty="0"/>
              <a:t>Unlabeled data(</a:t>
            </a:r>
            <a:r>
              <a:rPr lang="ko-KR" altLang="en-US" dirty="0"/>
              <a:t>분류되지 않은 </a:t>
            </a:r>
            <a:r>
              <a:rPr lang="en-US" altLang="ko-KR" dirty="0"/>
              <a:t>data) </a:t>
            </a:r>
            <a:r>
              <a:rPr lang="ko-KR" altLang="en-US" dirty="0"/>
              <a:t>이용 학습</a:t>
            </a:r>
            <a:endParaRPr lang="en-US" altLang="ko-KR" dirty="0"/>
          </a:p>
          <a:p>
            <a:pPr lvl="2"/>
            <a:r>
              <a:rPr lang="ko-KR" altLang="en-US" dirty="0"/>
              <a:t>분석에 사용</a:t>
            </a:r>
            <a:endParaRPr lang="en-US" altLang="ko-KR" dirty="0"/>
          </a:p>
          <a:p>
            <a:pPr lvl="2"/>
            <a:r>
              <a:rPr lang="ko-KR" altLang="en-US" dirty="0"/>
              <a:t>군집</a:t>
            </a:r>
            <a:r>
              <a:rPr lang="en-US" altLang="ko-KR" dirty="0"/>
              <a:t>(clustering)</a:t>
            </a:r>
            <a:r>
              <a:rPr lang="ko-KR" altLang="en-US" dirty="0"/>
              <a:t>과 차원축소</a:t>
            </a:r>
            <a:r>
              <a:rPr lang="en-US" altLang="ko-KR" dirty="0"/>
              <a:t>(Dimensionality Reduction)</a:t>
            </a:r>
            <a:r>
              <a:rPr lang="ko-KR" altLang="en-US" dirty="0"/>
              <a:t>으로 나뉨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C19B15-44A4-427D-B7A3-E62677482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7519B-F6E4-4142-A2F4-1B3756CDCD31}"/>
              </a:ext>
            </a:extLst>
          </p:cNvPr>
          <p:cNvSpPr txBox="1"/>
          <p:nvPr/>
        </p:nvSpPr>
        <p:spPr>
          <a:xfrm>
            <a:off x="1907704" y="2963396"/>
            <a:ext cx="3621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>
                <a:solidFill>
                  <a:srgbClr val="FF0000"/>
                </a:solidFill>
                <a:sym typeface="Wingdings" panose="05000000000000000000" pitchFamily="2" charset="2"/>
              </a:rPr>
              <a:t>우리는</a:t>
            </a:r>
            <a:r>
              <a:rPr lang="en-US" altLang="ko-KR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>
                <a:solidFill>
                  <a:srgbClr val="FF0000"/>
                </a:solidFill>
                <a:sym typeface="Wingdings" panose="05000000000000000000" pitchFamily="2" charset="2"/>
              </a:rPr>
              <a:t>지금 지도학습을 하고 있음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7143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EB67D-86D0-44F4-A911-6956B85E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Machine</a:t>
            </a:r>
            <a:r>
              <a:rPr lang="ko-KR" altLang="en-US"/>
              <a:t> </a:t>
            </a:r>
            <a:r>
              <a:rPr lang="en-US" altLang="ko-KR"/>
              <a:t>Learning </a:t>
            </a:r>
            <a:r>
              <a:rPr lang="ko-KR" altLang="en-US"/>
              <a:t>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D7A07-3CCC-48C7-B448-C04B02F4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5" name="Picture 4" descr="ml-diagram">
            <a:extLst>
              <a:ext uri="{FF2B5EF4-FFF2-40B4-BE49-F238E27FC236}">
                <a16:creationId xmlns:a16="http://schemas.microsoft.com/office/drawing/2014/main" id="{C6ECBBCA-9A47-4F1D-9530-C2866E1E4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60" y="1052736"/>
            <a:ext cx="7092280" cy="507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8CEFEF-DF93-4924-9809-40DED82A2ECD}"/>
              </a:ext>
            </a:extLst>
          </p:cNvPr>
          <p:cNvSpPr txBox="1"/>
          <p:nvPr/>
        </p:nvSpPr>
        <p:spPr>
          <a:xfrm>
            <a:off x="1979712" y="6155115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https://medium.com/&gt;</a:t>
            </a:r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00522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6751D5D-29B8-4A22-A370-E8752A06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훈련세트과 테스트세트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F7097CB-77E2-4B9E-85A1-A2C86E264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훈련세트</a:t>
            </a:r>
            <a:r>
              <a:rPr lang="en-US" altLang="ko-KR"/>
              <a:t>(Training Set)</a:t>
            </a:r>
            <a:r>
              <a:rPr lang="ko-KR" altLang="en-US"/>
              <a:t>와 테스트세트</a:t>
            </a:r>
            <a:r>
              <a:rPr lang="en-US" altLang="ko-KR"/>
              <a:t>(Test Set)</a:t>
            </a:r>
          </a:p>
          <a:p>
            <a:pPr lvl="1"/>
            <a:r>
              <a:rPr lang="ko-KR" altLang="en-US"/>
              <a:t>훈련세트</a:t>
            </a:r>
            <a:r>
              <a:rPr lang="en-US" altLang="ko-KR"/>
              <a:t>: </a:t>
            </a:r>
            <a:r>
              <a:rPr lang="ko-KR" altLang="en-US"/>
              <a:t>머신을 훈련시키는 데 사용</a:t>
            </a:r>
            <a:endParaRPr lang="en-US" altLang="ko-KR"/>
          </a:p>
          <a:p>
            <a:pPr lvl="1"/>
            <a:r>
              <a:rPr lang="ko-KR" altLang="en-US"/>
              <a:t>테스트세트</a:t>
            </a:r>
            <a:r>
              <a:rPr lang="en-US" altLang="ko-KR"/>
              <a:t>: </a:t>
            </a:r>
            <a:r>
              <a:rPr lang="ko-KR" altLang="en-US"/>
              <a:t>머신의 성능을 평가하는 데 사용</a:t>
            </a:r>
            <a:endParaRPr lang="en-US" altLang="ko-KR"/>
          </a:p>
          <a:p>
            <a:pPr lvl="1"/>
            <a:r>
              <a:rPr lang="ko-KR" altLang="en-US"/>
              <a:t>다른 데이터를 준비하거나</a:t>
            </a:r>
            <a:r>
              <a:rPr lang="en-US" altLang="ko-KR"/>
              <a:t>, </a:t>
            </a:r>
            <a:r>
              <a:rPr lang="ko-KR" altLang="en-US"/>
              <a:t>준비된 데이터의 일부를 활용</a:t>
            </a:r>
            <a:endParaRPr lang="en-US" altLang="ko-KR"/>
          </a:p>
          <a:p>
            <a:pPr lvl="1"/>
            <a:r>
              <a:rPr lang="ko-KR" altLang="en-US"/>
              <a:t>준비된 데이터의 일부를 떼어 내어 활용하는 것이 일반적</a:t>
            </a:r>
            <a:endParaRPr lang="en-US" altLang="ko-KR"/>
          </a:p>
          <a:p>
            <a:r>
              <a:rPr lang="ko-KR" altLang="en-US"/>
              <a:t>우리의 시스템</a:t>
            </a:r>
            <a:endParaRPr lang="en-US" altLang="ko-KR"/>
          </a:p>
          <a:p>
            <a:pPr lvl="1"/>
            <a:r>
              <a:rPr lang="en-US" altLang="ko-KR"/>
              <a:t>49</a:t>
            </a:r>
            <a:r>
              <a:rPr lang="ko-KR" altLang="en-US"/>
              <a:t>개의 </a:t>
            </a:r>
            <a:r>
              <a:rPr lang="en-US" altLang="ko-KR"/>
              <a:t>sample </a:t>
            </a:r>
            <a:r>
              <a:rPr lang="ko-KR" altLang="en-US"/>
              <a:t>중</a:t>
            </a:r>
            <a:r>
              <a:rPr lang="en-US" altLang="ko-KR"/>
              <a:t> 35</a:t>
            </a:r>
            <a:r>
              <a:rPr lang="ko-KR" altLang="en-US"/>
              <a:t>개를 훈련세트</a:t>
            </a:r>
            <a:endParaRPr lang="en-US" altLang="ko-KR"/>
          </a:p>
          <a:p>
            <a:pPr lvl="1"/>
            <a:r>
              <a:rPr lang="en-US" altLang="ko-KR"/>
              <a:t>14</a:t>
            </a:r>
            <a:r>
              <a:rPr lang="ko-KR" altLang="en-US"/>
              <a:t>개를 테스트 세트로 사용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E7D3BF-CF24-4993-85FB-0839B9953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44630728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4401D-C6C0-4506-ABED-2899535A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샘플링 편향</a:t>
            </a:r>
            <a:r>
              <a:rPr lang="en-US" altLang="ko-KR"/>
              <a:t>(Sampling</a:t>
            </a:r>
            <a:r>
              <a:rPr lang="ko-KR" altLang="en-US"/>
              <a:t> </a:t>
            </a:r>
            <a:r>
              <a:rPr lang="en-US" altLang="ko-KR"/>
              <a:t>bias) 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131526-1CA1-4C11-9DC3-56BDAB58F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fish </a:t>
            </a:r>
            <a:r>
              <a:rPr lang="ko-KR" altLang="en-US"/>
              <a:t>데이터의 첫 </a:t>
            </a:r>
            <a:r>
              <a:rPr lang="en-US" altLang="ko-KR"/>
              <a:t>35</a:t>
            </a:r>
            <a:r>
              <a:rPr lang="ko-KR" altLang="en-US"/>
              <a:t>개를 훈련세트</a:t>
            </a:r>
            <a:r>
              <a:rPr lang="en-US" altLang="ko-KR"/>
              <a:t>, </a:t>
            </a:r>
            <a:r>
              <a:rPr lang="ko-KR" altLang="en-US"/>
              <a:t>뒤 </a:t>
            </a:r>
            <a:r>
              <a:rPr lang="en-US" altLang="ko-KR"/>
              <a:t>14</a:t>
            </a:r>
            <a:r>
              <a:rPr lang="ko-KR" altLang="en-US"/>
              <a:t>개를 테스트세트로 사용하면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A38CD2-A82A-4C51-93E6-DB077A26C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B4BD1D-EC24-401E-90AD-34B4DC187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132856"/>
            <a:ext cx="8991600" cy="35608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9310052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4401D-C6C0-4506-ABED-2899535A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샘플링 편향</a:t>
            </a:r>
            <a:r>
              <a:rPr lang="en-US" altLang="ko-KR"/>
              <a:t>(Sampling</a:t>
            </a:r>
            <a:r>
              <a:rPr lang="ko-KR" altLang="en-US"/>
              <a:t> </a:t>
            </a:r>
            <a:r>
              <a:rPr lang="en-US" altLang="ko-KR"/>
              <a:t>bias)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131526-1CA1-4C11-9DC3-56BDAB58F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50325" cy="55197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>
                <a:sym typeface="Wingdings" panose="05000000000000000000" pitchFamily="2" charset="2"/>
              </a:rPr>
              <a:t>   </a:t>
            </a:r>
            <a:r>
              <a:rPr lang="ko-KR" altLang="en-US">
                <a:sym typeface="Wingdings" panose="05000000000000000000" pitchFamily="2" charset="2"/>
              </a:rPr>
              <a:t>훈련 정확도 </a:t>
            </a:r>
            <a:r>
              <a:rPr lang="en-US" altLang="ko-KR">
                <a:sym typeface="Wingdings" panose="05000000000000000000" pitchFamily="2" charset="2"/>
              </a:rPr>
              <a:t>= 0 (</a:t>
            </a:r>
            <a:r>
              <a:rPr lang="ko-KR" altLang="en-US">
                <a:sym typeface="Wingdings" panose="05000000000000000000" pitchFamily="2" charset="2"/>
              </a:rPr>
              <a:t>테스트에서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하나도 맞추지 못함</a:t>
            </a:r>
            <a:r>
              <a:rPr lang="en-US" altLang="ko-KR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en-US" altLang="ko-KR">
                <a:sym typeface="Wingdings" panose="05000000000000000000" pitchFamily="2" charset="2"/>
              </a:rPr>
              <a:t>  ∵ </a:t>
            </a:r>
            <a:r>
              <a:rPr lang="ko-KR" altLang="en-US">
                <a:sym typeface="Wingdings" panose="05000000000000000000" pitchFamily="2" charset="2"/>
              </a:rPr>
              <a:t>훈련세트는 모두 도미만 사용</a:t>
            </a:r>
            <a:r>
              <a:rPr lang="en-US" altLang="ko-KR">
                <a:sym typeface="Wingdings" panose="05000000000000000000" pitchFamily="2" charset="2"/>
              </a:rPr>
              <a:t>  </a:t>
            </a:r>
            <a:r>
              <a:rPr lang="ko-KR" altLang="en-US">
                <a:sym typeface="Wingdings" panose="05000000000000000000" pitchFamily="2" charset="2"/>
              </a:rPr>
              <a:t>샘플링 편향</a:t>
            </a: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>
                <a:sym typeface="Wingdings" panose="05000000000000000000" pitchFamily="2" charset="2"/>
              </a:rPr>
              <a:t>   </a:t>
            </a:r>
            <a:r>
              <a:rPr lang="ko-KR" altLang="en-US">
                <a:sym typeface="Wingdings" panose="05000000000000000000" pitchFamily="2" charset="2"/>
              </a:rPr>
              <a:t>훈련세트는 골고루 섞여 있어야 함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A38CD2-A82A-4C51-93E6-DB077A26C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982BF9-1088-40EB-ADCC-8D9F92796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1116807"/>
            <a:ext cx="8201025" cy="360045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6ECC06A-0E22-4AD0-BCAA-CB1524190A0F}"/>
              </a:ext>
            </a:extLst>
          </p:cNvPr>
          <p:cNvGrpSpPr/>
          <p:nvPr/>
        </p:nvGrpSpPr>
        <p:grpSpPr>
          <a:xfrm>
            <a:off x="5220072" y="4387479"/>
            <a:ext cx="678612" cy="266737"/>
            <a:chOff x="5220072" y="4387479"/>
            <a:chExt cx="678612" cy="266737"/>
          </a:xfrm>
        </p:grpSpPr>
        <p:sp>
          <p:nvSpPr>
            <p:cNvPr id="6" name="화살표: 오른쪽 5">
              <a:extLst>
                <a:ext uri="{FF2B5EF4-FFF2-40B4-BE49-F238E27FC236}">
                  <a16:creationId xmlns:a16="http://schemas.microsoft.com/office/drawing/2014/main" id="{17259AD7-E8EF-47B4-97F0-1192A54CA6A1}"/>
                </a:ext>
              </a:extLst>
            </p:cNvPr>
            <p:cNvSpPr/>
            <p:nvPr/>
          </p:nvSpPr>
          <p:spPr>
            <a:xfrm>
              <a:off x="5220072" y="4412836"/>
              <a:ext cx="216024" cy="216024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5238C47-D1C8-4B35-815A-23285F3B2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8104" y="4387479"/>
              <a:ext cx="390580" cy="2667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944569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4A1ED-8513-434B-964A-545ACAB0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List </a:t>
            </a:r>
            <a:r>
              <a:rPr lang="ko-KR" altLang="en-US"/>
              <a:t>대신 배열 사용 </a:t>
            </a:r>
            <a:r>
              <a:rPr lang="en-US" altLang="ko-KR">
                <a:sym typeface="Wingdings" panose="05000000000000000000" pitchFamily="2" charset="2"/>
              </a:rPr>
              <a:t> numpy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DBCE1-1359-450D-B198-DA97B7740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Why numpy?</a:t>
            </a:r>
          </a:p>
          <a:p>
            <a:pPr lvl="1"/>
            <a:r>
              <a:rPr lang="ko-KR" altLang="en-US"/>
              <a:t>샘플링을 위한 몇가지 함수를 사용하기 위해</a:t>
            </a:r>
            <a:r>
              <a:rPr lang="en-US" altLang="ko-KR"/>
              <a:t>...</a:t>
            </a:r>
          </a:p>
          <a:p>
            <a:pPr lvl="1"/>
            <a:r>
              <a:rPr lang="en-US" altLang="ko-KR"/>
              <a:t>List </a:t>
            </a:r>
            <a:r>
              <a:rPr lang="ko-KR" altLang="en-US"/>
              <a:t>대신 배열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EFB68D-9F89-438B-AFCE-D8BBD376C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6D6EEF-6BEC-4DF1-9BEF-BA0FDA2CB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324236"/>
            <a:ext cx="4819650" cy="4457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7120437-5B22-4DA6-8564-AEA3059C1896}"/>
              </a:ext>
            </a:extLst>
          </p:cNvPr>
          <p:cNvSpPr/>
          <p:nvPr/>
        </p:nvSpPr>
        <p:spPr>
          <a:xfrm>
            <a:off x="5868144" y="2344498"/>
            <a:ext cx="3167906" cy="238064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random.seed(</a:t>
            </a:r>
            <a:r>
              <a:rPr lang="en-US" altLang="ko-KR" i="1">
                <a:solidFill>
                  <a:schemeClr val="tx1"/>
                </a:solidFill>
              </a:rPr>
              <a:t>n</a:t>
            </a:r>
            <a:r>
              <a:rPr lang="en-US" altLang="ko-KR">
                <a:solidFill>
                  <a:schemeClr val="tx1"/>
                </a:solidFill>
              </a:rPr>
              <a:t>):</a:t>
            </a:r>
            <a:r>
              <a:rPr lang="ko-KR" altLang="en-US">
                <a:solidFill>
                  <a:schemeClr val="tx1"/>
                </a:solidFill>
              </a:rPr>
              <a:t> 난수를 생성하기 위한 초기값 설정</a:t>
            </a:r>
            <a:endParaRPr lang="en-US" altLang="ko-KR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arange(</a:t>
            </a:r>
            <a:r>
              <a:rPr lang="en-US" altLang="ko-KR" i="1">
                <a:solidFill>
                  <a:schemeClr val="tx1"/>
                </a:solidFill>
              </a:rPr>
              <a:t>n</a:t>
            </a:r>
            <a:r>
              <a:rPr lang="en-US" altLang="ko-KR">
                <a:solidFill>
                  <a:schemeClr val="tx1"/>
                </a:solidFill>
              </a:rPr>
              <a:t>): 0</a:t>
            </a:r>
            <a:r>
              <a:rPr lang="ko-KR" altLang="en-US">
                <a:solidFill>
                  <a:schemeClr val="tx1"/>
                </a:solidFill>
              </a:rPr>
              <a:t>에서 </a:t>
            </a:r>
            <a:r>
              <a:rPr lang="en-US" altLang="ko-KR">
                <a:solidFill>
                  <a:schemeClr val="tx1"/>
                </a:solidFill>
              </a:rPr>
              <a:t>n-1</a:t>
            </a:r>
            <a:r>
              <a:rPr lang="ko-KR" altLang="en-US">
                <a:solidFill>
                  <a:schemeClr val="tx1"/>
                </a:solidFill>
              </a:rPr>
              <a:t>까지의 </a:t>
            </a:r>
            <a:r>
              <a:rPr lang="en-US" altLang="ko-KR">
                <a:solidFill>
                  <a:schemeClr val="tx1"/>
                </a:solidFill>
              </a:rPr>
              <a:t>n</a:t>
            </a:r>
            <a:r>
              <a:rPr lang="ko-KR" altLang="en-US">
                <a:solidFill>
                  <a:schemeClr val="tx1"/>
                </a:solidFill>
              </a:rPr>
              <a:t>개의 요소를 가진 배열 생성</a:t>
            </a:r>
            <a:endParaRPr lang="en-US" altLang="ko-KR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random.shuffle(</a:t>
            </a:r>
            <a:r>
              <a:rPr lang="en-US" altLang="ko-KR" i="1">
                <a:solidFill>
                  <a:schemeClr val="tx1"/>
                </a:solidFill>
              </a:rPr>
              <a:t>array</a:t>
            </a:r>
            <a:r>
              <a:rPr lang="en-US" altLang="ko-KR">
                <a:solidFill>
                  <a:schemeClr val="tx1"/>
                </a:solidFill>
              </a:rPr>
              <a:t>): array</a:t>
            </a:r>
            <a:r>
              <a:rPr lang="ko-KR" altLang="en-US">
                <a:solidFill>
                  <a:schemeClr val="tx1"/>
                </a:solidFill>
              </a:rPr>
              <a:t>의 요소를 </a:t>
            </a:r>
            <a:r>
              <a:rPr lang="en-US" altLang="ko-KR">
                <a:solidFill>
                  <a:schemeClr val="tx1"/>
                </a:solidFill>
              </a:rPr>
              <a:t>random</a:t>
            </a:r>
            <a:r>
              <a:rPr lang="ko-KR" altLang="en-US">
                <a:solidFill>
                  <a:schemeClr val="tx1"/>
                </a:solidFill>
              </a:rPr>
              <a:t>하게 섞음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F23A70F-1F24-43F3-BC9F-576E1BAFBF4B}"/>
              </a:ext>
            </a:extLst>
          </p:cNvPr>
          <p:cNvGrpSpPr/>
          <p:nvPr/>
        </p:nvGrpSpPr>
        <p:grpSpPr>
          <a:xfrm>
            <a:off x="4139952" y="3979707"/>
            <a:ext cx="1024364" cy="266737"/>
            <a:chOff x="4139952" y="3979707"/>
            <a:chExt cx="1024364" cy="266737"/>
          </a:xfrm>
        </p:grpSpPr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87D33FDC-A82C-4CD9-A0E7-486DA558BB31}"/>
                </a:ext>
              </a:extLst>
            </p:cNvPr>
            <p:cNvSpPr/>
            <p:nvPr/>
          </p:nvSpPr>
          <p:spPr>
            <a:xfrm>
              <a:off x="4139952" y="4005064"/>
              <a:ext cx="216024" cy="216024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CD972C2-33C8-459A-BBC6-F68A034B6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1736" y="3979707"/>
              <a:ext cx="752580" cy="266737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5DFA192-2889-47CC-87CB-F5EC80B4D9B3}"/>
              </a:ext>
            </a:extLst>
          </p:cNvPr>
          <p:cNvGrpSpPr/>
          <p:nvPr/>
        </p:nvGrpSpPr>
        <p:grpSpPr>
          <a:xfrm>
            <a:off x="4411736" y="5548369"/>
            <a:ext cx="4122664" cy="376290"/>
            <a:chOff x="4411736" y="5548369"/>
            <a:chExt cx="4122664" cy="376290"/>
          </a:xfrm>
        </p:grpSpPr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10809F83-02BD-4F4D-AA02-3FAFBC2FF83A}"/>
                </a:ext>
              </a:extLst>
            </p:cNvPr>
            <p:cNvSpPr/>
            <p:nvPr/>
          </p:nvSpPr>
          <p:spPr>
            <a:xfrm>
              <a:off x="4411736" y="5623359"/>
              <a:ext cx="216024" cy="216024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ED1C264-BF37-4C7A-9938-9BDD118B3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3868" y="5548369"/>
              <a:ext cx="3810532" cy="37629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6AA710E-B314-4A2F-83C9-EDDDF8452FCF}"/>
              </a:ext>
            </a:extLst>
          </p:cNvPr>
          <p:cNvGrpSpPr/>
          <p:nvPr/>
        </p:nvGrpSpPr>
        <p:grpSpPr>
          <a:xfrm>
            <a:off x="4411736" y="6121151"/>
            <a:ext cx="4089606" cy="379662"/>
            <a:chOff x="4411736" y="6121151"/>
            <a:chExt cx="4089606" cy="379662"/>
          </a:xfrm>
        </p:grpSpPr>
        <p:sp>
          <p:nvSpPr>
            <p:cNvPr id="8" name="화살표: 오른쪽 7">
              <a:extLst>
                <a:ext uri="{FF2B5EF4-FFF2-40B4-BE49-F238E27FC236}">
                  <a16:creationId xmlns:a16="http://schemas.microsoft.com/office/drawing/2014/main" id="{4AD1670B-C5DC-450D-853D-64B40B262FBA}"/>
                </a:ext>
              </a:extLst>
            </p:cNvPr>
            <p:cNvSpPr/>
            <p:nvPr/>
          </p:nvSpPr>
          <p:spPr>
            <a:xfrm>
              <a:off x="4411736" y="6258879"/>
              <a:ext cx="216024" cy="216024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8F6C5E6-CA10-4337-8BE9-7054C921F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56926" y="6121151"/>
              <a:ext cx="3744416" cy="379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0528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BB851-AB1E-4B6E-AAAE-FA252606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임의의 훈련세트</a:t>
            </a:r>
            <a:r>
              <a:rPr lang="en-US" altLang="ko-KR"/>
              <a:t>, </a:t>
            </a:r>
            <a:r>
              <a:rPr lang="ko-KR" altLang="en-US"/>
              <a:t>테스트세트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CC8B2-A0C6-4C99-89C5-3F5298669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Shuffling</a:t>
            </a:r>
            <a:r>
              <a:rPr lang="ko-KR" altLang="en-US"/>
              <a:t>된 </a:t>
            </a:r>
            <a:r>
              <a:rPr lang="en-US" altLang="ko-KR"/>
              <a:t>index</a:t>
            </a:r>
            <a:r>
              <a:rPr lang="ko-KR" altLang="en-US"/>
              <a:t>로 임의로 훈련세트</a:t>
            </a:r>
            <a:r>
              <a:rPr lang="en-US" altLang="ko-KR"/>
              <a:t>, </a:t>
            </a:r>
            <a:r>
              <a:rPr lang="ko-KR" altLang="en-US"/>
              <a:t>테스트세트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33F926-10CE-4057-BC9C-CE42B5DD5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B726A7F-037C-4E38-ADB2-2BD01A8FD1BE}"/>
              </a:ext>
            </a:extLst>
          </p:cNvPr>
          <p:cNvGrpSpPr/>
          <p:nvPr/>
        </p:nvGrpSpPr>
        <p:grpSpPr>
          <a:xfrm>
            <a:off x="4644008" y="4189263"/>
            <a:ext cx="4356687" cy="2311550"/>
            <a:chOff x="4644008" y="4189263"/>
            <a:chExt cx="4356687" cy="231155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2ADC540-A6D8-4EF0-9852-957FC22EC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0835" y="4189263"/>
              <a:ext cx="3519860" cy="2311550"/>
            </a:xfrm>
            <a:prstGeom prst="rect">
              <a:avLst/>
            </a:prstGeom>
          </p:spPr>
        </p:pic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F8E23224-9AD1-4FBA-B5CE-E1E52DC93B49}"/>
                </a:ext>
              </a:extLst>
            </p:cNvPr>
            <p:cNvSpPr/>
            <p:nvPr/>
          </p:nvSpPr>
          <p:spPr>
            <a:xfrm>
              <a:off x="4644008" y="5483895"/>
              <a:ext cx="648072" cy="288032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26214C3-CEC4-4EBD-976A-1E3425AAE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5" y="1478869"/>
            <a:ext cx="5124450" cy="35909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90154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06E77-F5ED-42DF-A1E1-6A31BD90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훈련 모델 평가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96285E-67EF-426F-A850-F36FF120C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전체 데이터의 일부로 구성된 훈련세트로 훈련하고 테스트세트로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DA51F2-751A-4272-86E8-D63CEA1EE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5557AC-6DAF-41D9-9FD4-648D527C8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132856"/>
            <a:ext cx="4419600" cy="14097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73BCAE20-CB91-48BA-87C8-8B6035B24EAC}"/>
              </a:ext>
            </a:extLst>
          </p:cNvPr>
          <p:cNvGrpSpPr/>
          <p:nvPr/>
        </p:nvGrpSpPr>
        <p:grpSpPr>
          <a:xfrm>
            <a:off x="4788024" y="3984051"/>
            <a:ext cx="3902995" cy="762106"/>
            <a:chOff x="4788024" y="3984051"/>
            <a:chExt cx="3902995" cy="762106"/>
          </a:xfrm>
        </p:grpSpPr>
        <p:sp>
          <p:nvSpPr>
            <p:cNvPr id="6" name="화살표: 오른쪽 5">
              <a:extLst>
                <a:ext uri="{FF2B5EF4-FFF2-40B4-BE49-F238E27FC236}">
                  <a16:creationId xmlns:a16="http://schemas.microsoft.com/office/drawing/2014/main" id="{C4A547A8-5D2B-49D9-AE77-4AFE2F1EF620}"/>
                </a:ext>
              </a:extLst>
            </p:cNvPr>
            <p:cNvSpPr/>
            <p:nvPr/>
          </p:nvSpPr>
          <p:spPr>
            <a:xfrm>
              <a:off x="4788024" y="4221088"/>
              <a:ext cx="648072" cy="288032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368BC22-9118-43CD-88EF-DF19A2501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2120" y="3984051"/>
              <a:ext cx="3038899" cy="762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8872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Key words</a:t>
            </a:r>
          </a:p>
          <a:p>
            <a:pPr lvl="1"/>
            <a:r>
              <a:rPr lang="ko-KR" altLang="en-US"/>
              <a:t>지도학습</a:t>
            </a:r>
            <a:r>
              <a:rPr lang="en-US" altLang="ko-KR"/>
              <a:t>: </a:t>
            </a:r>
            <a:r>
              <a:rPr lang="ko-KR" altLang="en-US"/>
              <a:t>입력과 타겟을 전달하여 모델을 훈련</a:t>
            </a:r>
            <a:endParaRPr lang="en-US" altLang="ko-KR"/>
          </a:p>
          <a:p>
            <a:pPr lvl="1"/>
            <a:r>
              <a:rPr lang="ko-KR" altLang="en-US"/>
              <a:t>비지도학습</a:t>
            </a:r>
            <a:r>
              <a:rPr lang="en-US" altLang="ko-KR"/>
              <a:t>: </a:t>
            </a:r>
            <a:r>
              <a:rPr lang="ko-KR" altLang="en-US"/>
              <a:t>타겟 데이터 없이 훈련</a:t>
            </a:r>
            <a:endParaRPr lang="en-US" altLang="ko-KR"/>
          </a:p>
          <a:p>
            <a:pPr lvl="1"/>
            <a:r>
              <a:rPr lang="ko-KR" altLang="en-US"/>
              <a:t>훈련세트</a:t>
            </a:r>
            <a:r>
              <a:rPr lang="en-US" altLang="ko-KR"/>
              <a:t>: </a:t>
            </a:r>
            <a:r>
              <a:rPr lang="ko-KR" altLang="en-US"/>
              <a:t>모델을 훈련할 때 사용하는 데이터</a:t>
            </a:r>
            <a:r>
              <a:rPr lang="en-US" altLang="ko-KR"/>
              <a:t>. </a:t>
            </a:r>
            <a:r>
              <a:rPr lang="ko-KR" altLang="en-US"/>
              <a:t>클수록 좋음</a:t>
            </a:r>
            <a:r>
              <a:rPr lang="en-US" altLang="ko-KR"/>
              <a:t>. </a:t>
            </a:r>
            <a:r>
              <a:rPr lang="ko-KR" altLang="en-US"/>
              <a:t>테스트세트를 제외한 모든 데이터 사용</a:t>
            </a:r>
            <a:endParaRPr lang="en-US" altLang="ko-KR"/>
          </a:p>
          <a:p>
            <a:pPr lvl="1"/>
            <a:r>
              <a:rPr lang="ko-KR" altLang="en-US"/>
              <a:t>테스트세트</a:t>
            </a:r>
            <a:r>
              <a:rPr lang="en-US" altLang="ko-KR"/>
              <a:t>: </a:t>
            </a:r>
            <a:r>
              <a:rPr lang="ko-KR" altLang="en-US"/>
              <a:t>모델을 테스트할 때 사용하는 데이터</a:t>
            </a:r>
            <a:r>
              <a:rPr lang="en-US" altLang="ko-KR"/>
              <a:t>. </a:t>
            </a:r>
            <a:r>
              <a:rPr lang="ko-KR" altLang="en-US"/>
              <a:t>일반적으로 전체 데이터의 </a:t>
            </a:r>
            <a:r>
              <a:rPr lang="en-US" altLang="ko-KR"/>
              <a:t>20~30% </a:t>
            </a:r>
            <a:r>
              <a:rPr lang="ko-KR" altLang="en-US"/>
              <a:t>사용</a:t>
            </a:r>
            <a:endParaRPr lang="en-US" altLang="ko-KR"/>
          </a:p>
          <a:p>
            <a:r>
              <a:rPr lang="en-US" altLang="ko-KR"/>
              <a:t>numpy </a:t>
            </a:r>
            <a:r>
              <a:rPr lang="ko-KR" altLang="en-US"/>
              <a:t>패키지</a:t>
            </a:r>
            <a:r>
              <a:rPr lang="en-US" altLang="ko-KR"/>
              <a:t>: </a:t>
            </a:r>
            <a:r>
              <a:rPr lang="ko-KR" altLang="en-US"/>
              <a:t>수학</a:t>
            </a:r>
            <a:r>
              <a:rPr lang="en-US" altLang="ko-KR"/>
              <a:t> </a:t>
            </a:r>
            <a:r>
              <a:rPr lang="ko-KR" altLang="en-US"/>
              <a:t>관련 함수들 제공</a:t>
            </a:r>
            <a:endParaRPr lang="en-US" altLang="ko-KR"/>
          </a:p>
          <a:p>
            <a:pPr marL="590850" lvl="1" indent="-285750">
              <a:buFont typeface="Arial" panose="020B0604020202020204" pitchFamily="34" charset="0"/>
              <a:buChar char="•"/>
            </a:pPr>
            <a:r>
              <a:rPr lang="en-US" altLang="ko-KR"/>
              <a:t>random.seed(</a:t>
            </a:r>
            <a:r>
              <a:rPr lang="en-US" altLang="ko-KR" i="1"/>
              <a:t>n</a:t>
            </a:r>
            <a:r>
              <a:rPr lang="en-US" altLang="ko-KR"/>
              <a:t>):</a:t>
            </a:r>
            <a:r>
              <a:rPr lang="ko-KR" altLang="en-US"/>
              <a:t> 난수를 생성하기 위한 초기값 설정</a:t>
            </a:r>
            <a:endParaRPr lang="en-US" altLang="ko-KR"/>
          </a:p>
          <a:p>
            <a:pPr marL="590850" lvl="1" indent="-285750">
              <a:buFont typeface="Arial" panose="020B0604020202020204" pitchFamily="34" charset="0"/>
              <a:buChar char="•"/>
            </a:pPr>
            <a:r>
              <a:rPr lang="en-US" altLang="ko-KR"/>
              <a:t>arange(</a:t>
            </a:r>
            <a:r>
              <a:rPr lang="en-US" altLang="ko-KR" i="1"/>
              <a:t>n</a:t>
            </a:r>
            <a:r>
              <a:rPr lang="en-US" altLang="ko-KR"/>
              <a:t>): </a:t>
            </a:r>
            <a:r>
              <a:rPr lang="en-US" altLang="ko-KR" i="1"/>
              <a:t>0</a:t>
            </a:r>
            <a:r>
              <a:rPr lang="ko-KR" altLang="en-US"/>
              <a:t>에서 </a:t>
            </a:r>
            <a:r>
              <a:rPr lang="en-US" altLang="ko-KR" i="1"/>
              <a:t>n-1</a:t>
            </a:r>
            <a:r>
              <a:rPr lang="ko-KR" altLang="en-US"/>
              <a:t>까지의 </a:t>
            </a:r>
            <a:r>
              <a:rPr lang="en-US" altLang="ko-KR" i="1"/>
              <a:t>n</a:t>
            </a:r>
            <a:r>
              <a:rPr lang="ko-KR" altLang="en-US"/>
              <a:t>개의 요소를 가진 배열 생성</a:t>
            </a:r>
            <a:endParaRPr lang="en-US" altLang="ko-KR"/>
          </a:p>
          <a:p>
            <a:pPr marL="590850" lvl="1" indent="-285750">
              <a:buFont typeface="Arial" panose="020B0604020202020204" pitchFamily="34" charset="0"/>
              <a:buChar char="•"/>
            </a:pPr>
            <a:r>
              <a:rPr lang="en-US" altLang="ko-KR"/>
              <a:t>random.shuffle(</a:t>
            </a:r>
            <a:r>
              <a:rPr lang="en-US" altLang="ko-KR" i="1"/>
              <a:t>array</a:t>
            </a:r>
            <a:r>
              <a:rPr lang="en-US" altLang="ko-KR"/>
              <a:t>): </a:t>
            </a:r>
            <a:r>
              <a:rPr lang="en-US" altLang="ko-KR" i="1"/>
              <a:t>array</a:t>
            </a:r>
            <a:r>
              <a:rPr lang="ko-KR" altLang="en-US"/>
              <a:t>의 요소를 </a:t>
            </a:r>
            <a:r>
              <a:rPr lang="en-US" altLang="ko-KR"/>
              <a:t>random</a:t>
            </a:r>
            <a:r>
              <a:rPr lang="ko-KR" altLang="en-US"/>
              <a:t>하게 섞음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33546</TotalTime>
  <Words>622</Words>
  <Application>Microsoft Office PowerPoint</Application>
  <PresentationFormat>화면 슬라이드 쇼(4:3)</PresentationFormat>
  <Paragraphs>100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HY견고딕</vt:lpstr>
      <vt:lpstr>굴림</vt:lpstr>
      <vt:lpstr>맑은 고딕</vt:lpstr>
      <vt:lpstr>휴먼엑스포</vt:lpstr>
      <vt:lpstr>Arial</vt:lpstr>
      <vt:lpstr>Times New Roman</vt:lpstr>
      <vt:lpstr>Wingdings</vt:lpstr>
      <vt:lpstr>기본 디자인</vt:lpstr>
      <vt:lpstr>Training Set &amp; Test Set</vt:lpstr>
      <vt:lpstr>지난 시간 복습</vt:lpstr>
      <vt:lpstr>학습목표</vt:lpstr>
      <vt:lpstr>지도학습과 비지도학습</vt:lpstr>
      <vt:lpstr>Machine Learning 분류</vt:lpstr>
      <vt:lpstr>훈련세트과 테스트세트</vt:lpstr>
      <vt:lpstr>샘플링 편향(Sampling bias) (1)</vt:lpstr>
      <vt:lpstr>샘플링 편향(Sampling bias)</vt:lpstr>
      <vt:lpstr>List 대신 배열 사용  numpy</vt:lpstr>
      <vt:lpstr>임의의 훈련세트, 테스트세트 구성</vt:lpstr>
      <vt:lpstr>훈련 모델 평가</vt:lpstr>
      <vt:lpstr>학습 요약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599</cp:revision>
  <dcterms:created xsi:type="dcterms:W3CDTF">2003-05-07T20:17:23Z</dcterms:created>
  <dcterms:modified xsi:type="dcterms:W3CDTF">2025-09-14T23:24:06Z</dcterms:modified>
</cp:coreProperties>
</file>