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632" r:id="rId2"/>
    <p:sldId id="722" r:id="rId3"/>
    <p:sldId id="719" r:id="rId4"/>
    <p:sldId id="720" r:id="rId5"/>
    <p:sldId id="729" r:id="rId6"/>
    <p:sldId id="731" r:id="rId7"/>
    <p:sldId id="732" r:id="rId8"/>
    <p:sldId id="733" r:id="rId9"/>
    <p:sldId id="730" r:id="rId10"/>
    <p:sldId id="734" r:id="rId11"/>
    <p:sldId id="735" r:id="rId12"/>
    <p:sldId id="737" r:id="rId13"/>
    <p:sldId id="738" r:id="rId14"/>
    <p:sldId id="717" r:id="rId15"/>
    <p:sldId id="703" r:id="rId16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148" autoAdjust="0"/>
  </p:normalViewPr>
  <p:slideViewPr>
    <p:cSldViewPr>
      <p:cViewPr varScale="1">
        <p:scale>
          <a:sx n="163" d="100"/>
          <a:sy n="163" d="100"/>
        </p:scale>
        <p:origin x="171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it.ly/bream_smel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0192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Data Preprocessing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3841456" y="5538718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https://www.varsitytutors.com/&gt;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8" name="Picture 4" descr="standard deviation graph example">
            <a:extLst>
              <a:ext uri="{FF2B5EF4-FFF2-40B4-BE49-F238E27FC236}">
                <a16:creationId xmlns:a16="http://schemas.microsoft.com/office/drawing/2014/main" id="{283629D6-7B1B-4E4F-BD3E-A0997D3BA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31" y="2602147"/>
            <a:ext cx="36576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unting and Statistics – JAIN CORPORATION AUSTRALIA">
            <a:extLst>
              <a:ext uri="{FF2B5EF4-FFF2-40B4-BE49-F238E27FC236}">
                <a16:creationId xmlns:a16="http://schemas.microsoft.com/office/drawing/2014/main" id="{692D3721-2CC5-4DE5-821E-84ACEF3C0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055" y="3429920"/>
            <a:ext cx="3533378" cy="212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80FDB9-FBA5-4D90-BF29-FBC402BFFBBB}"/>
              </a:ext>
            </a:extLst>
          </p:cNvPr>
          <p:cNvSpPr txBox="1"/>
          <p:nvPr/>
        </p:nvSpPr>
        <p:spPr>
          <a:xfrm>
            <a:off x="25012" y="4746630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https://assets.ltkcontent.com/&gt;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F84D4-1220-4ACA-A103-F13EAF52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독립변수</a:t>
            </a:r>
            <a:r>
              <a:rPr lang="en-US" altLang="ko-KR"/>
              <a:t>(</a:t>
            </a:r>
            <a:r>
              <a:rPr lang="ko-KR" altLang="en-US"/>
              <a:t>물고기의 특성</a:t>
            </a:r>
            <a:r>
              <a:rPr lang="en-US" altLang="ko-KR"/>
              <a:t>: [[</a:t>
            </a:r>
            <a:r>
              <a:rPr lang="ko-KR" altLang="en-US"/>
              <a:t>길이</a:t>
            </a:r>
            <a:r>
              <a:rPr lang="en-US" altLang="ko-KR"/>
              <a:t>, </a:t>
            </a:r>
            <a:r>
              <a:rPr lang="ko-KR" altLang="en-US"/>
              <a:t>무게</a:t>
            </a:r>
            <a:r>
              <a:rPr lang="en-US" altLang="ko-KR"/>
              <a:t>], ...]), </a:t>
            </a:r>
            <a:r>
              <a:rPr lang="ko-KR" altLang="en-US"/>
              <a:t>종속변수</a:t>
            </a:r>
            <a:r>
              <a:rPr lang="en-US" altLang="ko-KR"/>
              <a:t>(</a:t>
            </a:r>
            <a:r>
              <a:rPr lang="ko-KR" altLang="en-US"/>
              <a:t>도미 </a:t>
            </a:r>
            <a:r>
              <a:rPr lang="en-US" altLang="ko-KR"/>
              <a:t>or</a:t>
            </a:r>
            <a:r>
              <a:rPr lang="ko-KR" altLang="en-US"/>
              <a:t> 빙어</a:t>
            </a:r>
            <a:r>
              <a:rPr lang="en-US" altLang="ko-KR"/>
              <a:t>: [1/0, ...]) </a:t>
            </a:r>
            <a:r>
              <a:rPr lang="ko-KR" altLang="en-US"/>
              <a:t>준비</a:t>
            </a:r>
            <a:endParaRPr lang="en-US" altLang="ko-KR"/>
          </a:p>
          <a:p>
            <a:pPr lvl="1"/>
            <a:r>
              <a:rPr lang="en-US" altLang="ko-KR"/>
              <a:t>fish_data = [[l, w] for l, w in zip(length, weight)]</a:t>
            </a:r>
          </a:p>
          <a:p>
            <a:r>
              <a:rPr lang="ko-KR" altLang="en-US"/>
              <a:t>전체 데이터를 훈련세트와 테스트세트 분리</a:t>
            </a:r>
            <a:endParaRPr lang="en-US" altLang="ko-KR"/>
          </a:p>
          <a:p>
            <a:pPr lvl="1"/>
            <a:r>
              <a:rPr lang="ko-KR" altLang="en-US"/>
              <a:t>샘플링 편향을 깨기 위해 난수</a:t>
            </a:r>
            <a:r>
              <a:rPr lang="en-US" altLang="ko-KR"/>
              <a:t> </a:t>
            </a:r>
            <a:r>
              <a:rPr lang="ko-KR" altLang="en-US"/>
              <a:t>사용</a:t>
            </a:r>
            <a:endParaRPr lang="en-US" altLang="ko-KR"/>
          </a:p>
          <a:p>
            <a:r>
              <a:rPr lang="en-US" altLang="ko-KR"/>
              <a:t>List </a:t>
            </a:r>
            <a:r>
              <a:rPr lang="ko-KR" altLang="en-US"/>
              <a:t>대신</a:t>
            </a:r>
            <a:r>
              <a:rPr lang="en-US" altLang="ko-KR"/>
              <a:t> </a:t>
            </a:r>
            <a:r>
              <a:rPr lang="ko-KR" altLang="en-US"/>
              <a:t>배열</a:t>
            </a:r>
            <a:r>
              <a:rPr lang="en-US" altLang="ko-KR"/>
              <a:t> </a:t>
            </a:r>
            <a:r>
              <a:rPr lang="ko-KR" altLang="en-US"/>
              <a:t>사용 </a:t>
            </a:r>
            <a:r>
              <a:rPr lang="en-US" altLang="ko-KR">
                <a:sym typeface="Wingdings" panose="05000000000000000000" pitchFamily="2" charset="2"/>
              </a:rPr>
              <a:t> numpy</a:t>
            </a:r>
            <a:r>
              <a:rPr lang="ko-KR" altLang="en-US">
                <a:sym typeface="Wingdings" panose="05000000000000000000" pitchFamily="2" charset="2"/>
              </a:rPr>
              <a:t> 이용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/>
              <a:t>시드 고정</a:t>
            </a:r>
            <a:r>
              <a:rPr lang="en-US" altLang="ko-KR"/>
              <a:t>: numpy.random.seed(</a:t>
            </a:r>
            <a:r>
              <a:rPr lang="en-US" altLang="ko-KR" i="1"/>
              <a:t>n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인덱스배열 생성</a:t>
            </a:r>
            <a:r>
              <a:rPr lang="en-US" altLang="ko-KR"/>
              <a:t>: numpy.arange(</a:t>
            </a:r>
            <a:r>
              <a:rPr lang="en-US" altLang="ko-KR" i="1"/>
              <a:t>m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배열 임의로 섞음</a:t>
            </a:r>
            <a:r>
              <a:rPr lang="en-US" altLang="ko-KR"/>
              <a:t>: numpy.random.shuffle(</a:t>
            </a:r>
            <a:r>
              <a:rPr lang="en-US" altLang="ko-KR" i="1"/>
              <a:t>array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시간이 종료되면 학생들은</a:t>
            </a:r>
            <a:endParaRPr lang="en-US" altLang="ko-KR"/>
          </a:p>
          <a:p>
            <a:pPr lvl="1"/>
            <a:r>
              <a:rPr lang="ko-KR" altLang="en-US"/>
              <a:t>데이터의</a:t>
            </a:r>
            <a:r>
              <a:rPr lang="en-US" altLang="ko-KR"/>
              <a:t> </a:t>
            </a:r>
            <a:r>
              <a:rPr lang="ko-KR" altLang="en-US"/>
              <a:t>단위와 스케일에 대해 설명할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표준편차를 이해하고 해석할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표준점수를 이용하여</a:t>
            </a:r>
            <a:r>
              <a:rPr lang="en-US" altLang="ko-KR"/>
              <a:t>, </a:t>
            </a:r>
            <a:r>
              <a:rPr lang="ko-KR" altLang="en-US"/>
              <a:t>단위나 스케일에 관계 없는 훈련세트 생성을 할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54BA-95FC-4607-A7F0-92D809D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C93FD-C0DC-4A8D-BD20-7DABF0A8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hlinkClick r:id="rId2"/>
              </a:rPr>
              <a:t>https://bit.ly/bream_smelt</a:t>
            </a:r>
            <a:r>
              <a:rPr lang="en-US" altLang="ko-KR"/>
              <a:t> </a:t>
            </a:r>
            <a:r>
              <a:rPr lang="ko-KR" altLang="en-US"/>
              <a:t>에서 </a:t>
            </a:r>
            <a:r>
              <a:rPr lang="en-US" altLang="ko-KR"/>
              <a:t>fish data </a:t>
            </a:r>
            <a:r>
              <a:rPr lang="ko-KR" altLang="en-US"/>
              <a:t>준비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fish_data</a:t>
            </a:r>
            <a:r>
              <a:rPr lang="ko-KR" altLang="en-US"/>
              <a:t>를 </a:t>
            </a:r>
            <a:r>
              <a:rPr lang="en-US" altLang="ko-KR"/>
              <a:t>[length,</a:t>
            </a:r>
            <a:r>
              <a:rPr lang="ko-KR" altLang="en-US"/>
              <a:t> </a:t>
            </a:r>
            <a:r>
              <a:rPr lang="en-US" altLang="ko-KR"/>
              <a:t>weight]</a:t>
            </a:r>
            <a:r>
              <a:rPr lang="ko-KR" altLang="en-US"/>
              <a:t>의 배열로 구성 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 numpy.column_stack()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/>
              <a:t>fish_target</a:t>
            </a:r>
            <a:r>
              <a:rPr lang="ko-KR" altLang="en-US"/>
              <a:t>을 구성 </a:t>
            </a:r>
            <a:r>
              <a:rPr lang="en-US" altLang="ko-KR">
                <a:sym typeface="Wingdings" panose="05000000000000000000" pitchFamily="2" charset="2"/>
              </a:rPr>
              <a:t> concatenate(),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ones(),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zeros()</a:t>
            </a:r>
            <a:r>
              <a:rPr lang="en-US" altLang="ko-KR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19B15-44A4-427D-B7A3-E62677482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53B920-3583-4A32-BBF8-ACFE36A6F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0" y="1520788"/>
            <a:ext cx="6878881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05F08F-E49B-4699-8029-D80133E0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0" y="3974449"/>
            <a:ext cx="5345579" cy="7924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1421A5-C1DF-4D8A-ABA3-4E99756EA836}"/>
              </a:ext>
            </a:extLst>
          </p:cNvPr>
          <p:cNvSpPr txBox="1"/>
          <p:nvPr/>
        </p:nvSpPr>
        <p:spPr>
          <a:xfrm>
            <a:off x="6090994" y="4091602"/>
            <a:ext cx="2952328" cy="58477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column_stack()</a:t>
            </a:r>
            <a:r>
              <a:rPr lang="ko-KR" altLang="en-US"/>
              <a:t>은</a:t>
            </a:r>
            <a:r>
              <a:rPr lang="en-US" altLang="ko-KR"/>
              <a:t> tuple</a:t>
            </a:r>
            <a:r>
              <a:rPr lang="ko-KR" altLang="en-US"/>
              <a:t>을 인수로 받아</a:t>
            </a:r>
            <a:r>
              <a:rPr lang="en-US" altLang="ko-KR"/>
              <a:t>, </a:t>
            </a:r>
            <a:r>
              <a:rPr lang="ko-KR" altLang="en-US"/>
              <a:t>배열을 </a:t>
            </a:r>
            <a:r>
              <a:rPr lang="en-US" altLang="ko-KR"/>
              <a:t>return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F136E7-189D-49BA-9092-9DE87312D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49" y="5517232"/>
            <a:ext cx="5289315" cy="5760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67143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6EADA-92D7-4551-842E-B562FF35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훈련세트와 테스트세트로 나누기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A3CE2-5FD4-4398-8B68-4D52BA390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싸이킷런의 </a:t>
            </a:r>
            <a:r>
              <a:rPr lang="en-US" altLang="ko-KR"/>
              <a:t>train_test_split() </a:t>
            </a:r>
            <a:r>
              <a:rPr lang="ko-KR" altLang="en-US"/>
              <a:t>이용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train:test = 36:13 (test</a:t>
            </a:r>
            <a:r>
              <a:rPr lang="ko-KR" altLang="en-US"/>
              <a:t>를 </a:t>
            </a:r>
            <a:r>
              <a:rPr lang="en-US" altLang="ko-KR"/>
              <a:t>25% </a:t>
            </a:r>
            <a:r>
              <a:rPr lang="ko-KR" altLang="en-US"/>
              <a:t>정도 </a:t>
            </a:r>
            <a:r>
              <a:rPr lang="en-US" altLang="ko-KR"/>
              <a:t>default</a:t>
            </a:r>
            <a:r>
              <a:rPr lang="ko-KR" altLang="en-US"/>
              <a:t>로 떼어냄</a:t>
            </a:r>
            <a:r>
              <a:rPr lang="en-US" altLang="ko-KR"/>
              <a:t>)</a:t>
            </a:r>
          </a:p>
          <a:p>
            <a:pPr lvl="1"/>
            <a:r>
              <a:rPr lang="en-US" altLang="ko-KR"/>
              <a:t>train_target</a:t>
            </a:r>
            <a:r>
              <a:rPr lang="ko-KR" altLang="en-US"/>
              <a:t>을 보면 도미</a:t>
            </a:r>
            <a:r>
              <a:rPr lang="en-US" altLang="ko-KR"/>
              <a:t>:</a:t>
            </a:r>
            <a:r>
              <a:rPr lang="ko-KR" altLang="en-US"/>
              <a:t>빙어</a:t>
            </a:r>
            <a:r>
              <a:rPr lang="en-US" altLang="ko-KR"/>
              <a:t>=25:11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빙어가 </a:t>
            </a:r>
            <a:r>
              <a:rPr lang="en-US" altLang="ko-KR"/>
              <a:t>31% </a:t>
            </a:r>
            <a:r>
              <a:rPr lang="ko-KR" altLang="en-US"/>
              <a:t>차지</a:t>
            </a:r>
            <a:endParaRPr lang="en-US" altLang="ko-KR"/>
          </a:p>
          <a:p>
            <a:pPr lvl="1"/>
            <a:r>
              <a:rPr lang="ko-KR" altLang="en-US"/>
              <a:t>우리의 예는 빙어가 </a:t>
            </a:r>
            <a:r>
              <a:rPr lang="en-US" altLang="ko-KR"/>
              <a:t>28%(=14/49) </a:t>
            </a:r>
            <a:r>
              <a:rPr lang="ko-KR" altLang="en-US"/>
              <a:t>차지하므로 </a:t>
            </a:r>
            <a:r>
              <a:rPr lang="en-US" altLang="ko-KR"/>
              <a:t>train_target</a:t>
            </a:r>
            <a:r>
              <a:rPr lang="ko-KR" altLang="en-US"/>
              <a:t>에서의 빙어 수를 조정하여 </a:t>
            </a:r>
            <a:r>
              <a:rPr lang="en-US" altLang="ko-KR"/>
              <a:t>26:10</a:t>
            </a:r>
            <a:r>
              <a:rPr lang="ko-KR" altLang="en-US"/>
              <a:t>으로 하면 빙어가 </a:t>
            </a:r>
            <a:r>
              <a:rPr lang="en-US" altLang="ko-KR"/>
              <a:t>28% </a:t>
            </a:r>
            <a:r>
              <a:rPr lang="ko-KR" altLang="en-US"/>
              <a:t>차지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 fish_target</a:t>
            </a:r>
            <a:r>
              <a:rPr lang="ko-KR" altLang="en-US">
                <a:sym typeface="Wingdings" panose="05000000000000000000" pitchFamily="2" charset="2"/>
              </a:rPr>
              <a:t>의 레이블을 참조하여 샘플의 비율을 맞춤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stratify</a:t>
            </a:r>
            <a:r>
              <a:rPr lang="ko-KR" altLang="en-US">
                <a:sym typeface="Wingdings" panose="05000000000000000000" pitchFamily="2" charset="2"/>
              </a:rPr>
              <a:t> 인수에 </a:t>
            </a:r>
            <a:r>
              <a:rPr lang="en-US" altLang="ko-KR">
                <a:sym typeface="Wingdings" panose="05000000000000000000" pitchFamily="2" charset="2"/>
              </a:rPr>
              <a:t>fish_target</a:t>
            </a:r>
            <a:r>
              <a:rPr lang="ko-KR" altLang="en-US">
                <a:sym typeface="Wingdings" panose="05000000000000000000" pitchFamily="2" charset="2"/>
              </a:rPr>
              <a:t>을 전달 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0E2406-6638-4DBE-83C9-7216713BF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A54BD-7F26-4CD8-9B2F-ACA152F52B71}"/>
              </a:ext>
            </a:extLst>
          </p:cNvPr>
          <p:cNvSpPr txBox="1"/>
          <p:nvPr/>
        </p:nvSpPr>
        <p:spPr>
          <a:xfrm>
            <a:off x="5816902" y="1484784"/>
            <a:ext cx="2952328" cy="58477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random_state</a:t>
            </a:r>
            <a:r>
              <a:rPr lang="ko-KR" altLang="en-US"/>
              <a:t> 인수를 이용하여 랜덤 시드 설정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6A736-400F-4603-8C00-B804EBFA1E37}"/>
              </a:ext>
            </a:extLst>
          </p:cNvPr>
          <p:cNvSpPr txBox="1"/>
          <p:nvPr/>
        </p:nvSpPr>
        <p:spPr>
          <a:xfrm>
            <a:off x="5816902" y="2240868"/>
            <a:ext cx="2952328" cy="58477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array.shape()</a:t>
            </a:r>
            <a:r>
              <a:rPr lang="ko-KR" altLang="en-US"/>
              <a:t>함수를 이용하여 배열 모양 확인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C958BD-A023-4DDE-A9C3-C433ACD7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645944"/>
            <a:ext cx="7245341" cy="7353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5F364F-7D67-4525-A1B0-8A332F5D7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484784"/>
            <a:ext cx="5046468" cy="13681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039591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37F1D-3348-4750-A097-012A8F3D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수상한 도미 한 마리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D593B-08EF-4558-AFC9-79F56E5A1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훈련하고 확인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25cm,</a:t>
            </a:r>
            <a:r>
              <a:rPr lang="ko-KR" altLang="en-US"/>
              <a:t> </a:t>
            </a:r>
            <a:r>
              <a:rPr lang="en-US" altLang="ko-KR"/>
              <a:t>150g </a:t>
            </a:r>
            <a:r>
              <a:rPr lang="ko-KR" altLang="en-US"/>
              <a:t>짜리 생선을 예측해 봄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scatter() </a:t>
            </a:r>
            <a:r>
              <a:rPr lang="ko-KR" altLang="en-US"/>
              <a:t>메서드의 </a:t>
            </a:r>
            <a:r>
              <a:rPr lang="en-US" altLang="ko-KR"/>
              <a:t>marker</a:t>
            </a:r>
            <a:r>
              <a:rPr lang="ko-KR" altLang="en-US"/>
              <a:t>는 </a:t>
            </a:r>
            <a:br>
              <a:rPr lang="en-US" altLang="ko-KR"/>
            </a:br>
            <a:r>
              <a:rPr lang="ko-KR" altLang="en-US"/>
              <a:t>표시 방법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4AE09-0FAD-4E54-8A71-9491FCA2E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0E5336-75F9-470D-B8B0-BAF243D0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4325037" cy="936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0C65A3-4958-409C-ABA5-3BF7B9F01808}"/>
              </a:ext>
            </a:extLst>
          </p:cNvPr>
          <p:cNvSpPr txBox="1"/>
          <p:nvPr/>
        </p:nvSpPr>
        <p:spPr>
          <a:xfrm>
            <a:off x="5209549" y="1783559"/>
            <a:ext cx="354915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>
                <a:solidFill>
                  <a:srgbClr val="FF0000"/>
                </a:solidFill>
              </a:rPr>
              <a:t>테스트세트에서 </a:t>
            </a:r>
            <a:r>
              <a:rPr lang="en-US" altLang="ko-KR">
                <a:solidFill>
                  <a:srgbClr val="FF0000"/>
                </a:solidFill>
              </a:rPr>
              <a:t>100% </a:t>
            </a:r>
            <a:r>
              <a:rPr lang="ko-KR" altLang="en-US">
                <a:solidFill>
                  <a:srgbClr val="FF0000"/>
                </a:solidFill>
              </a:rPr>
              <a:t>확인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E58C61-822C-400A-8BE7-F82DEDBB3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117412"/>
            <a:ext cx="3827456" cy="1698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346974-1E96-4EFC-9874-F2980FFA4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065" y="3004328"/>
            <a:ext cx="3752850" cy="2486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E12059-0E8F-4D30-B78E-FDFFE7AAAB46}"/>
              </a:ext>
            </a:extLst>
          </p:cNvPr>
          <p:cNvSpPr txBox="1"/>
          <p:nvPr/>
        </p:nvSpPr>
        <p:spPr>
          <a:xfrm>
            <a:off x="1907704" y="6034014"/>
            <a:ext cx="615314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>
                <a:solidFill>
                  <a:srgbClr val="FF0000"/>
                </a:solidFill>
              </a:rPr>
              <a:t>산포도 상에서도 도미에 가까운 것 같은데 빙어로 예측</a:t>
            </a:r>
          </a:p>
        </p:txBody>
      </p:sp>
    </p:spTree>
    <p:extLst>
      <p:ext uri="{BB962C8B-B14F-4D97-AF65-F5344CB8AC3E}">
        <p14:creationId xmlns:p14="http://schemas.microsoft.com/office/powerpoint/2010/main" val="24670843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37F1D-3348-4750-A097-012A8F3D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수상한 도미 한 마리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D593B-08EF-4558-AFC9-79F56E5A1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인접한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(k-</a:t>
            </a:r>
            <a:r>
              <a:rPr lang="ko-KR" altLang="en-US"/>
              <a:t>최근접 이웃 알고리즘의 </a:t>
            </a:r>
            <a:r>
              <a:rPr lang="en-US" altLang="ko-KR"/>
              <a:t>defaul</a:t>
            </a:r>
            <a:r>
              <a:rPr lang="ko-KR" altLang="en-US"/>
              <a:t>값</a:t>
            </a:r>
            <a:r>
              <a:rPr lang="en-US" altLang="ko-KR"/>
              <a:t>) </a:t>
            </a:r>
            <a:r>
              <a:rPr lang="ko-KR" altLang="en-US"/>
              <a:t>확인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 kneighbors() </a:t>
            </a:r>
            <a:r>
              <a:rPr lang="ko-KR" altLang="en-US">
                <a:sym typeface="Wingdings" panose="05000000000000000000" pitchFamily="2" charset="2"/>
              </a:rPr>
              <a:t>메서드 활용</a:t>
            </a:r>
            <a:r>
              <a:rPr lang="en-US" altLang="ko-KR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인접 이웃을 </a:t>
            </a:r>
            <a:r>
              <a:rPr lang="en-US" altLang="ko-KR">
                <a:sym typeface="Wingdings" panose="05000000000000000000" pitchFamily="2" charset="2"/>
              </a:rPr>
              <a:t>tuple</a:t>
            </a:r>
            <a:r>
              <a:rPr lang="ko-KR" altLang="en-US">
                <a:sym typeface="Wingdings" panose="05000000000000000000" pitchFamily="2" charset="2"/>
              </a:rPr>
              <a:t>로 </a:t>
            </a:r>
            <a:r>
              <a:rPr lang="en-US" altLang="ko-KR">
                <a:sym typeface="Wingdings" panose="05000000000000000000" pitchFamily="2" charset="2"/>
              </a:rPr>
              <a:t>retrun)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/>
              <a:t>distances</a:t>
            </a:r>
            <a:r>
              <a:rPr lang="ko-KR" altLang="en-US"/>
              <a:t>나 </a:t>
            </a:r>
            <a:r>
              <a:rPr lang="en-US" altLang="ko-KR"/>
              <a:t>indexes</a:t>
            </a:r>
            <a:r>
              <a:rPr lang="ko-KR" altLang="en-US"/>
              <a:t>는</a:t>
            </a:r>
            <a:br>
              <a:rPr lang="en-US" altLang="ko-KR"/>
            </a:br>
            <a:r>
              <a:rPr lang="en-US" altLang="ko-KR"/>
              <a:t>class </a:t>
            </a:r>
            <a:r>
              <a:rPr lang="ko-KR" altLang="en-US"/>
              <a:t>＇</a:t>
            </a:r>
            <a:r>
              <a:rPr lang="en-US" altLang="ko-KR"/>
              <a:t>numpy.ndarray</a:t>
            </a:r>
            <a:r>
              <a:rPr lang="ko-KR" altLang="en-US"/>
              <a:t>＇</a:t>
            </a:r>
            <a:r>
              <a:rPr lang="en-US" altLang="ko-KR"/>
              <a:t> </a:t>
            </a:r>
            <a:r>
              <a:rPr lang="ko-KR" altLang="en-US"/>
              <a:t>값임</a:t>
            </a:r>
            <a:endParaRPr lang="en-US" altLang="ko-KR"/>
          </a:p>
          <a:p>
            <a:pPr lvl="1"/>
            <a:r>
              <a:rPr lang="en-US" altLang="ko-KR">
                <a:sym typeface="Wingdings" panose="05000000000000000000" pitchFamily="2" charset="2"/>
              </a:rPr>
              <a:t>array[indexes] </a:t>
            </a:r>
            <a:r>
              <a:rPr lang="ko-KR" altLang="en-US">
                <a:sym typeface="Wingdings" panose="05000000000000000000" pitchFamily="2" charset="2"/>
              </a:rPr>
              <a:t>하면 </a:t>
            </a:r>
            <a:r>
              <a:rPr lang="en-US" altLang="ko-KR">
                <a:sym typeface="Wingdings" panose="05000000000000000000" pitchFamily="2" charset="2"/>
              </a:rPr>
              <a:t>indexes </a:t>
            </a:r>
            <a:r>
              <a:rPr lang="ko-KR" altLang="en-US">
                <a:sym typeface="Wingdings" panose="05000000000000000000" pitchFamily="2" charset="2"/>
              </a:rPr>
              <a:t>내의 값들을 집단으로 적용</a:t>
            </a:r>
            <a:endParaRPr lang="en-US" altLang="ko-KR"/>
          </a:p>
          <a:p>
            <a:r>
              <a:rPr lang="ko-KR" altLang="en-US"/>
              <a:t>인접 이웃의 데이터를 확인해도 빙어임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 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4AE09-0FAD-4E54-8A71-9491FCA2E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12059-0E8F-4D30-B78E-FDFFE7AAAB46}"/>
              </a:ext>
            </a:extLst>
          </p:cNvPr>
          <p:cNvSpPr txBox="1"/>
          <p:nvPr/>
        </p:nvSpPr>
        <p:spPr>
          <a:xfrm>
            <a:off x="539552" y="6027870"/>
            <a:ext cx="615314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>
                <a:solidFill>
                  <a:srgbClr val="FF0000"/>
                </a:solidFill>
              </a:rPr>
              <a:t>확인해 보면 분명히 인접 이웃은 빙어</a:t>
            </a:r>
            <a:r>
              <a:rPr lang="en-US" altLang="ko-KR">
                <a:solidFill>
                  <a:srgbClr val="FF0000"/>
                </a:solidFill>
              </a:rPr>
              <a:t> 4, </a:t>
            </a:r>
            <a:r>
              <a:rPr lang="ko-KR" altLang="en-US">
                <a:solidFill>
                  <a:srgbClr val="FF0000"/>
                </a:solidFill>
              </a:rPr>
              <a:t>도미 </a:t>
            </a:r>
            <a:r>
              <a:rPr lang="en-US" altLang="ko-KR">
                <a:solidFill>
                  <a:srgbClr val="FF0000"/>
                </a:solidFill>
              </a:rPr>
              <a:t>1</a:t>
            </a:r>
            <a:r>
              <a:rPr lang="ko-KR" altLang="en-US">
                <a:solidFill>
                  <a:srgbClr val="FF0000"/>
                </a:solidFill>
              </a:rPr>
              <a:t>가</a:t>
            </a:r>
            <a:r>
              <a:rPr lang="en-US" altLang="ko-KR">
                <a:solidFill>
                  <a:srgbClr val="FF0000"/>
                </a:solidFill>
              </a:rPr>
              <a:t> </a:t>
            </a:r>
            <a:r>
              <a:rPr lang="ko-KR" altLang="en-US">
                <a:solidFill>
                  <a:srgbClr val="FF0000"/>
                </a:solidFill>
              </a:rPr>
              <a:t>됨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3508FA9-521E-4BFE-AA24-33427A8EF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553074"/>
            <a:ext cx="2377230" cy="3962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4B84B3A-548D-4B63-AE20-E6F709A3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88839"/>
            <a:ext cx="5027282" cy="1656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A8B3073-BCD9-4B28-AF7A-7A80532A4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119" y="1844824"/>
            <a:ext cx="33432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068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B116D-15F8-4220-8288-FC2F9F25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기준을 맞춰라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A5078-D6EE-4718-A117-1FBC4BA0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/>
              <a:t>수상한 도미의 원인</a:t>
            </a:r>
            <a:endParaRPr lang="en-US" altLang="ko-KR"/>
          </a:p>
          <a:p>
            <a:pPr lvl="1"/>
            <a:r>
              <a:rPr lang="ko-KR" altLang="en-US"/>
              <a:t>가로축과 세로축의 단위가 다름</a:t>
            </a:r>
            <a:r>
              <a:rPr lang="en-US" altLang="ko-KR"/>
              <a:t>(</a:t>
            </a:r>
            <a:r>
              <a:rPr lang="ko-KR" altLang="en-US"/>
              <a:t>가로는</a:t>
            </a:r>
            <a:r>
              <a:rPr lang="en-US" altLang="ko-KR"/>
              <a:t> cm(</a:t>
            </a:r>
            <a:r>
              <a:rPr lang="ko-KR" altLang="en-US"/>
              <a:t>거리</a:t>
            </a:r>
            <a:r>
              <a:rPr lang="en-US" altLang="ko-KR"/>
              <a:t>), </a:t>
            </a:r>
            <a:r>
              <a:rPr lang="ko-KR" altLang="en-US"/>
              <a:t>세로는 </a:t>
            </a:r>
            <a:r>
              <a:rPr lang="en-US" altLang="ko-KR"/>
              <a:t>g(</a:t>
            </a:r>
            <a:r>
              <a:rPr lang="ko-KR" altLang="en-US"/>
              <a:t>무게</a:t>
            </a:r>
            <a:r>
              <a:rPr lang="en-US" altLang="ko-KR"/>
              <a:t>))</a:t>
            </a:r>
          </a:p>
          <a:p>
            <a:pPr lvl="1"/>
            <a:r>
              <a:rPr lang="ko-KR" altLang="en-US"/>
              <a:t>가로축과 세로축의 </a:t>
            </a:r>
            <a:r>
              <a:rPr lang="en-US" altLang="ko-KR"/>
              <a:t>scale</a:t>
            </a:r>
            <a:r>
              <a:rPr lang="ko-KR" altLang="en-US"/>
              <a:t>이 다름</a:t>
            </a:r>
            <a:r>
              <a:rPr lang="en-US" altLang="ko-KR"/>
              <a:t>(</a:t>
            </a:r>
            <a:r>
              <a:rPr lang="ko-KR" altLang="en-US"/>
              <a:t>가로는 </a:t>
            </a:r>
            <a:r>
              <a:rPr lang="en-US" altLang="ko-KR"/>
              <a:t>40, </a:t>
            </a:r>
            <a:r>
              <a:rPr lang="ko-KR" altLang="en-US"/>
              <a:t>세로는 </a:t>
            </a:r>
            <a:r>
              <a:rPr lang="en-US" altLang="ko-KR"/>
              <a:t>1000)</a:t>
            </a:r>
          </a:p>
          <a:p>
            <a:r>
              <a:rPr lang="ko-KR" altLang="en-US"/>
              <a:t>수정</a:t>
            </a:r>
            <a:r>
              <a:rPr lang="en-US" altLang="ko-KR"/>
              <a:t>: scale</a:t>
            </a:r>
            <a:r>
              <a:rPr lang="ko-KR" altLang="en-US"/>
              <a:t>만 맞춰봄</a:t>
            </a:r>
            <a:endParaRPr lang="en-US" altLang="ko-KR"/>
          </a:p>
          <a:p>
            <a:pPr lvl="1"/>
            <a:r>
              <a:rPr lang="en-US" altLang="ko-KR"/>
              <a:t>xlim()(</a:t>
            </a:r>
            <a:r>
              <a:rPr lang="ko-KR" altLang="en-US"/>
              <a:t>또는 </a:t>
            </a:r>
            <a:r>
              <a:rPr lang="en-US" altLang="ko-KR"/>
              <a:t>ylim()) </a:t>
            </a:r>
            <a:r>
              <a:rPr lang="ko-KR" altLang="en-US"/>
              <a:t>함수 이용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가로축 </a:t>
            </a:r>
            <a:r>
              <a:rPr lang="en-US" altLang="ko-KR">
                <a:sym typeface="Wingdings" panose="05000000000000000000" pitchFamily="2" charset="2"/>
              </a:rPr>
              <a:t>scale</a:t>
            </a:r>
            <a:r>
              <a:rPr lang="ko-KR" altLang="en-US">
                <a:sym typeface="Wingdings" panose="05000000000000000000" pitchFamily="2" charset="2"/>
              </a:rPr>
              <a:t>을 </a:t>
            </a:r>
            <a:r>
              <a:rPr lang="en-US" altLang="ko-KR">
                <a:sym typeface="Wingdings" panose="05000000000000000000" pitchFamily="2" charset="2"/>
              </a:rPr>
              <a:t>1000</a:t>
            </a:r>
            <a:r>
              <a:rPr lang="ko-KR" altLang="en-US">
                <a:sym typeface="Wingdings" panose="05000000000000000000" pitchFamily="2" charset="2"/>
              </a:rPr>
              <a:t>으로 맞춤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</a:t>
            </a:r>
          </a:p>
          <a:p>
            <a:pPr marL="4320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58371-0311-4BC8-8479-407A19CB5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73A606-0173-48A0-A31A-182DB723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573016"/>
            <a:ext cx="5063191" cy="1656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C3F447F-9D8B-425B-A914-21FA7E4C9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763" y="3352033"/>
            <a:ext cx="3419475" cy="2238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FC8BF1-F9BE-4B85-BC23-FD35DF8FA963}"/>
              </a:ext>
            </a:extLst>
          </p:cNvPr>
          <p:cNvSpPr txBox="1"/>
          <p:nvPr/>
        </p:nvSpPr>
        <p:spPr>
          <a:xfrm>
            <a:off x="827584" y="5735812"/>
            <a:ext cx="72332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>
                <a:solidFill>
                  <a:srgbClr val="FF0000"/>
                </a:solidFill>
              </a:rPr>
              <a:t>y</a:t>
            </a:r>
            <a:r>
              <a:rPr lang="ko-KR" altLang="en-US">
                <a:solidFill>
                  <a:srgbClr val="FF0000"/>
                </a:solidFill>
              </a:rPr>
              <a:t>축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무게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에 좌우됨을 알 수 있음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>
                <a:solidFill>
                  <a:srgbClr val="FF0000"/>
                </a:solidFill>
              </a:rPr>
              <a:t>왜냐하면 값의 변이가 크므로</a:t>
            </a:r>
            <a:r>
              <a:rPr lang="en-US" altLang="ko-KR">
                <a:solidFill>
                  <a:srgbClr val="FF0000"/>
                </a:solidFill>
              </a:rPr>
              <a:t>... x</a:t>
            </a:r>
            <a:r>
              <a:rPr lang="ko-KR" altLang="en-US">
                <a:solidFill>
                  <a:srgbClr val="FF0000"/>
                </a:solidFill>
              </a:rPr>
              <a:t>축 값은 </a:t>
            </a:r>
            <a:r>
              <a:rPr lang="en-US" altLang="ko-KR">
                <a:solidFill>
                  <a:srgbClr val="FF0000"/>
                </a:solidFill>
              </a:rPr>
              <a:t>0~40, y</a:t>
            </a:r>
            <a:r>
              <a:rPr lang="ko-KR" altLang="en-US">
                <a:solidFill>
                  <a:srgbClr val="FF0000"/>
                </a:solidFill>
              </a:rPr>
              <a:t>축 값은 </a:t>
            </a:r>
            <a:r>
              <a:rPr lang="en-US" altLang="ko-KR">
                <a:solidFill>
                  <a:srgbClr val="FF0000"/>
                </a:solidFill>
              </a:rPr>
              <a:t>0~1000 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9676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23AD4-742D-484A-BF5C-49055A9F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기준을 맞춰라 </a:t>
            </a:r>
            <a:r>
              <a:rPr lang="en-US" altLang="ko-KR"/>
              <a:t>(2)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F458D1-BEFB-46A0-A0FF-898542E2B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ko-KR" altLang="en-US"/>
                  <a:t>데이터 전처리</a:t>
                </a:r>
                <a:r>
                  <a:rPr lang="en-US" altLang="ko-KR"/>
                  <a:t>(Data Preprocessing)</a:t>
                </a:r>
              </a:p>
              <a:p>
                <a:pPr lvl="1"/>
                <a:r>
                  <a:rPr lang="ko-KR" altLang="en-US"/>
                  <a:t>특성값의</a:t>
                </a:r>
                <a:r>
                  <a:rPr lang="en-US" altLang="ko-KR"/>
                  <a:t> </a:t>
                </a:r>
                <a:r>
                  <a:rPr lang="ko-KR" altLang="en-US"/>
                  <a:t>단위나 스케일에 상관 없이 일정한 기준으로 맞춤</a:t>
                </a:r>
                <a:endParaRPr lang="en-US" altLang="ko-KR"/>
              </a:p>
              <a:p>
                <a:pPr lvl="1"/>
                <a:r>
                  <a:rPr lang="ko-KR" altLang="en-US">
                    <a:sym typeface="Wingdings" panose="05000000000000000000" pitchFamily="2" charset="2"/>
                  </a:rPr>
                  <a:t>표준점수</a:t>
                </a:r>
                <a:r>
                  <a:rPr lang="en-US" altLang="ko-KR">
                    <a:sym typeface="Wingdings" panose="05000000000000000000" pitchFamily="2" charset="2"/>
                  </a:rPr>
                  <a:t>(standard score, Z score</a:t>
                </a:r>
                <a:r>
                  <a:rPr lang="ko-KR" altLang="en-US">
                    <a:sym typeface="Wingdings" panose="05000000000000000000" pitchFamily="2" charset="2"/>
                  </a:rPr>
                  <a:t>로도 불림</a:t>
                </a:r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  <a:r>
                  <a:rPr lang="ko-KR" altLang="en-US">
                    <a:sym typeface="Wingdings" panose="05000000000000000000" pitchFamily="2" charset="2"/>
                  </a:rPr>
                  <a:t>를</a:t>
                </a:r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r>
                  <a:rPr lang="ko-KR" altLang="en-US">
                    <a:sym typeface="Wingdings" panose="05000000000000000000" pitchFamily="2" charset="2"/>
                  </a:rPr>
                  <a:t>활용하면</a:t>
                </a:r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:r>
                  <a:rPr lang="ko-KR" altLang="en-US">
                    <a:sym typeface="Wingdings" panose="05000000000000000000" pitchFamily="2" charset="2"/>
                  </a:rPr>
                  <a:t>실제 특성값의 단위나 스케일에 상관 없이 동일한 조건으로 비교 가능</a:t>
                </a:r>
                <a:r>
                  <a:rPr lang="en-US" altLang="ko-KR">
                    <a:sym typeface="Wingdings" panose="05000000000000000000" pitchFamily="2" charset="2"/>
                  </a:rPr>
                  <a:t> (</a:t>
                </a:r>
                <a:r>
                  <a:rPr lang="ko-KR" altLang="en-US">
                    <a:sym typeface="Wingdings" panose="05000000000000000000" pitchFamily="2" charset="2"/>
                  </a:rPr>
                  <a:t>단위가 없음</a:t>
                </a:r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(mean)</a:t>
                </a:r>
              </a:p>
              <a:p>
                <a:pPr lvl="1"/>
                <a:r>
                  <a:rPr lang="ko-KR" altLang="en-US"/>
                  <a:t>데이터를 모두 더해 갯수로 나눈 값 </a:t>
                </a:r>
                <a:r>
                  <a:rPr lang="en-US" altLang="ko-KR"/>
                  <a:t>(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)</a:t>
                </a:r>
                <a:endParaRPr lang="ko-KR" altLang="en-US"/>
              </a:p>
              <a:p>
                <a:r>
                  <a:rPr lang="ko-KR" altLang="en-US">
                    <a:sym typeface="Wingdings" panose="05000000000000000000" pitchFamily="2" charset="2"/>
                  </a:rPr>
                  <a:t>분산</a:t>
                </a:r>
                <a:r>
                  <a:rPr lang="en-US" altLang="ko-KR">
                    <a:sym typeface="Wingdings" panose="05000000000000000000" pitchFamily="2" charset="2"/>
                  </a:rPr>
                  <a:t>(Variance)</a:t>
                </a:r>
              </a:p>
              <a:p>
                <a:pPr lvl="1"/>
                <a:r>
                  <a:rPr lang="ko-KR" altLang="en-US">
                    <a:sym typeface="Wingdings" panose="05000000000000000000" pitchFamily="2" charset="2"/>
                  </a:rPr>
                  <a:t>데이터에서 평균을 뺀 값을 제곱하여 평균 낸 값 </a:t>
                </a:r>
                <a:r>
                  <a:rPr lang="en-US" altLang="ko-KR">
                    <a:sym typeface="Wingdings" panose="05000000000000000000" pitchFamily="2" charset="2"/>
                  </a:rPr>
                  <a:t>(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𝒔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 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𝒎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)</a:t>
                </a:r>
              </a:p>
              <a:p>
                <a:r>
                  <a:rPr lang="ko-KR" altLang="en-US">
                    <a:sym typeface="Wingdings" panose="05000000000000000000" pitchFamily="2" charset="2"/>
                  </a:rPr>
                  <a:t>표준편차</a:t>
                </a:r>
                <a:r>
                  <a:rPr lang="en-US" altLang="ko-KR">
                    <a:sym typeface="Wingdings" panose="05000000000000000000" pitchFamily="2" charset="2"/>
                  </a:rPr>
                  <a:t>(Standard Deviation)</a:t>
                </a:r>
              </a:p>
              <a:p>
                <a:pPr lvl="1"/>
                <a:r>
                  <a:rPr lang="ko-KR" altLang="en-US">
                    <a:sym typeface="Wingdings" panose="05000000000000000000" pitchFamily="2" charset="2"/>
                  </a:rPr>
                  <a:t>데이터의 분산된 정도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r>
                  <a:rPr lang="ko-KR" altLang="en-US">
                    <a:sym typeface="Wingdings" panose="05000000000000000000" pitchFamily="2" charset="2"/>
                  </a:rPr>
                  <a:t>분산의 제곱근 </a:t>
                </a:r>
                <a:r>
                  <a:rPr lang="en-US" altLang="ko-KR">
                    <a:sym typeface="Wingdings" panose="05000000000000000000" pitchFamily="2" charset="2"/>
                  </a:rPr>
                  <a:t>(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𝝈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𝒔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 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𝒎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)</a:t>
                </a:r>
              </a:p>
              <a:p>
                <a:r>
                  <a:rPr lang="ko-KR" altLang="en-US">
                    <a:sym typeface="Wingdings" panose="05000000000000000000" pitchFamily="2" charset="2"/>
                  </a:rPr>
                  <a:t>표준점수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r>
                  <a:rPr lang="ko-KR" altLang="en-US">
                    <a:sym typeface="Wingdings" panose="05000000000000000000" pitchFamily="2" charset="2"/>
                  </a:rPr>
                  <a:t>각 데이터가 원점에서 몇 표준편차 떨어져 있는지를 나타내는 값 </a:t>
                </a:r>
                <a:r>
                  <a:rPr lang="en-US" altLang="ko-KR">
                    <a:sym typeface="Wingdings" panose="05000000000000000000" pitchFamily="2" charset="2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𝒁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𝒎</m:t>
                        </m:r>
                      </m:num>
                      <m:den>
                        <m:r>
                          <a:rPr lang="ko-KR" alt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𝝈</m:t>
                        </m:r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F458D1-BEFB-46A0-A0FF-898542E2B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18887-00B5-45CE-A2F0-CA5CEBD30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40400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B116D-15F8-4220-8288-FC2F9F25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기준을 맞춰라 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58371-0311-4BC8-8479-407A19CB5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2B6158-5BD5-4E44-98C5-3EA48B39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24744"/>
            <a:ext cx="8534400" cy="48668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0B150-146D-48E7-9A04-83AE064F934F}"/>
              </a:ext>
            </a:extLst>
          </p:cNvPr>
          <p:cNvSpPr txBox="1"/>
          <p:nvPr/>
        </p:nvSpPr>
        <p:spPr>
          <a:xfrm>
            <a:off x="1979712" y="6094585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https://upload.wikimedia.org/&gt;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72574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FC183-7BFA-42AA-B8F9-68AF035B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기준을 맞춰라 </a:t>
            </a:r>
            <a:r>
              <a:rPr lang="en-US" altLang="ko-KR"/>
              <a:t>(4)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A29BA2-6CAE-486A-826A-1ABFD0B0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훈련세트를 표준점수로 변환</a:t>
            </a:r>
            <a:endParaRPr lang="en-US" altLang="ko-KR"/>
          </a:p>
          <a:p>
            <a:pPr lvl="1"/>
            <a:r>
              <a:rPr lang="en-US" altLang="ko-KR"/>
              <a:t>numpy.mean(): </a:t>
            </a:r>
            <a:r>
              <a:rPr lang="ko-KR" altLang="en-US"/>
              <a:t>평균 반환</a:t>
            </a:r>
            <a:endParaRPr lang="en-US" altLang="ko-KR"/>
          </a:p>
          <a:p>
            <a:pPr lvl="1"/>
            <a:r>
              <a:rPr lang="en-US" altLang="ko-KR"/>
              <a:t>numpy.std():</a:t>
            </a:r>
            <a:r>
              <a:rPr lang="ko-KR" altLang="en-US"/>
              <a:t> 표준편차 반환</a:t>
            </a:r>
            <a:endParaRPr lang="en-US" altLang="ko-KR"/>
          </a:p>
          <a:p>
            <a:pPr lvl="1"/>
            <a:r>
              <a:rPr lang="ko-KR" altLang="en-US"/>
              <a:t>표준점수 </a:t>
            </a:r>
            <a:r>
              <a:rPr lang="en-US" altLang="ko-KR"/>
              <a:t>= (</a:t>
            </a:r>
            <a:r>
              <a:rPr lang="en-US" altLang="ko-KR" i="1"/>
              <a:t>input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 </a:t>
            </a:r>
            <a:r>
              <a:rPr lang="en-US" altLang="ko-KR"/>
              <a:t>mean)/std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r>
              <a:rPr lang="en-US" altLang="ko-KR"/>
              <a:t>mean,</a:t>
            </a:r>
            <a:r>
              <a:rPr lang="ko-KR" altLang="en-US"/>
              <a:t> </a:t>
            </a:r>
            <a:r>
              <a:rPr lang="en-US" altLang="ko-KR"/>
              <a:t>std,</a:t>
            </a:r>
            <a:r>
              <a:rPr lang="ko-KR" altLang="en-US"/>
              <a:t> </a:t>
            </a:r>
            <a:r>
              <a:rPr lang="en-US" altLang="ko-KR"/>
              <a:t>train_input, train_scaled </a:t>
            </a:r>
            <a:r>
              <a:rPr lang="ko-KR" altLang="en-US"/>
              <a:t>등은</a:t>
            </a:r>
            <a:br>
              <a:rPr lang="en-US" altLang="ko-KR"/>
            </a:br>
            <a:r>
              <a:rPr lang="ko-KR" altLang="en-US"/>
              <a:t>모두 </a:t>
            </a:r>
            <a:r>
              <a:rPr lang="en-US" altLang="ko-KR"/>
              <a:t>numpy </a:t>
            </a:r>
            <a:r>
              <a:rPr lang="ko-KR" altLang="en-US"/>
              <a:t>배열</a:t>
            </a:r>
            <a:endParaRPr lang="en-US" altLang="ko-KR"/>
          </a:p>
          <a:p>
            <a:pPr lvl="2"/>
            <a:r>
              <a:rPr lang="en-US" altLang="ko-KR"/>
              <a:t>numpy </a:t>
            </a:r>
            <a:r>
              <a:rPr lang="ko-KR" altLang="en-US"/>
              <a:t>배열 사이의 연산은 자동적으로 </a:t>
            </a:r>
            <a:br>
              <a:rPr lang="en-US" altLang="ko-KR"/>
            </a:br>
            <a:r>
              <a:rPr lang="ko-KR" altLang="en-US"/>
              <a:t>모든 행</a:t>
            </a:r>
            <a:r>
              <a:rPr lang="en-US" altLang="ko-KR"/>
              <a:t>/</a:t>
            </a:r>
            <a:r>
              <a:rPr lang="ko-KR" altLang="en-US"/>
              <a:t>열에 적용됨</a:t>
            </a:r>
            <a:r>
              <a:rPr lang="en-US" altLang="ko-KR"/>
              <a:t> </a:t>
            </a:r>
            <a:r>
              <a:rPr lang="en-US" altLang="ko-KR">
                <a:sym typeface="Wingdings" panose="05000000000000000000" pitchFamily="2" charset="2"/>
              </a:rPr>
              <a:t> Broadcasting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6076CD-A63A-4663-BF05-ADC5D5D47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D9A490-E0AE-48CD-A6F5-26B3FEAA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07" y="4138587"/>
            <a:ext cx="3276600" cy="22479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F3B278D-14A8-4627-8D6F-971FC4994D38}"/>
              </a:ext>
            </a:extLst>
          </p:cNvPr>
          <p:cNvGrpSpPr/>
          <p:nvPr/>
        </p:nvGrpSpPr>
        <p:grpSpPr>
          <a:xfrm>
            <a:off x="690759" y="2780928"/>
            <a:ext cx="5281581" cy="2009297"/>
            <a:chOff x="690759" y="3003879"/>
            <a:chExt cx="5281581" cy="200929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421070D-557C-460E-B207-198EFFEA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759" y="3003879"/>
              <a:ext cx="5281581" cy="200929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F67B9D8-E5F9-44C6-A41E-12D7BD208D9E}"/>
                </a:ext>
              </a:extLst>
            </p:cNvPr>
            <p:cNvSpPr/>
            <p:nvPr/>
          </p:nvSpPr>
          <p:spPr>
            <a:xfrm>
              <a:off x="698453" y="3981974"/>
              <a:ext cx="410445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245377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FC183-7BFA-42AA-B8F9-68AF035B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기준을 맞춰라 </a:t>
            </a:r>
            <a:r>
              <a:rPr lang="en-US" altLang="ko-KR"/>
              <a:t>(5)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A29BA2-6CAE-486A-826A-1ABFD0B0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샘플도 표준점수로 변환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6076CD-A63A-4663-BF05-ADC5D5D47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4ED4353-8F82-4F9E-B2EB-5EE3E951B567}"/>
              </a:ext>
            </a:extLst>
          </p:cNvPr>
          <p:cNvGrpSpPr/>
          <p:nvPr/>
        </p:nvGrpSpPr>
        <p:grpSpPr>
          <a:xfrm>
            <a:off x="539551" y="1484784"/>
            <a:ext cx="5192577" cy="1584176"/>
            <a:chOff x="539551" y="1484784"/>
            <a:chExt cx="5192577" cy="158417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3075AD8-7717-4812-922F-5346D67E9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1" y="1484784"/>
              <a:ext cx="5192577" cy="15841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F67B9D8-E5F9-44C6-A41E-12D7BD208D9E}"/>
                </a:ext>
              </a:extLst>
            </p:cNvPr>
            <p:cNvSpPr/>
            <p:nvPr/>
          </p:nvSpPr>
          <p:spPr>
            <a:xfrm>
              <a:off x="539552" y="1484784"/>
              <a:ext cx="2736304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2377F5-2307-4560-9602-D86063D63B91}"/>
                </a:ext>
              </a:extLst>
            </p:cNvPr>
            <p:cNvSpPr/>
            <p:nvPr/>
          </p:nvSpPr>
          <p:spPr>
            <a:xfrm>
              <a:off x="1814566" y="2010361"/>
              <a:ext cx="1442818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7D150E7-6AE9-44DA-8D2C-E7F1CB26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658" y="3590925"/>
            <a:ext cx="34480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2170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656A9-3310-407D-9FB1-F407280D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전처리 데이터로 모델 훈련하기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B19A0D-1852-43D9-ADD3-1BE72DD4A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테스트 데이터도 전처리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64174-3D65-410E-A5CB-BFB78B857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80B470-4A98-43B4-9B9D-3AA4134E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6246290" cy="28083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1C8253-6B1A-47A8-9BFB-D9B3A2D82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271963"/>
            <a:ext cx="3343275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261C5-2B16-4836-8BE5-74B7AC52C5A3}"/>
              </a:ext>
            </a:extLst>
          </p:cNvPr>
          <p:cNvSpPr txBox="1"/>
          <p:nvPr/>
        </p:nvSpPr>
        <p:spPr>
          <a:xfrm>
            <a:off x="5106254" y="5217111"/>
            <a:ext cx="374441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>
                <a:solidFill>
                  <a:srgbClr val="FF0000"/>
                </a:solidFill>
              </a:rPr>
              <a:t>5</a:t>
            </a:r>
            <a:r>
              <a:rPr lang="ko-KR" altLang="en-US">
                <a:solidFill>
                  <a:srgbClr val="FF0000"/>
                </a:solidFill>
              </a:rPr>
              <a:t>개의 근접 이웃이 모두 도미임</a:t>
            </a:r>
            <a:endParaRPr lang="en-US" altLang="ko-K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5396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ko-KR" altLang="en-US"/>
              <a:t>데이터 전처리</a:t>
            </a:r>
            <a:r>
              <a:rPr lang="en-US" altLang="ko-KR"/>
              <a:t>: </a:t>
            </a:r>
            <a:r>
              <a:rPr lang="ko-KR" altLang="en-US"/>
              <a:t>머신러닝 모델에 훈련데이터를 주입하기 전에 데이터 가공</a:t>
            </a:r>
            <a:r>
              <a:rPr lang="en-US" altLang="ko-KR"/>
              <a:t>(</a:t>
            </a:r>
            <a:r>
              <a:rPr lang="ko-KR" altLang="en-US"/>
              <a:t>단위와 스케일을 없애고</a:t>
            </a:r>
            <a:r>
              <a:rPr lang="en-US" altLang="ko-KR"/>
              <a:t>, </a:t>
            </a:r>
            <a:r>
              <a:rPr lang="ko-KR" altLang="en-US"/>
              <a:t>상대적 분포에만 집중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표준점수</a:t>
            </a:r>
            <a:r>
              <a:rPr lang="en-US" altLang="ko-KR"/>
              <a:t>: </a:t>
            </a:r>
            <a:r>
              <a:rPr lang="ko-KR" altLang="en-US"/>
              <a:t>특성값에서 평균을 빼고 표준편차로 나눠줌</a:t>
            </a:r>
            <a:endParaRPr lang="en-US" altLang="ko-KR"/>
          </a:p>
          <a:p>
            <a:pPr lvl="1"/>
            <a:r>
              <a:rPr lang="ko-KR" altLang="en-US"/>
              <a:t>브로드캐스팅</a:t>
            </a:r>
            <a:r>
              <a:rPr lang="en-US" altLang="ko-KR"/>
              <a:t>: numpy</a:t>
            </a:r>
            <a:r>
              <a:rPr lang="ko-KR" altLang="en-US"/>
              <a:t> 배열에서 자동으로 사칙연산을 모든 행이나 열로 확장하여 수행하는 기능</a:t>
            </a:r>
            <a:endParaRPr lang="en-US" altLang="ko-KR"/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r>
              <a:rPr lang="en-US" altLang="ko-KR"/>
              <a:t>:</a:t>
            </a:r>
          </a:p>
          <a:p>
            <a:pPr marL="590850" lvl="1" indent="-285750">
              <a:buFont typeface="Arial" panose="020B0604020202020204" pitchFamily="34" charset="0"/>
              <a:buChar char="•"/>
            </a:pPr>
            <a:r>
              <a:rPr lang="en-US" altLang="ko-KR"/>
              <a:t>train_test_split(): </a:t>
            </a:r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ko-KR" altLang="en-US"/>
              <a:t>데이터를 훈련세트와 테스트세트로 나눠주는 함수</a:t>
            </a:r>
            <a:endParaRPr lang="en-US" altLang="ko-KR"/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ko-KR" altLang="en-US"/>
              <a:t>여러 개의 배열 전달 가능</a:t>
            </a:r>
            <a:endParaRPr lang="en-US" altLang="ko-KR"/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en-US" altLang="ko-KR"/>
              <a:t>test_size</a:t>
            </a:r>
            <a:r>
              <a:rPr lang="ko-KR" altLang="en-US"/>
              <a:t> 매개변수로 테스트세트 비율 결정</a:t>
            </a:r>
            <a:r>
              <a:rPr lang="en-US" altLang="ko-KR"/>
              <a:t>(default=0.25)</a:t>
            </a:r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en-US" altLang="ko-KR"/>
              <a:t>startyfy </a:t>
            </a:r>
            <a:r>
              <a:rPr lang="ko-KR" altLang="en-US"/>
              <a:t>매개변수로 레이블이 담긴 배열</a:t>
            </a:r>
            <a:r>
              <a:rPr lang="en-US" altLang="ko-KR"/>
              <a:t>(</a:t>
            </a:r>
            <a:r>
              <a:rPr lang="ko-KR" altLang="en-US"/>
              <a:t>일반적으로 </a:t>
            </a:r>
            <a:r>
              <a:rPr lang="en-US" altLang="ko-KR"/>
              <a:t>target)</a:t>
            </a:r>
            <a:r>
              <a:rPr lang="ko-KR" altLang="en-US"/>
              <a:t>을 전달하면</a:t>
            </a:r>
            <a:r>
              <a:rPr lang="en-US" altLang="ko-KR"/>
              <a:t>, </a:t>
            </a:r>
            <a:r>
              <a:rPr lang="ko-KR" altLang="en-US"/>
              <a:t>레이블의 비율에 따라 훈련세트와 테스트세트로 나눔</a:t>
            </a:r>
            <a:endParaRPr lang="en-US" altLang="ko-KR"/>
          </a:p>
          <a:p>
            <a:pPr marL="590850" lvl="1" indent="-285750">
              <a:buFont typeface="Arial" panose="020B0604020202020204" pitchFamily="34" charset="0"/>
              <a:buChar char="•"/>
            </a:pPr>
            <a:r>
              <a:rPr lang="en-US" altLang="ko-KR"/>
              <a:t>kneighbor(): </a:t>
            </a:r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ko-KR" altLang="en-US"/>
              <a:t>가장</a:t>
            </a:r>
            <a:r>
              <a:rPr lang="en-US" altLang="ko-KR"/>
              <a:t> </a:t>
            </a:r>
            <a:r>
              <a:rPr lang="ko-KR" altLang="en-US"/>
              <a:t>가까운 이웃을 찾아</a:t>
            </a:r>
            <a:r>
              <a:rPr lang="en-US" altLang="ko-KR"/>
              <a:t>, </a:t>
            </a:r>
            <a:r>
              <a:rPr lang="ko-KR" altLang="en-US"/>
              <a:t>거리와 </a:t>
            </a:r>
            <a:r>
              <a:rPr lang="en-US" altLang="ko-KR"/>
              <a:t>index</a:t>
            </a:r>
            <a:r>
              <a:rPr lang="ko-KR" altLang="en-US"/>
              <a:t>를 반환</a:t>
            </a:r>
            <a:endParaRPr lang="en-US" altLang="ko-KR"/>
          </a:p>
          <a:p>
            <a:pPr marL="950850" lvl="2" indent="-285750">
              <a:buFont typeface="Arial" panose="020B0604020202020204" pitchFamily="34" charset="0"/>
              <a:buChar char="•"/>
            </a:pPr>
            <a:r>
              <a:rPr lang="en-US" altLang="ko-KR"/>
              <a:t>return_distance </a:t>
            </a:r>
            <a:r>
              <a:rPr lang="ko-KR" altLang="en-US"/>
              <a:t>매개변수를 </a:t>
            </a:r>
            <a:r>
              <a:rPr lang="en-US" altLang="ko-KR"/>
              <a:t>False</a:t>
            </a:r>
            <a:r>
              <a:rPr lang="ko-KR" altLang="en-US"/>
              <a:t>로 지정하며 </a:t>
            </a:r>
            <a:r>
              <a:rPr lang="en-US" altLang="ko-KR"/>
              <a:t>index</a:t>
            </a:r>
            <a:r>
              <a:rPr lang="ko-KR" altLang="en-US"/>
              <a:t>만 반환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33910</TotalTime>
  <Words>868</Words>
  <Application>Microsoft Office PowerPoint</Application>
  <PresentationFormat>화면 슬라이드 쇼(4:3)</PresentationFormat>
  <Paragraphs>146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HY견고딕</vt:lpstr>
      <vt:lpstr>굴림</vt:lpstr>
      <vt:lpstr>맑은 고딕</vt:lpstr>
      <vt:lpstr>휴먼엑스포</vt:lpstr>
      <vt:lpstr>Arial</vt:lpstr>
      <vt:lpstr>Cambria Math</vt:lpstr>
      <vt:lpstr>Times New Roman</vt:lpstr>
      <vt:lpstr>Wingdings</vt:lpstr>
      <vt:lpstr>기본 디자인</vt:lpstr>
      <vt:lpstr>Data Preprocessing</vt:lpstr>
      <vt:lpstr>지난 시간 복습</vt:lpstr>
      <vt:lpstr>학습목표</vt:lpstr>
      <vt:lpstr>데이터 준비</vt:lpstr>
      <vt:lpstr>훈련세트와 테스트세트로 나누기</vt:lpstr>
      <vt:lpstr>수상한 도미 한 마리 (1)</vt:lpstr>
      <vt:lpstr>수상한 도미 한 마리 (2)</vt:lpstr>
      <vt:lpstr>기준을 맞춰라 (1)</vt:lpstr>
      <vt:lpstr>기준을 맞춰라 (2)</vt:lpstr>
      <vt:lpstr>기준을 맞춰라 (3)</vt:lpstr>
      <vt:lpstr>기준을 맞춰라 (4)</vt:lpstr>
      <vt:lpstr>기준을 맞춰라 (5)</vt:lpstr>
      <vt:lpstr>전처리 데이터로 모델 훈련하기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628</cp:revision>
  <dcterms:created xsi:type="dcterms:W3CDTF">2003-05-07T20:17:23Z</dcterms:created>
  <dcterms:modified xsi:type="dcterms:W3CDTF">2025-09-14T23:33:45Z</dcterms:modified>
</cp:coreProperties>
</file>