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632" r:id="rId2"/>
    <p:sldId id="722" r:id="rId3"/>
    <p:sldId id="719" r:id="rId4"/>
    <p:sldId id="739" r:id="rId5"/>
    <p:sldId id="720" r:id="rId6"/>
    <p:sldId id="742" r:id="rId7"/>
    <p:sldId id="743" r:id="rId8"/>
    <p:sldId id="741" r:id="rId9"/>
    <p:sldId id="744" r:id="rId10"/>
    <p:sldId id="740" r:id="rId11"/>
    <p:sldId id="746" r:id="rId12"/>
    <p:sldId id="747" r:id="rId13"/>
    <p:sldId id="717" r:id="rId14"/>
    <p:sldId id="703" r:id="rId15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CCECFF"/>
    <a:srgbClr val="6699FF"/>
    <a:srgbClr val="FF6699"/>
    <a:srgbClr val="0070C0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148" autoAdjust="0"/>
  </p:normalViewPr>
  <p:slideViewPr>
    <p:cSldViewPr>
      <p:cViewPr varScale="1">
        <p:scale>
          <a:sx n="163" d="100"/>
          <a:sy n="163" d="100"/>
        </p:scale>
        <p:origin x="1712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9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bit.ly/perch_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컴퓨터소프트웨어과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7"/>
            <a:ext cx="7514232" cy="1269706"/>
          </a:xfrm>
        </p:spPr>
        <p:txBody>
          <a:bodyPr/>
          <a:lstStyle/>
          <a:p>
            <a:pPr algn="ctr">
              <a:defRPr/>
            </a:pPr>
            <a:r>
              <a:rPr lang="en-US" altLang="ko-KR" sz="4000"/>
              <a:t>kNN Regression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en-US" altLang="ko-KR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968600" y="5586804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https://miro.medium.com/&gt;</a:t>
            </a:r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6" name="Picture 2" descr="K-Neighbors Regression Analysis in Python | by Imam Muhajir | Analytics  Vidhya | Medium">
            <a:extLst>
              <a:ext uri="{FF2B5EF4-FFF2-40B4-BE49-F238E27FC236}">
                <a16:creationId xmlns:a16="http://schemas.microsoft.com/office/drawing/2014/main" id="{ADBDAFC4-AF8D-4487-8D08-0779B3068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250672"/>
            <a:ext cx="5040560" cy="332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1B43-C860-495B-8CD4-EC58BD07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지난 시간 복습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/>
                  <a:t>훈련세트와 테스트세트 나누기</a:t>
                </a:r>
                <a:endParaRPr lang="en-US" altLang="ko-KR"/>
              </a:p>
              <a:p>
                <a:pPr lvl="1"/>
                <a:r>
                  <a:rPr lang="en-US" altLang="ko-KR"/>
                  <a:t>sklearn</a:t>
                </a:r>
                <a:r>
                  <a:rPr lang="ko-KR" altLang="en-US"/>
                  <a:t>의 </a:t>
                </a:r>
                <a:r>
                  <a:rPr lang="en-US" altLang="ko-KR"/>
                  <a:t>train_test_split() </a:t>
                </a:r>
                <a:r>
                  <a:rPr lang="ko-KR" altLang="en-US"/>
                  <a:t>이용</a:t>
                </a:r>
                <a:endParaRPr lang="en-US" altLang="ko-KR"/>
              </a:p>
              <a:p>
                <a:pPr lvl="1"/>
                <a:r>
                  <a:rPr lang="en-US" altLang="ko-KR"/>
                  <a:t>train_input, test_input, train_target, test_target</a:t>
                </a:r>
                <a:br>
                  <a:rPr lang="en-US" altLang="ko-KR"/>
                </a:br>
                <a:r>
                  <a:rPr lang="en-US" altLang="ko-KR"/>
                  <a:t>		= train_test_split(fish_data, fish_target, ...)</a:t>
                </a:r>
              </a:p>
              <a:p>
                <a:pPr lvl="1"/>
                <a:r>
                  <a:rPr lang="ko-KR" altLang="en-US"/>
                  <a:t>테스트세트는 전체 데이터의 </a:t>
                </a:r>
                <a:r>
                  <a:rPr lang="en-US" altLang="ko-KR"/>
                  <a:t>25% </a:t>
                </a:r>
                <a:r>
                  <a:rPr lang="ko-KR" altLang="en-US"/>
                  <a:t>정도로 </a:t>
                </a:r>
                <a:r>
                  <a:rPr lang="en-US" altLang="ko-KR"/>
                  <a:t>random </a:t>
                </a:r>
                <a:r>
                  <a:rPr lang="ko-KR" altLang="en-US"/>
                  <a:t>설정</a:t>
                </a:r>
                <a:endParaRPr lang="en-US" altLang="ko-KR"/>
              </a:p>
              <a:p>
                <a:r>
                  <a:rPr lang="ko-KR" altLang="en-US"/>
                  <a:t>데이터 전처리</a:t>
                </a:r>
                <a:r>
                  <a:rPr lang="en-US" altLang="ko-KR"/>
                  <a:t>(Data Preprocessing)</a:t>
                </a:r>
              </a:p>
              <a:p>
                <a:pPr lvl="1"/>
                <a:r>
                  <a:rPr lang="ko-KR" altLang="en-US"/>
                  <a:t>샘플 특성의 단위와 </a:t>
                </a:r>
                <a:r>
                  <a:rPr lang="en-US" altLang="ko-KR"/>
                  <a:t>scale</a:t>
                </a:r>
                <a:r>
                  <a:rPr lang="ko-KR" altLang="en-US"/>
                  <a:t>이 다르면 서로의 비교가 어려움</a:t>
                </a:r>
                <a:endParaRPr lang="en-US" altLang="ko-KR"/>
              </a:p>
              <a:p>
                <a:pPr lvl="1"/>
                <a:r>
                  <a:rPr lang="ko-KR" altLang="en-US"/>
                  <a:t>특성값을 표준점수</a:t>
                </a:r>
                <a:r>
                  <a:rPr lang="en-US" altLang="ko-KR"/>
                  <a:t>(</a:t>
                </a:r>
                <a:r>
                  <a:rPr lang="ko-KR" altLang="en-US"/>
                  <a:t>각 데이터가 원점에서 몇 표준편차 떨어져 있는지를 나타내는 값</a:t>
                </a:r>
                <a:r>
                  <a:rPr lang="en-US" altLang="ko-KR"/>
                  <a:t>)</a:t>
                </a:r>
                <a:r>
                  <a:rPr lang="ko-KR" altLang="en-US"/>
                  <a:t>로 활용하면 동일한 조건으로 비교 가능</a:t>
                </a:r>
                <a:endParaRPr lang="en-US" altLang="ko-KR"/>
              </a:p>
              <a:p>
                <a:pPr lvl="1"/>
                <a:r>
                  <a:rPr lang="ko-KR" altLang="en-US"/>
                  <a:t>표준점수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𝒁</m:t>
                    </m:r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𝒎</m:t>
                        </m:r>
                      </m:num>
                      <m:den>
                        <m:r>
                          <a:rPr lang="ko-KR" alt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𝝈</m:t>
                        </m:r>
                      </m:den>
                    </m:f>
                  </m:oMath>
                </a14:m>
                <a:r>
                  <a:rPr lang="en-US" altLang="ko-KR"/>
                  <a:t>, where </a:t>
                </a:r>
                <a:r>
                  <a:rPr lang="ko-KR" altLang="en-US"/>
                  <a:t>표준편차</a:t>
                </a: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𝝈</m:t>
                    </m:r>
                    <m:r>
                      <a:rPr lang="en-US" altLang="ko-KR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 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𝒎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𝒏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den>
                        </m:f>
                      </m:e>
                    </m:rad>
                  </m:oMath>
                </a14:m>
                <a:endParaRPr lang="en-US" altLang="ko-KR"/>
              </a:p>
              <a:p>
                <a:pPr lvl="1"/>
                <a:r>
                  <a:rPr lang="en-US" altLang="ko-KR"/>
                  <a:t>data_scaled = (data_input – mean)/std #broadcasting</a:t>
                </a:r>
              </a:p>
              <a:p>
                <a:pPr lvl="1"/>
                <a:endParaRPr lang="ko-KR" altLang="en-US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773" r="-1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460A6-4DBA-442D-B1A5-54053CCF9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2831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E6938-5846-4440-B5F2-782388FE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학습목표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A81E4D7-BB54-4FF2-8452-113620F71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/>
                  <a:t>이 시간이 종료되면 학생들은</a:t>
                </a:r>
                <a:endParaRPr lang="en-US" altLang="ko-KR"/>
              </a:p>
              <a:p>
                <a:pPr lvl="1"/>
                <a:r>
                  <a:rPr lang="en-US" altLang="ko-KR"/>
                  <a:t>‘k-</a:t>
                </a:r>
                <a:r>
                  <a:rPr lang="ko-KR" altLang="en-US"/>
                  <a:t>최근접 이웃 회기</a:t>
                </a:r>
                <a:r>
                  <a:rPr lang="en-US" altLang="ko-KR"/>
                  <a:t>’</a:t>
                </a:r>
                <a:r>
                  <a:rPr lang="ko-KR" altLang="en-US"/>
                  <a:t>를 이해하고 활용할 수 있다</a:t>
                </a:r>
                <a:r>
                  <a:rPr lang="en-US" altLang="ko-KR"/>
                  <a:t>.</a:t>
                </a:r>
              </a:p>
              <a:p>
                <a:pPr lvl="1"/>
                <a:r>
                  <a:rPr lang="ko-KR" altLang="en-US"/>
                  <a:t>결정계수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/>
                  <a:t>)</a:t>
                </a:r>
                <a:r>
                  <a:rPr lang="ko-KR" altLang="en-US"/>
                  <a:t>를</a:t>
                </a:r>
                <a:r>
                  <a:rPr lang="en-US" altLang="ko-KR"/>
                  <a:t> </a:t>
                </a:r>
                <a:r>
                  <a:rPr lang="ko-KR" altLang="en-US"/>
                  <a:t>이해하고</a:t>
                </a:r>
                <a:r>
                  <a:rPr lang="en-US" altLang="ko-KR"/>
                  <a:t>, </a:t>
                </a:r>
                <a:r>
                  <a:rPr lang="ko-KR" altLang="en-US"/>
                  <a:t>과대적합</a:t>
                </a:r>
                <a:r>
                  <a:rPr lang="en-US" altLang="ko-KR"/>
                  <a:t>(overfitting)</a:t>
                </a:r>
                <a:r>
                  <a:rPr lang="ko-KR" altLang="en-US"/>
                  <a:t>과</a:t>
                </a:r>
                <a:r>
                  <a:rPr lang="en-US" altLang="ko-KR"/>
                  <a:t> </a:t>
                </a:r>
                <a:r>
                  <a:rPr lang="ko-KR" altLang="en-US"/>
                  <a:t>과소적합</a:t>
                </a:r>
                <a:r>
                  <a:rPr lang="en-US" altLang="ko-KR"/>
                  <a:t>(underfitting)</a:t>
                </a:r>
                <a:r>
                  <a:rPr lang="ko-KR" altLang="en-US"/>
                  <a:t>을</a:t>
                </a:r>
                <a:r>
                  <a:rPr lang="en-US" altLang="ko-KR"/>
                  <a:t> </a:t>
                </a:r>
                <a:r>
                  <a:rPr lang="ko-KR" altLang="en-US"/>
                  <a:t>피할 수 있다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A81E4D7-BB54-4FF2-8452-113620F71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3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078B-3071-4128-9A58-72556F26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19197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E4BB5-7E33-4040-98AD-9342CA19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k-</a:t>
            </a:r>
            <a:r>
              <a:rPr lang="ko-KR" altLang="en-US"/>
              <a:t>최근접 이웃 회기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15EE70-D1F8-47D5-B6D1-EABDF8E51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/>
              <a:t>분류와 회기</a:t>
            </a:r>
            <a:endParaRPr lang="en-US" altLang="ko-KR"/>
          </a:p>
          <a:p>
            <a:pPr lvl="1"/>
            <a:r>
              <a:rPr lang="ko-KR" altLang="en-US"/>
              <a:t>분류</a:t>
            </a:r>
            <a:r>
              <a:rPr lang="en-US" altLang="ko-KR"/>
              <a:t>(classification)</a:t>
            </a:r>
          </a:p>
          <a:p>
            <a:pPr lvl="2"/>
            <a:r>
              <a:rPr lang="ko-KR" altLang="en-US"/>
              <a:t>샘플을 몇개의 클래스 중 하나로 분류</a:t>
            </a:r>
            <a:endParaRPr lang="en-US" altLang="ko-KR"/>
          </a:p>
          <a:p>
            <a:pPr lvl="2"/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길이와 무게가 </a:t>
            </a:r>
            <a:r>
              <a:rPr lang="en-US" altLang="ko-KR"/>
              <a:t>(l,w)</a:t>
            </a:r>
            <a:r>
              <a:rPr lang="ko-KR" altLang="en-US"/>
              <a:t>인 물고기는 도미인가</a:t>
            </a:r>
            <a:r>
              <a:rPr lang="en-US" altLang="ko-KR"/>
              <a:t>? </a:t>
            </a:r>
            <a:r>
              <a:rPr lang="ko-KR" altLang="en-US"/>
              <a:t>빙어인가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회기</a:t>
            </a:r>
            <a:r>
              <a:rPr lang="en-US" altLang="ko-KR"/>
              <a:t>(regression)</a:t>
            </a:r>
          </a:p>
          <a:p>
            <a:pPr lvl="2"/>
            <a:r>
              <a:rPr lang="ko-KR" altLang="en-US"/>
              <a:t>어떤 값을 예측하는 것</a:t>
            </a:r>
            <a:endParaRPr lang="en-US" altLang="ko-KR"/>
          </a:p>
          <a:p>
            <a:pPr lvl="2"/>
            <a:r>
              <a:rPr lang="ko-KR" altLang="en-US"/>
              <a:t>예</a:t>
            </a:r>
            <a:r>
              <a:rPr lang="en-US" altLang="ko-KR"/>
              <a:t>:</a:t>
            </a:r>
            <a:r>
              <a:rPr lang="ko-KR" altLang="en-US"/>
              <a:t> 내년도 경제 성장률</a:t>
            </a:r>
            <a:r>
              <a:rPr lang="en-US" altLang="ko-KR"/>
              <a:t>, </a:t>
            </a:r>
            <a:r>
              <a:rPr lang="ko-KR" altLang="en-US"/>
              <a:t>배달 도착 시간 예측</a:t>
            </a:r>
            <a:r>
              <a:rPr lang="en-US" altLang="ko-KR"/>
              <a:t>, </a:t>
            </a:r>
            <a:r>
              <a:rPr lang="ko-KR" altLang="en-US"/>
              <a:t>농어의 무게 예측</a:t>
            </a:r>
            <a:endParaRPr lang="en-US" altLang="ko-KR"/>
          </a:p>
          <a:p>
            <a:r>
              <a:rPr lang="en-US" altLang="ko-KR"/>
              <a:t>k-</a:t>
            </a:r>
            <a:r>
              <a:rPr lang="ko-KR" altLang="en-US"/>
              <a:t>최근접 이웃 알고리즘</a:t>
            </a:r>
            <a:endParaRPr lang="en-US" altLang="ko-KR"/>
          </a:p>
          <a:p>
            <a:pPr lvl="1"/>
            <a:r>
              <a:rPr lang="en-US" altLang="ko-KR"/>
              <a:t>k-</a:t>
            </a:r>
            <a:r>
              <a:rPr lang="ko-KR" altLang="en-US"/>
              <a:t>최근접 이웃 분류 알고리즘</a:t>
            </a:r>
            <a:endParaRPr lang="en-US" altLang="ko-KR"/>
          </a:p>
          <a:p>
            <a:pPr lvl="2"/>
            <a:r>
              <a:rPr lang="ko-KR" altLang="en-US"/>
              <a:t>주어진 샘플에서 가장 가까운 </a:t>
            </a:r>
            <a:r>
              <a:rPr lang="en-US" altLang="ko-KR"/>
              <a:t>k</a:t>
            </a:r>
            <a:r>
              <a:rPr lang="ko-KR" altLang="en-US"/>
              <a:t>개의 훈련데이터 중 다수인 것을 샘플의 클래스로 예측</a:t>
            </a:r>
            <a:endParaRPr lang="en-US" altLang="ko-KR"/>
          </a:p>
          <a:p>
            <a:pPr lvl="1"/>
            <a:r>
              <a:rPr lang="en-US" altLang="ko-KR"/>
              <a:t>k-</a:t>
            </a:r>
            <a:r>
              <a:rPr lang="ko-KR" altLang="en-US"/>
              <a:t>최근접 이웃 회기 알고리즘</a:t>
            </a:r>
            <a:endParaRPr lang="en-US" altLang="ko-KR"/>
          </a:p>
          <a:p>
            <a:pPr lvl="2"/>
            <a:r>
              <a:rPr lang="ko-KR" altLang="en-US"/>
              <a:t>주어진 샘플에서 가장 가까운 </a:t>
            </a:r>
            <a:r>
              <a:rPr lang="en-US" altLang="ko-KR"/>
              <a:t>k</a:t>
            </a:r>
            <a:r>
              <a:rPr lang="ko-KR" altLang="en-US"/>
              <a:t>개의 훈련데이터의 값의 평균으로 샘플의 값을 예측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marL="779400" lvl="2" indent="0">
              <a:buNone/>
            </a:pPr>
            <a:r>
              <a:rPr lang="en-US" altLang="ko-KR"/>
              <a:t> </a:t>
            </a:r>
          </a:p>
          <a:p>
            <a:pPr marL="779400" lvl="2" indent="0">
              <a:buNone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36AC83-0163-4A5C-B30D-99B2FAA480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5" name="Picture 2" descr="K-Neighbors Regression Analysis in Python | by Imam Muhajir | Analytics  Vidhya | Medium">
            <a:extLst>
              <a:ext uri="{FF2B5EF4-FFF2-40B4-BE49-F238E27FC236}">
                <a16:creationId xmlns:a16="http://schemas.microsoft.com/office/drawing/2014/main" id="{7EAB2973-FD78-4330-9D96-6828FB3BD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4507167"/>
            <a:ext cx="3024336" cy="199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KNN Classification Tutorial using Sklearn Python | DataCamp">
            <a:extLst>
              <a:ext uri="{FF2B5EF4-FFF2-40B4-BE49-F238E27FC236}">
                <a16:creationId xmlns:a16="http://schemas.microsoft.com/office/drawing/2014/main" id="{6094EAB1-D473-410D-B843-89A6CC803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578" y="4507167"/>
            <a:ext cx="2013099" cy="17198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C715A9-9AA9-43CE-AB12-4C2347D8BAF2}"/>
              </a:ext>
            </a:extLst>
          </p:cNvPr>
          <p:cNvSpPr txBox="1"/>
          <p:nvPr/>
        </p:nvSpPr>
        <p:spPr>
          <a:xfrm>
            <a:off x="247250" y="6227000"/>
            <a:ext cx="4597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http://res.cloudinary.com/&gt;</a:t>
            </a:r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16533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A54BA-95FC-4607-A7F0-92D809D2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준비 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C93FD-C0DC-4A8D-BD20-7DABF0A80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우리의</a:t>
            </a:r>
            <a:r>
              <a:rPr lang="en-US" altLang="ko-KR"/>
              <a:t> </a:t>
            </a:r>
            <a:r>
              <a:rPr lang="ko-KR" altLang="en-US"/>
              <a:t>문제</a:t>
            </a:r>
            <a:endParaRPr lang="en-US" altLang="ko-KR"/>
          </a:p>
          <a:p>
            <a:pPr lvl="1"/>
            <a:r>
              <a:rPr lang="ko-KR" altLang="en-US"/>
              <a:t>농어</a:t>
            </a:r>
            <a:r>
              <a:rPr lang="en-US" altLang="ko-KR"/>
              <a:t>(perch) 56</a:t>
            </a:r>
            <a:r>
              <a:rPr lang="ko-KR" altLang="en-US"/>
              <a:t>마리의 길이</a:t>
            </a:r>
            <a:r>
              <a:rPr lang="en-US" altLang="ko-KR"/>
              <a:t>, </a:t>
            </a:r>
            <a:r>
              <a:rPr lang="ko-KR" altLang="en-US"/>
              <a:t>높이</a:t>
            </a:r>
            <a:r>
              <a:rPr lang="en-US" altLang="ko-KR"/>
              <a:t>, </a:t>
            </a:r>
            <a:r>
              <a:rPr lang="ko-KR" altLang="en-US"/>
              <a:t>폭 및 무게에 대한 샘플</a:t>
            </a:r>
            <a:endParaRPr lang="en-US" altLang="ko-KR"/>
          </a:p>
          <a:p>
            <a:pPr lvl="1"/>
            <a:r>
              <a:rPr lang="ko-KR" altLang="en-US"/>
              <a:t>훈련세트와 테스트세트로 나누어 각 길이에 대한 무게의 예측치 평가</a:t>
            </a:r>
            <a:endParaRPr lang="en-US" altLang="ko-KR"/>
          </a:p>
          <a:p>
            <a:r>
              <a:rPr lang="en-US" altLang="ko-KR">
                <a:hlinkClick r:id="rId2"/>
              </a:rPr>
              <a:t>https://bit.ly/perch_data</a:t>
            </a:r>
            <a:r>
              <a:rPr lang="en-US" altLang="ko-KR"/>
              <a:t> </a:t>
            </a:r>
            <a:r>
              <a:rPr lang="ko-KR" altLang="en-US"/>
              <a:t>에서 농어</a:t>
            </a:r>
            <a:r>
              <a:rPr lang="en-US" altLang="ko-KR"/>
              <a:t> data </a:t>
            </a:r>
            <a:r>
              <a:rPr lang="ko-KR" altLang="en-US"/>
              <a:t>준비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C19B15-44A4-427D-B7A3-E62677482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E18FEBB-19FA-4604-8D21-A40101A00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429000"/>
            <a:ext cx="6336704" cy="2399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E7308C-6451-4519-978A-042562002B7A}"/>
              </a:ext>
            </a:extLst>
          </p:cNvPr>
          <p:cNvSpPr txBox="1"/>
          <p:nvPr/>
        </p:nvSpPr>
        <p:spPr>
          <a:xfrm>
            <a:off x="6947467" y="4330924"/>
            <a:ext cx="2119536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/>
              <a:t>최대 </a:t>
            </a:r>
            <a:r>
              <a:rPr lang="en-US" altLang="ko-KR" sz="1400"/>
              <a:t>132cm </a:t>
            </a:r>
            <a:r>
              <a:rPr lang="ko-KR" altLang="en-US" sz="1400"/>
              <a:t>정도 길이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D39B2-8599-4323-A55E-F5ECEB60AF5B}"/>
              </a:ext>
            </a:extLst>
          </p:cNvPr>
          <p:cNvSpPr txBox="1"/>
          <p:nvPr/>
        </p:nvSpPr>
        <p:spPr>
          <a:xfrm>
            <a:off x="6947467" y="4644318"/>
            <a:ext cx="2119536" cy="52322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/>
              <a:t>살이 물러서 한국에서는 인기가 높지 않은 생선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9E008C-4E92-4875-B715-8B6A74B99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71" y="3628771"/>
            <a:ext cx="2074007" cy="6688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E353DE-3091-46A8-A1CC-DCE6D48E6597}"/>
              </a:ext>
            </a:extLst>
          </p:cNvPr>
          <p:cNvSpPr txBox="1"/>
          <p:nvPr/>
        </p:nvSpPr>
        <p:spPr>
          <a:xfrm>
            <a:off x="539552" y="5897591"/>
            <a:ext cx="6336704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/>
              <a:t>np.array()</a:t>
            </a:r>
            <a:r>
              <a:rPr lang="ko-KR" altLang="en-US" sz="1400"/>
              <a:t>를 이용하여 </a:t>
            </a:r>
            <a:r>
              <a:rPr lang="en-US" altLang="ko-KR" sz="1400"/>
              <a:t>list</a:t>
            </a:r>
            <a:r>
              <a:rPr lang="ko-KR" altLang="en-US" sz="1400"/>
              <a:t>를 넘파이 배열로 바꾸어 길이와 무게 준비</a:t>
            </a:r>
          </a:p>
        </p:txBody>
      </p:sp>
    </p:spTree>
    <p:extLst>
      <p:ext uri="{BB962C8B-B14F-4D97-AF65-F5344CB8AC3E}">
        <p14:creationId xmlns:p14="http://schemas.microsoft.com/office/powerpoint/2010/main" val="170671433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A54BA-95FC-4607-A7F0-92D809D2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준비 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C93FD-C0DC-4A8D-BD20-7DABF0A80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데이터의 </a:t>
            </a:r>
            <a:r>
              <a:rPr lang="ko-KR" altLang="en-US" dirty="0" err="1"/>
              <a:t>산점도</a:t>
            </a:r>
            <a:r>
              <a:rPr lang="ko-KR" altLang="en-US" dirty="0"/>
              <a:t>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훈련세트</a:t>
            </a:r>
            <a:r>
              <a:rPr lang="en-US" altLang="ko-KR" dirty="0"/>
              <a:t>, </a:t>
            </a:r>
            <a:r>
              <a:rPr lang="ko-KR" altLang="en-US" dirty="0"/>
              <a:t>테스트세트 나누기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C19B15-44A4-427D-B7A3-E62677482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D39B2-8599-4323-A55E-F5ECEB60AF5B}"/>
              </a:ext>
            </a:extLst>
          </p:cNvPr>
          <p:cNvSpPr txBox="1"/>
          <p:nvPr/>
        </p:nvSpPr>
        <p:spPr>
          <a:xfrm>
            <a:off x="539551" y="4956775"/>
            <a:ext cx="6984778" cy="7386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/>
              <a:t>지난 번에는 </a:t>
            </a:r>
            <a:r>
              <a:rPr lang="en-US" altLang="ko-KR" sz="1400"/>
              <a:t>2</a:t>
            </a:r>
            <a:r>
              <a:rPr lang="ko-KR" altLang="en-US" sz="1400"/>
              <a:t>차원 배열인 </a:t>
            </a:r>
            <a:r>
              <a:rPr lang="en-US" altLang="ko-KR" sz="1400"/>
              <a:t>fish_data</a:t>
            </a:r>
            <a:r>
              <a:rPr lang="ko-KR" altLang="en-US" sz="1400"/>
              <a:t>를</a:t>
            </a:r>
            <a:r>
              <a:rPr lang="en-US" altLang="ko-KR" sz="1400"/>
              <a:t> train_test_split</a:t>
            </a:r>
            <a:r>
              <a:rPr lang="ko-KR" altLang="en-US" sz="1400"/>
              <a:t>의 인수로 사용하였음</a:t>
            </a:r>
            <a:endParaRPr lang="en-US" altLang="ko-KR" sz="1400"/>
          </a:p>
          <a:p>
            <a:r>
              <a:rPr lang="ko-KR" altLang="en-US" sz="1400"/>
              <a:t>그러나 이번에는 </a:t>
            </a:r>
            <a:r>
              <a:rPr lang="en-US" altLang="ko-KR" sz="1400"/>
              <a:t>1</a:t>
            </a:r>
            <a:r>
              <a:rPr lang="ko-KR" altLang="en-US" sz="1400"/>
              <a:t>차원 배열인 </a:t>
            </a:r>
            <a:r>
              <a:rPr lang="en-US" altLang="ko-KR" sz="1400"/>
              <a:t>perch_length, perch_weight </a:t>
            </a:r>
            <a:r>
              <a:rPr lang="ko-KR" altLang="en-US" sz="1400"/>
              <a:t>사용</a:t>
            </a:r>
            <a:endParaRPr lang="en-US" altLang="ko-KR" sz="1400"/>
          </a:p>
          <a:p>
            <a:r>
              <a:rPr lang="ko-KR" altLang="en-US" sz="1400"/>
              <a:t>따라서 현재의 </a:t>
            </a:r>
            <a:r>
              <a:rPr lang="en-US" altLang="ko-KR" sz="1400"/>
              <a:t>train_input, test_input</a:t>
            </a:r>
            <a:r>
              <a:rPr lang="ko-KR" altLang="en-US" sz="1400"/>
              <a:t>은 </a:t>
            </a:r>
            <a:r>
              <a:rPr lang="en-US" altLang="ko-KR" sz="1400"/>
              <a:t>1</a:t>
            </a:r>
            <a:r>
              <a:rPr lang="ko-KR" altLang="en-US" sz="1400"/>
              <a:t>차원 배열임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29A915-BA4D-41F3-AB12-10CE9A3F9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1484784"/>
            <a:ext cx="3488687" cy="1296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6F3754B-B220-45C5-BC4C-2DA94DD84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72" y="1269232"/>
            <a:ext cx="3419475" cy="225742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94ABE74-CF2F-4F8F-9138-45F7BCEE25DF}"/>
              </a:ext>
            </a:extLst>
          </p:cNvPr>
          <p:cNvSpPr/>
          <p:nvPr/>
        </p:nvSpPr>
        <p:spPr>
          <a:xfrm>
            <a:off x="4185320" y="1916832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A6CF512-F61C-4D45-A5EF-6F855ED70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1" y="4049612"/>
            <a:ext cx="5682669" cy="8879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7F4CF3E-8272-48EE-9EC1-DC7E3D9B5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1" y="5733931"/>
            <a:ext cx="3324722" cy="6144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7B57E91E-376C-4B58-AFCA-2CEE37535205}"/>
              </a:ext>
            </a:extLst>
          </p:cNvPr>
          <p:cNvSpPr/>
          <p:nvPr/>
        </p:nvSpPr>
        <p:spPr>
          <a:xfrm>
            <a:off x="4185320" y="5859450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8608D16-ED53-4FE7-A9C2-705417762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6451" y="5782343"/>
            <a:ext cx="4382906" cy="56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2668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A54BA-95FC-4607-A7F0-92D809D2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준비 </a:t>
            </a:r>
            <a:r>
              <a:rPr lang="en-US" altLang="ko-KR"/>
              <a:t>(3)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C93FD-C0DC-4A8D-BD20-7DABF0A80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C19B15-44A4-427D-B7A3-E626774820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FD39B2-8599-4323-A55E-F5ECEB60AF5B}"/>
              </a:ext>
            </a:extLst>
          </p:cNvPr>
          <p:cNvSpPr txBox="1"/>
          <p:nvPr/>
        </p:nvSpPr>
        <p:spPr>
          <a:xfrm>
            <a:off x="535849" y="1058897"/>
            <a:ext cx="6984778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/>
              <a:t>동일하게 </a:t>
            </a:r>
            <a:r>
              <a:rPr lang="en-US" altLang="ko-KR" sz="1400"/>
              <a:t>input</a:t>
            </a:r>
            <a:r>
              <a:rPr lang="ko-KR" altLang="en-US" sz="1400"/>
              <a:t>을</a:t>
            </a:r>
            <a:r>
              <a:rPr lang="en-US" altLang="ko-KR" sz="1400"/>
              <a:t> 2</a:t>
            </a:r>
            <a:r>
              <a:rPr lang="ko-KR" altLang="en-US" sz="1400"/>
              <a:t>차원 배열로 만들 필요 있음 </a:t>
            </a:r>
            <a:r>
              <a:rPr lang="en-US" altLang="ko-KR" sz="1400">
                <a:sym typeface="Wingdings" panose="05000000000000000000" pitchFamily="2" charset="2"/>
              </a:rPr>
              <a:t> reshape(-1,1) </a:t>
            </a:r>
            <a:r>
              <a:rPr lang="ko-KR" altLang="en-US" sz="1400">
                <a:sym typeface="Wingdings" panose="05000000000000000000" pitchFamily="2" charset="2"/>
              </a:rPr>
              <a:t>함수 적용</a:t>
            </a:r>
            <a:endParaRPr lang="ko-KR" altLang="en-US" sz="140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94ABE74-CF2F-4F8F-9138-45F7BCEE25DF}"/>
              </a:ext>
            </a:extLst>
          </p:cNvPr>
          <p:cNvSpPr/>
          <p:nvPr/>
        </p:nvSpPr>
        <p:spPr>
          <a:xfrm>
            <a:off x="5436096" y="1762763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4326BB-F35B-41AB-B9C4-63E6F561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48" y="1464121"/>
            <a:ext cx="4657751" cy="102877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D4014179-C3B5-4C97-B057-28885B50C7A8}"/>
              </a:ext>
            </a:extLst>
          </p:cNvPr>
          <p:cNvGrpSpPr/>
          <p:nvPr/>
        </p:nvGrpSpPr>
        <p:grpSpPr>
          <a:xfrm>
            <a:off x="6300192" y="1469498"/>
            <a:ext cx="1095375" cy="969343"/>
            <a:chOff x="6382121" y="1464121"/>
            <a:chExt cx="1095375" cy="96934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ADE58E4-2C96-4459-9CE0-E8513E034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3109" y="1464121"/>
              <a:ext cx="533400" cy="42862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DC236E2-EB77-4845-B7C8-A92F7048A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82121" y="2204864"/>
              <a:ext cx="1095375" cy="228600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3C8163B-D2DC-4D63-BFDA-3B78E84E99F8}"/>
                </a:ext>
              </a:extLst>
            </p:cNvPr>
            <p:cNvSpPr/>
            <p:nvPr/>
          </p:nvSpPr>
          <p:spPr>
            <a:xfrm>
              <a:off x="6663109" y="1913019"/>
              <a:ext cx="533400" cy="1543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...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334FC3D-A709-4C88-81ED-A82659CF9540}"/>
              </a:ext>
            </a:extLst>
          </p:cNvPr>
          <p:cNvSpPr txBox="1"/>
          <p:nvPr/>
        </p:nvSpPr>
        <p:spPr>
          <a:xfrm>
            <a:off x="525425" y="2668165"/>
            <a:ext cx="6984778" cy="116955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ym typeface="Wingdings" panose="05000000000000000000" pitchFamily="2" charset="2"/>
              </a:rPr>
              <a:t>reshape(m, n) </a:t>
            </a:r>
            <a:r>
              <a:rPr lang="ko-KR" altLang="en-US" sz="1400" dirty="0">
                <a:sym typeface="Wingdings" panose="05000000000000000000" pitchFamily="2" charset="2"/>
              </a:rPr>
              <a:t>함수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ym typeface="Wingdings" panose="05000000000000000000" pitchFamily="2" charset="2"/>
              </a:rPr>
              <a:t>m x n</a:t>
            </a:r>
            <a:r>
              <a:rPr lang="ko-KR" altLang="en-US" sz="1400" dirty="0">
                <a:sym typeface="Wingdings" panose="05000000000000000000" pitchFamily="2" charset="2"/>
              </a:rPr>
              <a:t>개의 요소를 갖는 </a:t>
            </a:r>
            <a:r>
              <a:rPr lang="ko-KR" altLang="en-US" sz="1400" dirty="0" err="1">
                <a:sym typeface="Wingdings" panose="05000000000000000000" pitchFamily="2" charset="2"/>
              </a:rPr>
              <a:t>넘파이</a:t>
            </a:r>
            <a:r>
              <a:rPr lang="ko-KR" altLang="en-US" sz="1400" dirty="0">
                <a:sym typeface="Wingdings" panose="05000000000000000000" pitchFamily="2" charset="2"/>
              </a:rPr>
              <a:t> 배열을 </a:t>
            </a:r>
            <a:r>
              <a:rPr lang="en-US" altLang="ko-KR" sz="1400" dirty="0">
                <a:sym typeface="Wingdings" panose="05000000000000000000" pitchFamily="2" charset="2"/>
              </a:rPr>
              <a:t>m</a:t>
            </a:r>
            <a:r>
              <a:rPr lang="ko-KR" altLang="en-US" sz="1400" dirty="0">
                <a:sym typeface="Wingdings" panose="05000000000000000000" pitchFamily="2" charset="2"/>
              </a:rPr>
              <a:t>행</a:t>
            </a:r>
            <a:r>
              <a:rPr lang="en-US" altLang="ko-KR" sz="1400" dirty="0">
                <a:sym typeface="Wingdings" panose="05000000000000000000" pitchFamily="2" charset="2"/>
              </a:rPr>
              <a:t>, n</a:t>
            </a:r>
            <a:r>
              <a:rPr lang="ko-KR" altLang="en-US" sz="1400" dirty="0">
                <a:sym typeface="Wingdings" panose="05000000000000000000" pitchFamily="2" charset="2"/>
              </a:rPr>
              <a:t>열의 </a:t>
            </a:r>
            <a:r>
              <a:rPr lang="en-US" altLang="ko-KR" sz="1400" dirty="0">
                <a:sym typeface="Wingdings" panose="05000000000000000000" pitchFamily="2" charset="2"/>
              </a:rPr>
              <a:t>2</a:t>
            </a:r>
            <a:r>
              <a:rPr lang="ko-KR" altLang="en-US" sz="1400" dirty="0">
                <a:sym typeface="Wingdings" panose="05000000000000000000" pitchFamily="2" charset="2"/>
              </a:rPr>
              <a:t>차원 배열로 만듦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인수의 개수를 </a:t>
            </a:r>
            <a:r>
              <a:rPr lang="en-US" altLang="ko-KR" sz="1400" dirty="0">
                <a:sym typeface="Wingdings" panose="05000000000000000000" pitchFamily="2" charset="2"/>
              </a:rPr>
              <a:t>p</a:t>
            </a:r>
            <a:r>
              <a:rPr lang="ko-KR" altLang="en-US" sz="1400" dirty="0">
                <a:sym typeface="Wingdings" panose="05000000000000000000" pitchFamily="2" charset="2"/>
              </a:rPr>
              <a:t>개 쓰면</a:t>
            </a:r>
            <a:r>
              <a:rPr lang="en-US" altLang="ko-KR" sz="1400" dirty="0">
                <a:sym typeface="Wingdings" panose="05000000000000000000" pitchFamily="2" charset="2"/>
              </a:rPr>
              <a:t>, p</a:t>
            </a:r>
            <a:r>
              <a:rPr lang="ko-KR" altLang="en-US" sz="1400" dirty="0">
                <a:sym typeface="Wingdings" panose="05000000000000000000" pitchFamily="2" charset="2"/>
              </a:rPr>
              <a:t>차원 배열을 만들 수 있음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인수에 </a:t>
            </a:r>
            <a:r>
              <a:rPr lang="en-US" altLang="ko-KR" sz="1400" dirty="0">
                <a:sym typeface="Wingdings" panose="05000000000000000000" pitchFamily="2" charset="2"/>
              </a:rPr>
              <a:t>-1</a:t>
            </a:r>
            <a:r>
              <a:rPr lang="ko-KR" altLang="en-US" sz="1400" dirty="0">
                <a:sym typeface="Wingdings" panose="05000000000000000000" pitchFamily="2" charset="2"/>
              </a:rPr>
              <a:t>을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쓰면 배열 크기를 자동적으로 지정함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따라서 </a:t>
            </a:r>
            <a:r>
              <a:rPr lang="en-US" altLang="ko-KR" sz="1400" dirty="0">
                <a:sym typeface="Wingdings" panose="05000000000000000000" pitchFamily="2" charset="2"/>
              </a:rPr>
              <a:t>reshape(-1,1)</a:t>
            </a:r>
            <a:r>
              <a:rPr lang="ko-KR" altLang="en-US" sz="1400" dirty="0">
                <a:sym typeface="Wingdings" panose="05000000000000000000" pitchFamily="2" charset="2"/>
              </a:rPr>
              <a:t>은 열</a:t>
            </a:r>
            <a:r>
              <a:rPr lang="en-US" altLang="ko-KR" sz="1400" dirty="0">
                <a:sym typeface="Wingdings" panose="05000000000000000000" pitchFamily="2" charset="2"/>
              </a:rPr>
              <a:t>(column)</a:t>
            </a:r>
            <a:r>
              <a:rPr lang="ko-KR" altLang="en-US" sz="1400" dirty="0">
                <a:sym typeface="Wingdings" panose="05000000000000000000" pitchFamily="2" charset="2"/>
              </a:rPr>
              <a:t> 크기가 </a:t>
            </a:r>
            <a:r>
              <a:rPr lang="en-US" altLang="ko-KR" sz="1400" dirty="0">
                <a:sym typeface="Wingdings" panose="05000000000000000000" pitchFamily="2" charset="2"/>
              </a:rPr>
              <a:t>1</a:t>
            </a:r>
            <a:r>
              <a:rPr lang="ko-KR" altLang="en-US" sz="1400" dirty="0">
                <a:sym typeface="Wingdings" panose="05000000000000000000" pitchFamily="2" charset="2"/>
              </a:rPr>
              <a:t>인 </a:t>
            </a:r>
            <a:r>
              <a:rPr lang="en-US" altLang="ko-KR" sz="1400" dirty="0">
                <a:sym typeface="Wingdings" panose="05000000000000000000" pitchFamily="2" charset="2"/>
              </a:rPr>
              <a:t>2</a:t>
            </a:r>
            <a:r>
              <a:rPr lang="ko-KR" altLang="en-US" sz="1400" dirty="0">
                <a:sym typeface="Wingdings" panose="05000000000000000000" pitchFamily="2" charset="2"/>
              </a:rPr>
              <a:t>차원 배열을 만들라는 것임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5213654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4286D-44B0-4BBF-8211-2E68094B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회기 모델의 훈련과 </a:t>
            </a:r>
            <a:r>
              <a:rPr lang="en-US" altLang="ko-KR"/>
              <a:t>score </a:t>
            </a:r>
            <a:r>
              <a:rPr lang="ko-KR" altLang="en-US"/>
              <a:t>확인</a:t>
            </a:r>
            <a:endParaRPr lang="ko-KR" altLang="en-US" baseline="300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F0EFEA-BDEB-40BF-A2DE-EA7390DB9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훈련 및 점수 확인</a:t>
            </a:r>
            <a:endParaRPr lang="en-US" altLang="ko-KR"/>
          </a:p>
          <a:p>
            <a:pPr lvl="1"/>
            <a:r>
              <a:rPr lang="en-US" altLang="ko-KR"/>
              <a:t>KNeighborsRegressor </a:t>
            </a:r>
            <a:r>
              <a:rPr lang="ko-KR" altLang="en-US"/>
              <a:t>클래스 사용</a:t>
            </a:r>
            <a:endParaRPr lang="en-US" altLang="ko-KR"/>
          </a:p>
          <a:p>
            <a:pPr lvl="1"/>
            <a:r>
              <a:rPr lang="en-US" altLang="ko-KR"/>
              <a:t>fit()</a:t>
            </a:r>
            <a:r>
              <a:rPr lang="ko-KR" altLang="en-US"/>
              <a:t>로 훈련하고</a:t>
            </a:r>
            <a:r>
              <a:rPr lang="en-US" altLang="ko-KR"/>
              <a:t>, score()</a:t>
            </a:r>
            <a:r>
              <a:rPr lang="ko-KR" altLang="en-US"/>
              <a:t>로 정확도 확인하고</a:t>
            </a:r>
            <a:r>
              <a:rPr lang="en-US" altLang="ko-KR"/>
              <a:t>, predict()</a:t>
            </a:r>
            <a:r>
              <a:rPr lang="ko-KR" altLang="en-US"/>
              <a:t>로 예측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score()</a:t>
            </a:r>
          </a:p>
          <a:p>
            <a:pPr lvl="1"/>
            <a:r>
              <a:rPr lang="ko-KR" altLang="en-US"/>
              <a:t>분류의 경우</a:t>
            </a:r>
            <a:endParaRPr lang="en-US" altLang="ko-KR"/>
          </a:p>
          <a:p>
            <a:pPr lvl="2"/>
            <a:r>
              <a:rPr lang="ko-KR" altLang="en-US"/>
              <a:t>정답을 맞친 개수의 비율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/>
              <a:t>정확도</a:t>
            </a:r>
            <a:r>
              <a:rPr lang="en-US" altLang="ko-KR"/>
              <a:t>(accuracy)</a:t>
            </a:r>
          </a:p>
          <a:p>
            <a:pPr lvl="1"/>
            <a:r>
              <a:rPr lang="ko-KR" altLang="en-US"/>
              <a:t>회기의 경우</a:t>
            </a:r>
            <a:endParaRPr lang="en-US" altLang="ko-KR"/>
          </a:p>
          <a:p>
            <a:pPr lvl="2"/>
            <a:r>
              <a:rPr lang="en-US" altLang="ko-KR"/>
              <a:t>target</a:t>
            </a:r>
            <a:r>
              <a:rPr lang="ko-KR" altLang="en-US"/>
              <a:t>이 수치이므로 정답을 맞출 가능성이 거의 없음</a:t>
            </a:r>
            <a:endParaRPr lang="en-US" altLang="ko-KR"/>
          </a:p>
          <a:p>
            <a:pPr lvl="2"/>
            <a:r>
              <a:rPr lang="ko-KR" altLang="en-US"/>
              <a:t>예측 값과 실제 값이 일치하는 정도를 표현하는 수치를 도입</a:t>
            </a:r>
            <a:endParaRPr lang="en-US" altLang="ko-KR"/>
          </a:p>
          <a:p>
            <a:pPr marL="779400" lvl="2" indent="0">
              <a:buNone/>
            </a:pPr>
            <a:r>
              <a:rPr lang="en-US" altLang="ko-KR">
                <a:sym typeface="Wingdings" panose="05000000000000000000" pitchFamily="2" charset="2"/>
              </a:rPr>
              <a:t>    </a:t>
            </a:r>
            <a:r>
              <a:rPr lang="ko-KR" altLang="en-US">
                <a:solidFill>
                  <a:srgbClr val="FF0000"/>
                </a:solidFill>
                <a:sym typeface="Wingdings" panose="05000000000000000000" pitchFamily="2" charset="2"/>
              </a:rPr>
              <a:t>결정계수 </a:t>
            </a:r>
            <a:r>
              <a:rPr lang="en-US" altLang="ko-KR">
                <a:solidFill>
                  <a:srgbClr val="FF0000"/>
                </a:solidFill>
                <a:sym typeface="Wingdings" panose="05000000000000000000" pitchFamily="2" charset="2"/>
              </a:rPr>
              <a:t>R</a:t>
            </a:r>
            <a:r>
              <a:rPr lang="en-US" altLang="ko-KR" baseline="3000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endParaRPr lang="en-US" altLang="ko-KR" baseline="3000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D2F154-5AAE-4A16-867D-90B2C16CA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795B38-9133-4257-B5F8-778F95F5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492896"/>
            <a:ext cx="4407386" cy="1080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97AED40-549D-4672-83A9-FB47AD8806CF}"/>
              </a:ext>
            </a:extLst>
          </p:cNvPr>
          <p:cNvSpPr/>
          <p:nvPr/>
        </p:nvSpPr>
        <p:spPr>
          <a:xfrm>
            <a:off x="5306532" y="2852936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9599B1-187A-4C91-B6D6-397C55AFA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375" y="2883793"/>
            <a:ext cx="1257300" cy="257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7C9AF6-0F92-4145-BF20-494E2A649168}"/>
              </a:ext>
            </a:extLst>
          </p:cNvPr>
          <p:cNvSpPr txBox="1"/>
          <p:nvPr/>
        </p:nvSpPr>
        <p:spPr>
          <a:xfrm>
            <a:off x="6588224" y="2612231"/>
            <a:ext cx="648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>
                <a:solidFill>
                  <a:srgbClr val="FF0000"/>
                </a:solidFill>
              </a:rPr>
              <a:t>?</a:t>
            </a:r>
            <a:endParaRPr lang="ko-KR" altLang="en-US" sz="4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0010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4286D-44B0-4BBF-8211-2E68094B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결정계수</a:t>
            </a:r>
            <a:r>
              <a:rPr lang="en-US" altLang="ko-KR"/>
              <a:t>(Coefficient of determination) R</a:t>
            </a:r>
            <a:r>
              <a:rPr lang="en-US" altLang="ko-KR" baseline="30000"/>
              <a:t>2</a:t>
            </a:r>
            <a:endParaRPr lang="ko-KR" altLang="en-US" baseline="30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F0EFEA-BDEB-40BF-A2DE-EA7390DB9C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ko-KR" altLang="en-US" dirty="0"/>
                  <a:t>회기분석에서는 예측에서 항상 오차가 발생하기 </a:t>
                </a:r>
                <a:r>
                  <a:rPr lang="ko-KR" altLang="en-US" dirty="0" err="1"/>
                  <a:t>마련임</a:t>
                </a:r>
                <a:endParaRPr lang="en-US" altLang="ko-KR" dirty="0"/>
              </a:p>
              <a:p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r>
                  <a:rPr lang="ko-KR" altLang="en-US" dirty="0"/>
                  <a:t>샘플의 분포에 따라 오차가 다름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 err="1"/>
                  <a:t>결정계수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ko-KR" altLang="en-US" dirty="0"/>
                  <a:t>는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실제 값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ko-KR" altLang="en-US" dirty="0"/>
                  <a:t>는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예측 값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ko-KR" altLang="en-US" dirty="0"/>
                  <a:t>는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평균 값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선형 </a:t>
                </a:r>
                <a:r>
                  <a:rPr lang="ko-KR" altLang="en-US" dirty="0" err="1"/>
                  <a:t>회기분석의</a:t>
                </a:r>
                <a:r>
                  <a:rPr lang="ko-KR" altLang="en-US" dirty="0"/>
                  <a:t> 경우에는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ko-KR" altLang="en-US" dirty="0"/>
                  <a:t>임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marL="432000" lvl="1" indent="0">
                  <a:buNone/>
                </a:pPr>
                <a:r>
                  <a:rPr lang="en-US" altLang="ko-KR" dirty="0"/>
                  <a:t>  </a:t>
                </a:r>
              </a:p>
              <a:p>
                <a:pPr marL="432000" lvl="1" indent="0">
                  <a:buNone/>
                </a:pPr>
                <a:endParaRPr lang="en-US" altLang="ko-KR" dirty="0"/>
              </a:p>
              <a:p>
                <a:pPr marL="432000" lvl="1" indent="0">
                  <a:buNone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F0EFEA-BDEB-40BF-A2DE-EA7390DB9C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4" t="-2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D2F154-5AAE-4A16-867D-90B2C16CA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937B2B9-0078-4A9C-8FF5-C3A33FFA7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58" y="1340768"/>
            <a:ext cx="3332829" cy="9241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E44CF9-3B27-459F-BBC9-57EB968DF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58" y="2739860"/>
            <a:ext cx="3332829" cy="10456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C0C624-2FF4-4806-BC53-60894E3743D5}"/>
              </a:ext>
            </a:extLst>
          </p:cNvPr>
          <p:cNvSpPr txBox="1"/>
          <p:nvPr/>
        </p:nvSpPr>
        <p:spPr>
          <a:xfrm>
            <a:off x="755576" y="3771569"/>
            <a:ext cx="360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(</a:t>
            </a:r>
            <a:r>
              <a:rPr lang="ko-KR" altLang="en-US" sz="700"/>
              <a:t>오차가 작다</a:t>
            </a:r>
            <a:r>
              <a:rPr lang="en-US" altLang="ko-KR" sz="700"/>
              <a:t>)		            (</a:t>
            </a:r>
            <a:r>
              <a:rPr lang="ko-KR" altLang="en-US" sz="700"/>
              <a:t>오차가 크다</a:t>
            </a:r>
            <a:r>
              <a:rPr lang="en-US" altLang="ko-KR" sz="700"/>
              <a:t>)</a:t>
            </a:r>
            <a:endParaRPr lang="ko-KR" altLang="en-US" sz="70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7AB6009-F31E-4533-BFA9-9B4FC0ADBA90}"/>
              </a:ext>
            </a:extLst>
          </p:cNvPr>
          <p:cNvCxnSpPr>
            <a:cxnSpLocks/>
          </p:cNvCxnSpPr>
          <p:nvPr/>
        </p:nvCxnSpPr>
        <p:spPr>
          <a:xfrm flipV="1">
            <a:off x="703558" y="3026652"/>
            <a:ext cx="772098" cy="454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845C9D7-6E47-4CB8-B159-A9AF6E290EC1}"/>
              </a:ext>
            </a:extLst>
          </p:cNvPr>
          <p:cNvCxnSpPr>
            <a:cxnSpLocks/>
          </p:cNvCxnSpPr>
          <p:nvPr/>
        </p:nvCxnSpPr>
        <p:spPr>
          <a:xfrm flipV="1">
            <a:off x="2915816" y="3026652"/>
            <a:ext cx="792088" cy="4231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17CBF107-3EE9-40AB-BB2B-E7EC25B83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58" y="4978278"/>
            <a:ext cx="5022324" cy="12932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5E84AE-7520-41CB-8E90-9B882CA689AC}"/>
              </a:ext>
            </a:extLst>
          </p:cNvPr>
          <p:cNvSpPr txBox="1"/>
          <p:nvPr/>
        </p:nvSpPr>
        <p:spPr>
          <a:xfrm>
            <a:off x="683568" y="6276669"/>
            <a:ext cx="49315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/>
              <a:t>(</a:t>
            </a:r>
            <a:r>
              <a:rPr lang="ko-KR" altLang="en-US" sz="700"/>
              <a:t>예측을 믿을 수 없다</a:t>
            </a:r>
            <a:r>
              <a:rPr lang="en-US" altLang="ko-KR" sz="700"/>
              <a:t>)	                         </a:t>
            </a:r>
            <a:r>
              <a:rPr lang="en-US" altLang="ko-KR" sz="700">
                <a:sym typeface="Wingdings" panose="05000000000000000000" pitchFamily="2" charset="2"/>
              </a:rPr>
              <a:t>----------------- </a:t>
            </a:r>
            <a:r>
              <a:rPr lang="en-US" altLang="ko-KR" sz="700"/>
              <a:t>                       (</a:t>
            </a:r>
            <a:r>
              <a:rPr lang="ko-KR" altLang="en-US" sz="700"/>
              <a:t>예측을 확고히 믿을 수 있다</a:t>
            </a:r>
            <a:r>
              <a:rPr lang="en-US" altLang="ko-KR" sz="700"/>
              <a:t>)</a:t>
            </a:r>
            <a:endParaRPr lang="ko-KR" altLang="en-US" sz="7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DFFA4A-BD1E-45CC-9167-A70FDBF21420}"/>
              </a:ext>
            </a:extLst>
          </p:cNvPr>
          <p:cNvSpPr txBox="1"/>
          <p:nvPr/>
        </p:nvSpPr>
        <p:spPr>
          <a:xfrm>
            <a:off x="1907704" y="6519446"/>
            <a:ext cx="4597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>
                    <a:lumMod val="65000"/>
                  </a:schemeClr>
                </a:solidFill>
              </a:rPr>
              <a:t>&lt;</a:t>
            </a:r>
            <a:r>
              <a:rPr lang="ko-KR" altLang="en-US">
                <a:solidFill>
                  <a:schemeClr val="bg1">
                    <a:lumMod val="6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</a:rPr>
              <a:t>: https://math100.tistory.com/&gt;</a:t>
            </a:r>
            <a:endParaRPr lang="ko-KR" alt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20009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3021F-FAF5-4C8E-B55C-AD63A9C72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결정계수</a:t>
            </a:r>
            <a:r>
              <a:rPr lang="en-US" altLang="ko-KR"/>
              <a:t> R</a:t>
            </a:r>
            <a:r>
              <a:rPr lang="en-US" altLang="ko-KR" baseline="30000"/>
              <a:t>2  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761BEF-61D0-4FED-94C3-B5D18B960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결정계수가 </a:t>
            </a:r>
            <a:r>
              <a:rPr lang="en-US" altLang="ko-KR" dirty="0"/>
              <a:t>0.99...</a:t>
            </a:r>
            <a:r>
              <a:rPr lang="ko-KR" altLang="en-US" dirty="0"/>
              <a:t>이므로</a:t>
            </a:r>
            <a:r>
              <a:rPr lang="en-US" altLang="ko-KR" dirty="0"/>
              <a:t> </a:t>
            </a:r>
            <a:r>
              <a:rPr lang="ko-KR" altLang="en-US" dirty="0"/>
              <a:t>신뢰할 수 있다고 볼 수 있음</a:t>
            </a:r>
            <a:endParaRPr lang="en-US" altLang="ko-KR" dirty="0"/>
          </a:p>
          <a:p>
            <a:r>
              <a:rPr lang="en-US" altLang="ko-KR" dirty="0"/>
              <a:t>target</a:t>
            </a:r>
            <a:r>
              <a:rPr lang="ko-KR" altLang="en-US" dirty="0"/>
              <a:t>과 예측 값의 차이를 살펴보면</a:t>
            </a:r>
            <a:r>
              <a:rPr lang="en-US" altLang="ko-KR" dirty="0"/>
              <a:t>...</a:t>
            </a:r>
          </a:p>
          <a:p>
            <a:pPr lvl="1"/>
            <a:r>
              <a:rPr lang="en-US" altLang="ko-KR" dirty="0" err="1"/>
              <a:t>mean_abslolute_error</a:t>
            </a:r>
            <a:r>
              <a:rPr lang="en-US" altLang="ko-KR" dirty="0"/>
              <a:t>(): target</a:t>
            </a:r>
            <a:r>
              <a:rPr lang="ko-KR" altLang="en-US" dirty="0"/>
              <a:t>과 예측의 절대값 오차 평균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훈련세트와 테스트세트의 결정계수 비교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3BD84A-9B7D-422F-9AD8-7D49CC6318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DDD316-4C7C-4050-BCF5-47E1C433A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492896"/>
            <a:ext cx="5047047" cy="1440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319C4B1A-1670-4144-9397-C4DF9AFB6D1A}"/>
              </a:ext>
            </a:extLst>
          </p:cNvPr>
          <p:cNvSpPr/>
          <p:nvPr/>
        </p:nvSpPr>
        <p:spPr>
          <a:xfrm>
            <a:off x="6012160" y="2996952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07001C6-3281-45C9-B3DD-AF6190090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3040955"/>
            <a:ext cx="1304925" cy="200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02E700-EC8B-4437-9D07-7AA04CB80963}"/>
              </a:ext>
            </a:extLst>
          </p:cNvPr>
          <p:cNvSpPr txBox="1"/>
          <p:nvPr/>
        </p:nvSpPr>
        <p:spPr>
          <a:xfrm>
            <a:off x="6012160" y="3385465"/>
            <a:ext cx="2880321" cy="52322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/>
              <a:t>예측이 평균적으로 </a:t>
            </a:r>
            <a:r>
              <a:rPr lang="en-US" altLang="ko-KR" sz="1400"/>
              <a:t>19.1... gram, target </a:t>
            </a:r>
            <a:r>
              <a:rPr lang="ko-KR" altLang="en-US" sz="1400"/>
              <a:t>값과 다르다는 의미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01C64A6-7011-40F1-BC30-2475F63F2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4941168"/>
            <a:ext cx="4104456" cy="7288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79B0D50-871F-4838-A1BB-7891F3196075}"/>
              </a:ext>
            </a:extLst>
          </p:cNvPr>
          <p:cNvSpPr/>
          <p:nvPr/>
        </p:nvSpPr>
        <p:spPr>
          <a:xfrm>
            <a:off x="6012160" y="5126956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913630-7D05-4620-AC08-866DD7B28DC7}"/>
              </a:ext>
            </a:extLst>
          </p:cNvPr>
          <p:cNvSpPr txBox="1"/>
          <p:nvPr/>
        </p:nvSpPr>
        <p:spPr>
          <a:xfrm>
            <a:off x="6012160" y="5515469"/>
            <a:ext cx="2664295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/>
              <a:t>훈련세트의 점수가 더 낮음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5ED291D-57BA-4268-9E91-1BC6374B8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557" y="5084939"/>
            <a:ext cx="1371600" cy="3714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FD2468-FB34-494C-8822-3BA1536E63C5}"/>
              </a:ext>
            </a:extLst>
          </p:cNvPr>
          <p:cNvSpPr txBox="1"/>
          <p:nvPr/>
        </p:nvSpPr>
        <p:spPr>
          <a:xfrm>
            <a:off x="6012160" y="5837930"/>
            <a:ext cx="2664296" cy="52322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/>
              <a:t>일반적으로 훈련세트의 점수가 더 높은 것이 당연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30A8F1C-F028-45DE-BE0F-65B238152F25}"/>
              </a:ext>
            </a:extLst>
          </p:cNvPr>
          <p:cNvSpPr/>
          <p:nvPr/>
        </p:nvSpPr>
        <p:spPr>
          <a:xfrm rot="9421215">
            <a:off x="5331161" y="5861324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별: 꼭짓점 10개 15">
            <a:extLst>
              <a:ext uri="{FF2B5EF4-FFF2-40B4-BE49-F238E27FC236}">
                <a16:creationId xmlns:a16="http://schemas.microsoft.com/office/drawing/2014/main" id="{63CC431E-034C-469B-8671-2782F724EBBE}"/>
              </a:ext>
            </a:extLst>
          </p:cNvPr>
          <p:cNvSpPr/>
          <p:nvPr/>
        </p:nvSpPr>
        <p:spPr>
          <a:xfrm>
            <a:off x="3059832" y="5788415"/>
            <a:ext cx="2016224" cy="712398"/>
          </a:xfrm>
          <a:prstGeom prst="star10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rgbClr val="FF0000"/>
                </a:solidFill>
              </a:rPr>
              <a:t>과소적합</a:t>
            </a:r>
            <a:endParaRPr lang="en-US" altLang="ko-KR" sz="1400">
              <a:solidFill>
                <a:srgbClr val="FF0000"/>
              </a:solidFill>
            </a:endParaRPr>
          </a:p>
          <a:p>
            <a:pPr algn="ctr"/>
            <a:r>
              <a:rPr lang="en-US" altLang="ko-KR" sz="1400">
                <a:solidFill>
                  <a:srgbClr val="FF0000"/>
                </a:solidFill>
              </a:rPr>
              <a:t>underfitting</a:t>
            </a:r>
            <a:endParaRPr lang="ko-KR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97913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AEC39-068B-410B-B402-9B7B3ED7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과대적합</a:t>
            </a:r>
            <a:r>
              <a:rPr lang="en-US" altLang="ko-KR"/>
              <a:t>(</a:t>
            </a:r>
            <a:r>
              <a:rPr lang="en-US" altLang="ko-KR" sz="2400"/>
              <a:t>overfitting</a:t>
            </a:r>
            <a:r>
              <a:rPr lang="en-US" altLang="ko-KR"/>
              <a:t>) vs </a:t>
            </a:r>
            <a:r>
              <a:rPr lang="ko-KR" altLang="en-US"/>
              <a:t>과소적합</a:t>
            </a:r>
            <a:r>
              <a:rPr lang="en-US" altLang="ko-KR"/>
              <a:t>(</a:t>
            </a:r>
            <a:r>
              <a:rPr lang="en-US" altLang="ko-KR" sz="2400"/>
              <a:t>underfitting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DC652-E892-4FC4-8E8E-700DA395C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과대적합 대 과소적합</a:t>
            </a:r>
            <a:endParaRPr lang="en-US" altLang="ko-KR"/>
          </a:p>
          <a:p>
            <a:pPr lvl="1"/>
            <a:r>
              <a:rPr lang="ko-KR" altLang="en-US"/>
              <a:t>과대적합</a:t>
            </a:r>
            <a:endParaRPr lang="en-US" altLang="ko-KR"/>
          </a:p>
          <a:p>
            <a:pPr lvl="2"/>
            <a:r>
              <a:rPr lang="ko-KR" altLang="en-US"/>
              <a:t>훈련세트의 점수가 높고</a:t>
            </a:r>
            <a:r>
              <a:rPr lang="en-US" altLang="ko-KR"/>
              <a:t>, </a:t>
            </a:r>
            <a:r>
              <a:rPr lang="ko-KR" altLang="en-US"/>
              <a:t>테스트세트의 점수가 현저히 나쁜 경우</a:t>
            </a:r>
            <a:endParaRPr lang="en-US" altLang="ko-KR"/>
          </a:p>
          <a:p>
            <a:pPr lvl="2"/>
            <a:r>
              <a:rPr lang="ko-KR" altLang="en-US"/>
              <a:t>거시적 패턴을 감지 못함</a:t>
            </a:r>
            <a:endParaRPr lang="en-US" altLang="ko-KR"/>
          </a:p>
          <a:p>
            <a:pPr lvl="1"/>
            <a:r>
              <a:rPr lang="ko-KR" altLang="en-US"/>
              <a:t>과소적합</a:t>
            </a:r>
            <a:endParaRPr lang="en-US" altLang="ko-KR"/>
          </a:p>
          <a:p>
            <a:pPr lvl="2"/>
            <a:r>
              <a:rPr lang="ko-KR" altLang="en-US"/>
              <a:t>훈련세트의 점수보다 테스트세트의 점수가 높거나</a:t>
            </a:r>
            <a:r>
              <a:rPr lang="en-US" altLang="ko-KR"/>
              <a:t>, </a:t>
            </a:r>
            <a:r>
              <a:rPr lang="ko-KR" altLang="en-US"/>
              <a:t>두 점수가 현저히 낮은 경우</a:t>
            </a:r>
            <a:endParaRPr lang="en-US" altLang="ko-KR"/>
          </a:p>
          <a:p>
            <a:pPr lvl="2"/>
            <a:r>
              <a:rPr lang="ko-KR" altLang="en-US"/>
              <a:t>더 복잡한 모델 구축 필요</a:t>
            </a:r>
            <a:endParaRPr lang="en-US" altLang="ko-KR"/>
          </a:p>
          <a:p>
            <a:r>
              <a:rPr lang="ko-KR" altLang="en-US"/>
              <a:t>과대적합 및 과소적합의 원인</a:t>
            </a:r>
            <a:endParaRPr lang="en-US" altLang="ko-KR"/>
          </a:p>
          <a:p>
            <a:pPr lvl="1"/>
            <a:r>
              <a:rPr lang="ko-KR" altLang="en-US"/>
              <a:t>잘못 훈련한 경우</a:t>
            </a:r>
            <a:endParaRPr lang="en-US" altLang="ko-KR"/>
          </a:p>
          <a:p>
            <a:pPr lvl="1"/>
            <a:r>
              <a:rPr lang="ko-KR" altLang="en-US"/>
              <a:t>모델이 단순한 경우</a:t>
            </a:r>
            <a:endParaRPr lang="en-US" altLang="ko-KR"/>
          </a:p>
          <a:p>
            <a:pPr lvl="1"/>
            <a:r>
              <a:rPr lang="ko-KR" altLang="en-US"/>
              <a:t>훈련세트와 테스트세트의 크기가 너무 작은 경우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6FE46C-87E0-4123-85C7-CBC81DDC78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53130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8111C-01FA-4B68-836A-029DDD7A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과대적합과 과소적합의 해소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28B791-9D3B-456C-94AA-EE7C50BB4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75" y="982251"/>
            <a:ext cx="8950325" cy="5519738"/>
          </a:xfrm>
        </p:spPr>
        <p:txBody>
          <a:bodyPr/>
          <a:lstStyle/>
          <a:p>
            <a:r>
              <a:rPr lang="ko-KR" altLang="en-US"/>
              <a:t>과대적합 및 과소적합의 해소</a:t>
            </a:r>
            <a:r>
              <a:rPr lang="en-US" altLang="ko-KR"/>
              <a:t>(</a:t>
            </a:r>
            <a:r>
              <a:rPr lang="ko-KR" altLang="en-US"/>
              <a:t>우리의 </a:t>
            </a:r>
            <a:r>
              <a:rPr lang="en-US" altLang="ko-KR"/>
              <a:t>case)</a:t>
            </a:r>
          </a:p>
          <a:p>
            <a:pPr lvl="1"/>
            <a:r>
              <a:rPr lang="en-US" altLang="ko-KR"/>
              <a:t>k</a:t>
            </a:r>
            <a:r>
              <a:rPr lang="ko-KR" altLang="en-US"/>
              <a:t>값</a:t>
            </a:r>
            <a:r>
              <a:rPr lang="en-US" altLang="ko-KR"/>
              <a:t>(default=5)</a:t>
            </a:r>
            <a:r>
              <a:rPr lang="ko-KR" altLang="en-US"/>
              <a:t>을 줄임</a:t>
            </a:r>
            <a:r>
              <a:rPr lang="en-US" altLang="ko-KR"/>
              <a:t> 	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국지적인</a:t>
            </a: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패턴에 민감해짐</a:t>
            </a:r>
            <a:endParaRPr lang="en-US" altLang="ko-KR">
              <a:sym typeface="Wingdings" panose="05000000000000000000" pitchFamily="2" charset="2"/>
            </a:endParaRPr>
          </a:p>
          <a:p>
            <a:pPr marL="432000" lvl="1" indent="0">
              <a:buNone/>
            </a:pPr>
            <a:r>
              <a:rPr lang="en-US" altLang="ko-KR">
                <a:sym typeface="Wingdings" panose="05000000000000000000" pitchFamily="2" charset="2"/>
              </a:rPr>
              <a:t>				 n_neighbors </a:t>
            </a:r>
            <a:r>
              <a:rPr lang="ko-KR" altLang="en-US">
                <a:sym typeface="Wingdings" panose="05000000000000000000" pitchFamily="2" charset="2"/>
              </a:rPr>
              <a:t>속성값을 </a:t>
            </a:r>
            <a:r>
              <a:rPr lang="en-US" altLang="ko-KR">
                <a:sym typeface="Wingdings" panose="05000000000000000000" pitchFamily="2" charset="2"/>
              </a:rPr>
              <a:t>3</a:t>
            </a:r>
            <a:r>
              <a:rPr lang="ko-KR" altLang="en-US">
                <a:sym typeface="Wingdings" panose="05000000000000000000" pitchFamily="2" charset="2"/>
              </a:rPr>
              <a:t>으로 줄임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6D7AC-CAE7-479F-8C8F-A79EC2B31E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B75362-66DE-4126-9680-A5C59DD96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492896"/>
            <a:ext cx="4752528" cy="10081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520F30D-B2A7-477F-A440-22C29F459B54}"/>
              </a:ext>
            </a:extLst>
          </p:cNvPr>
          <p:cNvSpPr/>
          <p:nvPr/>
        </p:nvSpPr>
        <p:spPr>
          <a:xfrm rot="5400000">
            <a:off x="2843808" y="3840052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D1CB78-67DE-4475-93B4-E337150B5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369" y="4384272"/>
            <a:ext cx="1304925" cy="342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117F53-0CD6-4217-859E-FEA2F856DFB4}"/>
              </a:ext>
            </a:extLst>
          </p:cNvPr>
          <p:cNvSpPr txBox="1"/>
          <p:nvPr/>
        </p:nvSpPr>
        <p:spPr>
          <a:xfrm>
            <a:off x="1619670" y="4959361"/>
            <a:ext cx="2880321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과소적합 해소</a:t>
            </a:r>
            <a:r>
              <a:rPr lang="en-US" altLang="ko-KR" sz="1400"/>
              <a:t>!!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0359005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/>
              <a:t>Key words</a:t>
            </a:r>
          </a:p>
          <a:p>
            <a:pPr lvl="1"/>
            <a:r>
              <a:rPr lang="ko-KR" altLang="en-US"/>
              <a:t>회기</a:t>
            </a:r>
            <a:r>
              <a:rPr lang="en-US" altLang="ko-KR"/>
              <a:t>(regression): </a:t>
            </a:r>
            <a:r>
              <a:rPr lang="ko-KR" altLang="en-US"/>
              <a:t>임의의 수치를 예측하는 문제</a:t>
            </a:r>
            <a:endParaRPr lang="en-US" altLang="ko-KR"/>
          </a:p>
          <a:p>
            <a:pPr lvl="1"/>
            <a:r>
              <a:rPr lang="en-US" altLang="ko-KR"/>
              <a:t>k-</a:t>
            </a:r>
            <a:r>
              <a:rPr lang="ko-KR" altLang="en-US"/>
              <a:t>최근접 이웃 회귀</a:t>
            </a:r>
            <a:r>
              <a:rPr lang="en-US" altLang="ko-KR"/>
              <a:t>: </a:t>
            </a:r>
            <a:r>
              <a:rPr lang="ko-KR" altLang="en-US"/>
              <a:t>가장</a:t>
            </a:r>
            <a:r>
              <a:rPr lang="en-US" altLang="ko-KR"/>
              <a:t> </a:t>
            </a:r>
            <a:r>
              <a:rPr lang="ko-KR" altLang="en-US"/>
              <a:t>가까운 </a:t>
            </a:r>
            <a:r>
              <a:rPr lang="en-US" altLang="ko-KR"/>
              <a:t>k</a:t>
            </a:r>
            <a:r>
              <a:rPr lang="ko-KR" altLang="en-US"/>
              <a:t>개의 </a:t>
            </a:r>
            <a:r>
              <a:rPr lang="en-US" altLang="ko-KR"/>
              <a:t>train </a:t>
            </a:r>
            <a:r>
              <a:rPr lang="ko-KR" altLang="en-US"/>
              <a:t>샘플을 찾고 이 샘플들의 </a:t>
            </a:r>
            <a:r>
              <a:rPr lang="en-US" altLang="ko-KR"/>
              <a:t>target </a:t>
            </a:r>
            <a:r>
              <a:rPr lang="ko-KR" altLang="en-US"/>
              <a:t>값을 평균하여 예측으로 삼음</a:t>
            </a:r>
            <a:endParaRPr lang="en-US" altLang="ko-KR"/>
          </a:p>
          <a:p>
            <a:pPr lvl="1"/>
            <a:r>
              <a:rPr lang="ko-KR" altLang="en-US"/>
              <a:t>결정계수</a:t>
            </a:r>
            <a:r>
              <a:rPr lang="en-US" altLang="ko-KR"/>
              <a:t>(R</a:t>
            </a:r>
            <a:r>
              <a:rPr lang="en-US" altLang="ko-KR" baseline="30000"/>
              <a:t>2</a:t>
            </a:r>
            <a:r>
              <a:rPr lang="en-US" altLang="ko-KR"/>
              <a:t>): </a:t>
            </a:r>
            <a:r>
              <a:rPr lang="ko-KR" altLang="en-US"/>
              <a:t>대표적 회귀 문제의 성능 측정 도구</a:t>
            </a:r>
            <a:r>
              <a:rPr lang="en-US" altLang="ko-KR"/>
              <a:t>. 1</a:t>
            </a:r>
            <a:r>
              <a:rPr lang="ko-KR" altLang="en-US"/>
              <a:t>에 가까울수록 좋고</a:t>
            </a:r>
            <a:r>
              <a:rPr lang="en-US" altLang="ko-KR"/>
              <a:t>, 0</a:t>
            </a:r>
            <a:r>
              <a:rPr lang="ko-KR" altLang="en-US"/>
              <a:t>에 가까울수록 성능이 나쁜 모델임</a:t>
            </a:r>
            <a:endParaRPr lang="en-US" altLang="ko-KR"/>
          </a:p>
          <a:p>
            <a:pPr lvl="1"/>
            <a:r>
              <a:rPr lang="ko-KR" altLang="en-US"/>
              <a:t>과대적합</a:t>
            </a:r>
            <a:r>
              <a:rPr lang="en-US" altLang="ko-KR"/>
              <a:t>: </a:t>
            </a:r>
            <a:r>
              <a:rPr lang="ko-KR" altLang="en-US"/>
              <a:t>훈련훈련세트의 점수가 높고</a:t>
            </a:r>
            <a:r>
              <a:rPr lang="en-US" altLang="ko-KR"/>
              <a:t>, </a:t>
            </a:r>
            <a:r>
              <a:rPr lang="ko-KR" altLang="en-US"/>
              <a:t>테스트세트의 점수가 현저히 나쁜 경우</a:t>
            </a:r>
            <a:r>
              <a:rPr lang="en-US" altLang="ko-KR"/>
              <a:t>. </a:t>
            </a:r>
            <a:r>
              <a:rPr lang="ko-KR" altLang="en-US"/>
              <a:t>거시적 패턴을 감지 못함</a:t>
            </a:r>
            <a:endParaRPr lang="en-US" altLang="ko-KR"/>
          </a:p>
          <a:p>
            <a:pPr lvl="1"/>
            <a:r>
              <a:rPr lang="ko-KR" altLang="en-US"/>
              <a:t>과소적합</a:t>
            </a:r>
            <a:r>
              <a:rPr lang="en-US" altLang="ko-KR"/>
              <a:t>: </a:t>
            </a:r>
            <a:r>
              <a:rPr lang="ko-KR" altLang="en-US"/>
              <a:t>훈련세트의 점수보다 테스트세트의 점수가 높거나</a:t>
            </a:r>
            <a:r>
              <a:rPr lang="en-US" altLang="ko-KR"/>
              <a:t>, </a:t>
            </a:r>
            <a:r>
              <a:rPr lang="ko-KR" altLang="en-US"/>
              <a:t>두 점수가 현저히 낮은 경우</a:t>
            </a:r>
            <a:r>
              <a:rPr lang="en-US" altLang="ko-KR"/>
              <a:t>. </a:t>
            </a:r>
            <a:r>
              <a:rPr lang="ko-KR" altLang="en-US"/>
              <a:t>더 복잡한 모델 구축 필요</a:t>
            </a:r>
            <a:endParaRPr lang="en-US" altLang="ko-KR"/>
          </a:p>
          <a:p>
            <a:r>
              <a:rPr lang="en-US" altLang="ko-KR"/>
              <a:t>sklearn </a:t>
            </a:r>
            <a:r>
              <a:rPr lang="ko-KR" altLang="en-US"/>
              <a:t>패키지</a:t>
            </a:r>
            <a:r>
              <a:rPr lang="en-US" altLang="ko-KR"/>
              <a:t>:</a:t>
            </a:r>
          </a:p>
          <a:p>
            <a:pPr lvl="1"/>
            <a:r>
              <a:rPr lang="en-US" altLang="ko-KR"/>
              <a:t>KNeighborsRegressor:</a:t>
            </a:r>
          </a:p>
          <a:p>
            <a:pPr lvl="2"/>
            <a:r>
              <a:rPr lang="en-US" altLang="ko-KR"/>
              <a:t>k-</a:t>
            </a:r>
            <a:r>
              <a:rPr lang="ko-KR" altLang="en-US"/>
              <a:t>최근접 회귀 모델을 만드는 클래스</a:t>
            </a:r>
            <a:endParaRPr lang="en-US" altLang="ko-KR"/>
          </a:p>
          <a:p>
            <a:pPr lvl="2"/>
            <a:r>
              <a:rPr lang="ko-KR" altLang="en-US"/>
              <a:t>사용법은 </a:t>
            </a:r>
            <a:r>
              <a:rPr lang="en-US" altLang="ko-KR"/>
              <a:t>KNeighborsClassifier </a:t>
            </a:r>
            <a:r>
              <a:rPr lang="ko-KR" altLang="en-US"/>
              <a:t>클래스와 거의 유사</a:t>
            </a:r>
            <a:endParaRPr lang="en-US" altLang="ko-KR"/>
          </a:p>
          <a:p>
            <a:pPr lvl="2"/>
            <a:r>
              <a:rPr lang="en-US" altLang="ko-KR"/>
              <a:t>score() </a:t>
            </a:r>
            <a:r>
              <a:rPr lang="ko-KR" altLang="en-US"/>
              <a:t>함수는 결정계수 값을 반환</a:t>
            </a:r>
            <a:endParaRPr lang="en-US" altLang="ko-KR"/>
          </a:p>
          <a:p>
            <a:pPr lvl="1"/>
            <a:r>
              <a:rPr lang="en-US" altLang="ko-KR"/>
              <a:t>mean_absolute_error():</a:t>
            </a:r>
          </a:p>
          <a:p>
            <a:pPr lvl="2"/>
            <a:r>
              <a:rPr lang="ko-KR" altLang="en-US"/>
              <a:t>회귀 모델의 평균 절대값 오차 계산</a:t>
            </a:r>
            <a:endParaRPr lang="en-US" altLang="ko-KR"/>
          </a:p>
          <a:p>
            <a:pPr lvl="2"/>
            <a:r>
              <a:rPr lang="en-US" altLang="ko-KR"/>
              <a:t>mean_squared_error() </a:t>
            </a:r>
            <a:r>
              <a:rPr lang="ko-KR" altLang="en-US"/>
              <a:t>함수는 오차의 제곱의 합을 평균한 값을 계산 </a:t>
            </a:r>
            <a:endParaRPr lang="en-US" altLang="ko-KR"/>
          </a:p>
          <a:p>
            <a:r>
              <a:rPr lang="en-US" altLang="ko-KR"/>
              <a:t>numpy </a:t>
            </a:r>
            <a:r>
              <a:rPr lang="ko-KR" altLang="en-US"/>
              <a:t>패키지</a:t>
            </a:r>
            <a:r>
              <a:rPr lang="en-US" altLang="ko-KR"/>
              <a:t>:</a:t>
            </a:r>
          </a:p>
          <a:p>
            <a:pPr lvl="1"/>
            <a:r>
              <a:rPr lang="en-US" altLang="ko-KR"/>
              <a:t>reshape(): </a:t>
            </a:r>
            <a:r>
              <a:rPr lang="ko-KR" altLang="en-US"/>
              <a:t>원소 개수에 맞도록 차원이 다른 배열을 만들어줌</a:t>
            </a:r>
            <a:endParaRPr lang="en-US" altLang="ko-KR"/>
          </a:p>
          <a:p>
            <a:pPr lvl="2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29789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34680</TotalTime>
  <Words>990</Words>
  <Application>Microsoft Office PowerPoint</Application>
  <PresentationFormat>화면 슬라이드 쇼(4:3)</PresentationFormat>
  <Paragraphs>174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HY견고딕</vt:lpstr>
      <vt:lpstr>굴림</vt:lpstr>
      <vt:lpstr>맑은 고딕</vt:lpstr>
      <vt:lpstr>휴먼엑스포</vt:lpstr>
      <vt:lpstr>Arial</vt:lpstr>
      <vt:lpstr>Cambria Math</vt:lpstr>
      <vt:lpstr>Times New Roman</vt:lpstr>
      <vt:lpstr>Wingdings</vt:lpstr>
      <vt:lpstr>기본 디자인</vt:lpstr>
      <vt:lpstr>kNN Regression</vt:lpstr>
      <vt:lpstr>지난 시간 복습</vt:lpstr>
      <vt:lpstr>학습목표</vt:lpstr>
      <vt:lpstr>k-최근접 이웃 회기</vt:lpstr>
      <vt:lpstr>데이터 준비 (1)</vt:lpstr>
      <vt:lpstr>데이터 준비 (2)</vt:lpstr>
      <vt:lpstr>데이터 준비 (3)</vt:lpstr>
      <vt:lpstr>회기 모델의 훈련과 score 확인</vt:lpstr>
      <vt:lpstr>결정계수(Coefficient of determination) R2</vt:lpstr>
      <vt:lpstr>결정계수 R2  (2)</vt:lpstr>
      <vt:lpstr>과대적합(overfitting) vs 과소적합(underfitting)</vt:lpstr>
      <vt:lpstr>과대적합과 과소적합의 해소</vt:lpstr>
      <vt:lpstr>학습 요약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663</cp:revision>
  <dcterms:created xsi:type="dcterms:W3CDTF">2003-05-07T20:17:23Z</dcterms:created>
  <dcterms:modified xsi:type="dcterms:W3CDTF">2025-09-21T23:10:03Z</dcterms:modified>
</cp:coreProperties>
</file>