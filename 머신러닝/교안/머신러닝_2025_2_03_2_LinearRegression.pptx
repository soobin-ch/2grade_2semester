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632" r:id="rId2"/>
    <p:sldId id="722" r:id="rId3"/>
    <p:sldId id="719" r:id="rId4"/>
    <p:sldId id="748" r:id="rId5"/>
    <p:sldId id="752" r:id="rId6"/>
    <p:sldId id="751" r:id="rId7"/>
    <p:sldId id="749" r:id="rId8"/>
    <p:sldId id="754" r:id="rId9"/>
    <p:sldId id="755" r:id="rId10"/>
    <p:sldId id="756" r:id="rId11"/>
    <p:sldId id="758" r:id="rId12"/>
    <p:sldId id="717" r:id="rId13"/>
    <p:sldId id="703" r:id="rId14"/>
  </p:sldIdLst>
  <p:sldSz cx="9144000" cy="6858000" type="screen4x3"/>
  <p:notesSz cx="6669088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CCFF"/>
    <a:srgbClr val="CCECFF"/>
    <a:srgbClr val="6699FF"/>
    <a:srgbClr val="FF6699"/>
    <a:srgbClr val="0070C0"/>
    <a:srgbClr val="FFCC66"/>
    <a:srgbClr val="5599BF"/>
    <a:srgbClr val="C5DBDD"/>
    <a:srgbClr val="FDF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148" autoAdjust="0"/>
  </p:normalViewPr>
  <p:slideViewPr>
    <p:cSldViewPr>
      <p:cViewPr varScale="1">
        <p:scale>
          <a:sx n="163" d="100"/>
          <a:sy n="163" d="100"/>
        </p:scale>
        <p:origin x="1712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949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648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08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6">
                    <a:lumMod val="75000"/>
                  </a:schemeClr>
                </a:solidFill>
                <a:latin typeface="휴먼엑스포" pitchFamily="18" charset="-127"/>
                <a:ea typeface="휴먼엑스포" pitchFamily="18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6534222"/>
            <a:ext cx="1296144" cy="2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rgbClr val="0070C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6113998"/>
            <a:ext cx="6400800" cy="555362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</a:t>
            </a:r>
            <a:r>
              <a:rPr lang="ko-KR" alt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컴퓨터소프트웨어과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803772" y="1005117"/>
            <a:ext cx="7514232" cy="1269706"/>
          </a:xfrm>
        </p:spPr>
        <p:txBody>
          <a:bodyPr/>
          <a:lstStyle/>
          <a:p>
            <a:pPr algn="ctr">
              <a:defRPr/>
            </a:pPr>
            <a:r>
              <a:rPr lang="en-US" altLang="ko-KR" sz="4000"/>
              <a:t>Linear Regression</a:t>
            </a:r>
            <a:endParaRPr lang="ko-KR" alt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825996" y="532162"/>
            <a:ext cx="3090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2025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학년도 </a:t>
            </a:r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학기 </a:t>
            </a:r>
            <a:r>
              <a:rPr lang="ko-KR" altLang="en-US" sz="1800" b="1" dirty="0" err="1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머신러닝</a:t>
            </a:r>
            <a:endParaRPr lang="ko-KR" altLang="en-US" sz="1800" b="1" dirty="0">
              <a:solidFill>
                <a:srgbClr val="CC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78754-65CB-43B1-8FA6-6B2AEC5BA3F2}"/>
              </a:ext>
            </a:extLst>
          </p:cNvPr>
          <p:cNvSpPr txBox="1"/>
          <p:nvPr/>
        </p:nvSpPr>
        <p:spPr>
          <a:xfrm>
            <a:off x="1968600" y="5586804"/>
            <a:ext cx="5184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&lt;</a:t>
            </a:r>
            <a:r>
              <a:rPr lang="ko-KR" altLang="en-US">
                <a:solidFill>
                  <a:schemeClr val="bg1">
                    <a:lumMod val="85000"/>
                  </a:schemeClr>
                </a:solidFill>
              </a:rPr>
              <a:t>출처</a:t>
            </a:r>
            <a:r>
              <a:rPr lang="en-US" altLang="ko-KR">
                <a:solidFill>
                  <a:schemeClr val="bg1">
                    <a:lumMod val="85000"/>
                  </a:schemeClr>
                </a:solidFill>
              </a:rPr>
              <a:t>: https://cdn-coiao.nitrocdn.com//&gt;</a:t>
            </a:r>
            <a:endParaRPr lang="ko-KR" altLang="en-US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EBE39C6-6C72-4AFE-99BC-C0B643FC4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2204864"/>
            <a:ext cx="5184576" cy="3342397"/>
          </a:xfrm>
          <a:prstGeom prst="rect">
            <a:avLst/>
          </a:prstGeom>
        </p:spPr>
      </p:pic>
    </p:spTree>
  </p:cSld>
  <p:clrMapOvr>
    <a:masterClrMapping/>
  </p:clrMapOvr>
  <p:transition advTm="36370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71B43-C860-495B-8CD4-EC58BD07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지난 시간 복습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A9F84D4-1220-4ACA-A103-F13EAF52BB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ko-KR" altLang="en-US"/>
                  <a:t>데이터 준비</a:t>
                </a:r>
                <a:r>
                  <a:rPr lang="en-US" altLang="ko-KR"/>
                  <a:t>(</a:t>
                </a:r>
                <a:r>
                  <a:rPr lang="ko-KR" altLang="en-US"/>
                  <a:t>농어 </a:t>
                </a:r>
                <a:r>
                  <a:rPr lang="en-US" altLang="ko-KR"/>
                  <a:t>56</a:t>
                </a:r>
                <a:r>
                  <a:rPr lang="ko-KR" altLang="en-US"/>
                  <a:t>마리</a:t>
                </a:r>
                <a:r>
                  <a:rPr lang="en-US" altLang="ko-KR"/>
                  <a:t>)</a:t>
                </a:r>
              </a:p>
              <a:p>
                <a:pPr lvl="1"/>
                <a:r>
                  <a:rPr lang="ko-KR" altLang="en-US"/>
                  <a:t>훈련세트</a:t>
                </a:r>
                <a:r>
                  <a:rPr lang="en-US" altLang="ko-KR"/>
                  <a:t>, </a:t>
                </a:r>
                <a:r>
                  <a:rPr lang="ko-KR" altLang="en-US"/>
                  <a:t>테스트 세트 나누기</a:t>
                </a:r>
                <a:r>
                  <a:rPr lang="en-US" altLang="ko-KR"/>
                  <a:t>: sklearn</a:t>
                </a:r>
                <a:r>
                  <a:rPr lang="ko-KR" altLang="en-US"/>
                  <a:t>의 </a:t>
                </a:r>
                <a:r>
                  <a:rPr lang="en-US" altLang="ko-KR"/>
                  <a:t>train_test_split() </a:t>
                </a:r>
                <a:r>
                  <a:rPr lang="ko-KR" altLang="en-US"/>
                  <a:t>이용</a:t>
                </a:r>
                <a:endParaRPr lang="en-US" altLang="ko-KR"/>
              </a:p>
              <a:p>
                <a:pPr lvl="2"/>
                <a:r>
                  <a:rPr lang="en-US" altLang="ko-KR"/>
                  <a:t>train_input, test_input, train_target, test_target</a:t>
                </a:r>
                <a:br>
                  <a:rPr lang="en-US" altLang="ko-KR"/>
                </a:br>
                <a:r>
                  <a:rPr lang="en-US" altLang="ko-KR"/>
                  <a:t>		= train_test_split(perch_length, perth_wieght, ...)</a:t>
                </a:r>
              </a:p>
              <a:p>
                <a:pPr lvl="1"/>
                <a:r>
                  <a:rPr lang="en-US" altLang="ko-KR"/>
                  <a:t>reshape()</a:t>
                </a:r>
                <a:r>
                  <a:rPr lang="ko-KR" altLang="en-US"/>
                  <a:t>함수를</a:t>
                </a:r>
                <a:r>
                  <a:rPr lang="en-US" altLang="ko-KR"/>
                  <a:t> </a:t>
                </a:r>
                <a:r>
                  <a:rPr lang="ko-KR" altLang="en-US"/>
                  <a:t>이용하여 </a:t>
                </a:r>
                <a:r>
                  <a:rPr lang="en-US" altLang="ko-KR"/>
                  <a:t>input</a:t>
                </a:r>
                <a:r>
                  <a:rPr lang="ko-KR" altLang="en-US"/>
                  <a:t>을 </a:t>
                </a:r>
                <a:r>
                  <a:rPr lang="en-US" altLang="ko-KR"/>
                  <a:t>2</a:t>
                </a:r>
                <a:r>
                  <a:rPr lang="ko-KR" altLang="en-US"/>
                  <a:t>차원 배열로 만듦</a:t>
                </a:r>
                <a:endParaRPr lang="en-US" altLang="ko-KR"/>
              </a:p>
              <a:p>
                <a:r>
                  <a:rPr lang="ko-KR" altLang="en-US"/>
                  <a:t>훈련 및 </a:t>
                </a:r>
                <a:r>
                  <a:rPr lang="en-US" altLang="ko-KR"/>
                  <a:t>score() </a:t>
                </a:r>
                <a:r>
                  <a:rPr lang="ko-KR" altLang="en-US"/>
                  <a:t>확인</a:t>
                </a:r>
                <a:endParaRPr lang="en-US" altLang="ko-KR"/>
              </a:p>
              <a:p>
                <a:pPr lvl="1"/>
                <a:r>
                  <a:rPr lang="ko-KR" altLang="en-US"/>
                  <a:t>회기의</a:t>
                </a:r>
                <a:r>
                  <a:rPr lang="en-US" altLang="ko-KR"/>
                  <a:t> </a:t>
                </a:r>
                <a:r>
                  <a:rPr lang="ko-KR" altLang="en-US"/>
                  <a:t>경우에는 예측 값과 실제 값이 일치하는 정도를 표현하는 수치 도입 </a:t>
                </a:r>
                <a:r>
                  <a:rPr lang="en-US" altLang="ko-KR">
                    <a:sym typeface="Wingdings" panose="05000000000000000000" pitchFamily="2" charset="2"/>
                  </a:rPr>
                  <a:t> </a:t>
                </a:r>
                <a:r>
                  <a:rPr lang="ko-KR" altLang="en-US">
                    <a:sym typeface="Wingdings" panose="05000000000000000000" pitchFamily="2" charset="2"/>
                  </a:rPr>
                  <a:t>결정계수 </a:t>
                </a:r>
                <a:r>
                  <a:rPr lang="en-US" altLang="ko-KR">
                    <a:sym typeface="Wingdings" panose="05000000000000000000" pitchFamily="2" charset="2"/>
                  </a:rPr>
                  <a:t>R</a:t>
                </a:r>
                <a:r>
                  <a:rPr lang="en-US" altLang="ko-KR" baseline="30000">
                    <a:sym typeface="Wingdings" panose="05000000000000000000" pitchFamily="2" charset="2"/>
                  </a:rPr>
                  <a:t>2</a:t>
                </a:r>
                <a:r>
                  <a:rPr lang="en-US" altLang="ko-KR">
                    <a:sym typeface="Wingdings" panose="05000000000000000000" pitchFamily="2" charset="2"/>
                  </a:rPr>
                  <a:t> </a:t>
                </a:r>
                <a:r>
                  <a:rPr lang="en-US" altLang="ko-KR"/>
                  <a:t>(</a:t>
                </a:r>
                <a:r>
                  <a:rPr lang="ko-KR" altLang="en-US"/>
                  <a:t>선형 회기분석의 경우에는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ko-KR"/>
                  <a:t>)</a:t>
                </a:r>
              </a:p>
              <a:p>
                <a:r>
                  <a:rPr lang="ko-KR" altLang="en-US"/>
                  <a:t>과다적합</a:t>
                </a:r>
                <a:r>
                  <a:rPr lang="en-US" altLang="ko-KR"/>
                  <a:t>, </a:t>
                </a:r>
                <a:r>
                  <a:rPr lang="ko-KR" altLang="en-US"/>
                  <a:t>과소적합</a:t>
                </a:r>
                <a:endParaRPr lang="en-US" altLang="ko-KR"/>
              </a:p>
              <a:p>
                <a:pPr lvl="1"/>
                <a:r>
                  <a:rPr lang="ko-KR" altLang="en-US"/>
                  <a:t>과다적합</a:t>
                </a:r>
                <a:r>
                  <a:rPr lang="en-US" altLang="ko-KR"/>
                  <a:t>: </a:t>
                </a:r>
                <a:r>
                  <a:rPr lang="ko-KR" altLang="en-US"/>
                  <a:t>훈련세트의 점수가 높고</a:t>
                </a:r>
                <a:r>
                  <a:rPr lang="en-US" altLang="ko-KR"/>
                  <a:t>, </a:t>
                </a:r>
                <a:r>
                  <a:rPr lang="ko-KR" altLang="en-US"/>
                  <a:t>테스트세트의 점수가 현저히 나쁨</a:t>
                </a:r>
                <a:endParaRPr lang="en-US" altLang="ko-KR"/>
              </a:p>
              <a:p>
                <a:pPr lvl="1"/>
                <a:r>
                  <a:rPr lang="ko-KR" altLang="en-US"/>
                  <a:t>과소적합</a:t>
                </a:r>
                <a:r>
                  <a:rPr lang="en-US" altLang="ko-KR"/>
                  <a:t>: </a:t>
                </a:r>
                <a:r>
                  <a:rPr lang="ko-KR" altLang="en-US"/>
                  <a:t>훈련세트의 점수보다 테스트세트의 점수가 높거나</a:t>
                </a:r>
                <a:r>
                  <a:rPr lang="en-US" altLang="ko-KR"/>
                  <a:t>, </a:t>
                </a:r>
                <a:r>
                  <a:rPr lang="ko-KR" altLang="en-US"/>
                  <a:t>두 점수가 현저히 낮음</a:t>
                </a:r>
                <a:endParaRPr lang="en-US" altLang="ko-KR"/>
              </a:p>
              <a:p>
                <a:pPr lvl="1"/>
                <a:r>
                  <a:rPr lang="ko-KR" altLang="en-US"/>
                  <a:t>과다적합</a:t>
                </a:r>
                <a:r>
                  <a:rPr lang="en-US" altLang="ko-KR"/>
                  <a:t>/</a:t>
                </a:r>
                <a:r>
                  <a:rPr lang="ko-KR" altLang="en-US"/>
                  <a:t>과소적합은 해소되어야 함</a:t>
                </a:r>
                <a:endParaRPr lang="en-US" altLang="ko-KR"/>
              </a:p>
              <a:p>
                <a:pPr lvl="1"/>
                <a:endParaRPr lang="ko-KR" altLang="en-US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A9F84D4-1220-4ACA-A103-F13EAF52BB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2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C460A6-4DBA-442D-B1A5-54053CCF9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1528316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E6938-5846-4440-B5F2-782388FE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학습목표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81E4D7-BB54-4FF2-8452-113620F71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 시간이 종료되면 학생들은</a:t>
            </a:r>
            <a:endParaRPr lang="en-US" altLang="ko-KR"/>
          </a:p>
          <a:p>
            <a:pPr lvl="1"/>
            <a:r>
              <a:rPr lang="en-US" altLang="ko-KR"/>
              <a:t>‘k-</a:t>
            </a:r>
            <a:r>
              <a:rPr lang="ko-KR" altLang="en-US"/>
              <a:t>최근접 이웃 회기</a:t>
            </a:r>
            <a:r>
              <a:rPr lang="en-US" altLang="ko-KR"/>
              <a:t>’</a:t>
            </a:r>
            <a:r>
              <a:rPr lang="ko-KR" altLang="en-US"/>
              <a:t>의 한계를 이해한다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선형회귀</a:t>
            </a:r>
            <a:r>
              <a:rPr lang="en-US" altLang="ko-KR"/>
              <a:t>(linear regression)</a:t>
            </a:r>
            <a:r>
              <a:rPr lang="ko-KR" altLang="en-US"/>
              <a:t>을 이해하고 모델링할 수 있다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다항회귀</a:t>
            </a:r>
            <a:r>
              <a:rPr lang="en-US" altLang="ko-KR"/>
              <a:t>(polynomial regression)</a:t>
            </a:r>
            <a:r>
              <a:rPr lang="ko-KR" altLang="en-US"/>
              <a:t>을 이해하고 모델링할 수 있다</a:t>
            </a:r>
            <a:r>
              <a:rPr lang="en-US" altLang="ko-KR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06078B-3071-4128-9A58-72556F263B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419197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01BDA9-0FDA-414A-A92E-99003EDFC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 준비 </a:t>
            </a:r>
            <a:r>
              <a:rPr lang="en-US" altLang="ko-KR"/>
              <a:t>(1)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63719E-A8F3-47BD-8AC1-E11E16A19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우리의 문제</a:t>
            </a:r>
            <a:endParaRPr lang="en-US" altLang="ko-KR"/>
          </a:p>
          <a:p>
            <a:pPr lvl="1"/>
            <a:r>
              <a:rPr lang="ko-KR" altLang="en-US"/>
              <a:t>주어진 농어의 범위</a:t>
            </a:r>
            <a:r>
              <a:rPr lang="en-US" altLang="ko-KR"/>
              <a:t>(</a:t>
            </a:r>
            <a:r>
              <a:rPr lang="ko-KR" altLang="en-US"/>
              <a:t>길이</a:t>
            </a:r>
            <a:r>
              <a:rPr lang="en-US" altLang="ko-KR"/>
              <a:t> 8.4cm~44.0cm)</a:t>
            </a:r>
            <a:r>
              <a:rPr lang="ko-KR" altLang="en-US"/>
              <a:t>를 넘어선 곳에 있는 농어는 어떻게 예측되는지 확인해 봄</a:t>
            </a:r>
            <a:endParaRPr lang="en-US" altLang="ko-KR"/>
          </a:p>
          <a:p>
            <a:pPr lvl="1"/>
            <a:r>
              <a:rPr lang="en-US" altLang="ko-KR"/>
              <a:t>50cm </a:t>
            </a:r>
            <a:r>
              <a:rPr lang="ko-KR" altLang="en-US"/>
              <a:t>농어의 경우 무게가 예측에 부합할 지 확인</a:t>
            </a:r>
            <a:endParaRPr lang="en-US" altLang="ko-KR"/>
          </a:p>
          <a:p>
            <a:r>
              <a:rPr lang="ko-KR" altLang="en-US">
                <a:sym typeface="Wingdings" panose="05000000000000000000" pitchFamily="2" charset="2"/>
              </a:rPr>
              <a:t>데이터 준비는 이전 섹션과 동일함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농어 데이터 준비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훈련세트와 테스트세트로 나눔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/>
              <a:t>input</a:t>
            </a:r>
            <a:r>
              <a:rPr lang="ko-KR" altLang="en-US"/>
              <a:t>을 </a:t>
            </a:r>
            <a:r>
              <a:rPr lang="en-US" altLang="ko-KR"/>
              <a:t>2</a:t>
            </a:r>
            <a:r>
              <a:rPr lang="ko-KR" altLang="en-US"/>
              <a:t>차원 배열로 만듦</a:t>
            </a:r>
            <a:endParaRPr lang="en-US" altLang="ko-KR"/>
          </a:p>
          <a:p>
            <a:pPr lvl="1"/>
            <a:r>
              <a:rPr lang="en-US" altLang="ko-KR"/>
              <a:t>n_neighbors </a:t>
            </a:r>
            <a:r>
              <a:rPr lang="ko-KR" altLang="en-US"/>
              <a:t>값을 </a:t>
            </a:r>
            <a:r>
              <a:rPr lang="en-US" altLang="ko-KR"/>
              <a:t>3</a:t>
            </a:r>
            <a:r>
              <a:rPr lang="ko-KR" altLang="en-US"/>
              <a:t>으로 하여 모델을 훈련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F3C1AA-8E0E-4148-846E-212771CEC4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554249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01BDA9-0FDA-414A-A92E-99003EDFC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 준비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28B0FBF-3C21-46D1-AD7F-B7AED7E63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1052736"/>
            <a:ext cx="7488832" cy="53789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F3C1AA-8E0E-4148-846E-212771CEC4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2337312E-B413-44CA-981E-55A4A815E4F3}"/>
              </a:ext>
            </a:extLst>
          </p:cNvPr>
          <p:cNvSpPr/>
          <p:nvPr/>
        </p:nvSpPr>
        <p:spPr>
          <a:xfrm>
            <a:off x="7343403" y="5999103"/>
            <a:ext cx="432048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5A49B34-0B17-4A99-A169-C2C0A2B72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475" y="6021288"/>
            <a:ext cx="1085850" cy="219075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B434BFE3-8E85-48E7-A0D5-3C6866EA92F3}"/>
              </a:ext>
            </a:extLst>
          </p:cNvPr>
          <p:cNvSpPr/>
          <p:nvPr/>
        </p:nvSpPr>
        <p:spPr>
          <a:xfrm>
            <a:off x="4355976" y="3416461"/>
            <a:ext cx="64807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4C39F41-FD2E-45E7-8CEB-BB2F7C2F3FDA}"/>
              </a:ext>
            </a:extLst>
          </p:cNvPr>
          <p:cNvSpPr/>
          <p:nvPr/>
        </p:nvSpPr>
        <p:spPr>
          <a:xfrm>
            <a:off x="5004048" y="3416461"/>
            <a:ext cx="64807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674213D-1276-4A0D-B39A-59C15ECAB824}"/>
              </a:ext>
            </a:extLst>
          </p:cNvPr>
          <p:cNvSpPr/>
          <p:nvPr/>
        </p:nvSpPr>
        <p:spPr>
          <a:xfrm>
            <a:off x="714432" y="3607738"/>
            <a:ext cx="64807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68DD5E6-EF98-4B29-851B-8789FF09BC67}"/>
              </a:ext>
            </a:extLst>
          </p:cNvPr>
          <p:cNvSpPr/>
          <p:nvPr/>
        </p:nvSpPr>
        <p:spPr>
          <a:xfrm>
            <a:off x="5140348" y="2027420"/>
            <a:ext cx="383188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7A5C2F-8D7B-420B-A3F1-DE24FBDB86D1}"/>
              </a:ext>
            </a:extLst>
          </p:cNvPr>
          <p:cNvSpPr/>
          <p:nvPr/>
        </p:nvSpPr>
        <p:spPr>
          <a:xfrm>
            <a:off x="722148" y="2239586"/>
            <a:ext cx="473192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6E01A5E-1D5F-4016-A2C1-794918F32D93}"/>
              </a:ext>
            </a:extLst>
          </p:cNvPr>
          <p:cNvSpPr/>
          <p:nvPr/>
        </p:nvSpPr>
        <p:spPr>
          <a:xfrm>
            <a:off x="5626408" y="2035021"/>
            <a:ext cx="383188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996AF4E-464F-4F1E-86B8-3FEF33FF91E0}"/>
              </a:ext>
            </a:extLst>
          </p:cNvPr>
          <p:cNvCxnSpPr>
            <a:stCxn id="10" idx="6"/>
          </p:cNvCxnSpPr>
          <p:nvPr/>
        </p:nvCxnSpPr>
        <p:spPr>
          <a:xfrm>
            <a:off x="1362504" y="3715750"/>
            <a:ext cx="6737888" cy="22833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373F5BE-A11F-4151-844A-7060F488D081}"/>
              </a:ext>
            </a:extLst>
          </p:cNvPr>
          <p:cNvCxnSpPr>
            <a:stCxn id="8" idx="4"/>
          </p:cNvCxnSpPr>
          <p:nvPr/>
        </p:nvCxnSpPr>
        <p:spPr>
          <a:xfrm>
            <a:off x="4680012" y="3632485"/>
            <a:ext cx="3492388" cy="226969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5083F9C-6A16-4576-A906-EEA9ED81AFFA}"/>
              </a:ext>
            </a:extLst>
          </p:cNvPr>
          <p:cNvCxnSpPr>
            <a:cxnSpLocks/>
            <a:stCxn id="9" idx="4"/>
          </p:cNvCxnSpPr>
          <p:nvPr/>
        </p:nvCxnSpPr>
        <p:spPr>
          <a:xfrm>
            <a:off x="5328084" y="3632485"/>
            <a:ext cx="2875180" cy="21727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2623F3C-B67F-4CF3-983D-2E089615A1A0}"/>
              </a:ext>
            </a:extLst>
          </p:cNvPr>
          <p:cNvSpPr/>
          <p:nvPr/>
        </p:nvSpPr>
        <p:spPr>
          <a:xfrm>
            <a:off x="7759356" y="4840809"/>
            <a:ext cx="1260599" cy="57606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rgbClr val="FF0000"/>
                </a:solidFill>
              </a:rPr>
              <a:t>이 세마리의 평균</a:t>
            </a:r>
            <a:r>
              <a:rPr lang="en-US" altLang="ko-KR" sz="1400">
                <a:solidFill>
                  <a:srgbClr val="FF0000"/>
                </a:solidFill>
              </a:rPr>
              <a:t>!!!</a:t>
            </a:r>
            <a:endParaRPr lang="ko-KR" altLang="en-US" sz="1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88781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01BDA9-0FDA-414A-A92E-99003EDFC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k-</a:t>
            </a:r>
            <a:r>
              <a:rPr lang="ko-KR" altLang="en-US"/>
              <a:t>최근접 이웃의 한계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63719E-A8F3-47BD-8AC1-E11E16A19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k-</a:t>
            </a:r>
            <a:r>
              <a:rPr lang="ko-KR" altLang="en-US"/>
              <a:t>최근접 이웃 알고리즘의 한계</a:t>
            </a:r>
            <a:endParaRPr lang="en-US" altLang="ko-KR"/>
          </a:p>
          <a:p>
            <a:pPr lvl="1"/>
            <a:r>
              <a:rPr lang="ko-KR" altLang="en-US"/>
              <a:t>훈련세트 입력 범위를 넘어선 </a:t>
            </a:r>
            <a:r>
              <a:rPr lang="en-US" altLang="ko-KR"/>
              <a:t>50cm, 100cm</a:t>
            </a:r>
            <a:r>
              <a:rPr lang="ko-KR" altLang="en-US"/>
              <a:t> 농어의 경우 무게가 예측에 전혀 들어 맞지 않음</a:t>
            </a:r>
            <a:endParaRPr lang="en-US" altLang="ko-KR"/>
          </a:p>
          <a:p>
            <a:pPr marL="432000" lvl="1" indent="0">
              <a:buNone/>
            </a:pPr>
            <a:r>
              <a:rPr lang="en-US" altLang="ko-KR"/>
              <a:t> 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범위를 넘어선 경우 이웃의 평균이므로 동일한 결과 나옴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F3C1AA-8E0E-4148-846E-212771CEC4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8DC123-9320-4B78-B2D1-0C28C5AE0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924944"/>
            <a:ext cx="6490242" cy="29523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F37A1F6-6948-41C3-90F8-E3E28CBCD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466" y="2852936"/>
            <a:ext cx="2419266" cy="16174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50F24CC-3A21-4BAF-A139-AEE005941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347" y="4467758"/>
            <a:ext cx="2436300" cy="165668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66D40CD-7BF1-492E-8F76-F3E366F30901}"/>
              </a:ext>
            </a:extLst>
          </p:cNvPr>
          <p:cNvSpPr/>
          <p:nvPr/>
        </p:nvSpPr>
        <p:spPr>
          <a:xfrm>
            <a:off x="179512" y="6116581"/>
            <a:ext cx="7416824" cy="335509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rgbClr val="FF0000"/>
                </a:solidFill>
              </a:rPr>
              <a:t>농어는 아무리 커도 훈련세트에 있는 최대 이웃 샘플의 평균인 </a:t>
            </a:r>
            <a:r>
              <a:rPr lang="en-US" altLang="ko-KR" sz="1400">
                <a:solidFill>
                  <a:srgbClr val="FF0000"/>
                </a:solidFill>
              </a:rPr>
              <a:t>1033g</a:t>
            </a:r>
            <a:r>
              <a:rPr lang="ko-KR" altLang="en-US" sz="1400">
                <a:solidFill>
                  <a:srgbClr val="FF0000"/>
                </a:solidFill>
              </a:rPr>
              <a:t>을 넘어설 수 없음</a:t>
            </a:r>
            <a:r>
              <a:rPr lang="en-US" altLang="ko-KR" sz="1400">
                <a:solidFill>
                  <a:srgbClr val="FF0000"/>
                </a:solidFill>
              </a:rPr>
              <a:t>!!!</a:t>
            </a:r>
            <a:endParaRPr lang="ko-KR" altLang="en-US" sz="1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99719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FA4380-FD2B-43FC-854F-B19097BBB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선형회귀</a:t>
            </a:r>
            <a:r>
              <a:rPr lang="en-US" altLang="ko-KR"/>
              <a:t>(Linear regression) (1)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D52133-9E2D-48D7-B141-3AF186366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선형회귀</a:t>
            </a:r>
            <a:endParaRPr lang="en-US" altLang="ko-KR"/>
          </a:p>
          <a:p>
            <a:pPr lvl="1"/>
            <a:r>
              <a:rPr lang="en-US" altLang="ko-KR"/>
              <a:t>k-</a:t>
            </a:r>
            <a:r>
              <a:rPr lang="ko-KR" altLang="en-US"/>
              <a:t>최근접 이웃 알고리즘은 훈련세트의 모든 데이터를 기억하고 이들 중 샘플의 이웃에 해당하는 데이터를 이용하여 예측 처리함</a:t>
            </a:r>
            <a:endParaRPr lang="en-US" altLang="ko-KR"/>
          </a:p>
          <a:p>
            <a:pPr marL="432000" lvl="1" indent="0">
              <a:buNone/>
            </a:pPr>
            <a:r>
              <a:rPr lang="en-US" altLang="ko-KR"/>
              <a:t> 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사실상 훈련 없음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선형회귀는 훈련세트에서 가장 근접한 직선의 방정식을 찾아 그 계수</a:t>
            </a:r>
            <a:r>
              <a:rPr lang="en-US" altLang="ko-KR">
                <a:sym typeface="Wingdings" panose="05000000000000000000" pitchFamily="2" charset="2"/>
              </a:rPr>
              <a:t>(coefficient)</a:t>
            </a:r>
            <a:r>
              <a:rPr lang="ko-KR" altLang="en-US">
                <a:sym typeface="Wingdings" panose="05000000000000000000" pitchFamily="2" charset="2"/>
              </a:rPr>
              <a:t>를 기억</a:t>
            </a:r>
            <a:endParaRPr lang="en-US" altLang="ko-KR">
              <a:sym typeface="Wingdings" panose="05000000000000000000" pitchFamily="2" charset="2"/>
            </a:endParaRPr>
          </a:p>
          <a:p>
            <a:pPr marL="432000" lvl="1" indent="0">
              <a:buNone/>
            </a:pPr>
            <a:r>
              <a:rPr lang="en-US" altLang="ko-KR">
                <a:sym typeface="Wingdings" panose="05000000000000000000" pitchFamily="2" charset="2"/>
              </a:rPr>
              <a:t> </a:t>
            </a:r>
            <a:r>
              <a:rPr lang="ko-KR" altLang="en-US">
                <a:sym typeface="Wingdings" panose="05000000000000000000" pitchFamily="2" charset="2"/>
              </a:rPr>
              <a:t>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실질적으로 훈련데이터를 분석하는 훈련이 있음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 altLang="ko-KR">
                <a:sym typeface="Wingdings" panose="05000000000000000000" pitchFamily="2" charset="2"/>
              </a:rPr>
              <a:t>sklearn</a:t>
            </a:r>
            <a:r>
              <a:rPr lang="ko-KR" altLang="en-US">
                <a:sym typeface="Wingdings" panose="05000000000000000000" pitchFamily="2" charset="2"/>
              </a:rPr>
              <a:t>의 </a:t>
            </a:r>
            <a:r>
              <a:rPr lang="en-US" altLang="ko-KR">
                <a:sym typeface="Wingdings" panose="05000000000000000000" pitchFamily="2" charset="2"/>
              </a:rPr>
              <a:t>LinearRegression</a:t>
            </a:r>
            <a:r>
              <a:rPr lang="ko-KR" altLang="en-US">
                <a:sym typeface="Wingdings" panose="05000000000000000000" pitchFamily="2" charset="2"/>
              </a:rPr>
              <a:t> 클래스 사용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E04720-292A-4F56-8379-5D678024ED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6CFD18-6D6E-41E4-980B-A87CA8ACA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59" y="4725144"/>
            <a:ext cx="4961583" cy="12961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CA9D44EE-C659-45D9-9500-8709E1692913}"/>
              </a:ext>
            </a:extLst>
          </p:cNvPr>
          <p:cNvSpPr/>
          <p:nvPr/>
        </p:nvSpPr>
        <p:spPr>
          <a:xfrm>
            <a:off x="6008675" y="5229200"/>
            <a:ext cx="432048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414BF9-9A8C-44C4-8837-A4653A0B1F2B}"/>
              </a:ext>
            </a:extLst>
          </p:cNvPr>
          <p:cNvSpPr/>
          <p:nvPr/>
        </p:nvSpPr>
        <p:spPr>
          <a:xfrm>
            <a:off x="6007075" y="5700142"/>
            <a:ext cx="2794025" cy="576064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rgbClr val="FF0000"/>
                </a:solidFill>
              </a:rPr>
              <a:t>50cm, 100cm</a:t>
            </a:r>
            <a:r>
              <a:rPr lang="ko-KR" altLang="en-US" sz="1400">
                <a:solidFill>
                  <a:srgbClr val="FF0000"/>
                </a:solidFill>
              </a:rPr>
              <a:t>의 예상 무게를 직선의 방정식에 기반하여 예측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D1586F5-A87E-43D2-9480-3BA87C168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071" y="5187478"/>
            <a:ext cx="105727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94891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FA4380-FD2B-43FC-854F-B19097BBB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선형회귀</a:t>
            </a:r>
            <a:r>
              <a:rPr lang="en-US" altLang="ko-KR"/>
              <a:t> (2)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FD52133-9E2D-48D7-B141-3AF1863663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ko-KR" altLang="en-US" dirty="0"/>
                  <a:t>직선의 방정식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𝒂𝒙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altLang="ko-KR" dirty="0"/>
                  <a:t>, a</a:t>
                </a:r>
                <a:r>
                  <a:rPr lang="ko-KR" altLang="en-US" dirty="0"/>
                  <a:t>는 기울기</a:t>
                </a:r>
                <a:r>
                  <a:rPr lang="en-US" altLang="ko-KR" dirty="0"/>
                  <a:t>, b</a:t>
                </a:r>
                <a:r>
                  <a:rPr lang="ko-KR" altLang="en-US" dirty="0"/>
                  <a:t>는 </a:t>
                </a:r>
                <a:r>
                  <a:rPr lang="en-US" altLang="ko-KR" dirty="0"/>
                  <a:t>y </a:t>
                </a:r>
                <a:r>
                  <a:rPr lang="ko-KR" altLang="en-US" dirty="0"/>
                  <a:t>절편</a:t>
                </a:r>
                <a:endParaRPr lang="en-US" altLang="ko-KR" dirty="0"/>
              </a:p>
              <a:p>
                <a:pPr lvl="1"/>
                <a:r>
                  <a:rPr lang="en-US" altLang="ko-KR" dirty="0" err="1"/>
                  <a:t>LinearRegressing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클래스는 </a:t>
                </a:r>
                <a:r>
                  <a:rPr lang="en-US" altLang="ko-KR" dirty="0"/>
                  <a:t>a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b</a:t>
                </a:r>
                <a:r>
                  <a:rPr lang="ko-KR" altLang="en-US" dirty="0"/>
                  <a:t>의 값을 각각 </a:t>
                </a:r>
                <a:r>
                  <a:rPr lang="en-US" altLang="ko-KR" dirty="0" err="1"/>
                  <a:t>lr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개체의 </a:t>
                </a:r>
                <a:r>
                  <a:rPr lang="en-US" altLang="ko-KR" dirty="0" err="1"/>
                  <a:t>coef</a:t>
                </a:r>
                <a:r>
                  <a:rPr lang="en-US" altLang="ko-KR" dirty="0"/>
                  <a:t>_</a:t>
                </a:r>
                <a:r>
                  <a:rPr lang="ko-KR" altLang="en-US" dirty="0"/>
                  <a:t>와 </a:t>
                </a:r>
                <a:r>
                  <a:rPr lang="en-US" altLang="ko-KR" dirty="0"/>
                  <a:t>intersect_ </a:t>
                </a:r>
                <a:r>
                  <a:rPr lang="ko-KR" altLang="en-US" dirty="0"/>
                  <a:t>속성에 저장함</a:t>
                </a:r>
                <a:endParaRPr lang="en-US" altLang="ko-KR" dirty="0"/>
              </a:p>
              <a:p>
                <a:r>
                  <a:rPr lang="ko-KR" altLang="en-US" dirty="0"/>
                  <a:t>모델 파라메터</a:t>
                </a:r>
                <a:r>
                  <a:rPr lang="en-US" altLang="ko-KR" dirty="0"/>
                  <a:t>(model parameter)</a:t>
                </a:r>
              </a:p>
              <a:p>
                <a:pPr lvl="1"/>
                <a:r>
                  <a:rPr lang="ko-KR" altLang="en-US" dirty="0" err="1"/>
                  <a:t>머신러닝</a:t>
                </a:r>
                <a:r>
                  <a:rPr lang="ko-KR" altLang="en-US" dirty="0"/>
                  <a:t> 알고리즘이 찾은 값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선형회귀의 </a:t>
                </a:r>
                <a:r>
                  <a:rPr lang="en-US" altLang="ko-KR" dirty="0" err="1"/>
                  <a:t>coef</a:t>
                </a:r>
                <a:r>
                  <a:rPr lang="en-US" altLang="ko-KR" dirty="0"/>
                  <a:t>_, intersect_ </a:t>
                </a:r>
                <a:r>
                  <a:rPr lang="ko-KR" altLang="en-US" dirty="0"/>
                  <a:t>등이 해당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모델 파라메터를 찾는 훈련과정을 가진 학습을 </a:t>
                </a:r>
                <a:r>
                  <a:rPr lang="en-US" altLang="ko-KR" dirty="0"/>
                  <a:t>‘</a:t>
                </a:r>
                <a:r>
                  <a:rPr lang="ko-KR" altLang="en-US" dirty="0"/>
                  <a:t>모델 기반 </a:t>
                </a:r>
                <a:r>
                  <a:rPr lang="ko-KR" altLang="en-US" dirty="0" err="1"/>
                  <a:t>학습‘이라</a:t>
                </a:r>
                <a:r>
                  <a:rPr lang="ko-KR" altLang="en-US" dirty="0"/>
                  <a:t> 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k-</a:t>
                </a:r>
                <a:r>
                  <a:rPr lang="ko-KR" altLang="en-US" dirty="0"/>
                  <a:t>최근접 이웃 알고리즘 처럼 모델 파라메터가 없고 훈련세트를 저장하는 형태를 </a:t>
                </a:r>
                <a:r>
                  <a:rPr lang="en-US" altLang="ko-KR" dirty="0"/>
                  <a:t>‘</a:t>
                </a:r>
                <a:r>
                  <a:rPr lang="ko-KR" altLang="en-US" dirty="0"/>
                  <a:t>사례 기반 학습</a:t>
                </a:r>
                <a:r>
                  <a:rPr lang="en-US" altLang="ko-KR" dirty="0"/>
                  <a:t>’</a:t>
                </a:r>
                <a:r>
                  <a:rPr lang="ko-KR" altLang="en-US" dirty="0"/>
                  <a:t>이라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함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marL="432000" lvl="1" indent="0">
                  <a:buNone/>
                </a:pPr>
                <a:r>
                  <a:rPr lang="en-US" altLang="ko-KR" dirty="0"/>
                  <a:t> </a:t>
                </a:r>
              </a:p>
              <a:p>
                <a:pPr lvl="1"/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FD52133-9E2D-48D7-B141-3AF1863663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773" r="-2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E04720-292A-4F56-8379-5D678024ED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CA9D44EE-C659-45D9-9500-8709E1692913}"/>
              </a:ext>
            </a:extLst>
          </p:cNvPr>
          <p:cNvSpPr/>
          <p:nvPr/>
        </p:nvSpPr>
        <p:spPr>
          <a:xfrm>
            <a:off x="5393212" y="5373216"/>
            <a:ext cx="432048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81F99B1-5806-4F2C-89E9-1EBD869A2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4653136"/>
            <a:ext cx="4676995" cy="17281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EDB90B8-247E-4B4E-8ECA-CA2BB3834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522" y="4516549"/>
            <a:ext cx="2970051" cy="19334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7BF7DBE-7DC6-489F-838B-7A6CF0AA4ED8}"/>
              </a:ext>
            </a:extLst>
          </p:cNvPr>
          <p:cNvSpPr txBox="1"/>
          <p:nvPr/>
        </p:nvSpPr>
        <p:spPr>
          <a:xfrm>
            <a:off x="6516216" y="5661248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>
                <a:solidFill>
                  <a:srgbClr val="FF0000"/>
                </a:solidFill>
              </a:rPr>
              <a:t>?</a:t>
            </a:r>
            <a:endParaRPr lang="ko-KR" altLang="en-US" sz="2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09416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FA4380-FD2B-43FC-854F-B19097BBB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선형회귀</a:t>
            </a:r>
            <a:r>
              <a:rPr lang="en-US" altLang="ko-KR"/>
              <a:t> (3)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D52133-9E2D-48D7-B141-3AF186366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선형회귀의 문제점</a:t>
            </a:r>
            <a:endParaRPr lang="en-US" altLang="ko-KR"/>
          </a:p>
          <a:p>
            <a:pPr lvl="1"/>
            <a:r>
              <a:rPr lang="ko-KR" altLang="en-US"/>
              <a:t>길이가 </a:t>
            </a:r>
            <a:r>
              <a:rPr lang="en-US" altLang="ko-KR"/>
              <a:t>18.17... </a:t>
            </a:r>
            <a:r>
              <a:rPr lang="ko-KR" altLang="en-US"/>
              <a:t>이하인 농어는 무게가 음수</a:t>
            </a:r>
            <a:endParaRPr lang="en-US" altLang="ko-KR"/>
          </a:p>
          <a:p>
            <a:pPr lvl="1"/>
            <a:r>
              <a:rPr lang="ko-KR" altLang="en-US"/>
              <a:t>결정계수의 값이 그리 높지 않음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marL="432000" lvl="1" indent="0">
              <a:buNone/>
            </a:pPr>
            <a:r>
              <a:rPr lang="en-US" altLang="ko-KR"/>
              <a:t> </a:t>
            </a:r>
          </a:p>
          <a:p>
            <a:pPr lvl="1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E04720-292A-4F56-8379-5D678024ED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CA9D44EE-C659-45D9-9500-8709E1692913}"/>
              </a:ext>
            </a:extLst>
          </p:cNvPr>
          <p:cNvSpPr/>
          <p:nvPr/>
        </p:nvSpPr>
        <p:spPr>
          <a:xfrm>
            <a:off x="5436096" y="2703399"/>
            <a:ext cx="432048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8957B3-71D5-4BA5-894F-E20EAB6AC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564904"/>
            <a:ext cx="4464496" cy="5765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9A1EDE9-A0B1-497A-A092-E927FEE97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464" y="2666440"/>
            <a:ext cx="1285875" cy="36195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A71A6F0E-73A7-4A4C-9C5D-5B5A08D02A6D}"/>
              </a:ext>
            </a:extLst>
          </p:cNvPr>
          <p:cNvSpPr/>
          <p:nvPr/>
        </p:nvSpPr>
        <p:spPr>
          <a:xfrm>
            <a:off x="687610" y="3645023"/>
            <a:ext cx="7916838" cy="57654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rgbClr val="FF0000"/>
                </a:solidFill>
              </a:rPr>
              <a:t>실제 산점도를 보면 직선보다 곡선 형태임</a:t>
            </a:r>
            <a:r>
              <a:rPr lang="en-US" altLang="ko-KR" sz="1400">
                <a:solidFill>
                  <a:srgbClr val="FF0000"/>
                </a:solidFill>
              </a:rPr>
              <a:t>. </a:t>
            </a:r>
            <a:r>
              <a:rPr lang="ko-KR" altLang="en-US" sz="1400">
                <a:solidFill>
                  <a:srgbClr val="FF0000"/>
                </a:solidFill>
              </a:rPr>
              <a:t>따라서 이 특성을 포함할 수 있는 모델이 필요함</a:t>
            </a:r>
          </a:p>
        </p:txBody>
      </p:sp>
    </p:spTree>
    <p:extLst>
      <p:ext uri="{BB962C8B-B14F-4D97-AF65-F5344CB8AC3E}">
        <p14:creationId xmlns:p14="http://schemas.microsoft.com/office/powerpoint/2010/main" val="406648705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FA4380-FD2B-43FC-854F-B19097BBB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다항회귀</a:t>
            </a:r>
            <a:r>
              <a:rPr lang="en-US" altLang="ko-KR"/>
              <a:t> (Polynomial regression) (1)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FD52133-9E2D-48D7-B141-3AF1863663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/>
                  <a:t>그래프의</a:t>
                </a:r>
                <a:r>
                  <a:rPr lang="en-US" altLang="ko-KR"/>
                  <a:t> </a:t>
                </a:r>
                <a:r>
                  <a:rPr lang="ko-KR" altLang="en-US"/>
                  <a:t>모양을 보면</a:t>
                </a:r>
                <a:endParaRPr lang="en-US" altLang="ko-KR"/>
              </a:p>
              <a:p>
                <a:pPr lvl="1"/>
                <a:r>
                  <a:rPr lang="en-US" altLang="ko-KR"/>
                  <a:t>2</a:t>
                </a:r>
                <a:r>
                  <a:rPr lang="ko-KR" altLang="en-US"/>
                  <a:t>차 함수의 모양처럼 보임</a:t>
                </a:r>
                <a:endParaRPr lang="en-US" altLang="ko-KR"/>
              </a:p>
              <a:p>
                <a:pPr lvl="1"/>
                <a:r>
                  <a:rPr lang="en-US" altLang="ko-KR"/>
                  <a:t>2</a:t>
                </a:r>
                <a:r>
                  <a:rPr lang="ko-KR" altLang="en-US"/>
                  <a:t>차 함수의 식이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𝒃𝒙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ko-KR" altLang="en-US"/>
                  <a:t> 이므로</a:t>
                </a:r>
                <a:r>
                  <a:rPr lang="en-US" altLang="ko-KR"/>
                  <a:t> </a:t>
                </a:r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ko-KR" altLang="en-US"/>
                  <a:t>값</a:t>
                </a:r>
                <a:r>
                  <a:rPr lang="en-US" altLang="ko-KR"/>
                  <a:t>(</a:t>
                </a:r>
                <a:r>
                  <a:rPr lang="ko-KR" altLang="en-US"/>
                  <a:t>길이</a:t>
                </a:r>
                <a:r>
                  <a:rPr lang="en-US" altLang="ko-KR"/>
                  <a:t>)</a:t>
                </a:r>
                <a:r>
                  <a:rPr lang="ko-KR" altLang="en-US"/>
                  <a:t>뿐 아니라</a:t>
                </a:r>
                <a:r>
                  <a:rPr lang="en-US" altLang="ko-KR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ko-KR" altLang="en-US"/>
                  <a:t>값도 훈련세트에 추가되어야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altLang="ko-KR"/>
                  <a:t>,</a:t>
                </a:r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altLang="ko-KR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altLang="ko-KR"/>
                  <a:t>, </a:t>
                </a:r>
                <a:r>
                  <a:rPr lang="ko-KR" altLang="en-US"/>
                  <a:t>계수의 값을 유추할 수 있을 것임</a:t>
                </a:r>
                <a:endParaRPr lang="en-US" altLang="ko-KR"/>
              </a:p>
              <a:p>
                <a:pPr lvl="1"/>
                <a:r>
                  <a:rPr lang="ko-KR" altLang="en-US"/>
                  <a:t>따라서 </a:t>
                </a:r>
                <a:r>
                  <a:rPr lang="en-US" altLang="ko-KR"/>
                  <a:t>input</a:t>
                </a:r>
                <a:r>
                  <a:rPr lang="ko-KR" altLang="en-US"/>
                  <a:t>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ko-KR" altLang="en-US"/>
                  <a:t>값을 열</a:t>
                </a:r>
                <a:r>
                  <a:rPr lang="en-US" altLang="ko-KR"/>
                  <a:t>(column)</a:t>
                </a:r>
                <a:r>
                  <a:rPr lang="ko-KR" altLang="en-US"/>
                  <a:t>에 추가하여 훈련세트로 사용 </a:t>
                </a:r>
                <a:endParaRPr lang="en-US" altLang="ko-KR"/>
              </a:p>
              <a:p>
                <a:pPr lvl="1"/>
                <a:endParaRPr lang="en-US" altLang="ko-KR"/>
              </a:p>
              <a:p>
                <a:pPr lvl="1"/>
                <a:endParaRPr lang="en-US" altLang="ko-KR"/>
              </a:p>
              <a:p>
                <a:pPr marL="432000" lvl="1" indent="0">
                  <a:buNone/>
                </a:pPr>
                <a:r>
                  <a:rPr lang="en-US" altLang="ko-KR"/>
                  <a:t> </a:t>
                </a:r>
              </a:p>
              <a:p>
                <a:pPr lvl="1"/>
                <a:endParaRPr lang="en-US" altLang="ko-KR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FD52133-9E2D-48D7-B141-3AF1863663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4" t="-331" r="-4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E04720-292A-4F56-8379-5D678024ED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D3C6E4A-0744-4C69-8E48-0035A7098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3740944"/>
            <a:ext cx="5129097" cy="23523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CB2A8ACF-5F7F-4321-9590-13B91E51F16C}"/>
              </a:ext>
            </a:extLst>
          </p:cNvPr>
          <p:cNvSpPr/>
          <p:nvPr/>
        </p:nvSpPr>
        <p:spPr>
          <a:xfrm rot="2326366">
            <a:off x="6126752" y="4684673"/>
            <a:ext cx="432048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44D0945-6732-49D7-84DC-DE7562EC2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175" y="5214069"/>
            <a:ext cx="3095625" cy="3619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7524737E-9769-444E-BC63-01B406DDF919}"/>
                  </a:ext>
                </a:extLst>
              </p:cNvPr>
              <p:cNvSpPr/>
              <p:nvPr/>
            </p:nvSpPr>
            <p:spPr>
              <a:xfrm>
                <a:off x="6153333" y="5685549"/>
                <a:ext cx="2647767" cy="576541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ko-KR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ko-KR" altLang="en-US" sz="1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1400">
                    <a:solidFill>
                      <a:srgbClr val="FF0000"/>
                    </a:solidFill>
                  </a:rPr>
                  <a:t> </a:t>
                </a:r>
                <a:r>
                  <a:rPr lang="en-US" altLang="ko-KR" sz="1400">
                    <a:solidFill>
                      <a:srgbClr val="FF0000"/>
                    </a:solidFill>
                  </a:rPr>
                  <a:t>a, b, c </a:t>
                </a:r>
                <a:r>
                  <a:rPr lang="ko-KR" altLang="en-US" sz="1400">
                    <a:solidFill>
                      <a:srgbClr val="FF0000"/>
                    </a:solidFill>
                  </a:rPr>
                  <a:t>값</a:t>
                </a:r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7524737E-9769-444E-BC63-01B406DDF9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333" y="5685549"/>
                <a:ext cx="2647767" cy="5765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93127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FA4380-FD2B-43FC-854F-B19097BBB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다항회귀</a:t>
            </a:r>
            <a:r>
              <a:rPr lang="en-US" altLang="ko-KR"/>
              <a:t> (2)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D52133-9E2D-48D7-B141-3AF186366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산점도를 그려봄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marL="432000" lvl="1" indent="0">
              <a:buNone/>
            </a:pPr>
            <a:r>
              <a:rPr lang="en-US" altLang="ko-KR"/>
              <a:t> </a:t>
            </a:r>
          </a:p>
          <a:p>
            <a:pPr lvl="1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E04720-292A-4F56-8379-5D678024ED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56CBCBC7-4DFF-453A-B4BA-1788C4860A88}"/>
              </a:ext>
            </a:extLst>
          </p:cNvPr>
          <p:cNvSpPr/>
          <p:nvPr/>
        </p:nvSpPr>
        <p:spPr>
          <a:xfrm rot="2326366">
            <a:off x="3174424" y="4364618"/>
            <a:ext cx="432048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900538B-7B25-45FB-AAC0-9BFC2FC4D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158" y="4137929"/>
            <a:ext cx="3675509" cy="237395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C3899C2-0EA6-45DE-8F10-318BD103F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513226"/>
            <a:ext cx="6120681" cy="25274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2985490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D3210-38D6-43CE-B004-622EA64CC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학습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8EA3D-4374-4DAC-9300-F51D6A775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/>
              <a:t>Key words</a:t>
            </a:r>
          </a:p>
          <a:p>
            <a:pPr lvl="1"/>
            <a:r>
              <a:rPr lang="ko-KR" altLang="en-US" dirty="0" err="1"/>
              <a:t>선형회기</a:t>
            </a:r>
            <a:r>
              <a:rPr lang="en-US" altLang="ko-KR" dirty="0"/>
              <a:t>(linear regression): </a:t>
            </a:r>
            <a:r>
              <a:rPr lang="ko-KR" altLang="en-US" dirty="0"/>
              <a:t>특성과 </a:t>
            </a:r>
            <a:r>
              <a:rPr lang="en-US" altLang="ko-KR" dirty="0"/>
              <a:t>target </a:t>
            </a:r>
            <a:r>
              <a:rPr lang="ko-KR" altLang="en-US" dirty="0"/>
              <a:t>사이의 관계를 가장 잘 나타내는 선형방정식을 찾음</a:t>
            </a:r>
            <a:r>
              <a:rPr lang="en-US" altLang="ko-KR" dirty="0"/>
              <a:t>. </a:t>
            </a:r>
            <a:r>
              <a:rPr lang="ko-KR" altLang="en-US" dirty="0"/>
              <a:t>특성이 하나면 직선의 방정식이 됨</a:t>
            </a:r>
            <a:endParaRPr lang="en-US" altLang="ko-KR" dirty="0"/>
          </a:p>
          <a:p>
            <a:pPr lvl="1"/>
            <a:r>
              <a:rPr lang="ko-KR" altLang="en-US" dirty="0" err="1"/>
              <a:t>선형회기가</a:t>
            </a:r>
            <a:r>
              <a:rPr lang="ko-KR" altLang="en-US" dirty="0"/>
              <a:t> 찾은 특성과 </a:t>
            </a:r>
            <a:r>
              <a:rPr lang="en-US" altLang="ko-KR" dirty="0"/>
              <a:t>target </a:t>
            </a:r>
            <a:r>
              <a:rPr lang="ko-KR" altLang="en-US" dirty="0"/>
              <a:t>사이의 관계는 선형방정식의 계수</a:t>
            </a:r>
            <a:r>
              <a:rPr lang="en-US" altLang="ko-KR" dirty="0"/>
              <a:t>(</a:t>
            </a:r>
            <a:r>
              <a:rPr lang="en-US" altLang="ko-KR" dirty="0" err="1"/>
              <a:t>coef</a:t>
            </a:r>
            <a:r>
              <a:rPr lang="en-US" altLang="ko-KR" dirty="0"/>
              <a:t>_)</a:t>
            </a:r>
            <a:r>
              <a:rPr lang="ko-KR" altLang="en-US" dirty="0"/>
              <a:t>와 절편</a:t>
            </a:r>
            <a:r>
              <a:rPr lang="en-US" altLang="ko-KR" dirty="0"/>
              <a:t>(</a:t>
            </a:r>
            <a:r>
              <a:rPr lang="en-US" altLang="ko-KR" dirty="0" err="1"/>
              <a:t>intersept</a:t>
            </a:r>
            <a:r>
              <a:rPr lang="en-US" altLang="ko-KR" dirty="0"/>
              <a:t>_)</a:t>
            </a:r>
            <a:r>
              <a:rPr lang="ko-KR" altLang="en-US" dirty="0"/>
              <a:t>에 저장됨</a:t>
            </a:r>
            <a:endParaRPr lang="en-US" altLang="ko-KR" dirty="0"/>
          </a:p>
          <a:p>
            <a:pPr lvl="1"/>
            <a:r>
              <a:rPr lang="ko-KR" altLang="en-US" dirty="0"/>
              <a:t>모델 파라메터는 </a:t>
            </a:r>
            <a:r>
              <a:rPr lang="ko-KR" altLang="en-US" dirty="0" err="1"/>
              <a:t>선형회기가</a:t>
            </a:r>
            <a:r>
              <a:rPr lang="ko-KR" altLang="en-US" dirty="0"/>
              <a:t> 찾은 계수처럼 모델이 특성에서 학습한 파라메터임</a:t>
            </a:r>
            <a:endParaRPr lang="en-US" altLang="ko-KR" dirty="0"/>
          </a:p>
          <a:p>
            <a:pPr lvl="1"/>
            <a:r>
              <a:rPr lang="ko-KR" altLang="en-US" dirty="0"/>
              <a:t>다항회귀</a:t>
            </a:r>
            <a:r>
              <a:rPr lang="en-US" altLang="ko-KR" dirty="0"/>
              <a:t>(polynomial regression): </a:t>
            </a:r>
            <a:r>
              <a:rPr lang="ko-KR" altLang="en-US" dirty="0"/>
              <a:t>다항식을 사용하여 특성과 </a:t>
            </a:r>
            <a:r>
              <a:rPr lang="en-US" altLang="ko-KR" dirty="0"/>
              <a:t>target </a:t>
            </a:r>
            <a:r>
              <a:rPr lang="ko-KR" altLang="en-US" dirty="0"/>
              <a:t>사이의 관계를 나타냄</a:t>
            </a:r>
            <a:r>
              <a:rPr lang="en-US" altLang="ko-KR" dirty="0"/>
              <a:t>. </a:t>
            </a:r>
            <a:r>
              <a:rPr lang="ko-KR" altLang="en-US" dirty="0"/>
              <a:t>이 함수는 비선형일 수 있지만 선형회귀로 표현할 수 있음 </a:t>
            </a:r>
            <a:endParaRPr lang="en-US" altLang="ko-KR" dirty="0"/>
          </a:p>
          <a:p>
            <a:r>
              <a:rPr lang="en-US" altLang="ko-KR" dirty="0" err="1"/>
              <a:t>sklearn</a:t>
            </a:r>
            <a:r>
              <a:rPr lang="en-US" altLang="ko-KR" dirty="0"/>
              <a:t> </a:t>
            </a:r>
            <a:r>
              <a:rPr lang="ko-KR" altLang="en-US" dirty="0"/>
              <a:t>패키지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 err="1"/>
              <a:t>LinearRegression</a:t>
            </a:r>
            <a:r>
              <a:rPr lang="en-US" altLang="ko-KR" dirty="0"/>
              <a:t>:</a:t>
            </a:r>
          </a:p>
          <a:p>
            <a:pPr lvl="2"/>
            <a:r>
              <a:rPr lang="ko-KR" altLang="en-US" dirty="0"/>
              <a:t>선형회귀 모델을 만드는 클래스</a:t>
            </a:r>
            <a:endParaRPr lang="en-US" altLang="ko-KR" dirty="0"/>
          </a:p>
          <a:p>
            <a:pPr lvl="2"/>
            <a:r>
              <a:rPr lang="ko-KR" altLang="en-US" dirty="0"/>
              <a:t>사용법은 </a:t>
            </a:r>
            <a:r>
              <a:rPr lang="en-US" altLang="ko-KR" dirty="0" err="1"/>
              <a:t>KNeighborsClassifier</a:t>
            </a:r>
            <a:r>
              <a:rPr lang="en-US" altLang="ko-KR" dirty="0"/>
              <a:t> </a:t>
            </a:r>
            <a:r>
              <a:rPr lang="ko-KR" altLang="en-US" dirty="0"/>
              <a:t>클래스와 거의 유사</a:t>
            </a:r>
            <a:endParaRPr lang="en-US" altLang="ko-KR" dirty="0"/>
          </a:p>
          <a:p>
            <a:pPr lvl="2"/>
            <a:r>
              <a:rPr lang="ko-KR" altLang="en-US" dirty="0"/>
              <a:t>학습된 모델의 </a:t>
            </a:r>
            <a:r>
              <a:rPr lang="en-US" altLang="ko-KR" dirty="0" err="1"/>
              <a:t>coef</a:t>
            </a:r>
            <a:r>
              <a:rPr lang="en-US" altLang="ko-KR" dirty="0"/>
              <a:t>_ </a:t>
            </a:r>
            <a:r>
              <a:rPr lang="ko-KR" altLang="en-US" dirty="0"/>
              <a:t>속성은 계수를 포함한 배열이고</a:t>
            </a:r>
            <a:r>
              <a:rPr lang="en-US" altLang="ko-KR" dirty="0"/>
              <a:t>, </a:t>
            </a:r>
            <a:r>
              <a:rPr lang="en-US" altLang="ko-KR" dirty="0" err="1"/>
              <a:t>intersept</a:t>
            </a:r>
            <a:r>
              <a:rPr lang="en-US" altLang="ko-KR" dirty="0"/>
              <a:t>_ </a:t>
            </a:r>
            <a:r>
              <a:rPr lang="ko-KR" altLang="en-US" dirty="0"/>
              <a:t>속성은 절편을 저장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53D893-8F8F-414A-A449-4F40C004A0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8929789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students learn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34748</TotalTime>
  <Words>720</Words>
  <Application>Microsoft Office PowerPoint</Application>
  <PresentationFormat>화면 슬라이드 쇼(4:3)</PresentationFormat>
  <Paragraphs>111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HY견고딕</vt:lpstr>
      <vt:lpstr>굴림</vt:lpstr>
      <vt:lpstr>맑은 고딕</vt:lpstr>
      <vt:lpstr>휴먼엑스포</vt:lpstr>
      <vt:lpstr>Cambria Math</vt:lpstr>
      <vt:lpstr>Times New Roman</vt:lpstr>
      <vt:lpstr>Wingdings</vt:lpstr>
      <vt:lpstr>기본 디자인</vt:lpstr>
      <vt:lpstr>Linear Regression</vt:lpstr>
      <vt:lpstr>지난 시간 복습</vt:lpstr>
      <vt:lpstr>학습목표</vt:lpstr>
      <vt:lpstr>데이터 준비 (1)</vt:lpstr>
      <vt:lpstr>데이터 준비</vt:lpstr>
      <vt:lpstr>k-최근접 이웃의 한계</vt:lpstr>
      <vt:lpstr>선형회귀(Linear regression) (1)</vt:lpstr>
      <vt:lpstr>선형회귀 (2)</vt:lpstr>
      <vt:lpstr>선형회귀 (3)</vt:lpstr>
      <vt:lpstr>다항회귀 (Polynomial regression) (1)</vt:lpstr>
      <vt:lpstr>다항회귀 (2)</vt:lpstr>
      <vt:lpstr>학습 요약</vt:lpstr>
      <vt:lpstr>질의 응답</vt:lpstr>
    </vt:vector>
  </TitlesOfParts>
  <Company>두원공과대학 컴퓨터공학과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김영우</dc:creator>
  <cp:lastModifiedBy>김영우</cp:lastModifiedBy>
  <cp:revision>678</cp:revision>
  <dcterms:created xsi:type="dcterms:W3CDTF">2003-05-07T20:17:23Z</dcterms:created>
  <dcterms:modified xsi:type="dcterms:W3CDTF">2025-09-21T23:18:16Z</dcterms:modified>
</cp:coreProperties>
</file>