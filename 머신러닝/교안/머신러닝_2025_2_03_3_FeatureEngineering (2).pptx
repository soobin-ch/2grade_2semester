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632" r:id="rId2"/>
    <p:sldId id="722" r:id="rId3"/>
    <p:sldId id="719" r:id="rId4"/>
    <p:sldId id="759" r:id="rId5"/>
    <p:sldId id="763" r:id="rId6"/>
    <p:sldId id="764" r:id="rId7"/>
    <p:sldId id="765" r:id="rId8"/>
    <p:sldId id="767" r:id="rId9"/>
    <p:sldId id="768" r:id="rId10"/>
    <p:sldId id="769" r:id="rId11"/>
    <p:sldId id="766" r:id="rId12"/>
    <p:sldId id="770" r:id="rId13"/>
    <p:sldId id="772" r:id="rId14"/>
    <p:sldId id="771" r:id="rId15"/>
    <p:sldId id="773" r:id="rId16"/>
    <p:sldId id="774" r:id="rId17"/>
    <p:sldId id="717" r:id="rId18"/>
    <p:sldId id="775" r:id="rId19"/>
    <p:sldId id="703" r:id="rId20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3" autoAdjust="0"/>
    <p:restoredTop sz="94148" autoAdjust="0"/>
  </p:normalViewPr>
  <p:slideViewPr>
    <p:cSldViewPr>
      <p:cViewPr varScale="1">
        <p:scale>
          <a:sx n="163" d="100"/>
          <a:sy n="163" d="100"/>
        </p:scale>
        <p:origin x="201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 dirty="0"/>
              <a:t>Feature</a:t>
            </a:r>
            <a:r>
              <a:rPr lang="ko-KR" altLang="en-US" sz="4000" dirty="0"/>
              <a:t> </a:t>
            </a:r>
            <a:r>
              <a:rPr lang="en-US" altLang="ko-KR" sz="4000" dirty="0"/>
              <a:t>Engineering &amp; </a:t>
            </a:r>
            <a:r>
              <a:rPr lang="en-US" altLang="ko-KR" sz="4000" dirty="0" err="1"/>
              <a:t>Regurarization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450141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https://static.javatpoint.com/&gt;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Feature Engineering for Machine Learning">
            <a:extLst>
              <a:ext uri="{FF2B5EF4-FFF2-40B4-BE49-F238E27FC236}">
                <a16:creationId xmlns:a16="http://schemas.microsoft.com/office/drawing/2014/main" id="{73262DEE-0A6E-4E7E-9348-D9FD1879B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92" y="2868487"/>
            <a:ext cx="6934992" cy="252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dirty="0"/>
                  <a:t>데이터 준비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농어 </a:t>
                </a:r>
                <a:r>
                  <a:rPr lang="en-US" altLang="ko-KR" dirty="0"/>
                  <a:t>56</a:t>
                </a:r>
                <a:r>
                  <a:rPr lang="ko-KR" altLang="en-US" dirty="0"/>
                  <a:t>마리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훈련세트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테스트 세트 나누기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sklearn</a:t>
                </a:r>
                <a:r>
                  <a:rPr lang="ko-KR" altLang="en-US" dirty="0"/>
                  <a:t>의 </a:t>
                </a:r>
                <a:r>
                  <a:rPr lang="en-US" altLang="ko-KR" dirty="0" err="1"/>
                  <a:t>train_test_split</a:t>
                </a:r>
                <a:r>
                  <a:rPr lang="en-US" altLang="ko-KR" dirty="0"/>
                  <a:t>() </a:t>
                </a:r>
                <a:r>
                  <a:rPr lang="ko-KR" altLang="en-US" dirty="0"/>
                  <a:t>이용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reshape()</a:t>
                </a:r>
                <a:r>
                  <a:rPr lang="ko-KR" altLang="en-US" dirty="0"/>
                  <a:t>함수를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이용하여 </a:t>
                </a:r>
                <a:r>
                  <a:rPr lang="en-US" altLang="ko-KR" dirty="0"/>
                  <a:t>input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차원 배열로 만듦</a:t>
                </a:r>
                <a:endParaRPr lang="en-US" altLang="ko-KR" dirty="0"/>
              </a:p>
              <a:p>
                <a:r>
                  <a:rPr lang="ko-KR" altLang="en-US" dirty="0"/>
                  <a:t>선형회귀</a:t>
                </a:r>
                <a:endParaRPr lang="en-US" altLang="ko-KR" dirty="0"/>
              </a:p>
              <a:p>
                <a:pPr lvl="1"/>
                <a:r>
                  <a:rPr lang="ko-KR" altLang="en-US" dirty="0">
                    <a:sym typeface="Wingdings" panose="05000000000000000000" pitchFamily="2" charset="2"/>
                  </a:rPr>
                  <a:t>훈련세트에서 가장 근접한 직선의 방정식을 찾아 그 계수를 기억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 err="1">
                    <a:sym typeface="Wingdings" panose="05000000000000000000" pitchFamily="2" charset="2"/>
                  </a:rPr>
                  <a:t>sklearn</a:t>
                </a:r>
                <a:r>
                  <a:rPr lang="ko-KR" altLang="en-US" dirty="0">
                    <a:sym typeface="Wingdings" panose="05000000000000000000" pitchFamily="2" charset="2"/>
                  </a:rPr>
                  <a:t>의 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LinearRegression</a:t>
                </a:r>
                <a:r>
                  <a:rPr lang="ko-KR" altLang="en-US" dirty="0">
                    <a:sym typeface="Wingdings" panose="05000000000000000000" pitchFamily="2" charset="2"/>
                  </a:rPr>
                  <a:t> 클래스 사용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ko-KR" altLang="en-US" dirty="0">
                    <a:sym typeface="Wingdings" panose="05000000000000000000" pitchFamily="2" charset="2"/>
                  </a:rPr>
                  <a:t>모델 파라메터</a:t>
                </a:r>
                <a:r>
                  <a:rPr lang="en-US" altLang="ko-KR" dirty="0">
                    <a:sym typeface="Wingdings" panose="05000000000000000000" pitchFamily="2" charset="2"/>
                  </a:rPr>
                  <a:t>: 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coef</a:t>
                </a:r>
                <a:r>
                  <a:rPr lang="en-US" altLang="ko-KR" dirty="0">
                    <a:sym typeface="Wingdings" panose="05000000000000000000" pitchFamily="2" charset="2"/>
                  </a:rPr>
                  <a:t>_(</a:t>
                </a:r>
                <a:r>
                  <a:rPr lang="ko-KR" altLang="en-US" dirty="0">
                    <a:sym typeface="Wingdings" panose="05000000000000000000" pitchFamily="2" charset="2"/>
                  </a:rPr>
                  <a:t>기울기</a:t>
                </a:r>
                <a:r>
                  <a:rPr lang="en-US" altLang="ko-KR" dirty="0">
                    <a:sym typeface="Wingdings" panose="05000000000000000000" pitchFamily="2" charset="2"/>
                  </a:rPr>
                  <a:t>), intersect_(y</a:t>
                </a:r>
                <a:r>
                  <a:rPr lang="ko-KR" altLang="en-US" dirty="0">
                    <a:sym typeface="Wingdings" panose="05000000000000000000" pitchFamily="2" charset="2"/>
                  </a:rPr>
                  <a:t>절편</a:t>
                </a:r>
                <a:r>
                  <a:rPr lang="en-US" altLang="ko-KR" dirty="0">
                    <a:sym typeface="Wingdings" panose="05000000000000000000" pitchFamily="2" charset="2"/>
                  </a:rPr>
                  <a:t>)</a:t>
                </a:r>
              </a:p>
              <a:p>
                <a:pPr lvl="1"/>
                <a:r>
                  <a:rPr lang="ko-KR" altLang="en-US" dirty="0"/>
                  <a:t>문제점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길이가 </a:t>
                </a:r>
                <a:r>
                  <a:rPr lang="en-US" altLang="ko-KR" dirty="0"/>
                  <a:t>18.17... </a:t>
                </a:r>
                <a:r>
                  <a:rPr lang="ko-KR" altLang="en-US" dirty="0"/>
                  <a:t>이하인 농어는 무게가 음수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결정계수</a:t>
                </a:r>
                <a:r>
                  <a:rPr lang="en-US" altLang="ko-KR" dirty="0"/>
                  <a:t>(R</a:t>
                </a:r>
                <a:r>
                  <a:rPr lang="en-US" altLang="ko-KR" baseline="30000" dirty="0"/>
                  <a:t>2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의 값이 그리 높지 않음</a:t>
                </a:r>
                <a:endParaRPr lang="en-US" altLang="ko-KR" dirty="0"/>
              </a:p>
              <a:p>
                <a:r>
                  <a:rPr lang="ko-KR" altLang="en-US" dirty="0"/>
                  <a:t>다항회귀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 dirty="0"/>
                  <a:t>의 식 이용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훈련으로 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coef</a:t>
                </a:r>
                <a:r>
                  <a:rPr lang="en-US" altLang="ko-KR" dirty="0">
                    <a:sym typeface="Wingdings" panose="05000000000000000000" pitchFamily="2" charset="2"/>
                  </a:rPr>
                  <a:t>_(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), intersect_(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)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유추 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dirty="0"/>
                  <a:t>값에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dirty="0"/>
                  <a:t>값도 훈련세트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테스트세트에 추가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종료되면 학생들은</a:t>
            </a:r>
            <a:endParaRPr lang="en-US" altLang="ko-KR" dirty="0"/>
          </a:p>
          <a:p>
            <a:pPr lvl="1"/>
            <a:r>
              <a:rPr lang="ko-KR" altLang="en-US" dirty="0" err="1"/>
              <a:t>다중회기</a:t>
            </a:r>
            <a:r>
              <a:rPr lang="en-US" altLang="ko-KR" dirty="0"/>
              <a:t>(multiple regression)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이해한다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특성공학</a:t>
            </a:r>
            <a:r>
              <a:rPr lang="en-US" altLang="ko-KR" dirty="0"/>
              <a:t>(feature engineering)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이해하고 활용할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판다스</a:t>
            </a:r>
            <a:r>
              <a:rPr lang="en-US" altLang="ko-KR" dirty="0"/>
              <a:t>(pandas)</a:t>
            </a:r>
            <a:r>
              <a:rPr lang="ko-KR" altLang="en-US" dirty="0"/>
              <a:t>의 데이터프레임</a:t>
            </a:r>
            <a:r>
              <a:rPr lang="en-US" altLang="ko-KR" dirty="0"/>
              <a:t>(</a:t>
            </a:r>
            <a:r>
              <a:rPr lang="en-US" altLang="ko-KR" dirty="0" err="1"/>
              <a:t>dataframe</a:t>
            </a:r>
            <a:r>
              <a:rPr lang="en-US" altLang="ko-KR" dirty="0"/>
              <a:t>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이해하고 활용할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사이킷런</a:t>
            </a:r>
            <a:r>
              <a:rPr lang="en-US" altLang="ko-KR" dirty="0"/>
              <a:t>(</a:t>
            </a:r>
            <a:r>
              <a:rPr lang="en-US" altLang="ko-KR" dirty="0" err="1"/>
              <a:t>sklearn</a:t>
            </a:r>
            <a:r>
              <a:rPr lang="en-US" altLang="ko-KR" dirty="0"/>
              <a:t>)</a:t>
            </a:r>
            <a:r>
              <a:rPr lang="ko-KR" altLang="en-US" dirty="0"/>
              <a:t>의 변환기</a:t>
            </a:r>
            <a:r>
              <a:rPr lang="en-US" altLang="ko-KR" dirty="0"/>
              <a:t>(transformer)</a:t>
            </a:r>
            <a:r>
              <a:rPr lang="ko-KR" altLang="en-US" dirty="0"/>
              <a:t>를 이해하고 활용할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다중회기</a:t>
            </a:r>
            <a:r>
              <a:rPr lang="ko-KR" altLang="en-US" dirty="0"/>
              <a:t> 모델을 훈련할 수 있다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규제</a:t>
            </a:r>
            <a:r>
              <a:rPr lang="en-US" altLang="ko-KR" dirty="0"/>
              <a:t>(regularization)</a:t>
            </a:r>
            <a:r>
              <a:rPr lang="ko-KR" altLang="en-US" dirty="0"/>
              <a:t>를 이해하고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릿지회기</a:t>
            </a:r>
            <a:r>
              <a:rPr lang="en-US" altLang="ko-KR" dirty="0"/>
              <a:t>(ridge regression)</a:t>
            </a:r>
            <a:r>
              <a:rPr lang="ko-KR" altLang="en-US" dirty="0"/>
              <a:t>와 </a:t>
            </a:r>
            <a:r>
              <a:rPr lang="ko-KR" altLang="en-US" dirty="0" err="1"/>
              <a:t>라쏘회기</a:t>
            </a:r>
            <a:r>
              <a:rPr lang="en-US" altLang="ko-KR" dirty="0"/>
              <a:t>(lasso regression)</a:t>
            </a:r>
            <a:r>
              <a:rPr lang="ko-KR" altLang="en-US" dirty="0"/>
              <a:t>에서의 적절한 </a:t>
            </a:r>
            <a:r>
              <a:rPr lang="en-US" altLang="ko-KR" dirty="0"/>
              <a:t>alpha </a:t>
            </a:r>
            <a:r>
              <a:rPr lang="ko-KR" altLang="en-US" dirty="0"/>
              <a:t>값을 구할 수 있고</a:t>
            </a:r>
            <a:r>
              <a:rPr lang="en-US" altLang="ko-KR" dirty="0"/>
              <a:t>, </a:t>
            </a:r>
            <a:r>
              <a:rPr lang="ko-KR" altLang="en-US" dirty="0"/>
              <a:t>이를 이용하여 훈련을 수행할 수 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2E9C0-1E40-426F-9E70-1748EE50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다중회기</a:t>
            </a:r>
            <a:r>
              <a:rPr lang="en-US" altLang="ko-KR" dirty="0"/>
              <a:t>(multiple regression)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1CACEF-B6BC-49EE-8066-42312C97C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 err="1"/>
                  <a:t>다중회기란</a:t>
                </a:r>
                <a:r>
                  <a:rPr lang="en-US" altLang="ko-KR" dirty="0"/>
                  <a:t>?</a:t>
                </a:r>
              </a:p>
              <a:p>
                <a:pPr lvl="1"/>
                <a:r>
                  <a:rPr lang="ko-KR" altLang="en-US" dirty="0"/>
                  <a:t>여러 개의 특성을 사용한 선형 회귀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특성이 하나면 모델이 학습하는 것은 직선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특성이 둘이면 모델이 학습하는 것은 평면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𝐳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특성이 셋이면 모델이 학습하는 것은 </a:t>
                </a:r>
                <a:r>
                  <a:rPr lang="en-US" altLang="ko-KR" dirty="0"/>
                  <a:t>?? (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특성이 넷이면</a:t>
                </a:r>
                <a:r>
                  <a:rPr lang="en-US" altLang="ko-KR" dirty="0"/>
                  <a:t>…</a:t>
                </a:r>
              </a:p>
              <a:p>
                <a:pPr lvl="1"/>
                <a:r>
                  <a:rPr lang="ko-KR" altLang="en-US" dirty="0"/>
                  <a:t>특성이 많은 고차원은 선형회귀가 매우 복잡한 모델 표현 가능</a:t>
                </a:r>
                <a:endParaRPr lang="en-US" altLang="ko-KR" dirty="0"/>
              </a:p>
              <a:p>
                <a:r>
                  <a:rPr lang="ko-KR" altLang="en-US" dirty="0" err="1"/>
                  <a:t>다중회기</a:t>
                </a:r>
                <a:r>
                  <a:rPr lang="ko-KR" altLang="en-US" dirty="0"/>
                  <a:t> 예시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1CACEF-B6BC-49EE-8066-42312C97C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C62188-957E-4FE1-B6D0-18557BC57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8E3CCB-0A13-4F7D-91A1-8200E5F0A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425978"/>
            <a:ext cx="6480720" cy="2069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0079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2E9C0-1E40-426F-9E70-1748EE50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특성공학</a:t>
            </a:r>
            <a:r>
              <a:rPr lang="en-US" altLang="ko-KR" dirty="0"/>
              <a:t>(feature engineering)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1CACEF-B6BC-49EE-8066-42312C97C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dirty="0" err="1"/>
                  <a:t>특성공학이란</a:t>
                </a:r>
                <a:r>
                  <a:rPr lang="en-US" altLang="ko-KR" dirty="0"/>
                  <a:t>?</a:t>
                </a:r>
              </a:p>
              <a:p>
                <a:pPr lvl="1"/>
                <a:r>
                  <a:rPr lang="ko-KR" altLang="en-US" dirty="0"/>
                  <a:t>기존의 특성을 이용하여 새로운 특성을 뽑아내는 작업</a:t>
                </a:r>
                <a:endParaRPr lang="en-US" altLang="ko-KR" dirty="0"/>
              </a:p>
              <a:p>
                <a:pPr marL="432000" lvl="1" indent="0">
                  <a:buNone/>
                </a:pPr>
                <a:r>
                  <a:rPr lang="ko-KR" altLang="en-US" dirty="0"/>
                  <a:t>예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기존의 특성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농어의 길이</a:t>
                </a:r>
                <a:r>
                  <a:rPr lang="en-US" altLang="ko-KR" dirty="0"/>
                  <a:t>),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ko-KR" dirty="0"/>
                  <a:t>(</a:t>
                </a:r>
                <a:r>
                  <a:rPr lang="ko-KR" altLang="en-US" dirty="0"/>
                  <a:t>농어의 높이</a:t>
                </a:r>
                <a:r>
                  <a:rPr lang="en-US" altLang="ko-KR" dirty="0"/>
                  <a:t>)</a:t>
                </a:r>
              </a:p>
              <a:p>
                <a:pPr marL="432000" lvl="1" indent="0">
                  <a:buNone/>
                </a:pPr>
                <a:r>
                  <a:rPr lang="en-US" altLang="ko-KR" dirty="0"/>
                  <a:t>	</a:t>
                </a:r>
                <a:r>
                  <a:rPr lang="ko-KR" altLang="en-US" dirty="0"/>
                  <a:t>새로운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특성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dirty="0"/>
                  <a:t> 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/>
                  <a:t>직접 특성을 제곱하거나 하여 새로운 특성을 추가할 수도 있으나</a:t>
                </a:r>
                <a:r>
                  <a:rPr lang="en-US" altLang="ko-KR" dirty="0"/>
                  <a:t>, </a:t>
                </a:r>
              </a:p>
              <a:p>
                <a:pPr lvl="1"/>
                <a:r>
                  <a:rPr lang="ko-KR" altLang="en-US" dirty="0" err="1"/>
                  <a:t>사이킷런에서는</a:t>
                </a:r>
                <a:r>
                  <a:rPr lang="ko-KR" altLang="en-US" dirty="0"/>
                  <a:t> 변환기</a:t>
                </a:r>
                <a:r>
                  <a:rPr lang="en-US" altLang="ko-KR" dirty="0"/>
                  <a:t>(transformer)</a:t>
                </a:r>
                <a:r>
                  <a:rPr lang="ko-KR" altLang="en-US" dirty="0"/>
                  <a:t>를 이용하여 편리하게 새로운 특성을 추가할 수 있도록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432000" lvl="1" indent="0">
                  <a:buNone/>
                </a:pP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1CACEF-B6BC-49EE-8066-42312C97C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C62188-957E-4FE1-B6D0-18557BC57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CF08C-FE14-4F82-8A01-69D1B25AD177}"/>
              </a:ext>
            </a:extLst>
          </p:cNvPr>
          <p:cNvSpPr txBox="1"/>
          <p:nvPr/>
        </p:nvSpPr>
        <p:spPr>
          <a:xfrm>
            <a:off x="2414529" y="6146150"/>
            <a:ext cx="4314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: https://static.javatpoint.com/&gt;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2" descr="Feature Engineering for Machine Learning">
            <a:extLst>
              <a:ext uri="{FF2B5EF4-FFF2-40B4-BE49-F238E27FC236}">
                <a16:creationId xmlns:a16="http://schemas.microsoft.com/office/drawing/2014/main" id="{530571C1-88D4-47AA-83DB-0980D126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14562"/>
            <a:ext cx="6624736" cy="241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34144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CE8-8C86-44B0-A1D5-49832166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AAF17-864B-4ED0-B961-7D204726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Raw Data (1)</a:t>
            </a:r>
          </a:p>
          <a:p>
            <a:pPr lvl="1"/>
            <a:r>
              <a:rPr lang="ko-KR" altLang="en-US" dirty="0"/>
              <a:t>농어 </a:t>
            </a:r>
            <a:r>
              <a:rPr lang="en-US" altLang="ko-KR" dirty="0"/>
              <a:t>56</a:t>
            </a:r>
            <a:r>
              <a:rPr lang="ko-KR" altLang="en-US" dirty="0"/>
              <a:t>마리</a:t>
            </a:r>
            <a:r>
              <a:rPr lang="en-US" altLang="ko-KR" dirty="0"/>
              <a:t>, 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두께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endParaRPr lang="en-US" altLang="ko-KR" dirty="0"/>
          </a:p>
          <a:p>
            <a:pPr lvl="1"/>
            <a:r>
              <a:rPr lang="en-US" altLang="ko-KR" dirty="0"/>
              <a:t>Input data: 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두께의 데이터는 </a:t>
            </a:r>
            <a:r>
              <a:rPr lang="en-US" altLang="ko-KR" dirty="0"/>
              <a:t>‘https://bit.ly/</a:t>
            </a:r>
            <a:r>
              <a:rPr lang="en-US" altLang="ko-KR" dirty="0" err="1"/>
              <a:t>perch_csv_data</a:t>
            </a:r>
            <a:r>
              <a:rPr lang="en-US" altLang="ko-KR" dirty="0"/>
              <a:t>’</a:t>
            </a:r>
            <a:r>
              <a:rPr lang="ko-KR" altLang="en-US" dirty="0"/>
              <a:t>에 </a:t>
            </a:r>
            <a:r>
              <a:rPr lang="en-US" altLang="ko-KR" dirty="0"/>
              <a:t>CSV </a:t>
            </a:r>
            <a:r>
              <a:rPr lang="ko-KR" altLang="en-US" dirty="0"/>
              <a:t>파일로 들어 있음</a:t>
            </a:r>
            <a:endParaRPr lang="en-US" altLang="ko-KR" dirty="0"/>
          </a:p>
          <a:p>
            <a:r>
              <a:rPr lang="ko-KR" altLang="en-US" dirty="0"/>
              <a:t>데이터프레임</a:t>
            </a:r>
            <a:r>
              <a:rPr lang="en-US" altLang="ko-KR" dirty="0"/>
              <a:t>(</a:t>
            </a:r>
            <a:r>
              <a:rPr lang="en-US" altLang="ko-KR" dirty="0" err="1"/>
              <a:t>dataframe</a:t>
            </a:r>
            <a:r>
              <a:rPr lang="en-US" altLang="ko-KR" dirty="0"/>
              <a:t>: pandas</a:t>
            </a:r>
            <a:r>
              <a:rPr lang="ko-KR" altLang="en-US" dirty="0"/>
              <a:t>의 핵심 자료구조</a:t>
            </a:r>
            <a:r>
              <a:rPr lang="en-US" altLang="ko-KR" dirty="0"/>
              <a:t>)</a:t>
            </a:r>
          </a:p>
          <a:p>
            <a:pPr marL="432000" lvl="1" indent="0">
              <a:buNone/>
            </a:pPr>
            <a:r>
              <a:rPr lang="en-US" altLang="ko-KR" dirty="0" err="1"/>
              <a:t>cf</a:t>
            </a:r>
            <a:r>
              <a:rPr lang="en-US" altLang="ko-KR" dirty="0"/>
              <a:t>) pandas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많이 쓰이는 데이터 분석 라이브러리</a:t>
            </a:r>
            <a:endParaRPr lang="en-US" altLang="ko-KR" dirty="0"/>
          </a:p>
          <a:p>
            <a:pPr lvl="1"/>
            <a:r>
              <a:rPr lang="en-US" altLang="ko-KR" dirty="0"/>
              <a:t>CSV </a:t>
            </a:r>
            <a:r>
              <a:rPr lang="ko-KR" altLang="en-US" dirty="0"/>
              <a:t>파일을 </a:t>
            </a:r>
            <a:r>
              <a:rPr lang="en-US" altLang="ko-KR" dirty="0"/>
              <a:t>internet</a:t>
            </a:r>
            <a:r>
              <a:rPr lang="ko-KR" altLang="en-US" dirty="0"/>
              <a:t>에서 다운받아 데이터프레임 객체에 저장</a:t>
            </a:r>
            <a:endParaRPr lang="en-US" altLang="ko-KR" dirty="0"/>
          </a:p>
          <a:p>
            <a:pPr lvl="2"/>
            <a:r>
              <a:rPr lang="en-US" altLang="ko-KR" dirty="0"/>
              <a:t>df=</a:t>
            </a:r>
            <a:r>
              <a:rPr lang="en-US" altLang="ko-KR" dirty="0" err="1"/>
              <a:t>pandas.read_csv</a:t>
            </a:r>
            <a:r>
              <a:rPr lang="en-US" altLang="ko-KR" dirty="0"/>
              <a:t>(‘</a:t>
            </a:r>
            <a:r>
              <a:rPr lang="en-US" altLang="ko-KR" i="1" dirty="0" err="1"/>
              <a:t>csv_url</a:t>
            </a:r>
            <a:r>
              <a:rPr lang="en-US" altLang="ko-KR" i="1" dirty="0"/>
              <a:t> </a:t>
            </a:r>
            <a:r>
              <a:rPr lang="en-US" altLang="ko-KR" dirty="0"/>
              <a:t>’)</a:t>
            </a:r>
          </a:p>
          <a:p>
            <a:pPr lvl="1"/>
            <a:r>
              <a:rPr lang="ko-KR" altLang="en-US" dirty="0"/>
              <a:t>데이터프레임 객체를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객체로 변환하여 </a:t>
            </a:r>
            <a:r>
              <a:rPr lang="en-US" altLang="ko-KR" dirty="0"/>
              <a:t>56x3</a:t>
            </a:r>
            <a:r>
              <a:rPr lang="ko-KR" altLang="en-US" dirty="0"/>
              <a:t>의 </a:t>
            </a:r>
            <a:r>
              <a:rPr lang="en-US" altLang="ko-KR" dirty="0" err="1"/>
              <a:t>numpy</a:t>
            </a:r>
            <a:r>
              <a:rPr lang="ko-KR" altLang="en-US" dirty="0"/>
              <a:t>배열 준비</a:t>
            </a:r>
            <a:endParaRPr lang="en-US" altLang="ko-KR" dirty="0"/>
          </a:p>
          <a:p>
            <a:pPr lvl="2"/>
            <a:r>
              <a:rPr lang="en-US" altLang="ko-KR" dirty="0" err="1"/>
              <a:t>perch_full</a:t>
            </a:r>
            <a:r>
              <a:rPr lang="en-US" altLang="ko-KR" dirty="0"/>
              <a:t> = </a:t>
            </a:r>
            <a:r>
              <a:rPr lang="en-US" altLang="ko-KR" dirty="0" err="1"/>
              <a:t>df.to_numpy</a:t>
            </a:r>
            <a:r>
              <a:rPr lang="en-US" altLang="ko-KR" dirty="0"/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E971-820C-4C17-897C-FB9460E2A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AF593A-C2A0-48CC-9ACC-526C4258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653136"/>
            <a:ext cx="6208613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47914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CE8-8C86-44B0-A1D5-49832166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AAF17-864B-4ED0-B961-7D204726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Raw Data (2)</a:t>
            </a:r>
          </a:p>
          <a:p>
            <a:pPr lvl="1"/>
            <a:r>
              <a:rPr lang="en-US" altLang="ko-KR" dirty="0"/>
              <a:t>Target data: </a:t>
            </a:r>
            <a:r>
              <a:rPr lang="ko-KR" altLang="en-US" dirty="0"/>
              <a:t>무게 데이터는 기존과 같이 </a:t>
            </a:r>
            <a:r>
              <a:rPr lang="en-US" altLang="ko-KR" dirty="0"/>
              <a:t>‘https://bit.ly/</a:t>
            </a:r>
            <a:r>
              <a:rPr lang="en-US" altLang="ko-KR" dirty="0" err="1"/>
              <a:t>perch_data</a:t>
            </a:r>
            <a:r>
              <a:rPr lang="en-US" altLang="ko-KR" dirty="0"/>
              <a:t>’</a:t>
            </a:r>
            <a:r>
              <a:rPr lang="ko-KR" altLang="en-US" dirty="0"/>
              <a:t>에서 복사하여 사용</a:t>
            </a:r>
            <a:endParaRPr lang="en-US" altLang="ko-KR" dirty="0"/>
          </a:p>
          <a:p>
            <a:r>
              <a:rPr lang="ko-KR" altLang="en-US" dirty="0"/>
              <a:t>훈련세트와 테스트세트로 나눔</a:t>
            </a:r>
            <a:endParaRPr lang="en-US" altLang="ko-KR" dirty="0"/>
          </a:p>
          <a:p>
            <a:pPr lvl="1"/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dirty="0" err="1"/>
              <a:t>train_test_split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E971-820C-4C17-897C-FB9460E2A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C769FF-8E2B-4B08-8832-C5B66A6D7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56101"/>
            <a:ext cx="8136904" cy="31692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82265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CE8-8C86-44B0-A1D5-49832166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AAF17-864B-4ED0-B961-7D204726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사이킷런의</a:t>
            </a:r>
            <a:r>
              <a:rPr lang="ko-KR" altLang="en-US" dirty="0"/>
              <a:t> 변환기</a:t>
            </a:r>
            <a:r>
              <a:rPr lang="en-US" altLang="ko-KR" dirty="0"/>
              <a:t>(Transformer)</a:t>
            </a:r>
          </a:p>
          <a:p>
            <a:pPr lvl="1"/>
            <a:r>
              <a:rPr lang="ko-KR" altLang="en-US" dirty="0"/>
              <a:t>변환기</a:t>
            </a:r>
            <a:endParaRPr lang="en-US" altLang="ko-KR" dirty="0"/>
          </a:p>
          <a:p>
            <a:pPr lvl="2"/>
            <a:r>
              <a:rPr lang="ko-KR" altLang="en-US" dirty="0" err="1"/>
              <a:t>사이킷런에서</a:t>
            </a:r>
            <a:r>
              <a:rPr lang="ko-KR" altLang="en-US" dirty="0"/>
              <a:t> 제공하는 특성공학을 위한 클래스</a:t>
            </a:r>
            <a:endParaRPr lang="en-US" altLang="ko-KR" dirty="0"/>
          </a:p>
          <a:p>
            <a:pPr lvl="2"/>
            <a:r>
              <a:rPr lang="ko-KR" altLang="en-US" dirty="0"/>
              <a:t>특성을 만들거나 전처리하기 위한 클래스</a:t>
            </a:r>
            <a:endParaRPr lang="en-US" altLang="ko-KR" dirty="0"/>
          </a:p>
          <a:p>
            <a:pPr lvl="2"/>
            <a:r>
              <a:rPr lang="en-US" altLang="ko-KR" dirty="0"/>
              <a:t>fit(), transform() </a:t>
            </a:r>
            <a:r>
              <a:rPr lang="ko-KR" altLang="en-US" dirty="0"/>
              <a:t>메서드를 제공</a:t>
            </a: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☞</a:t>
            </a:r>
            <a:r>
              <a:rPr lang="en-US" altLang="ko-KR" dirty="0"/>
              <a:t> </a:t>
            </a:r>
            <a:r>
              <a:rPr lang="en-US" altLang="ko-KR" dirty="0" err="1"/>
              <a:t>LinearRegression</a:t>
            </a:r>
            <a:r>
              <a:rPr lang="en-US" altLang="ko-KR" dirty="0"/>
              <a:t> </a:t>
            </a:r>
            <a:r>
              <a:rPr lang="ko-KR" altLang="en-US" dirty="0"/>
              <a:t>같은 모델 클래스는 </a:t>
            </a:r>
            <a:r>
              <a:rPr lang="ko-KR" altLang="en-US" dirty="0" err="1"/>
              <a:t>추정기</a:t>
            </a:r>
            <a:r>
              <a:rPr lang="en-US" altLang="ko-KR" dirty="0"/>
              <a:t>(estimator)</a:t>
            </a:r>
            <a:r>
              <a:rPr lang="ko-KR" altLang="en-US" dirty="0"/>
              <a:t>라 부름</a:t>
            </a:r>
            <a:endParaRPr lang="en-US" altLang="ko-KR" dirty="0"/>
          </a:p>
          <a:p>
            <a:pPr lvl="1"/>
            <a:r>
              <a:rPr lang="ko-KR" altLang="en-US" dirty="0"/>
              <a:t>변환기 </a:t>
            </a:r>
            <a:r>
              <a:rPr lang="en-US" altLang="ko-KR" dirty="0" err="1"/>
              <a:t>PolynomialFeatures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2"/>
            <a:r>
              <a:rPr lang="ko-KR" altLang="en-US" dirty="0"/>
              <a:t>입력데이터만 변환하므로 </a:t>
            </a:r>
            <a:r>
              <a:rPr lang="ko-KR" altLang="en-US" dirty="0" err="1"/>
              <a:t>타겟데이터는</a:t>
            </a:r>
            <a:r>
              <a:rPr lang="ko-KR" altLang="en-US" dirty="0"/>
              <a:t> 사용 않음</a:t>
            </a:r>
            <a:endParaRPr lang="en-US" altLang="ko-KR" dirty="0"/>
          </a:p>
          <a:p>
            <a:pPr lvl="2"/>
            <a:r>
              <a:rPr lang="en-US" altLang="ko-KR" dirty="0"/>
              <a:t>fit() </a:t>
            </a:r>
            <a:r>
              <a:rPr lang="ko-KR" altLang="en-US" dirty="0"/>
              <a:t>메서드</a:t>
            </a:r>
            <a:r>
              <a:rPr lang="en-US" altLang="ko-KR" dirty="0"/>
              <a:t>: </a:t>
            </a:r>
            <a:r>
              <a:rPr lang="ko-KR" altLang="en-US" dirty="0"/>
              <a:t>새롭게 만들 특성 조합을 찾음</a:t>
            </a:r>
            <a:endParaRPr lang="en-US" altLang="ko-KR" dirty="0"/>
          </a:p>
          <a:p>
            <a:pPr lvl="2"/>
            <a:r>
              <a:rPr lang="en-US" altLang="ko-KR" dirty="0"/>
              <a:t>transform()</a:t>
            </a:r>
            <a:r>
              <a:rPr lang="ko-KR" altLang="en-US" dirty="0"/>
              <a:t> 메서드</a:t>
            </a:r>
            <a:r>
              <a:rPr lang="en-US" altLang="ko-KR" dirty="0"/>
              <a:t>: </a:t>
            </a:r>
            <a:r>
              <a:rPr lang="ko-KR" altLang="en-US" dirty="0"/>
              <a:t>실제로</a:t>
            </a:r>
            <a:r>
              <a:rPr lang="en-US" altLang="ko-KR" dirty="0"/>
              <a:t> </a:t>
            </a:r>
            <a:r>
              <a:rPr lang="ko-KR" altLang="en-US" dirty="0"/>
              <a:t>데이터를 변환</a:t>
            </a:r>
            <a:r>
              <a:rPr lang="en-US" altLang="ko-KR" dirty="0"/>
              <a:t>. </a:t>
            </a:r>
            <a:r>
              <a:rPr lang="ko-KR" altLang="en-US" dirty="0"/>
              <a:t>주어진 요소에 각요소의 제곱</a:t>
            </a:r>
            <a:r>
              <a:rPr lang="en-US" altLang="ko-KR" dirty="0"/>
              <a:t>, </a:t>
            </a:r>
            <a:r>
              <a:rPr lang="ko-KR" altLang="en-US" dirty="0"/>
              <a:t>각 요소간 곱</a:t>
            </a:r>
            <a:r>
              <a:rPr lang="en-US" altLang="ko-KR" dirty="0"/>
              <a:t>, 1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포함한 특성을 얻음</a:t>
            </a:r>
            <a:r>
              <a:rPr lang="en-US" altLang="ko-KR" dirty="0"/>
              <a:t>. 1</a:t>
            </a:r>
            <a:r>
              <a:rPr lang="ko-KR" altLang="en-US" dirty="0"/>
              <a:t>을 제거하기 위해 클래스 생성자의 </a:t>
            </a:r>
            <a:r>
              <a:rPr lang="en-US" altLang="ko-KR" dirty="0"/>
              <a:t>named argument</a:t>
            </a:r>
            <a:r>
              <a:rPr lang="ko-KR" altLang="en-US" dirty="0"/>
              <a:t>인 </a:t>
            </a:r>
            <a:r>
              <a:rPr lang="en-US" altLang="ko-KR" dirty="0" err="1"/>
              <a:t>include_bias</a:t>
            </a:r>
            <a:r>
              <a:rPr lang="ko-KR" altLang="en-US" dirty="0"/>
              <a:t>를 </a:t>
            </a:r>
            <a:r>
              <a:rPr lang="en-US" altLang="ko-KR" dirty="0"/>
              <a:t>False</a:t>
            </a:r>
            <a:r>
              <a:rPr lang="ko-KR" altLang="en-US" dirty="0"/>
              <a:t>로 설정하여 사용할 수 있음</a:t>
            </a:r>
            <a:endParaRPr lang="en-US" altLang="ko-KR" dirty="0"/>
          </a:p>
          <a:p>
            <a:pPr lvl="2"/>
            <a:r>
              <a:rPr lang="en-US" altLang="ko-KR" dirty="0"/>
              <a:t>fit()</a:t>
            </a:r>
            <a:r>
              <a:rPr lang="ko-KR" altLang="en-US" dirty="0"/>
              <a:t>과 </a:t>
            </a:r>
            <a:r>
              <a:rPr lang="en-US" altLang="ko-KR" dirty="0"/>
              <a:t>transform()</a:t>
            </a:r>
            <a:r>
              <a:rPr lang="ko-KR" altLang="en-US" dirty="0"/>
              <a:t>을 하나로 합친 </a:t>
            </a:r>
            <a:r>
              <a:rPr lang="en-US" altLang="ko-KR" dirty="0" err="1"/>
              <a:t>fit_transform</a:t>
            </a:r>
            <a:r>
              <a:rPr lang="en-US" altLang="ko-KR" dirty="0"/>
              <a:t>()</a:t>
            </a:r>
            <a:r>
              <a:rPr lang="ko-KR" altLang="en-US" dirty="0"/>
              <a:t>을 사용할 수도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</a:t>
            </a:r>
          </a:p>
          <a:p>
            <a:pPr marL="779400" lvl="2" indent="0">
              <a:buNone/>
            </a:pPr>
            <a:endParaRPr lang="en-US" altLang="ko-KR" dirty="0"/>
          </a:p>
          <a:p>
            <a:pPr marL="779400" lvl="2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E971-820C-4C17-897C-FB9460E2A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132D8F5-56D9-4E1F-B544-F0B72B32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99" y="4509120"/>
            <a:ext cx="4412715" cy="1944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51D1543-D091-40CA-BACE-08A929AB0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651" y="5056702"/>
            <a:ext cx="3247624" cy="849052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CD29C7D-2BA9-477E-A513-A905A70B90C4}"/>
              </a:ext>
            </a:extLst>
          </p:cNvPr>
          <p:cNvSpPr/>
          <p:nvPr/>
        </p:nvSpPr>
        <p:spPr>
          <a:xfrm>
            <a:off x="5508104" y="537321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7417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CE8-8C86-44B0-A1D5-49832166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9AAF17-864B-4ED0-B961-7D2047264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입력데이터 변환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변환의 이유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이전 섹션에서 다항회귀를 사용하여 </a:t>
                </a:r>
                <a:r>
                  <a:rPr lang="en-US" altLang="ko-KR" dirty="0"/>
                  <a:t>2</a:t>
                </a:r>
                <a:r>
                  <a:rPr lang="ko-KR" altLang="en-US" dirty="0" err="1"/>
                  <a:t>차함수</a:t>
                </a:r>
                <a:r>
                  <a:rPr lang="ko-KR" altLang="en-US" dirty="0"/>
                  <a:t> 곡선을 활용했음에도 정확도는 훈련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테스트에서 각각 </a:t>
                </a:r>
                <a:r>
                  <a:rPr lang="en-US" altLang="ko-KR" dirty="0"/>
                  <a:t>0.97066/0.97759</a:t>
                </a:r>
                <a:r>
                  <a:rPr lang="ko-KR" altLang="en-US" dirty="0"/>
                  <a:t>로 과소적합이 남아 있음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따라서 좀더 복잡한 모델이 필요함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특성의 수를 늘임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변환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변환결과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𝒙𝒛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𝒚𝒛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dirty="0"/>
                  <a:t>의 </a:t>
                </a:r>
                <a:r>
                  <a:rPr lang="en-US" altLang="ko-KR" dirty="0"/>
                  <a:t>9</a:t>
                </a:r>
                <a:r>
                  <a:rPr lang="ko-KR" altLang="en-US" dirty="0"/>
                  <a:t>개의 특성이 만들어짐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779400" lvl="2" indent="0">
                  <a:buNone/>
                </a:pPr>
                <a:r>
                  <a:rPr lang="en-US" altLang="ko-KR" dirty="0"/>
                  <a:t> </a:t>
                </a:r>
              </a:p>
              <a:p>
                <a:pPr marL="779400" lvl="2" indent="0">
                  <a:buNone/>
                </a:pPr>
                <a:endParaRPr lang="en-US" altLang="ko-KR" dirty="0"/>
              </a:p>
              <a:p>
                <a:pPr marL="779400" lvl="2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9AAF17-864B-4ED0-B961-7D2047264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E971-820C-4C17-897C-FB9460E2A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9DB2C6-D574-4168-8225-310B155D2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077072"/>
            <a:ext cx="4952093" cy="20882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73297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30CE8-8C86-44B0-A1D5-49832166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다중회귀 모델 훈련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AAF17-864B-4ED0-B961-7D204726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LinearRegression</a:t>
            </a:r>
            <a:r>
              <a:rPr lang="ko-KR" altLang="en-US" dirty="0"/>
              <a:t> 클래스를 이용하여 훈련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 dirty="0">
                <a:sym typeface="Wingdings" panose="05000000000000000000" pitchFamily="2" charset="2"/>
              </a:rPr>
              <a:t> 훈련이 잘 되었으나 테스트세트에 대한 점수는 거의 그대로임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3</a:t>
            </a:r>
            <a:r>
              <a:rPr lang="ko-KR" altLang="en-US" dirty="0">
                <a:sym typeface="Wingdings" panose="05000000000000000000" pitchFamily="2" charset="2"/>
              </a:rPr>
              <a:t>제곱</a:t>
            </a:r>
            <a:r>
              <a:rPr lang="en-US" altLang="ko-KR" dirty="0">
                <a:sym typeface="Wingdings" panose="05000000000000000000" pitchFamily="2" charset="2"/>
              </a:rPr>
              <a:t>, 4</a:t>
            </a:r>
            <a:r>
              <a:rPr lang="ko-KR" altLang="en-US" dirty="0">
                <a:sym typeface="Wingdings" panose="05000000000000000000" pitchFamily="2" charset="2"/>
              </a:rPr>
              <a:t>제곱</a:t>
            </a:r>
            <a:r>
              <a:rPr lang="en-US" altLang="ko-KR" dirty="0">
                <a:sym typeface="Wingdings" panose="05000000000000000000" pitchFamily="2" charset="2"/>
              </a:rPr>
              <a:t>, 5</a:t>
            </a:r>
            <a:r>
              <a:rPr lang="ko-KR" altLang="en-US" dirty="0">
                <a:sym typeface="Wingdings" panose="05000000000000000000" pitchFamily="2" charset="2"/>
              </a:rPr>
              <a:t>제곱 항을 넣어 더 많은 특성을 사용하면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 dirty="0"/>
              <a:t> 5</a:t>
            </a:r>
            <a:r>
              <a:rPr lang="ko-KR" altLang="en-US" dirty="0"/>
              <a:t>제곱항까지 하면 특성이 </a:t>
            </a:r>
            <a:r>
              <a:rPr lang="en-US" altLang="ko-KR" dirty="0"/>
              <a:t>55</a:t>
            </a:r>
            <a:r>
              <a:rPr lang="ko-KR" altLang="en-US" dirty="0"/>
              <a:t>개로 늘어남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marL="779400" lvl="2" indent="0">
              <a:buNone/>
            </a:pPr>
            <a:r>
              <a:rPr lang="en-US" altLang="ko-KR" dirty="0"/>
              <a:t> </a:t>
            </a:r>
          </a:p>
          <a:p>
            <a:pPr marL="779400" lvl="2" indent="0">
              <a:buNone/>
            </a:pPr>
            <a:endParaRPr lang="en-US" altLang="ko-KR" dirty="0"/>
          </a:p>
          <a:p>
            <a:pPr marL="779400" lvl="2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E971-820C-4C17-897C-FB9460E2A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C8565A-8BD2-4E8C-8D56-48A910C9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83" y="1334432"/>
            <a:ext cx="4104457" cy="13797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020E2E-96A3-4732-9E94-8AC787BD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24" y="1763913"/>
            <a:ext cx="1952936" cy="520783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1D748D5-C97A-45B5-8F99-E4BD185E8133}"/>
              </a:ext>
            </a:extLst>
          </p:cNvPr>
          <p:cNvSpPr/>
          <p:nvPr/>
        </p:nvSpPr>
        <p:spPr>
          <a:xfrm>
            <a:off x="5237331" y="1916293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739910C-79DE-40F6-BD36-326D45F8F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83" y="3624576"/>
            <a:ext cx="4829758" cy="2354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0EB93873-2CA2-4505-AE8E-FCB9CB4C3F6E}"/>
              </a:ext>
            </a:extLst>
          </p:cNvPr>
          <p:cNvSpPr/>
          <p:nvPr/>
        </p:nvSpPr>
        <p:spPr>
          <a:xfrm>
            <a:off x="5865974" y="4693967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035D39-7C0D-48ED-A9AA-EB64B8DBD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157" y="4560616"/>
            <a:ext cx="1872209" cy="48782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B1C89B-27D2-433B-8E5D-31149BAFF9E0}"/>
              </a:ext>
            </a:extLst>
          </p:cNvPr>
          <p:cNvSpPr/>
          <p:nvPr/>
        </p:nvSpPr>
        <p:spPr>
          <a:xfrm>
            <a:off x="5580112" y="5092137"/>
            <a:ext cx="3455938" cy="83103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</a:rPr>
              <a:t>특성의 개수가 늘어나면 훈련세트에 대해서는 거의 완벽하게 학습함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</a:rPr>
              <a:t>그러나 훈련세트에 </a:t>
            </a:r>
            <a:r>
              <a:rPr lang="ko-KR" altLang="en-US" sz="1200" dirty="0" err="1">
                <a:solidFill>
                  <a:srgbClr val="FF0000"/>
                </a:solidFill>
              </a:rPr>
              <a:t>과대적합하여</a:t>
            </a:r>
            <a:r>
              <a:rPr lang="ko-KR" altLang="en-US" sz="1200" dirty="0">
                <a:solidFill>
                  <a:srgbClr val="FF0000"/>
                </a:solidFill>
              </a:rPr>
              <a:t> 테스트세트에는 형편없는 결과를 낼 수 있음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081AF43-470B-47CD-83B2-710F81CD4BC5}"/>
              </a:ext>
            </a:extLst>
          </p:cNvPr>
          <p:cNvSpPr/>
          <p:nvPr/>
        </p:nvSpPr>
        <p:spPr>
          <a:xfrm>
            <a:off x="6327157" y="4797152"/>
            <a:ext cx="1872209" cy="2512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C8ECED-65F5-4C22-B983-C4CCB06EAEBD}"/>
              </a:ext>
            </a:extLst>
          </p:cNvPr>
          <p:cNvSpPr/>
          <p:nvPr/>
        </p:nvSpPr>
        <p:spPr>
          <a:xfrm>
            <a:off x="564195" y="6089007"/>
            <a:ext cx="5301779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00"/>
                </a:solidFill>
              </a:rPr>
              <a:t>특성의 개수가 너무 많아 일어난 결과이므로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특성의 개수를 줄여서 해결</a:t>
            </a:r>
            <a:r>
              <a:rPr lang="en-US" altLang="ko-KR" sz="1200" dirty="0">
                <a:solidFill>
                  <a:srgbClr val="FF0000"/>
                </a:solidFill>
              </a:rPr>
              <a:t>(?)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D63A835-CB63-45FC-9580-017066698542}"/>
              </a:ext>
            </a:extLst>
          </p:cNvPr>
          <p:cNvSpPr/>
          <p:nvPr/>
        </p:nvSpPr>
        <p:spPr>
          <a:xfrm>
            <a:off x="6106195" y="6134370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302CA5-5E13-409E-993A-564D27A160F3}"/>
              </a:ext>
            </a:extLst>
          </p:cNvPr>
          <p:cNvSpPr/>
          <p:nvPr/>
        </p:nvSpPr>
        <p:spPr>
          <a:xfrm>
            <a:off x="6543514" y="6089007"/>
            <a:ext cx="2257586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특성은 그대로 두고 규제 활용</a:t>
            </a:r>
          </a:p>
        </p:txBody>
      </p:sp>
    </p:spTree>
    <p:extLst>
      <p:ext uri="{BB962C8B-B14F-4D97-AF65-F5344CB8AC3E}">
        <p14:creationId xmlns:p14="http://schemas.microsoft.com/office/powerpoint/2010/main" val="29664430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  <a:r>
              <a:rPr lang="en-US" altLang="ko-KR" dirty="0"/>
              <a:t>(Regularization)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규제란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/>
              <a:t>머신러닝 </a:t>
            </a:r>
            <a:r>
              <a:rPr lang="ko-KR" altLang="en-US" dirty="0"/>
              <a:t>모델이 훈련세트에 과도하게 학습 못하도록 훼방하는 것</a:t>
            </a:r>
            <a:endParaRPr lang="en-US" altLang="ko-KR" dirty="0"/>
          </a:p>
          <a:p>
            <a:pPr lvl="1"/>
            <a:r>
              <a:rPr lang="ko-KR" altLang="en-US" dirty="0"/>
              <a:t>모델이 훈련세트에 </a:t>
            </a:r>
            <a:r>
              <a:rPr lang="ko-KR" altLang="en-US" dirty="0" err="1"/>
              <a:t>과대적합되지</a:t>
            </a:r>
            <a:r>
              <a:rPr lang="ko-KR" altLang="en-US" dirty="0"/>
              <a:t> 않도록 만드는 것</a:t>
            </a:r>
            <a:endParaRPr lang="en-US" altLang="ko-KR" dirty="0"/>
          </a:p>
          <a:p>
            <a:pPr lvl="1"/>
            <a:r>
              <a:rPr lang="ko-KR" altLang="en-US" dirty="0"/>
              <a:t>선형회귀 모델의 경우 특성에 곱해지는 계수의 크기를 작게 만드는 것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규제와 정규화</a:t>
            </a:r>
            <a:endParaRPr lang="en-US" altLang="ko-KR" dirty="0"/>
          </a:p>
          <a:p>
            <a:pPr lvl="1"/>
            <a:r>
              <a:rPr lang="ko-KR" altLang="en-US" dirty="0"/>
              <a:t>선형회귀 모델에 규제를 적용하려면 특성을 </a:t>
            </a:r>
            <a:r>
              <a:rPr lang="ko-KR" altLang="en-US" dirty="0" err="1"/>
              <a:t>정규화할</a:t>
            </a:r>
            <a:r>
              <a:rPr lang="ko-KR" altLang="en-US" dirty="0"/>
              <a:t> 필요가 있음</a:t>
            </a:r>
            <a:endParaRPr lang="en-US" altLang="ko-KR" dirty="0"/>
          </a:p>
          <a:p>
            <a:pPr lvl="1"/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클래스를 사용하면 바로 표준점수를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BFD67-7A87-4D00-9C22-557724A2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E654F2-7B70-4B4F-8083-AA3538F2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834104"/>
            <a:ext cx="4997355" cy="1728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E0B36CE-E30E-415F-A03A-4EE6C1DE5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276872"/>
            <a:ext cx="4248472" cy="1369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0968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회귀와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회귀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릿지회귀</a:t>
            </a:r>
            <a:r>
              <a:rPr lang="en-US" altLang="ko-KR" dirty="0"/>
              <a:t>(ridge regression)</a:t>
            </a:r>
          </a:p>
          <a:p>
            <a:pPr lvl="1"/>
            <a:r>
              <a:rPr lang="ko-KR" altLang="en-US" dirty="0"/>
              <a:t>계수를 제곱한 값을 기준으로 규제 적용</a:t>
            </a:r>
            <a:endParaRPr lang="en-US" altLang="ko-KR" dirty="0"/>
          </a:p>
          <a:p>
            <a:pPr lvl="1"/>
            <a:r>
              <a:rPr lang="ko-KR" altLang="en-US" dirty="0"/>
              <a:t>일반적으로 </a:t>
            </a:r>
            <a:r>
              <a:rPr lang="ko-KR" altLang="en-US" dirty="0" err="1"/>
              <a:t>릿지회귀가</a:t>
            </a:r>
            <a:r>
              <a:rPr lang="ko-KR" altLang="en-US" dirty="0"/>
              <a:t> 더 선호됨</a:t>
            </a:r>
            <a:endParaRPr lang="en-US" altLang="ko-KR" dirty="0"/>
          </a:p>
          <a:p>
            <a:r>
              <a:rPr lang="ko-KR" altLang="en-US" dirty="0" err="1"/>
              <a:t>라쏘회귀</a:t>
            </a:r>
            <a:r>
              <a:rPr lang="en-US" altLang="ko-KR" dirty="0"/>
              <a:t>(lasso regression)</a:t>
            </a:r>
          </a:p>
          <a:p>
            <a:pPr lvl="1"/>
            <a:r>
              <a:rPr lang="ko-KR" altLang="en-US" dirty="0"/>
              <a:t>계수의 절대값을 기준으로 규제 적용</a:t>
            </a:r>
            <a:endParaRPr lang="en-US" altLang="ko-KR" dirty="0"/>
          </a:p>
          <a:p>
            <a:pPr lvl="1"/>
            <a:r>
              <a:rPr lang="ko-KR" altLang="en-US" dirty="0"/>
              <a:t>계수의 크기를 아예 </a:t>
            </a:r>
            <a:r>
              <a:rPr lang="en-US" altLang="ko-KR" dirty="0"/>
              <a:t>0</a:t>
            </a:r>
            <a:r>
              <a:rPr lang="ko-KR" altLang="en-US" dirty="0"/>
              <a:t>으로 만들 수도 있음</a:t>
            </a:r>
            <a:r>
              <a:rPr lang="en-US" altLang="ko-KR" dirty="0"/>
              <a:t>(</a:t>
            </a:r>
            <a:r>
              <a:rPr lang="ko-KR" altLang="en-US" dirty="0"/>
              <a:t>특성을 사용 않음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BFD67-7A87-4D00-9C22-557724A2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2B7F75-E46C-41EA-B09A-A391F842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933056"/>
            <a:ext cx="4320480" cy="17563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B3814FD-4F81-4A17-BFE3-FE8B579CD5DA}"/>
              </a:ext>
            </a:extLst>
          </p:cNvPr>
          <p:cNvSpPr/>
          <p:nvPr/>
        </p:nvSpPr>
        <p:spPr>
          <a:xfrm>
            <a:off x="5249714" y="4703242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313B74-D072-4F18-82F0-C44699EC9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718" y="4584698"/>
            <a:ext cx="1681288" cy="45311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8790EB5-7BDA-44CE-AEE8-A435454B5984}"/>
              </a:ext>
            </a:extLst>
          </p:cNvPr>
          <p:cNvSpPr/>
          <p:nvPr/>
        </p:nvSpPr>
        <p:spPr>
          <a:xfrm>
            <a:off x="611560" y="5783221"/>
            <a:ext cx="5146931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00"/>
                </a:solidFill>
              </a:rPr>
              <a:t>특성의 개수가 매우 많음에도 불구하고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규제를 통해 정상적인 점수가 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C16191-CF04-4CDF-84C9-8C3BB5C031E1}"/>
              </a:ext>
            </a:extLst>
          </p:cNvPr>
          <p:cNvSpPr/>
          <p:nvPr/>
        </p:nvSpPr>
        <p:spPr>
          <a:xfrm>
            <a:off x="6521487" y="5783220"/>
            <a:ext cx="2279613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FF0000"/>
                </a:solidFill>
              </a:rPr>
              <a:t>어느 정도의 규제가 최적인가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AAADE5C-590F-434E-8C4F-BE296352D947}"/>
              </a:ext>
            </a:extLst>
          </p:cNvPr>
          <p:cNvSpPr/>
          <p:nvPr/>
        </p:nvSpPr>
        <p:spPr>
          <a:xfrm>
            <a:off x="6031977" y="5828583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8547148-EDD2-4483-84A5-356AE0D3E859}"/>
              </a:ext>
            </a:extLst>
          </p:cNvPr>
          <p:cNvSpPr/>
          <p:nvPr/>
        </p:nvSpPr>
        <p:spPr>
          <a:xfrm rot="8550017">
            <a:off x="6224555" y="6107787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308A54-5ABB-4C58-924B-94C93AD01264}"/>
              </a:ext>
            </a:extLst>
          </p:cNvPr>
          <p:cNvSpPr/>
          <p:nvPr/>
        </p:nvSpPr>
        <p:spPr>
          <a:xfrm>
            <a:off x="5436096" y="6194062"/>
            <a:ext cx="703893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alpha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7700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회귀와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회귀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매개변수 </a:t>
            </a:r>
            <a:r>
              <a:rPr lang="en-US" altLang="ko-KR" dirty="0"/>
              <a:t>alpha</a:t>
            </a:r>
          </a:p>
          <a:p>
            <a:pPr lvl="1"/>
            <a:r>
              <a:rPr lang="ko-KR" altLang="en-US" dirty="0" err="1"/>
              <a:t>릿지회귀와</a:t>
            </a:r>
            <a:r>
              <a:rPr lang="ko-KR" altLang="en-US" dirty="0"/>
              <a:t> </a:t>
            </a:r>
            <a:r>
              <a:rPr lang="ko-KR" altLang="en-US" dirty="0" err="1"/>
              <a:t>라쏘회귀의</a:t>
            </a:r>
            <a:r>
              <a:rPr lang="ko-KR" altLang="en-US" dirty="0"/>
              <a:t> 모델 객체를 만들 때</a:t>
            </a:r>
            <a:r>
              <a:rPr lang="en-US" altLang="ko-KR" dirty="0"/>
              <a:t>, </a:t>
            </a:r>
            <a:r>
              <a:rPr lang="ko-KR" altLang="en-US" dirty="0"/>
              <a:t>규제의 강도 설정</a:t>
            </a:r>
            <a:endParaRPr lang="en-US" altLang="ko-KR" dirty="0"/>
          </a:p>
          <a:p>
            <a:pPr lvl="1"/>
            <a:r>
              <a:rPr lang="en-US" altLang="ko-KR" dirty="0"/>
              <a:t>alpha</a:t>
            </a:r>
            <a:r>
              <a:rPr lang="ko-KR" altLang="en-US" dirty="0"/>
              <a:t>값이 크면 규제 강도가 세지므로</a:t>
            </a:r>
            <a:r>
              <a:rPr lang="en-US" altLang="ko-KR" dirty="0"/>
              <a:t>, </a:t>
            </a:r>
            <a:r>
              <a:rPr lang="ko-KR" altLang="en-US" dirty="0" err="1"/>
              <a:t>계수값을</a:t>
            </a:r>
            <a:r>
              <a:rPr lang="ko-KR" altLang="en-US" dirty="0"/>
              <a:t> 더 줄이고 더 </a:t>
            </a:r>
            <a:r>
              <a:rPr lang="ko-KR" altLang="en-US" dirty="0" err="1"/>
              <a:t>과소적합되도록</a:t>
            </a:r>
            <a:r>
              <a:rPr lang="ko-KR" altLang="en-US" dirty="0"/>
              <a:t> 유도</a:t>
            </a:r>
            <a:endParaRPr lang="en-US" altLang="ko-KR" dirty="0"/>
          </a:p>
          <a:p>
            <a:pPr lvl="1"/>
            <a:r>
              <a:rPr lang="en-US" altLang="ko-KR" dirty="0"/>
              <a:t>alpha</a:t>
            </a:r>
            <a:r>
              <a:rPr lang="ko-KR" altLang="en-US" dirty="0"/>
              <a:t>값이 작으면</a:t>
            </a:r>
            <a:r>
              <a:rPr lang="en-US" altLang="ko-KR" dirty="0"/>
              <a:t> </a:t>
            </a:r>
            <a:r>
              <a:rPr lang="ko-KR" altLang="en-US" dirty="0" err="1"/>
              <a:t>계수값을</a:t>
            </a:r>
            <a:r>
              <a:rPr lang="ko-KR" altLang="en-US" dirty="0"/>
              <a:t> 줄이는 역할이 줄어들고 선형회귀 모델과 유사해지므로 </a:t>
            </a:r>
            <a:r>
              <a:rPr lang="ko-KR" altLang="en-US" dirty="0" err="1"/>
              <a:t>과소적합될</a:t>
            </a:r>
            <a:r>
              <a:rPr lang="ko-KR" altLang="en-US" dirty="0"/>
              <a:t> 가능성이 큼</a:t>
            </a:r>
            <a:endParaRPr lang="en-US" altLang="ko-KR" dirty="0"/>
          </a:p>
          <a:p>
            <a:pPr lvl="1"/>
            <a:r>
              <a:rPr lang="en-US" altLang="ko-KR" dirty="0"/>
              <a:t>alpha</a:t>
            </a:r>
            <a:r>
              <a:rPr lang="ko-KR" altLang="en-US" dirty="0"/>
              <a:t>값에</a:t>
            </a:r>
            <a:r>
              <a:rPr lang="en-US" altLang="ko-KR" dirty="0"/>
              <a:t> </a:t>
            </a:r>
            <a:r>
              <a:rPr lang="ko-KR" altLang="en-US" dirty="0"/>
              <a:t>대한 결정계수</a:t>
            </a:r>
            <a:r>
              <a:rPr lang="en-US" altLang="ko-KR" dirty="0"/>
              <a:t>(R</a:t>
            </a:r>
            <a:r>
              <a:rPr lang="en-US" altLang="ko-KR" baseline="30000" dirty="0"/>
              <a:t>2</a:t>
            </a:r>
            <a:r>
              <a:rPr lang="en-US" altLang="ko-KR" dirty="0"/>
              <a:t>) </a:t>
            </a:r>
            <a:r>
              <a:rPr lang="ko-KR" altLang="en-US" dirty="0"/>
              <a:t>값의</a:t>
            </a:r>
            <a:r>
              <a:rPr lang="en-US" altLang="ko-KR" dirty="0"/>
              <a:t> </a:t>
            </a:r>
            <a:r>
              <a:rPr lang="ko-KR" altLang="en-US" dirty="0"/>
              <a:t>그래프를 그려</a:t>
            </a:r>
            <a:r>
              <a:rPr lang="en-US" altLang="ko-KR" dirty="0"/>
              <a:t>, </a:t>
            </a:r>
            <a:r>
              <a:rPr lang="ko-KR" altLang="en-US" dirty="0"/>
              <a:t>훈련세트와 테스트세트가 가장 가까운 지점이 최적의 값임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자동으로 최적의 </a:t>
            </a:r>
            <a:r>
              <a:rPr lang="en-US" altLang="ko-KR" dirty="0"/>
              <a:t>alpha</a:t>
            </a:r>
            <a:r>
              <a:rPr lang="ko-KR" altLang="en-US" dirty="0"/>
              <a:t>값을 얻는 방법은 없음</a:t>
            </a:r>
            <a:endParaRPr lang="en-US" altLang="ko-KR" dirty="0"/>
          </a:p>
          <a:p>
            <a:pPr marL="432000" lvl="1" indent="0">
              <a:buNone/>
            </a:pPr>
            <a:r>
              <a:rPr lang="ko-KR" altLang="ko-KR" dirty="0"/>
              <a:t>☞</a:t>
            </a:r>
            <a:r>
              <a:rPr lang="en-US" altLang="ko-KR" dirty="0"/>
              <a:t> alpha</a:t>
            </a:r>
            <a:r>
              <a:rPr lang="ko-KR" altLang="en-US" dirty="0"/>
              <a:t>와 같이 </a:t>
            </a:r>
            <a:r>
              <a:rPr lang="ko-KR" altLang="en-US" dirty="0" err="1"/>
              <a:t>머신러닝이</a:t>
            </a:r>
            <a:r>
              <a:rPr lang="ko-KR" altLang="en-US" dirty="0"/>
              <a:t> 학습하지 않는 파라미터는 사람이 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사전에 지정해야 함</a:t>
            </a:r>
            <a:r>
              <a:rPr lang="en-US" altLang="ko-KR" dirty="0"/>
              <a:t>. </a:t>
            </a:r>
            <a:r>
              <a:rPr lang="ko-KR" altLang="en-US" dirty="0"/>
              <a:t>이러한 종류의 파라미터를 </a:t>
            </a:r>
            <a:r>
              <a:rPr lang="ko-KR" altLang="en-US" dirty="0" err="1"/>
              <a:t>하이퍼파라미터</a:t>
            </a:r>
            <a:br>
              <a:rPr lang="en-US" altLang="ko-KR" dirty="0"/>
            </a:br>
            <a:r>
              <a:rPr lang="en-US" altLang="ko-KR" dirty="0"/>
              <a:t>    (hyperparameter)</a:t>
            </a:r>
            <a:r>
              <a:rPr lang="ko-KR" altLang="en-US" dirty="0"/>
              <a:t>라고 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BFD67-7A87-4D00-9C22-557724A2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4281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회귀와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회귀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alpha</a:t>
            </a:r>
            <a:r>
              <a:rPr lang="ko-KR" altLang="en-US" dirty="0"/>
              <a:t>값에 따른 결정계수</a:t>
            </a:r>
            <a:r>
              <a:rPr lang="en-US" altLang="ko-KR" dirty="0"/>
              <a:t>(R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 그래프</a:t>
            </a:r>
            <a:endParaRPr lang="en-US" altLang="ko-KR" dirty="0"/>
          </a:p>
          <a:p>
            <a:pPr lvl="1"/>
            <a:r>
              <a:rPr lang="ko-KR" altLang="en-US" dirty="0"/>
              <a:t>훈련세트와 테스트세트의 결정계수가 가장 가까운 </a:t>
            </a:r>
            <a:r>
              <a:rPr lang="en-US" altLang="ko-KR" dirty="0"/>
              <a:t>alpha</a:t>
            </a:r>
            <a:r>
              <a:rPr lang="ko-KR" altLang="en-US" dirty="0"/>
              <a:t>값 찾음</a:t>
            </a:r>
            <a:endParaRPr lang="en-US" altLang="ko-KR" dirty="0"/>
          </a:p>
          <a:p>
            <a:pPr lvl="1"/>
            <a:r>
              <a:rPr lang="en-US" altLang="ko-KR" dirty="0"/>
              <a:t>alpha</a:t>
            </a:r>
            <a:r>
              <a:rPr lang="ko-KR" altLang="en-US" dirty="0"/>
              <a:t>값은 </a:t>
            </a:r>
            <a:r>
              <a:rPr lang="en-US" altLang="ko-KR" dirty="0"/>
              <a:t>10</a:t>
            </a:r>
            <a:r>
              <a:rPr lang="ko-KR" altLang="en-US" dirty="0" err="1"/>
              <a:t>배씩</a:t>
            </a:r>
            <a:r>
              <a:rPr lang="ko-KR" altLang="en-US" dirty="0"/>
              <a:t> 증가하는 형태이므로 </a:t>
            </a:r>
            <a:r>
              <a:rPr lang="en-US" altLang="ko-KR" dirty="0"/>
              <a:t>x</a:t>
            </a:r>
            <a:r>
              <a:rPr lang="ko-KR" altLang="en-US" dirty="0"/>
              <a:t>축의 </a:t>
            </a:r>
            <a:r>
              <a:rPr lang="en-US" altLang="ko-KR" dirty="0"/>
              <a:t>alpha</a:t>
            </a:r>
            <a:r>
              <a:rPr lang="ko-KR" altLang="en-US" dirty="0"/>
              <a:t>는 </a:t>
            </a:r>
            <a:r>
              <a:rPr lang="en-US" altLang="ko-KR" dirty="0"/>
              <a:t>log10 </a:t>
            </a:r>
            <a:r>
              <a:rPr lang="ko-KR" altLang="en-US" dirty="0"/>
              <a:t>스케일로 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훈련세트와 테스트세트의 결정계수가 가장 가까운 </a:t>
            </a:r>
            <a:r>
              <a:rPr lang="en-US" altLang="ko-KR" dirty="0"/>
              <a:t>alpha=0.1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r>
              <a:rPr lang="en-US" altLang="ko-KR" dirty="0"/>
              <a:t> </a:t>
            </a:r>
          </a:p>
          <a:p>
            <a:pPr marL="432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BFD67-7A87-4D00-9C22-557724A2F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DCE1E-1DA0-420A-A046-8CB35EA3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3" y="2060848"/>
            <a:ext cx="4392489" cy="3124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FDFD03-24A0-4753-8540-3642225FE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5589240"/>
            <a:ext cx="3585998" cy="8640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CA99869-CCD6-46B6-8F2C-33A392B26FD7}"/>
              </a:ext>
            </a:extLst>
          </p:cNvPr>
          <p:cNvSpPr/>
          <p:nvPr/>
        </p:nvSpPr>
        <p:spPr>
          <a:xfrm>
            <a:off x="5436096" y="3605685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1990A0-FC90-407A-A80B-8EA2F808FB17}"/>
              </a:ext>
            </a:extLst>
          </p:cNvPr>
          <p:cNvSpPr/>
          <p:nvPr/>
        </p:nvSpPr>
        <p:spPr>
          <a:xfrm>
            <a:off x="4622409" y="591327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21BCF3-AC0E-4A61-9B10-F993CFACD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588" y="2543056"/>
            <a:ext cx="3290212" cy="2160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34AD493-0E97-4ECC-9DAE-4CA63C046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257" y="5785512"/>
            <a:ext cx="1618662" cy="4879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4B98F5-424C-4FF7-8653-C0B85C57C0E3}"/>
              </a:ext>
            </a:extLst>
          </p:cNvPr>
          <p:cNvSpPr/>
          <p:nvPr/>
        </p:nvSpPr>
        <p:spPr>
          <a:xfrm>
            <a:off x="6917068" y="5864316"/>
            <a:ext cx="1780828" cy="3067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확실히 성능이 좋아짐</a:t>
            </a:r>
          </a:p>
        </p:txBody>
      </p:sp>
    </p:spTree>
    <p:extLst>
      <p:ext uri="{BB962C8B-B14F-4D97-AF65-F5344CB8AC3E}">
        <p14:creationId xmlns:p14="http://schemas.microsoft.com/office/powerpoint/2010/main" val="35860073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회귀와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회귀 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라쏘회기</a:t>
            </a:r>
            <a:r>
              <a:rPr lang="ko-KR" altLang="en-US" dirty="0"/>
              <a:t> 훈련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라쏘회기의</a:t>
            </a:r>
            <a:r>
              <a:rPr lang="ko-KR" altLang="en-US" dirty="0"/>
              <a:t> </a:t>
            </a:r>
            <a:r>
              <a:rPr lang="en-US" altLang="ko-KR" dirty="0"/>
              <a:t>alpha</a:t>
            </a:r>
            <a:r>
              <a:rPr lang="ko-KR" altLang="en-US" dirty="0"/>
              <a:t>값에 따른 결정계수</a:t>
            </a:r>
            <a:r>
              <a:rPr lang="en-US" altLang="ko-KR" dirty="0"/>
              <a:t>(R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 그래프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FD0CF9-AB31-4943-B404-928C4FD88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412776"/>
            <a:ext cx="4221469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FFDEA2-D43B-4894-9A6D-05F37C378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8" y="3616036"/>
            <a:ext cx="5193836" cy="2549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1237853-523A-4132-892B-4FE984EBC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710" y="1931360"/>
            <a:ext cx="1703236" cy="4690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1FE2AD6-6F04-4C63-BAD2-88DA1321B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185" y="3872586"/>
            <a:ext cx="3058181" cy="2036167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C32148B-A412-4690-89D6-7B7C3D4EA9D2}"/>
              </a:ext>
            </a:extLst>
          </p:cNvPr>
          <p:cNvSpPr/>
          <p:nvPr/>
        </p:nvSpPr>
        <p:spPr>
          <a:xfrm>
            <a:off x="5028853" y="2060848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29A6217-64BA-4507-AE25-CA894984C015}"/>
              </a:ext>
            </a:extLst>
          </p:cNvPr>
          <p:cNvSpPr/>
          <p:nvPr/>
        </p:nvSpPr>
        <p:spPr>
          <a:xfrm>
            <a:off x="5757426" y="469213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B7133AF-67C2-4700-9624-C84ACE56D526}"/>
              </a:ext>
            </a:extLst>
          </p:cNvPr>
          <p:cNvSpPr/>
          <p:nvPr/>
        </p:nvSpPr>
        <p:spPr>
          <a:xfrm>
            <a:off x="8316416" y="3857392"/>
            <a:ext cx="216024" cy="5460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8557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EC18-ACAE-4661-9A8C-DBCEE4A7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회귀와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회귀 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E9A9-3FA2-4408-9685-184D3277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/>
              <a:t>훈련세트와 테스트세트의 결정계수가 가장 가까운 </a:t>
            </a:r>
            <a:r>
              <a:rPr lang="en-US" altLang="ko-KR" dirty="0"/>
              <a:t>alpha=10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55</a:t>
            </a:r>
            <a:r>
              <a:rPr lang="ko-KR" altLang="en-US" dirty="0"/>
              <a:t>개 계수 중 그 값이 </a:t>
            </a:r>
            <a:r>
              <a:rPr lang="en-US" altLang="ko-KR" dirty="0"/>
              <a:t>0</a:t>
            </a:r>
            <a:r>
              <a:rPr lang="ko-KR" altLang="en-US" dirty="0"/>
              <a:t>인 것의 개수 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83409A-FE3D-4253-98F9-67D9925BF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1916832"/>
            <a:ext cx="4392488" cy="12739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C54D2DC-80BA-4443-B5F8-65062D5D3190}"/>
              </a:ext>
            </a:extLst>
          </p:cNvPr>
          <p:cNvSpPr/>
          <p:nvPr/>
        </p:nvSpPr>
        <p:spPr>
          <a:xfrm>
            <a:off x="5436096" y="2445797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5B250B-25CF-4B97-9BED-6D293B3BE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3" y="2327498"/>
            <a:ext cx="1584176" cy="4526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5A44C6-669A-4BC5-9366-8120CA79F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5" y="3774893"/>
            <a:ext cx="4900124" cy="590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679039B-D91D-4354-BB8C-5539F3ED3F59}"/>
              </a:ext>
            </a:extLst>
          </p:cNvPr>
          <p:cNvSpPr/>
          <p:nvPr/>
        </p:nvSpPr>
        <p:spPr>
          <a:xfrm>
            <a:off x="5940152" y="396198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89D3EB-1AA7-4C5E-B45F-2BDD90DC2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009" y="3956891"/>
            <a:ext cx="305901" cy="220249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02EDF4-1DF9-4AC4-8829-8399FAB88B49}"/>
              </a:ext>
            </a:extLst>
          </p:cNvPr>
          <p:cNvSpPr/>
          <p:nvPr/>
        </p:nvSpPr>
        <p:spPr>
          <a:xfrm>
            <a:off x="6307009" y="4295250"/>
            <a:ext cx="2297439" cy="7113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개의 계수 중 </a:t>
            </a:r>
            <a:r>
              <a:rPr lang="en-US" altLang="ko-KR" sz="1200" dirty="0">
                <a:solidFill>
                  <a:srgbClr val="FF0000"/>
                </a:solidFill>
              </a:rPr>
              <a:t>40</a:t>
            </a:r>
            <a:r>
              <a:rPr lang="ko-KR" altLang="en-US" sz="1200" dirty="0">
                <a:solidFill>
                  <a:srgbClr val="FF0000"/>
                </a:solidFill>
              </a:rPr>
              <a:t>개가 </a:t>
            </a:r>
            <a:r>
              <a:rPr lang="en-US" altLang="ko-KR" sz="1200" dirty="0">
                <a:solidFill>
                  <a:srgbClr val="FF0000"/>
                </a:solidFill>
              </a:rPr>
              <a:t>0</a:t>
            </a:r>
            <a:r>
              <a:rPr lang="ko-KR" altLang="en-US" sz="1200" dirty="0">
                <a:solidFill>
                  <a:srgbClr val="FF0000"/>
                </a:solidFill>
              </a:rPr>
              <a:t>임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개 특성 중 </a:t>
            </a:r>
            <a:r>
              <a:rPr lang="en-US" altLang="ko-KR" sz="1200" dirty="0">
                <a:solidFill>
                  <a:srgbClr val="FF0000"/>
                </a:solidFill>
              </a:rPr>
              <a:t>15</a:t>
            </a:r>
            <a:r>
              <a:rPr lang="ko-KR" altLang="en-US" sz="1200" dirty="0">
                <a:solidFill>
                  <a:srgbClr val="FF0000"/>
                </a:solidFill>
              </a:rPr>
              <a:t>개만 사용한다는 의미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803341-5B99-4C54-A9F6-E0CC1D8D01A5}"/>
              </a:ext>
            </a:extLst>
          </p:cNvPr>
          <p:cNvSpPr/>
          <p:nvPr/>
        </p:nvSpPr>
        <p:spPr>
          <a:xfrm>
            <a:off x="2940232" y="5455639"/>
            <a:ext cx="2665694" cy="59021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FF0000"/>
                </a:solidFill>
              </a:rPr>
              <a:t>라쏘모델은</a:t>
            </a:r>
            <a:r>
              <a:rPr lang="ko-KR" altLang="en-US" sz="1200" dirty="0">
                <a:solidFill>
                  <a:srgbClr val="FF0000"/>
                </a:solidFill>
              </a:rPr>
              <a:t> 유용한 특성을 골라내는 용도로도 사용할 수 있음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D090B126-D52F-402D-98E3-AF9EBA24F686}"/>
              </a:ext>
            </a:extLst>
          </p:cNvPr>
          <p:cNvSpPr/>
          <p:nvPr/>
        </p:nvSpPr>
        <p:spPr>
          <a:xfrm rot="8521000">
            <a:off x="5896556" y="5185288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5311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Key words</a:t>
            </a:r>
          </a:p>
          <a:p>
            <a:pPr lvl="1"/>
            <a:r>
              <a:rPr lang="ko-KR" altLang="en-US" dirty="0"/>
              <a:t>다중회귀</a:t>
            </a:r>
            <a:r>
              <a:rPr lang="en-US" altLang="ko-KR" dirty="0"/>
              <a:t>: </a:t>
            </a:r>
            <a:r>
              <a:rPr lang="ko-KR" altLang="en-US" dirty="0"/>
              <a:t>여러 개의 특성을 사용하는 회귀모델</a:t>
            </a:r>
            <a:r>
              <a:rPr lang="en-US" altLang="ko-KR" dirty="0"/>
              <a:t>. </a:t>
            </a:r>
            <a:r>
              <a:rPr lang="ko-KR" altLang="en-US" dirty="0"/>
              <a:t>특성이 많으면 선형모델은 강력한 성능을 발휘함</a:t>
            </a:r>
            <a:endParaRPr lang="en-US" altLang="ko-KR" dirty="0"/>
          </a:p>
          <a:p>
            <a:pPr lvl="1"/>
            <a:r>
              <a:rPr lang="ko-KR" altLang="en-US" dirty="0"/>
              <a:t>특성공학</a:t>
            </a:r>
            <a:r>
              <a:rPr lang="en-US" altLang="ko-KR" dirty="0"/>
              <a:t>: </a:t>
            </a:r>
            <a:r>
              <a:rPr lang="ko-KR" altLang="en-US" dirty="0"/>
              <a:t>주어진 특성을 조합하여 새로운 특성을 만드는 일련의 작업 과정</a:t>
            </a:r>
            <a:endParaRPr lang="en-US" altLang="ko-KR" dirty="0"/>
          </a:p>
          <a:p>
            <a:pPr lvl="1"/>
            <a:r>
              <a:rPr lang="ko-KR" altLang="en-US" dirty="0" err="1"/>
              <a:t>릿지회귀</a:t>
            </a:r>
            <a:r>
              <a:rPr lang="en-US" altLang="ko-KR" dirty="0"/>
              <a:t>: </a:t>
            </a:r>
            <a:r>
              <a:rPr lang="ko-KR" altLang="en-US" dirty="0"/>
              <a:t>규제가 있는 선형모델 중 하나</a:t>
            </a:r>
            <a:r>
              <a:rPr lang="en-US" altLang="ko-KR" dirty="0"/>
              <a:t>. alpha </a:t>
            </a:r>
            <a:r>
              <a:rPr lang="ko-KR" altLang="en-US" dirty="0"/>
              <a:t>매개변수의 값으로 성능 제어</a:t>
            </a:r>
            <a:r>
              <a:rPr lang="en-US" altLang="ko-KR" dirty="0"/>
              <a:t>. </a:t>
            </a:r>
            <a:r>
              <a:rPr lang="ko-KR" altLang="en-US" dirty="0"/>
              <a:t>효과가 좋아 널리 사용됨</a:t>
            </a:r>
            <a:endParaRPr lang="en-US" altLang="ko-KR" dirty="0"/>
          </a:p>
          <a:p>
            <a:pPr lvl="1"/>
            <a:r>
              <a:rPr lang="ko-KR" altLang="en-US" dirty="0" err="1"/>
              <a:t>라쏘회귀</a:t>
            </a:r>
            <a:r>
              <a:rPr lang="en-US" altLang="ko-KR" dirty="0"/>
              <a:t>: </a:t>
            </a:r>
            <a:r>
              <a:rPr lang="ko-KR" altLang="en-US" dirty="0" err="1"/>
              <a:t>릿지와</a:t>
            </a:r>
            <a:r>
              <a:rPr lang="ko-KR" altLang="en-US" dirty="0"/>
              <a:t> 달리 계수 값을 </a:t>
            </a:r>
            <a:r>
              <a:rPr lang="en-US" altLang="ko-KR" dirty="0"/>
              <a:t>0</a:t>
            </a:r>
            <a:r>
              <a:rPr lang="ko-KR" altLang="en-US" dirty="0"/>
              <a:t>으로 만들 수도 있음</a:t>
            </a:r>
            <a:endParaRPr lang="en-US" altLang="ko-KR" dirty="0"/>
          </a:p>
          <a:p>
            <a:pPr lvl="1"/>
            <a:r>
              <a:rPr lang="ko-KR" altLang="en-US" dirty="0" err="1"/>
              <a:t>하이퍼파라미터</a:t>
            </a:r>
            <a:r>
              <a:rPr lang="en-US" altLang="ko-KR" dirty="0"/>
              <a:t>: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알고리즘이 학습하지 않는 파라미터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pandas </a:t>
            </a:r>
            <a:r>
              <a:rPr lang="ko-KR" altLang="en-US" dirty="0"/>
              <a:t>패키지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/>
              <a:t>read_csv</a:t>
            </a:r>
            <a:r>
              <a:rPr lang="en-US" altLang="ko-KR" dirty="0"/>
              <a:t>():</a:t>
            </a:r>
          </a:p>
          <a:p>
            <a:pPr lvl="2"/>
            <a:r>
              <a:rPr lang="en-US" altLang="ko-KR" dirty="0"/>
              <a:t>CSV </a:t>
            </a:r>
            <a:r>
              <a:rPr lang="ko-KR" altLang="en-US" dirty="0"/>
              <a:t>파일을 읽어 </a:t>
            </a:r>
            <a:r>
              <a:rPr lang="ko-KR" altLang="en-US" dirty="0" err="1"/>
              <a:t>판다스</a:t>
            </a:r>
            <a:r>
              <a:rPr lang="ko-KR" altLang="en-US" dirty="0"/>
              <a:t> 데이터프레임으로 변환하는 함수</a:t>
            </a:r>
            <a:endParaRPr lang="en-US" altLang="ko-KR" dirty="0"/>
          </a:p>
          <a:p>
            <a:pPr lvl="2"/>
            <a:r>
              <a:rPr lang="ko-KR" altLang="en-US" dirty="0"/>
              <a:t>많은 매개변수</a:t>
            </a:r>
            <a:r>
              <a:rPr lang="en-US" altLang="ko-KR" dirty="0"/>
              <a:t>: </a:t>
            </a:r>
            <a:r>
              <a:rPr lang="en-US" altLang="ko-KR" dirty="0" err="1"/>
              <a:t>sep</a:t>
            </a:r>
            <a:r>
              <a:rPr lang="en-US" altLang="ko-KR" dirty="0"/>
              <a:t>(</a:t>
            </a:r>
            <a:r>
              <a:rPr lang="ko-KR" altLang="en-US" dirty="0" err="1"/>
              <a:t>구분자</a:t>
            </a:r>
            <a:r>
              <a:rPr lang="en-US" altLang="ko-KR" dirty="0"/>
              <a:t>, default</a:t>
            </a:r>
            <a:r>
              <a:rPr lang="ko-KR" altLang="en-US" dirty="0"/>
              <a:t>는 </a:t>
            </a:r>
            <a:r>
              <a:rPr lang="en-US" altLang="ko-KR" dirty="0"/>
              <a:t>‘,’), header(</a:t>
            </a:r>
            <a:r>
              <a:rPr lang="ko-KR" altLang="en-US" dirty="0" err="1"/>
              <a:t>열이름</a:t>
            </a:r>
            <a:r>
              <a:rPr lang="ko-KR" altLang="en-US" dirty="0"/>
              <a:t> </a:t>
            </a:r>
            <a:r>
              <a:rPr lang="ko-KR" altLang="en-US" dirty="0" err="1"/>
              <a:t>행번호</a:t>
            </a:r>
            <a:r>
              <a:rPr lang="en-US" altLang="ko-KR" dirty="0"/>
              <a:t>, </a:t>
            </a:r>
            <a:r>
              <a:rPr lang="en-US" altLang="ko-KR" dirty="0" err="1"/>
              <a:t>defaul</a:t>
            </a:r>
            <a:r>
              <a:rPr lang="ko-KR" altLang="en-US" dirty="0"/>
              <a:t>는 첫번째 행 이름</a:t>
            </a:r>
            <a:r>
              <a:rPr lang="en-US" altLang="ko-KR" dirty="0"/>
              <a:t>), </a:t>
            </a:r>
            <a:r>
              <a:rPr lang="en-US" altLang="ko-KR" dirty="0" err="1"/>
              <a:t>skiprows</a:t>
            </a:r>
            <a:r>
              <a:rPr lang="en-US" altLang="ko-KR" dirty="0"/>
              <a:t>(</a:t>
            </a:r>
            <a:r>
              <a:rPr lang="ko-KR" altLang="en-US" dirty="0"/>
              <a:t>읽기 전에 건너뛸 행의 개수</a:t>
            </a:r>
            <a:r>
              <a:rPr lang="en-US" altLang="ko-KR" dirty="0"/>
              <a:t>), </a:t>
            </a:r>
            <a:r>
              <a:rPr lang="en-US" altLang="ko-KR" dirty="0" err="1"/>
              <a:t>nrows</a:t>
            </a:r>
            <a:r>
              <a:rPr lang="en-US" altLang="ko-KR" dirty="0"/>
              <a:t>(</a:t>
            </a:r>
            <a:r>
              <a:rPr lang="ko-KR" altLang="en-US" dirty="0"/>
              <a:t>읽을 행의 수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sklearn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/>
              <a:t>PolynomialFeatures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주어진 특성을 조합하여 새로운 특성을 생성</a:t>
            </a:r>
            <a:endParaRPr lang="en-US" altLang="ko-KR" dirty="0"/>
          </a:p>
          <a:p>
            <a:pPr lvl="2"/>
            <a:r>
              <a:rPr lang="ko-KR" altLang="en-US" dirty="0"/>
              <a:t>매개변수</a:t>
            </a:r>
            <a:r>
              <a:rPr lang="en-US" altLang="ko-KR" dirty="0"/>
              <a:t>: degree(</a:t>
            </a:r>
            <a:r>
              <a:rPr lang="ko-KR" altLang="en-US" dirty="0" err="1"/>
              <a:t>최고차수</a:t>
            </a:r>
            <a:r>
              <a:rPr lang="en-US" altLang="ko-KR" dirty="0"/>
              <a:t> </a:t>
            </a:r>
            <a:r>
              <a:rPr lang="ko-KR" altLang="en-US" dirty="0"/>
              <a:t>지정</a:t>
            </a:r>
            <a:r>
              <a:rPr lang="en-US" altLang="ko-KR" dirty="0"/>
              <a:t>, default</a:t>
            </a:r>
            <a:r>
              <a:rPr lang="ko-KR" altLang="en-US" dirty="0"/>
              <a:t>는 </a:t>
            </a:r>
            <a:r>
              <a:rPr lang="en-US" altLang="ko-KR" dirty="0"/>
              <a:t>2), </a:t>
            </a:r>
            <a:r>
              <a:rPr lang="en-US" altLang="ko-KR" dirty="0" err="1"/>
              <a:t>include_bias</a:t>
            </a:r>
            <a:r>
              <a:rPr lang="en-US" altLang="ko-KR" dirty="0"/>
              <a:t>(False </a:t>
            </a:r>
            <a:r>
              <a:rPr lang="ko-KR" altLang="en-US" dirty="0"/>
              <a:t>값을 가지면 </a:t>
            </a:r>
            <a:r>
              <a:rPr lang="en-US" altLang="ko-KR" dirty="0"/>
              <a:t>1</a:t>
            </a:r>
            <a:r>
              <a:rPr lang="ko-KR" altLang="en-US" dirty="0"/>
              <a:t>은 제외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Ridge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2"/>
            <a:r>
              <a:rPr lang="ko-KR" altLang="en-US" dirty="0"/>
              <a:t>규제가 있는 회귀 알고리즘인 </a:t>
            </a:r>
            <a:r>
              <a:rPr lang="ko-KR" altLang="en-US" dirty="0" err="1"/>
              <a:t>릿지</a:t>
            </a:r>
            <a:r>
              <a:rPr lang="ko-KR" altLang="en-US" dirty="0"/>
              <a:t> 회귀 모델을 지원</a:t>
            </a:r>
            <a:endParaRPr lang="en-US" altLang="ko-KR" dirty="0"/>
          </a:p>
          <a:p>
            <a:pPr lvl="2"/>
            <a:r>
              <a:rPr lang="ko-KR" altLang="en-US" dirty="0"/>
              <a:t>매개변수</a:t>
            </a:r>
            <a:r>
              <a:rPr lang="en-US" altLang="ko-KR" dirty="0"/>
              <a:t>: alpha(</a:t>
            </a:r>
            <a:r>
              <a:rPr lang="ko-KR" altLang="en-US" dirty="0"/>
              <a:t>규제의 강도 조절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Lasso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2"/>
            <a:r>
              <a:rPr lang="ko-KR" altLang="en-US" dirty="0"/>
              <a:t>규제가 있는 회귀 알고리즘인 </a:t>
            </a:r>
            <a:r>
              <a:rPr lang="ko-KR" altLang="en-US" dirty="0" err="1"/>
              <a:t>라쏘</a:t>
            </a:r>
            <a:r>
              <a:rPr lang="ko-KR" altLang="en-US" dirty="0"/>
              <a:t> 회귀 모델을 지원</a:t>
            </a:r>
            <a:endParaRPr lang="en-US" altLang="ko-KR" dirty="0"/>
          </a:p>
          <a:p>
            <a:pPr lvl="2"/>
            <a:r>
              <a:rPr lang="ko-KR" altLang="en-US" dirty="0"/>
              <a:t>매개변수</a:t>
            </a:r>
            <a:r>
              <a:rPr lang="en-US" altLang="ko-KR" dirty="0"/>
              <a:t>: alpha(</a:t>
            </a:r>
            <a:r>
              <a:rPr lang="ko-KR" altLang="en-US" dirty="0"/>
              <a:t>규제의 강도 조절</a:t>
            </a:r>
            <a:r>
              <a:rPr lang="en-US" altLang="ko-KR" dirty="0"/>
              <a:t>), </a:t>
            </a:r>
            <a:r>
              <a:rPr lang="en-US" altLang="ko-KR" dirty="0" err="1"/>
              <a:t>max_iter</a:t>
            </a:r>
            <a:r>
              <a:rPr lang="en-US" altLang="ko-KR" dirty="0"/>
              <a:t>(</a:t>
            </a:r>
            <a:r>
              <a:rPr lang="ko-KR" altLang="en-US" dirty="0"/>
              <a:t>알고리즘 수행 반복회수</a:t>
            </a:r>
            <a:r>
              <a:rPr lang="en-US" altLang="ko-KR" dirty="0"/>
              <a:t>, default</a:t>
            </a:r>
            <a:r>
              <a:rPr lang="ko-KR" altLang="en-US" dirty="0"/>
              <a:t>는 </a:t>
            </a:r>
            <a:r>
              <a:rPr lang="en-US" altLang="ko-KR" dirty="0"/>
              <a:t>1000)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59995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35084</TotalTime>
  <Words>1389</Words>
  <Application>Microsoft Office PowerPoint</Application>
  <PresentationFormat>화면 슬라이드 쇼(4:3)</PresentationFormat>
  <Paragraphs>257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HY견고딕</vt:lpstr>
      <vt:lpstr>굴림</vt:lpstr>
      <vt:lpstr>맑은 고딕</vt:lpstr>
      <vt:lpstr>휴먼엑스포</vt:lpstr>
      <vt:lpstr>Arial</vt:lpstr>
      <vt:lpstr>Cambria Math</vt:lpstr>
      <vt:lpstr>Times New Roman</vt:lpstr>
      <vt:lpstr>Wingdings</vt:lpstr>
      <vt:lpstr>기본 디자인</vt:lpstr>
      <vt:lpstr>Feature Engineering &amp; Regurarization</vt:lpstr>
      <vt:lpstr>지난 시간 복습</vt:lpstr>
      <vt:lpstr>학습목표</vt:lpstr>
      <vt:lpstr>다중회기(multiple regression)</vt:lpstr>
      <vt:lpstr>특성공학(feature engineering)</vt:lpstr>
      <vt:lpstr>데이터 준비 (1)</vt:lpstr>
      <vt:lpstr>데이터 준비 (2)</vt:lpstr>
      <vt:lpstr>데이터 준비 (3)</vt:lpstr>
      <vt:lpstr>데이터 준비 (4)</vt:lpstr>
      <vt:lpstr>다중회귀 모델 훈련</vt:lpstr>
      <vt:lpstr>규제(Regularization)</vt:lpstr>
      <vt:lpstr>릿지(ridge)회귀와 라쏘(lasso)회귀 (1)</vt:lpstr>
      <vt:lpstr>릿지(ridge)회귀와 라쏘(lasso)회귀 (2)</vt:lpstr>
      <vt:lpstr>릿지(ridge)회귀와 라쏘(lasso)회귀 (3)</vt:lpstr>
      <vt:lpstr>릿지(ridge)회귀와 라쏘(lasso)회귀 (4)</vt:lpstr>
      <vt:lpstr>릿지(ridge)회귀와 라쏘(lasso)회귀 (5)</vt:lpstr>
      <vt:lpstr>학습 요약 (1)</vt:lpstr>
      <vt:lpstr>학습 요약 (2)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720</cp:revision>
  <dcterms:created xsi:type="dcterms:W3CDTF">2003-05-07T20:17:23Z</dcterms:created>
  <dcterms:modified xsi:type="dcterms:W3CDTF">2025-09-22T00:40:40Z</dcterms:modified>
</cp:coreProperties>
</file>