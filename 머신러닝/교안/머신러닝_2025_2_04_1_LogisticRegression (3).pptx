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632" r:id="rId2"/>
    <p:sldId id="722" r:id="rId3"/>
    <p:sldId id="719" r:id="rId4"/>
    <p:sldId id="776" r:id="rId5"/>
    <p:sldId id="780" r:id="rId6"/>
    <p:sldId id="777" r:id="rId7"/>
    <p:sldId id="778" r:id="rId8"/>
    <p:sldId id="781" r:id="rId9"/>
    <p:sldId id="786" r:id="rId10"/>
    <p:sldId id="787" r:id="rId11"/>
    <p:sldId id="788" r:id="rId12"/>
    <p:sldId id="790" r:id="rId13"/>
    <p:sldId id="717" r:id="rId14"/>
    <p:sldId id="703" r:id="rId15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3" autoAdjust="0"/>
    <p:restoredTop sz="94148" autoAdjust="0"/>
  </p:normalViewPr>
  <p:slideViewPr>
    <p:cSldViewPr>
      <p:cViewPr varScale="1">
        <p:scale>
          <a:sx n="113" d="100"/>
          <a:sy n="113" d="100"/>
        </p:scale>
        <p:origin x="175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7"/>
            <a:ext cx="7514232" cy="1269706"/>
          </a:xfrm>
        </p:spPr>
        <p:txBody>
          <a:bodyPr/>
          <a:lstStyle/>
          <a:p>
            <a:pPr algn="ctr">
              <a:defRPr/>
            </a:pPr>
            <a:r>
              <a:rPr lang="en-US" altLang="ko-KR" sz="4000"/>
              <a:t>Logistic Regression</a:t>
            </a:r>
            <a:endParaRPr lang="ko-KR" alt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450141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https://miro.medium.com/&gt;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2" descr="A comparison of sklearn and statsmodel's logistic regression function | by  Tracyrenee | Artificial Intelligence in Plain English">
            <a:extLst>
              <a:ext uri="{FF2B5EF4-FFF2-40B4-BE49-F238E27FC236}">
                <a16:creationId xmlns:a16="http://schemas.microsoft.com/office/drawing/2014/main" id="{EF32FD72-0B75-451A-B0D5-54A4B48FC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696" y="2269927"/>
            <a:ext cx="3456384" cy="314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2E21C0D8-57DD-4A75-A459-44D01E32C7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컴퓨터소프트웨어과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89F7D-D5C7-4BBF-8B58-21D977C72CAE}"/>
              </a:ext>
            </a:extLst>
          </p:cNvPr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ko-KR" altLang="en-US"/>
                  <a:t>다중회귀</a:t>
                </a:r>
                <a:r>
                  <a:rPr lang="en-US" altLang="ko-KR"/>
                  <a:t>(multiple regression)</a:t>
                </a:r>
              </a:p>
              <a:p>
                <a:pPr lvl="1"/>
                <a:r>
                  <a:rPr lang="ko-KR" altLang="en-US"/>
                  <a:t>여러 개의 특성을 사용한 선형 회귀</a:t>
                </a:r>
                <a:r>
                  <a:rPr lang="en-US" altLang="ko-KR"/>
                  <a:t>: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𝒄𝒛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altLang="ko-KR"/>
                  <a:t> (</a:t>
                </a:r>
                <a:r>
                  <a:rPr lang="ko-KR" altLang="en-US"/>
                  <a:t>특성이 </a:t>
                </a:r>
                <a:r>
                  <a:rPr lang="en-US" altLang="ko-KR"/>
                  <a:t>3)</a:t>
                </a:r>
              </a:p>
              <a:p>
                <a:pPr lvl="1"/>
                <a:r>
                  <a:rPr lang="ko-KR" altLang="en-US"/>
                  <a:t>특성이 많은 고차원은 선형회귀가 매우 복잡한 모델 표현 가능</a:t>
                </a:r>
                <a:endParaRPr lang="en-US" altLang="ko-KR"/>
              </a:p>
              <a:p>
                <a:r>
                  <a:rPr lang="ko-KR" altLang="en-US"/>
                  <a:t>특성공학</a:t>
                </a:r>
                <a:r>
                  <a:rPr lang="en-US" altLang="ko-KR"/>
                  <a:t>(feature engineering)</a:t>
                </a:r>
              </a:p>
              <a:p>
                <a:pPr lvl="1"/>
                <a:r>
                  <a:rPr lang="ko-KR" altLang="en-US"/>
                  <a:t>기존의 특성을 이용하여 새로운 특성을 뽑아내는 작업</a:t>
                </a:r>
                <a:endParaRPr lang="en-US" altLang="ko-KR"/>
              </a:p>
              <a:p>
                <a:pPr lvl="1"/>
                <a:r>
                  <a:rPr lang="ko-KR" altLang="en-US"/>
                  <a:t>사이킷런에서는 변환기</a:t>
                </a:r>
                <a:r>
                  <a:rPr lang="en-US" altLang="ko-KR"/>
                  <a:t>(transformer)</a:t>
                </a:r>
                <a:r>
                  <a:rPr lang="ko-KR" altLang="en-US"/>
                  <a:t>를 이용하여 편리하게 새로운 특성을 추가</a:t>
                </a:r>
                <a:endParaRPr lang="en-US" altLang="ko-KR"/>
              </a:p>
              <a:p>
                <a:r>
                  <a:rPr lang="ko-KR" altLang="en-US"/>
                  <a:t>데이터 준비</a:t>
                </a:r>
                <a:endParaRPr lang="en-US" altLang="ko-KR"/>
              </a:p>
              <a:p>
                <a:pPr lvl="1"/>
                <a:r>
                  <a:rPr lang="ko-KR" altLang="en-US"/>
                  <a:t>농어 </a:t>
                </a:r>
                <a:r>
                  <a:rPr lang="en-US" altLang="ko-KR"/>
                  <a:t>56</a:t>
                </a:r>
                <a:r>
                  <a:rPr lang="ko-KR" altLang="en-US"/>
                  <a:t>마리</a:t>
                </a:r>
                <a:r>
                  <a:rPr lang="en-US" altLang="ko-KR"/>
                  <a:t>, </a:t>
                </a:r>
                <a:r>
                  <a:rPr lang="ko-KR" altLang="en-US"/>
                  <a:t>길이</a:t>
                </a:r>
                <a:r>
                  <a:rPr lang="en-US" altLang="ko-KR"/>
                  <a:t>, </a:t>
                </a:r>
                <a:r>
                  <a:rPr lang="ko-KR" altLang="en-US"/>
                  <a:t>높이</a:t>
                </a:r>
                <a:r>
                  <a:rPr lang="en-US" altLang="ko-KR"/>
                  <a:t>, </a:t>
                </a:r>
                <a:r>
                  <a:rPr lang="ko-KR" altLang="en-US"/>
                  <a:t>두께</a:t>
                </a:r>
                <a:r>
                  <a:rPr lang="en-US" altLang="ko-KR"/>
                  <a:t>, </a:t>
                </a:r>
                <a:r>
                  <a:rPr lang="ko-KR" altLang="en-US"/>
                  <a:t>무게</a:t>
                </a:r>
                <a:endParaRPr lang="en-US" altLang="ko-KR"/>
              </a:p>
              <a:p>
                <a:pPr lvl="1"/>
                <a:r>
                  <a:rPr lang="en-US" altLang="ko-KR"/>
                  <a:t>CSV </a:t>
                </a:r>
                <a:r>
                  <a:rPr lang="ko-KR" altLang="en-US"/>
                  <a:t>파일을 데이터프레임 객체에 저장</a:t>
                </a:r>
                <a:r>
                  <a:rPr lang="en-US" altLang="ko-KR"/>
                  <a:t>: df=pandas.read_csv(‘</a:t>
                </a:r>
                <a:r>
                  <a:rPr lang="en-US" altLang="ko-KR" i="1"/>
                  <a:t>csv_url </a:t>
                </a:r>
                <a:r>
                  <a:rPr lang="en-US" altLang="ko-KR"/>
                  <a:t>’)</a:t>
                </a:r>
              </a:p>
              <a:p>
                <a:pPr lvl="1"/>
                <a:r>
                  <a:rPr lang="en-US" altLang="ko-KR"/>
                  <a:t>56x3</a:t>
                </a:r>
                <a:r>
                  <a:rPr lang="ko-KR" altLang="en-US"/>
                  <a:t>의 </a:t>
                </a:r>
                <a:r>
                  <a:rPr lang="en-US" altLang="ko-KR"/>
                  <a:t>numpy</a:t>
                </a:r>
                <a:r>
                  <a:rPr lang="ko-KR" altLang="en-US"/>
                  <a:t>배열 준비</a:t>
                </a:r>
                <a:r>
                  <a:rPr lang="en-US" altLang="ko-KR"/>
                  <a:t>: perch_full = df.to_numpy()</a:t>
                </a:r>
              </a:p>
              <a:p>
                <a:pPr lvl="1"/>
                <a:r>
                  <a:rPr lang="ko-KR" altLang="en-US"/>
                  <a:t>사이킷런 변환기로</a:t>
                </a:r>
                <a:r>
                  <a:rPr lang="en-US" altLang="ko-KR"/>
                  <a:t> </a:t>
                </a:r>
                <a:r>
                  <a:rPr lang="ko-KR" altLang="en-US"/>
                  <a:t>속성 확장</a:t>
                </a:r>
                <a:r>
                  <a:rPr lang="en-US" altLang="ko-KR"/>
                  <a:t>: poly.transform([[2,3]]) </a:t>
                </a:r>
                <a:r>
                  <a:rPr lang="en-US" altLang="ko-KR">
                    <a:sym typeface="Wingdings" panose="05000000000000000000" pitchFamily="2" charset="2"/>
                  </a:rPr>
                  <a:t> </a:t>
                </a:r>
                <a:r>
                  <a:rPr lang="en-US" altLang="ko-KR"/>
                  <a:t>PolynomialFeatures </a:t>
                </a:r>
                <a:r>
                  <a:rPr lang="ko-KR" altLang="en-US"/>
                  <a:t>클래스</a:t>
                </a:r>
                <a:endParaRPr lang="en-US" altLang="ko-KR"/>
              </a:p>
              <a:p>
                <a:r>
                  <a:rPr lang="ko-KR" altLang="en-US"/>
                  <a:t>규제</a:t>
                </a:r>
                <a:r>
                  <a:rPr lang="en-US" altLang="ko-KR"/>
                  <a:t>(Regularization)</a:t>
                </a:r>
              </a:p>
              <a:p>
                <a:pPr lvl="1"/>
                <a:r>
                  <a:rPr lang="ko-KR" altLang="en-US"/>
                  <a:t>머시러닝 모델이 훈련세트에 과도하게 학습 못하도록 훼방</a:t>
                </a:r>
                <a:endParaRPr lang="en-US" altLang="ko-KR"/>
              </a:p>
              <a:p>
                <a:pPr lvl="1"/>
                <a:r>
                  <a:rPr lang="ko-KR" altLang="en-US"/>
                  <a:t>릿지회귀</a:t>
                </a:r>
                <a:r>
                  <a:rPr lang="en-US" altLang="ko-KR"/>
                  <a:t>(ridge regression): </a:t>
                </a:r>
                <a:r>
                  <a:rPr lang="ko-KR" altLang="en-US"/>
                  <a:t>계수를 제곱한 값을 기준으로 규제 적용 </a:t>
                </a:r>
                <a:r>
                  <a:rPr lang="en-US" altLang="ko-KR">
                    <a:sym typeface="Wingdings" panose="05000000000000000000" pitchFamily="2" charset="2"/>
                  </a:rPr>
                  <a:t> </a:t>
                </a:r>
                <a:r>
                  <a:rPr lang="en-US" altLang="ko-KR"/>
                  <a:t>Ridge </a:t>
                </a:r>
                <a:r>
                  <a:rPr lang="ko-KR" altLang="en-US"/>
                  <a:t>클래스</a:t>
                </a:r>
                <a:endParaRPr lang="en-US" altLang="ko-KR"/>
              </a:p>
              <a:p>
                <a:pPr lvl="1"/>
                <a:r>
                  <a:rPr lang="ko-KR" altLang="en-US"/>
                  <a:t>라쏘회귀</a:t>
                </a:r>
                <a:r>
                  <a:rPr lang="en-US" altLang="ko-KR"/>
                  <a:t>(lasso regression): </a:t>
                </a:r>
                <a:r>
                  <a:rPr lang="ko-KR" altLang="en-US"/>
                  <a:t>계수의 절대값을 기준으로 규제 적용 </a:t>
                </a:r>
                <a:r>
                  <a:rPr lang="en-US" altLang="ko-KR">
                    <a:sym typeface="Wingdings" panose="05000000000000000000" pitchFamily="2" charset="2"/>
                  </a:rPr>
                  <a:t> </a:t>
                </a:r>
                <a:r>
                  <a:rPr lang="en-US" altLang="ko-KR"/>
                  <a:t>Lasso </a:t>
                </a:r>
                <a:r>
                  <a:rPr lang="ko-KR" altLang="en-US"/>
                  <a:t>클래스</a:t>
                </a:r>
                <a:endParaRPr lang="en-US" altLang="ko-KR"/>
              </a:p>
              <a:p>
                <a:pPr lvl="1"/>
                <a:r>
                  <a:rPr lang="ko-KR" altLang="en-US"/>
                  <a:t>매개변수 </a:t>
                </a:r>
                <a:r>
                  <a:rPr lang="en-US" altLang="ko-KR"/>
                  <a:t>alpha: </a:t>
                </a:r>
              </a:p>
              <a:p>
                <a:pPr lvl="2"/>
                <a:r>
                  <a:rPr lang="ko-KR" altLang="en-US"/>
                  <a:t>릿지회귀와 라쏘회귀의 모델 객체를 만들 때</a:t>
                </a:r>
                <a:r>
                  <a:rPr lang="en-US" altLang="ko-KR"/>
                  <a:t>, </a:t>
                </a:r>
                <a:r>
                  <a:rPr lang="ko-KR" altLang="en-US"/>
                  <a:t>규제의 강도 설정</a:t>
                </a:r>
                <a:r>
                  <a:rPr lang="en-US" altLang="ko-KR"/>
                  <a:t>. </a:t>
                </a:r>
                <a:r>
                  <a:rPr lang="ko-KR" altLang="en-US"/>
                  <a:t>값이 크면 규제 강도가 세짐</a:t>
                </a:r>
                <a:endParaRPr lang="en-US" altLang="ko-KR"/>
              </a:p>
              <a:p>
                <a:pPr lvl="2"/>
                <a:r>
                  <a:rPr lang="en-US" altLang="ko-KR"/>
                  <a:t>alpha</a:t>
                </a:r>
                <a:r>
                  <a:rPr lang="ko-KR" altLang="en-US"/>
                  <a:t>값에</a:t>
                </a:r>
                <a:r>
                  <a:rPr lang="en-US" altLang="ko-KR"/>
                  <a:t> </a:t>
                </a:r>
                <a:r>
                  <a:rPr lang="ko-KR" altLang="en-US"/>
                  <a:t>대한 결정계수</a:t>
                </a:r>
                <a:r>
                  <a:rPr lang="en-US" altLang="ko-KR"/>
                  <a:t>(R</a:t>
                </a:r>
                <a:r>
                  <a:rPr lang="en-US" altLang="ko-KR" baseline="30000"/>
                  <a:t>2</a:t>
                </a:r>
                <a:r>
                  <a:rPr lang="en-US" altLang="ko-KR"/>
                  <a:t>) </a:t>
                </a:r>
                <a:r>
                  <a:rPr lang="ko-KR" altLang="en-US"/>
                  <a:t>값의</a:t>
                </a:r>
                <a:r>
                  <a:rPr lang="en-US" altLang="ko-KR"/>
                  <a:t> </a:t>
                </a:r>
                <a:r>
                  <a:rPr lang="ko-KR" altLang="en-US"/>
                  <a:t>그래프를 그려</a:t>
                </a:r>
                <a:r>
                  <a:rPr lang="en-US" altLang="ko-KR"/>
                  <a:t>, </a:t>
                </a:r>
                <a:r>
                  <a:rPr lang="ko-KR" altLang="en-US"/>
                  <a:t>훈련세트와 테스트세트가 가장 가까운 지점이 최적</a:t>
                </a:r>
                <a:endParaRPr lang="en-US" altLang="ko-KR"/>
              </a:p>
              <a:p>
                <a:pPr lvl="2"/>
                <a:r>
                  <a:rPr lang="ko-KR" altLang="en-US"/>
                  <a:t>자동으로 최적의 </a:t>
                </a:r>
                <a:r>
                  <a:rPr lang="en-US" altLang="ko-KR"/>
                  <a:t>alpha</a:t>
                </a:r>
                <a:r>
                  <a:rPr lang="ko-KR" altLang="en-US"/>
                  <a:t>값을 얻는 방법은 없음</a:t>
                </a:r>
                <a:r>
                  <a:rPr lang="en-US" altLang="ko-KR"/>
                  <a:t>(hyperparameter)</a:t>
                </a:r>
              </a:p>
              <a:p>
                <a:pPr lvl="2"/>
                <a:endParaRPr lang="en-US" altLang="ko-KR"/>
              </a:p>
              <a:p>
                <a:pPr lvl="1"/>
                <a:endParaRPr lang="en-US" altLang="ko-KR"/>
              </a:p>
              <a:p>
                <a:pPr lvl="1"/>
                <a:endParaRPr lang="en-US" altLang="ko-KR"/>
              </a:p>
              <a:p>
                <a:pPr lvl="1"/>
                <a:endParaRPr lang="en-US" altLang="ko-KR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1" t="-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1E4D7-BB54-4FF2-8452-113620F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시간이 </a:t>
            </a:r>
            <a:r>
              <a:rPr lang="ko-KR" altLang="en-US"/>
              <a:t>종료되면 학생들은</a:t>
            </a:r>
            <a:endParaRPr lang="en-US" altLang="ko-KR"/>
          </a:p>
          <a:p>
            <a:pPr lvl="1"/>
            <a:r>
              <a:rPr lang="ko-KR" altLang="en-US"/>
              <a:t>다중분류에서의 확률을 예측할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로지스틱 회귀를 이해하고 활용할 수 있다</a:t>
            </a:r>
            <a:r>
              <a:rPr lang="en-US" altLang="ko-KR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8C414-B436-4C8D-AF33-1A801337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럭키백 속의 생선 확률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218E9-F0F5-43A2-9064-6D95E413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우리의 문제</a:t>
            </a:r>
            <a:endParaRPr lang="en-US" altLang="ko-KR"/>
          </a:p>
          <a:p>
            <a:pPr lvl="1"/>
            <a:r>
              <a:rPr lang="ko-KR" altLang="en-US"/>
              <a:t>럭키백 속에 생선 한마리를 넣음</a:t>
            </a:r>
            <a:endParaRPr lang="en-US" altLang="ko-KR"/>
          </a:p>
          <a:p>
            <a:pPr lvl="1"/>
            <a:r>
              <a:rPr lang="en-US" altLang="ko-KR"/>
              <a:t>7</a:t>
            </a:r>
            <a:r>
              <a:rPr lang="ko-KR" altLang="en-US"/>
              <a:t>가지 생선</a:t>
            </a:r>
            <a:r>
              <a:rPr lang="en-US" altLang="ko-KR"/>
              <a:t>(bream(</a:t>
            </a:r>
            <a:r>
              <a:rPr lang="ko-KR" altLang="en-US"/>
              <a:t>도미</a:t>
            </a:r>
            <a:r>
              <a:rPr lang="en-US" altLang="ko-KR"/>
              <a:t>), roach(</a:t>
            </a:r>
            <a:r>
              <a:rPr lang="ko-KR" altLang="en-US" strike="dblStrike"/>
              <a:t>바퀴벌레</a:t>
            </a:r>
            <a:r>
              <a:rPr lang="en-US" altLang="ko-KR" strike="dblStrike"/>
              <a:t>, </a:t>
            </a:r>
            <a:r>
              <a:rPr lang="ko-KR" altLang="en-US"/>
              <a:t>잉어과 물고기</a:t>
            </a:r>
            <a:r>
              <a:rPr lang="en-US" altLang="ko-KR"/>
              <a:t>), whitefish(</a:t>
            </a:r>
            <a:r>
              <a:rPr lang="ko-KR" altLang="en-US"/>
              <a:t>송어</a:t>
            </a:r>
            <a:r>
              <a:rPr lang="en-US" altLang="ko-KR"/>
              <a:t>), parkii, perch(</a:t>
            </a:r>
            <a:r>
              <a:rPr lang="ko-KR" altLang="en-US"/>
              <a:t>농어</a:t>
            </a:r>
            <a:r>
              <a:rPr lang="en-US" altLang="ko-KR"/>
              <a:t>), pike(</a:t>
            </a:r>
            <a:r>
              <a:rPr lang="ko-KR" altLang="en-US"/>
              <a:t>창꼬치</a:t>
            </a:r>
            <a:r>
              <a:rPr lang="en-US" altLang="ko-KR"/>
              <a:t>), smelt(</a:t>
            </a:r>
            <a:r>
              <a:rPr lang="ko-KR" altLang="en-US"/>
              <a:t>빙어</a:t>
            </a:r>
            <a:r>
              <a:rPr lang="en-US" altLang="ko-KR"/>
              <a:t>)) </a:t>
            </a:r>
            <a:r>
              <a:rPr lang="ko-KR" altLang="en-US"/>
              <a:t>중</a:t>
            </a:r>
            <a:r>
              <a:rPr lang="en-US" altLang="ko-KR"/>
              <a:t> </a:t>
            </a:r>
            <a:r>
              <a:rPr lang="ko-KR" altLang="en-US"/>
              <a:t>어떤 생선인지를 확률로 결정</a:t>
            </a:r>
            <a:endParaRPr lang="en-US" altLang="ko-KR"/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ko-KR">
                <a:sym typeface="Wingdings" panose="05000000000000000000" pitchFamily="2" charset="2"/>
              </a:rPr>
              <a:t>k-</a:t>
            </a:r>
            <a:r>
              <a:rPr lang="ko-KR" altLang="en-US">
                <a:sym typeface="Wingdings" panose="05000000000000000000" pitchFamily="2" charset="2"/>
              </a:rPr>
              <a:t>최근접 이웃 분류를 통해 이웃의 개수를 확률로 계산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marL="432000" lvl="1" indent="0">
              <a:buNone/>
            </a:pPr>
            <a:r>
              <a:rPr lang="en-US" altLang="ko-KR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F9D0F5-F4D5-4255-828D-7D6F7C62C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5533848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8C414-B436-4C8D-AF33-1A801337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Data </a:t>
            </a:r>
            <a:r>
              <a:rPr lang="ko-KR" altLang="en-US"/>
              <a:t>준비하기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218E9-F0F5-43A2-9064-6D95E413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데이터 준비하기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pandas</a:t>
            </a:r>
            <a:r>
              <a:rPr lang="ko-KR" altLang="en-US">
                <a:sym typeface="Wingdings" panose="05000000000000000000" pitchFamily="2" charset="2"/>
              </a:rPr>
              <a:t>를 사용하여 </a:t>
            </a:r>
            <a:r>
              <a:rPr lang="en-US" altLang="ko-KR">
                <a:sym typeface="Wingdings" panose="05000000000000000000" pitchFamily="2" charset="2"/>
              </a:rPr>
              <a:t>CSV </a:t>
            </a:r>
            <a:r>
              <a:rPr lang="ko-KR" altLang="en-US">
                <a:sym typeface="Wingdings" panose="05000000000000000000" pitchFamily="2" charset="2"/>
              </a:rPr>
              <a:t>파일 읽어들임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‘</a:t>
            </a:r>
            <a:r>
              <a:rPr lang="ko-KR" altLang="en-US">
                <a:sym typeface="Wingdings" panose="05000000000000000000" pitchFamily="2" charset="2"/>
              </a:rPr>
              <a:t>종류</a:t>
            </a:r>
            <a:r>
              <a:rPr lang="en-US" altLang="ko-KR">
                <a:sym typeface="Wingdings" panose="05000000000000000000" pitchFamily="2" charset="2"/>
              </a:rPr>
              <a:t>‘, ‘</a:t>
            </a:r>
            <a:r>
              <a:rPr lang="ko-KR" altLang="en-US">
                <a:sym typeface="Wingdings" panose="05000000000000000000" pitchFamily="2" charset="2"/>
              </a:rPr>
              <a:t>무게</a:t>
            </a:r>
            <a:r>
              <a:rPr lang="en-US" altLang="ko-KR">
                <a:sym typeface="Wingdings" panose="05000000000000000000" pitchFamily="2" charset="2"/>
              </a:rPr>
              <a:t>’, ‘</a:t>
            </a:r>
            <a:r>
              <a:rPr lang="ko-KR" altLang="en-US">
                <a:sym typeface="Wingdings" panose="05000000000000000000" pitchFamily="2" charset="2"/>
              </a:rPr>
              <a:t>길이</a:t>
            </a:r>
            <a:r>
              <a:rPr lang="en-US" altLang="ko-KR">
                <a:sym typeface="Wingdings" panose="05000000000000000000" pitchFamily="2" charset="2"/>
              </a:rPr>
              <a:t>’, ‘</a:t>
            </a:r>
            <a:r>
              <a:rPr lang="ko-KR" altLang="en-US">
                <a:sym typeface="Wingdings" panose="05000000000000000000" pitchFamily="2" charset="2"/>
              </a:rPr>
              <a:t>대각선</a:t>
            </a:r>
            <a:r>
              <a:rPr lang="en-US" altLang="ko-KR">
                <a:sym typeface="Wingdings" panose="05000000000000000000" pitchFamily="2" charset="2"/>
              </a:rPr>
              <a:t>’, ‘</a:t>
            </a:r>
            <a:r>
              <a:rPr lang="ko-KR" altLang="en-US">
                <a:sym typeface="Wingdings" panose="05000000000000000000" pitchFamily="2" charset="2"/>
              </a:rPr>
              <a:t>높이</a:t>
            </a:r>
            <a:r>
              <a:rPr lang="en-US" altLang="ko-KR">
                <a:sym typeface="Wingdings" panose="05000000000000000000" pitchFamily="2" charset="2"/>
              </a:rPr>
              <a:t>’, ‘</a:t>
            </a:r>
            <a:r>
              <a:rPr lang="ko-KR" altLang="en-US">
                <a:sym typeface="Wingdings" panose="05000000000000000000" pitchFamily="2" charset="2"/>
              </a:rPr>
              <a:t>두께</a:t>
            </a:r>
            <a:r>
              <a:rPr lang="en-US" altLang="ko-KR">
                <a:sym typeface="Wingdings" panose="05000000000000000000" pitchFamily="2" charset="2"/>
              </a:rPr>
              <a:t>‘ </a:t>
            </a:r>
            <a:r>
              <a:rPr lang="ko-KR" altLang="en-US">
                <a:sym typeface="Wingdings" panose="05000000000000000000" pitchFamily="2" charset="2"/>
              </a:rPr>
              <a:t>데이터 사용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‘https://bit.ly/fish_csv_data’ </a:t>
            </a:r>
            <a:r>
              <a:rPr lang="ko-KR" altLang="en-US">
                <a:sym typeface="Wingdings" panose="05000000000000000000" pitchFamily="2" charset="2"/>
              </a:rPr>
              <a:t>참조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marL="432000" lvl="1" indent="0">
              <a:buNone/>
            </a:pPr>
            <a:r>
              <a:rPr lang="en-US" altLang="ko-KR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F9D0F5-F4D5-4255-828D-7D6F7C62C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5185FE-FFFE-450E-BFE0-E048ECE64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276871"/>
            <a:ext cx="5904656" cy="44637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C95CEA-6B14-41B5-BD4B-188DA5752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587" y="2492896"/>
            <a:ext cx="2430614" cy="841211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2A953E-4855-45FA-9890-CD22908F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587" y="3573016"/>
            <a:ext cx="2389706" cy="1967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A1142D-489C-4628-BE48-47D9B3EE1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904" y="3995515"/>
            <a:ext cx="2479576" cy="644596"/>
          </a:xfrm>
          <a:prstGeom prst="rect">
            <a:avLst/>
          </a:prstGeom>
          <a:ln>
            <a:solidFill>
              <a:srgbClr val="92D050"/>
            </a:solidFill>
          </a:ln>
        </p:spPr>
      </p:pic>
    </p:spTree>
    <p:extLst>
      <p:ext uri="{BB962C8B-B14F-4D97-AF65-F5344CB8AC3E}">
        <p14:creationId xmlns:p14="http://schemas.microsoft.com/office/powerpoint/2010/main" val="62980746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2F167-4657-4CD7-AB8C-1D592CD2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k-</a:t>
            </a:r>
            <a:r>
              <a:rPr lang="ko-KR" altLang="en-US"/>
              <a:t>최근접 이웃 분류기의 확률 예측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92C323-3411-4176-AFF9-4D47CF1F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다중분류</a:t>
            </a:r>
            <a:r>
              <a:rPr lang="en-US" altLang="ko-KR"/>
              <a:t>(multi-class classification)</a:t>
            </a:r>
          </a:p>
          <a:p>
            <a:pPr lvl="1"/>
            <a:r>
              <a:rPr lang="ko-KR" altLang="en-US"/>
              <a:t>타겟 데이터에 </a:t>
            </a:r>
            <a:r>
              <a:rPr lang="en-US" altLang="ko-KR"/>
              <a:t>2 </a:t>
            </a:r>
            <a:r>
              <a:rPr lang="ko-KR" altLang="en-US"/>
              <a:t>이상의 클래스가 포함된 문제</a:t>
            </a:r>
            <a:endParaRPr lang="en-US" altLang="ko-KR"/>
          </a:p>
          <a:p>
            <a:pPr lvl="1"/>
            <a:r>
              <a:rPr lang="ko-KR" altLang="en-US"/>
              <a:t>타겟 값을 수로 바꾸어 입력할 수도 있으나</a:t>
            </a:r>
            <a:r>
              <a:rPr lang="en-US" altLang="ko-KR"/>
              <a:t>, </a:t>
            </a:r>
            <a:r>
              <a:rPr lang="ko-KR" altLang="en-US"/>
              <a:t>문자열을 그대로 사용 가능</a:t>
            </a:r>
            <a:r>
              <a:rPr lang="en-US" altLang="ko-KR"/>
              <a:t>(</a:t>
            </a:r>
            <a:r>
              <a:rPr lang="ko-KR" altLang="en-US"/>
              <a:t>자동으로 알파벳 순으로 정렬하여 값이 매겨짐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2697C-5C85-4183-A3F6-FE29BB351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937D61-09F8-4E6E-A5BD-27EB59801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492896"/>
            <a:ext cx="7091515" cy="37444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8CDE2B-CD8F-4BD7-B87A-9F1F7B3B9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77" y="4221088"/>
            <a:ext cx="3784672" cy="15609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24FBAE24-E610-4E9D-8B49-29F93CD1BC2C}"/>
              </a:ext>
            </a:extLst>
          </p:cNvPr>
          <p:cNvSpPr/>
          <p:nvPr/>
        </p:nvSpPr>
        <p:spPr>
          <a:xfrm>
            <a:off x="4924864" y="4869160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1668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5BC76-EC7A-4F04-9443-6BA6C5E6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로지스틱 회기 </a:t>
            </a:r>
            <a:r>
              <a:rPr lang="en-US" altLang="ko-KR"/>
              <a:t>(1)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CBC7D9-EC46-4F0F-BE02-1ABD7B6D5A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ko-KR" altLang="en-US"/>
                  <a:t>로지스틱 회귀</a:t>
                </a:r>
                <a:r>
                  <a:rPr lang="en-US" altLang="ko-KR"/>
                  <a:t>(Logistic regression)</a:t>
                </a:r>
              </a:p>
              <a:p>
                <a:pPr lvl="1"/>
                <a:r>
                  <a:rPr lang="ko-KR" altLang="en-US"/>
                  <a:t>이름은 회귀이지만 분류</a:t>
                </a:r>
                <a:r>
                  <a:rPr lang="en-US" altLang="ko-KR"/>
                  <a:t>(classification) </a:t>
                </a:r>
                <a:r>
                  <a:rPr lang="ko-KR" altLang="en-US"/>
                  <a:t>모델</a:t>
                </a:r>
                <a:endParaRPr lang="en-US" altLang="ko-KR"/>
              </a:p>
              <a:p>
                <a:pPr lvl="1"/>
                <a:r>
                  <a:rPr lang="ko-KR" altLang="en-US"/>
                  <a:t>선형회기</a:t>
                </a:r>
                <a:r>
                  <a:rPr lang="en-US" altLang="ko-KR"/>
                  <a:t>(linear regression)</a:t>
                </a:r>
                <a:r>
                  <a:rPr lang="ko-KR" altLang="en-US"/>
                  <a:t>과 동일하게 선형방정식을 학습</a:t>
                </a:r>
                <a:endParaRPr lang="en-US" altLang="ko-KR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𝑾𝒆𝒊𝒈𝒉𝒕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𝑳𝒆𝒏𝒈𝒕𝒉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𝑫𝒊𝒂𝒈𝒐𝒏𝒂𝒍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𝑯𝒆𝒊𝒈𝒉𝒕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𝑾𝒊𝒅𝒕𝒉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altLang="ko-KR"/>
                  <a:t>, </a:t>
                </a:r>
                <a:r>
                  <a:rPr lang="ko-KR" altLang="en-US"/>
                  <a:t>여기서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ko-KR" altLang="en-US"/>
                  <a:t>는 가중치 혹은 계수</a:t>
                </a:r>
                <a:endParaRPr lang="en-US" altLang="ko-KR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ko-KR" altLang="en-US"/>
                  <a:t>는 어떤 값이든 가능하지만 확률이 되려면 </a:t>
                </a:r>
                <a:r>
                  <a:rPr lang="en-US" altLang="ko-KR"/>
                  <a:t>0</a:t>
                </a:r>
                <a:r>
                  <a:rPr lang="ko-KR" altLang="en-US"/>
                  <a:t>에서</a:t>
                </a:r>
                <a:r>
                  <a:rPr lang="en-US" altLang="ko-KR"/>
                  <a:t> 1 </a:t>
                </a:r>
                <a:r>
                  <a:rPr lang="ko-KR" altLang="en-US"/>
                  <a:t>사이의 값이 되어야 함</a:t>
                </a:r>
                <a:endParaRPr lang="en-US" altLang="ko-KR"/>
              </a:p>
              <a:p>
                <a:pPr lvl="2">
                  <a:buFont typeface="Wingdings" panose="05000000000000000000" pitchFamily="2" charset="2"/>
                  <a:buChar char="è"/>
                </a:pPr>
                <a:r>
                  <a:rPr lang="ko-KR" altLang="en-US">
                    <a:sym typeface="Wingdings" panose="05000000000000000000" pitchFamily="2" charset="2"/>
                  </a:rPr>
                  <a:t>시그모이드함수</a:t>
                </a:r>
                <a:r>
                  <a:rPr lang="en-US" altLang="ko-KR">
                    <a:sym typeface="Wingdings" panose="05000000000000000000" pitchFamily="2" charset="2"/>
                  </a:rPr>
                  <a:t>(sigmoid function </a:t>
                </a:r>
                <a:r>
                  <a:rPr lang="ko-KR" altLang="en-US">
                    <a:sym typeface="Wingdings" panose="05000000000000000000" pitchFamily="2" charset="2"/>
                  </a:rPr>
                  <a:t>또는</a:t>
                </a:r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:r>
                  <a:rPr lang="ko-KR" altLang="en-US">
                    <a:sym typeface="Wingdings" panose="05000000000000000000" pitchFamily="2" charset="2"/>
                  </a:rPr>
                  <a:t>로지스틱함수</a:t>
                </a:r>
                <a:r>
                  <a:rPr lang="en-US" altLang="ko-KR">
                    <a:sym typeface="Wingdings" panose="05000000000000000000" pitchFamily="2" charset="2"/>
                  </a:rPr>
                  <a:t>(logistic function))</a:t>
                </a:r>
              </a:p>
              <a:p>
                <a:pPr marL="779400" lvl="2" indent="0">
                  <a:buNone/>
                </a:pPr>
                <a:r>
                  <a:rPr lang="en-US" altLang="ko-KR">
                    <a:sym typeface="Wingdings" panose="05000000000000000000" pitchFamily="2" charset="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∅=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1+</m:t>
                        </m:r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</a:p>
              <a:p>
                <a:pPr lvl="2">
                  <a:buFont typeface="Wingdings" panose="05000000000000000000" pitchFamily="2" charset="2"/>
                  <a:buChar char="è"/>
                </a:pPr>
                <a:endParaRPr lang="en-US" altLang="ko-KR"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è"/>
                </a:pPr>
                <a:endParaRPr lang="en-US" altLang="ko-KR"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è"/>
                </a:pPr>
                <a:endParaRPr lang="en-US" altLang="ko-KR"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è"/>
                </a:pPr>
                <a:endParaRPr lang="en-US" altLang="ko-KR"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è"/>
                </a:pPr>
                <a:endParaRPr lang="en-US" altLang="ko-KR"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è"/>
                </a:pPr>
                <a:endParaRPr lang="en-US" altLang="ko-KR"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è"/>
                </a:pPr>
                <a:endParaRPr lang="en-US" altLang="ko-KR">
                  <a:sym typeface="Wingdings" panose="05000000000000000000" pitchFamily="2" charset="2"/>
                </a:endParaRPr>
              </a:p>
              <a:p>
                <a:pPr marL="779400" lvl="2" indent="0">
                  <a:buNone/>
                </a:pPr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CBC7D9-EC46-4F0F-BE02-1ABD7B6D5A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696C0-FC1B-4A70-BC96-00C3D2A4A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408B3C-CEF3-4257-978D-A6313168B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9" y="4186783"/>
            <a:ext cx="3861429" cy="21602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7B6348D-A640-4FAC-8ACB-E18C4434C6CE}"/>
              </a:ext>
            </a:extLst>
          </p:cNvPr>
          <p:cNvSpPr/>
          <p:nvPr/>
        </p:nvSpPr>
        <p:spPr>
          <a:xfrm>
            <a:off x="5076056" y="5158891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DA754A-3512-4079-8FA5-2C27592AD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4152478"/>
            <a:ext cx="33051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0136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5BC76-EC7A-4F04-9443-6BA6C5E6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로지스틱 회기 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CBC7D9-EC46-4F0F-BE02-1ABD7B6D5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로지스틱 회귀로 이진 분류 수행</a:t>
            </a:r>
            <a:endParaRPr lang="en-US" altLang="ko-KR"/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불리언 인덱싱</a:t>
            </a:r>
            <a:r>
              <a:rPr lang="en-US" altLang="ko-KR">
                <a:sym typeface="Wingdings" panose="05000000000000000000" pitchFamily="2" charset="2"/>
              </a:rPr>
              <a:t>(Boolean indexing)</a:t>
            </a:r>
          </a:p>
          <a:p>
            <a:pPr lvl="2"/>
            <a:r>
              <a:rPr lang="ko-KR" altLang="en-US">
                <a:sym typeface="Wingdings" panose="05000000000000000000" pitchFamily="2" charset="2"/>
              </a:rPr>
              <a:t>넘파이 배열에서 </a:t>
            </a:r>
            <a:r>
              <a:rPr lang="en-US" altLang="ko-KR">
                <a:sym typeface="Wingdings" panose="05000000000000000000" pitchFamily="2" charset="2"/>
              </a:rPr>
              <a:t>True, False </a:t>
            </a:r>
            <a:r>
              <a:rPr lang="ko-KR" altLang="en-US">
                <a:sym typeface="Wingdings" panose="05000000000000000000" pitchFamily="2" charset="2"/>
              </a:rPr>
              <a:t>값을 전달하여 행을 선택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도미</a:t>
            </a:r>
            <a:r>
              <a:rPr lang="en-US" altLang="ko-KR">
                <a:sym typeface="Wingdings" panose="05000000000000000000" pitchFamily="2" charset="2"/>
              </a:rPr>
              <a:t>(bream)</a:t>
            </a:r>
            <a:r>
              <a:rPr lang="ko-KR" altLang="en-US">
                <a:sym typeface="Wingdings" panose="05000000000000000000" pitchFamily="2" charset="2"/>
              </a:rPr>
              <a:t>와 빙어</a:t>
            </a:r>
            <a:r>
              <a:rPr lang="en-US" altLang="ko-KR">
                <a:sym typeface="Wingdings" panose="05000000000000000000" pitchFamily="2" charset="2"/>
              </a:rPr>
              <a:t>(smelt) </a:t>
            </a:r>
            <a:r>
              <a:rPr lang="ko-KR" altLang="en-US">
                <a:sym typeface="Wingdings" panose="05000000000000000000" pitchFamily="2" charset="2"/>
              </a:rPr>
              <a:t>행만을 추출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marL="432000" lvl="1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훈련 후 샘플 확률 예측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marL="432000" lvl="1" indent="0">
              <a:buNone/>
            </a:pPr>
            <a:r>
              <a:rPr lang="en-US" altLang="ko-KR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696C0-FC1B-4A70-BC96-00C3D2A4A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59949CB-0FC3-42E2-AC15-6EDA9CD7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204864"/>
            <a:ext cx="4890706" cy="10081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A6341D7-938E-401D-8CE9-374FA15C14DD}"/>
              </a:ext>
            </a:extLst>
          </p:cNvPr>
          <p:cNvSpPr/>
          <p:nvPr/>
        </p:nvSpPr>
        <p:spPr>
          <a:xfrm>
            <a:off x="5724128" y="2600908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A105D74-F1E5-4941-813B-70EB8FD96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938" y="2513657"/>
            <a:ext cx="1438275" cy="3905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D24BF2A-3C4F-4B11-8F4E-705DF8249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59" y="3696618"/>
            <a:ext cx="6353083" cy="1100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9B3AA7-FE4F-4824-905F-31813DD6858B}"/>
              </a:ext>
            </a:extLst>
          </p:cNvPr>
          <p:cNvSpPr/>
          <p:nvPr/>
        </p:nvSpPr>
        <p:spPr>
          <a:xfrm>
            <a:off x="7164288" y="3984650"/>
            <a:ext cx="1656184" cy="50405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</a:rPr>
              <a:t>총 </a:t>
            </a:r>
            <a:r>
              <a:rPr lang="en-US" altLang="ko-KR" sz="1200">
                <a:solidFill>
                  <a:srgbClr val="FF0000"/>
                </a:solidFill>
              </a:rPr>
              <a:t>159</a:t>
            </a:r>
            <a:r>
              <a:rPr lang="ko-KR" altLang="en-US" sz="1200">
                <a:solidFill>
                  <a:srgbClr val="FF0000"/>
                </a:solidFill>
              </a:rPr>
              <a:t>개의 샘플 중 </a:t>
            </a:r>
            <a:r>
              <a:rPr lang="en-US" altLang="ko-KR" sz="1200">
                <a:solidFill>
                  <a:srgbClr val="FF0000"/>
                </a:solidFill>
              </a:rPr>
              <a:t>33</a:t>
            </a:r>
            <a:r>
              <a:rPr lang="ko-KR" altLang="en-US" sz="1200">
                <a:solidFill>
                  <a:srgbClr val="FF0000"/>
                </a:solidFill>
              </a:rPr>
              <a:t>개의 샘플 선택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A87C24A-1163-4EE5-8855-E471ACD87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59" y="5157192"/>
            <a:ext cx="4139970" cy="12329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234F96AC-4658-4A9F-9536-DA770ECF0EB1}"/>
              </a:ext>
            </a:extLst>
          </p:cNvPr>
          <p:cNvSpPr/>
          <p:nvPr/>
        </p:nvSpPr>
        <p:spPr>
          <a:xfrm>
            <a:off x="5076056" y="5661248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A6E7CB6-3386-4E24-A533-E94771199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6607" y="5273960"/>
            <a:ext cx="27908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352234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5BC76-EC7A-4F04-9443-6BA6C5E6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로지스틱 회기 </a:t>
            </a:r>
            <a:r>
              <a:rPr lang="en-US" altLang="ko-KR"/>
              <a:t>(3)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CBC7D9-EC46-4F0F-BE02-1ABD7B6D5A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:r>
                  <a:rPr lang="ko-KR" altLang="en-US">
                    <a:sym typeface="Wingdings" panose="05000000000000000000" pitchFamily="2" charset="2"/>
                  </a:rPr>
                  <a:t>로지스틱 회기 모델이 학습한 방정식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lvl="1"/>
                <a:endParaRPr lang="en-US" altLang="ko-KR">
                  <a:sym typeface="Wingdings" panose="05000000000000000000" pitchFamily="2" charset="2"/>
                </a:endParaRPr>
              </a:p>
              <a:p>
                <a:pPr lvl="1"/>
                <a:endParaRPr lang="en-US" altLang="ko-KR">
                  <a:sym typeface="Wingdings" panose="05000000000000000000" pitchFamily="2" charset="2"/>
                </a:endParaRPr>
              </a:p>
              <a:p>
                <a:pPr lvl="2"/>
                <a:r>
                  <a:rPr lang="en-US" altLang="ko-KR">
                    <a:sym typeface="Wingdings" panose="05000000000000000000" pitchFamily="2" charset="2"/>
                  </a:rPr>
                  <a:t>Bream</a:t>
                </a:r>
                <a:r>
                  <a:rPr lang="ko-KR" altLang="en-US">
                    <a:sym typeface="Wingdings" panose="05000000000000000000" pitchFamily="2" charset="2"/>
                  </a:rPr>
                  <a:t>이 음성</a:t>
                </a:r>
                <a:r>
                  <a:rPr lang="en-US" altLang="ko-KR">
                    <a:sym typeface="Wingdings" panose="05000000000000000000" pitchFamily="2" charset="2"/>
                  </a:rPr>
                  <a:t>(-), Smelt</a:t>
                </a:r>
                <a:r>
                  <a:rPr lang="ko-KR" altLang="en-US">
                    <a:sym typeface="Wingdings" panose="05000000000000000000" pitchFamily="2" charset="2"/>
                  </a:rPr>
                  <a:t>가 양성</a:t>
                </a:r>
                <a:r>
                  <a:rPr lang="en-US" altLang="ko-KR">
                    <a:sym typeface="Wingdings" panose="05000000000000000000" pitchFamily="2" charset="2"/>
                  </a:rPr>
                  <a:t>(+) </a:t>
                </a:r>
                <a:r>
                  <a:rPr lang="ko-KR" altLang="en-US">
                    <a:sym typeface="Wingdings" panose="05000000000000000000" pitchFamily="2" charset="2"/>
                  </a:rPr>
                  <a:t>클래스임을 확인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lvl="2"/>
                <a:r>
                  <a:rPr lang="ko-KR" altLang="en-US">
                    <a:sym typeface="Wingdings" panose="05000000000000000000" pitchFamily="2" charset="2"/>
                  </a:rPr>
                  <a:t>방정식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=−0.404×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𝑾𝒆𝒊𝒈𝒉𝒕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0.576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𝑳𝒆𝒏𝒈𝒕𝒉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0.663×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𝑫𝒊𝒂𝒈𝒐𝒏𝒂𝒍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−1.013×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𝑯𝒆𝒊𝒈𝒉𝒕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0.732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𝑾𝒊𝒅𝒕𝒉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2.162</m:t>
                    </m:r>
                  </m:oMath>
                </a14:m>
                <a:endParaRPr lang="en-US" altLang="ko-KR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>
                    <a:sym typeface="Wingdings" panose="05000000000000000000" pitchFamily="2" charset="2"/>
                  </a:rPr>
                  <a:t>z </a:t>
                </a:r>
                <a:r>
                  <a:rPr lang="ko-KR" altLang="en-US">
                    <a:sym typeface="Wingdings" panose="05000000000000000000" pitchFamily="2" charset="2"/>
                  </a:rPr>
                  <a:t>값과 시그모이드 함수를 통과한 확률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marL="432000" lvl="1" indent="0">
                  <a:buNone/>
                </a:pPr>
                <a:endParaRPr lang="en-US" altLang="ko-KR">
                  <a:sym typeface="Wingdings" panose="05000000000000000000" pitchFamily="2" charset="2"/>
                </a:endParaRPr>
              </a:p>
              <a:p>
                <a:pPr lvl="1"/>
                <a:endParaRPr lang="en-US" altLang="ko-KR">
                  <a:sym typeface="Wingdings" panose="05000000000000000000" pitchFamily="2" charset="2"/>
                </a:endParaRPr>
              </a:p>
              <a:p>
                <a:pPr marL="432000" lvl="1" indent="0">
                  <a:buNone/>
                </a:pPr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CBC7D9-EC46-4F0F-BE02-1ABD7B6D5A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696C0-FC1B-4A70-BC96-00C3D2A4A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234F96AC-4658-4A9F-9536-DA770ECF0EB1}"/>
              </a:ext>
            </a:extLst>
          </p:cNvPr>
          <p:cNvSpPr/>
          <p:nvPr/>
        </p:nvSpPr>
        <p:spPr>
          <a:xfrm>
            <a:off x="3851920" y="1628800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3134C8-1455-413F-9CF8-83C29160D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293096"/>
            <a:ext cx="4744376" cy="1296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3E0A862-F5CA-4183-8A7D-988E424F6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1417794"/>
            <a:ext cx="2648154" cy="931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B5AF3A4-7D80-434E-92BA-0C71C8F9A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20" y="1986930"/>
            <a:ext cx="5162550" cy="361950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7CDD3C3-16A7-4E11-9BB3-48C62BBD7F20}"/>
              </a:ext>
            </a:extLst>
          </p:cNvPr>
          <p:cNvSpPr/>
          <p:nvPr/>
        </p:nvSpPr>
        <p:spPr>
          <a:xfrm>
            <a:off x="2267744" y="5784997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3CD360B-12ED-4E1F-9291-A56BB5A16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7784" y="5661248"/>
            <a:ext cx="5040802" cy="46352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B42E02-3921-453E-BDA9-3D0BCF82F5C7}"/>
              </a:ext>
            </a:extLst>
          </p:cNvPr>
          <p:cNvSpPr/>
          <p:nvPr/>
        </p:nvSpPr>
        <p:spPr>
          <a:xfrm>
            <a:off x="2654276" y="6136869"/>
            <a:ext cx="4438003" cy="31646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predict_prob() </a:t>
            </a:r>
            <a:r>
              <a:rPr lang="ko-KR" altLang="en-US" sz="1200">
                <a:solidFill>
                  <a:srgbClr val="FF0000"/>
                </a:solidFill>
              </a:rPr>
              <a:t>메서드 출력의 두번째 열 값과 동일</a:t>
            </a:r>
            <a:r>
              <a:rPr lang="en-US" altLang="ko-KR" sz="1200">
                <a:solidFill>
                  <a:srgbClr val="FF0000"/>
                </a:solidFill>
              </a:rPr>
              <a:t>!!</a:t>
            </a:r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657862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5BC76-EC7A-4F04-9443-6BA6C5E6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로지스틱 회기 </a:t>
            </a:r>
            <a:r>
              <a:rPr lang="en-US" altLang="ko-KR"/>
              <a:t>(4)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CBC7D9-EC46-4F0F-BE02-1ABD7B6D5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로지스틱 회기로 다중 분류 수행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 err="1">
                <a:sym typeface="Wingdings" panose="05000000000000000000" pitchFamily="2" charset="2"/>
              </a:rPr>
              <a:t>LogisticRegression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클래스는 반복적인 알고리즘을 사용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3"/>
            <a:r>
              <a:rPr lang="en-US" altLang="ko-KR" dirty="0" err="1">
                <a:sym typeface="Wingdings" panose="05000000000000000000" pitchFamily="2" charset="2"/>
              </a:rPr>
              <a:t>max_iter</a:t>
            </a:r>
            <a:r>
              <a:rPr lang="ko-KR" altLang="en-US" dirty="0">
                <a:sym typeface="Wingdings" panose="05000000000000000000" pitchFamily="2" charset="2"/>
              </a:rPr>
              <a:t>는 반복회수 지정</a:t>
            </a:r>
            <a:r>
              <a:rPr lang="en-US" altLang="ko-KR" dirty="0">
                <a:sym typeface="Wingdings" panose="05000000000000000000" pitchFamily="2" charset="2"/>
              </a:rPr>
              <a:t>. default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>
                <a:sym typeface="Wingdings" panose="05000000000000000000" pitchFamily="2" charset="2"/>
              </a:rPr>
              <a:t>100.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default </a:t>
            </a:r>
            <a:r>
              <a:rPr lang="ko-KR" altLang="en-US" dirty="0">
                <a:sym typeface="Wingdings" panose="05000000000000000000" pitchFamily="2" charset="2"/>
              </a:rPr>
              <a:t>값으로 하면 훈련 회수가 부족하다는 경고 메시지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규제는 </a:t>
            </a:r>
            <a:r>
              <a:rPr lang="ko-KR" altLang="en-US" dirty="0" err="1">
                <a:sym typeface="Wingdings" panose="05000000000000000000" pitchFamily="2" charset="2"/>
              </a:rPr>
              <a:t>릿지</a:t>
            </a:r>
            <a:r>
              <a:rPr lang="ko-KR" altLang="en-US" dirty="0">
                <a:sym typeface="Wingdings" panose="05000000000000000000" pitchFamily="2" charset="2"/>
              </a:rPr>
              <a:t> 회귀와 같은 계수의 제곱 사용</a:t>
            </a:r>
            <a:r>
              <a:rPr lang="en-US" altLang="ko-KR" dirty="0">
                <a:sym typeface="Wingdings" panose="05000000000000000000" pitchFamily="2" charset="2"/>
              </a:rPr>
              <a:t>(L2 </a:t>
            </a:r>
            <a:r>
              <a:rPr lang="ko-KR" altLang="en-US" dirty="0">
                <a:sym typeface="Wingdings" panose="05000000000000000000" pitchFamily="2" charset="2"/>
              </a:rPr>
              <a:t>규제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절대값 사용은 </a:t>
            </a:r>
            <a:r>
              <a:rPr lang="en-US" altLang="ko-KR" dirty="0">
                <a:sym typeface="Wingdings" panose="05000000000000000000" pitchFamily="2" charset="2"/>
              </a:rPr>
              <a:t>L1 </a:t>
            </a:r>
            <a:r>
              <a:rPr lang="ko-KR" altLang="en-US" dirty="0">
                <a:sym typeface="Wingdings" panose="05000000000000000000" pitchFamily="2" charset="2"/>
              </a:rPr>
              <a:t>규제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penalty</a:t>
            </a:r>
            <a:r>
              <a:rPr lang="ko-KR" altLang="en-US" dirty="0">
                <a:sym typeface="Wingdings" panose="05000000000000000000" pitchFamily="2" charset="2"/>
              </a:rPr>
              <a:t> 매개변수 이용</a:t>
            </a:r>
            <a:r>
              <a:rPr lang="en-US" altLang="ko-KR" dirty="0">
                <a:sym typeface="Wingdings" panose="05000000000000000000" pitchFamily="2" charset="2"/>
              </a:rPr>
              <a:t>. default = 'L2')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C</a:t>
            </a:r>
            <a:r>
              <a:rPr lang="ko-KR" altLang="en-US" dirty="0">
                <a:sym typeface="Wingdings" panose="05000000000000000000" pitchFamily="2" charset="2"/>
              </a:rPr>
              <a:t>는 규제를 제어하는 제어변수</a:t>
            </a:r>
            <a:r>
              <a:rPr lang="en-US" altLang="ko-KR" dirty="0">
                <a:sym typeface="Wingdings" panose="05000000000000000000" pitchFamily="2" charset="2"/>
              </a:rPr>
              <a:t>. default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C</a:t>
            </a:r>
            <a:r>
              <a:rPr lang="ko-KR" altLang="en-US" dirty="0">
                <a:sym typeface="Wingdings" panose="05000000000000000000" pitchFamily="2" charset="2"/>
              </a:rPr>
              <a:t>값은 </a:t>
            </a:r>
            <a:r>
              <a:rPr lang="en-US" altLang="ko-KR" dirty="0">
                <a:sym typeface="Wingdings" panose="05000000000000000000" pitchFamily="2" charset="2"/>
              </a:rPr>
              <a:t>(alpha</a:t>
            </a:r>
            <a:r>
              <a:rPr lang="ko-KR" altLang="en-US" dirty="0">
                <a:sym typeface="Wingdings" panose="05000000000000000000" pitchFamily="2" charset="2"/>
              </a:rPr>
              <a:t>와 반대로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ko-KR" altLang="en-US" dirty="0">
                <a:sym typeface="Wingdings" panose="05000000000000000000" pitchFamily="2" charset="2"/>
              </a:rPr>
              <a:t>값이 작을수록 규제가 커짐</a:t>
            </a:r>
            <a:r>
              <a:rPr lang="en-US" altLang="ko-KR" dirty="0">
                <a:sym typeface="Wingdings" panose="05000000000000000000" pitchFamily="2" charset="2"/>
              </a:rPr>
              <a:t>. C=20</a:t>
            </a:r>
            <a:r>
              <a:rPr lang="ko-KR" altLang="en-US" dirty="0">
                <a:sym typeface="Wingdings" panose="05000000000000000000" pitchFamily="2" charset="2"/>
              </a:rPr>
              <a:t>은 규제 완화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각 클래스</a:t>
            </a:r>
            <a:r>
              <a:rPr lang="en-US" altLang="ko-KR" dirty="0">
                <a:sym typeface="Wingdings" panose="05000000000000000000" pitchFamily="2" charset="2"/>
              </a:rPr>
              <a:t>(7</a:t>
            </a:r>
            <a:r>
              <a:rPr lang="ko-KR" altLang="en-US" dirty="0">
                <a:sym typeface="Wingdings" panose="05000000000000000000" pitchFamily="2" charset="2"/>
              </a:rPr>
              <a:t>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에 대한 예측 확률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marL="4320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696C0-FC1B-4A70-BC96-00C3D2A4A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234F96AC-4658-4A9F-9536-DA770ECF0EB1}"/>
              </a:ext>
            </a:extLst>
          </p:cNvPr>
          <p:cNvSpPr/>
          <p:nvPr/>
        </p:nvSpPr>
        <p:spPr>
          <a:xfrm>
            <a:off x="4463988" y="5326266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7CDD3C3-16A7-4E11-9BB3-48C62BBD7F20}"/>
              </a:ext>
            </a:extLst>
          </p:cNvPr>
          <p:cNvSpPr/>
          <p:nvPr/>
        </p:nvSpPr>
        <p:spPr>
          <a:xfrm>
            <a:off x="5076056" y="1870633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173158-3BC4-40B4-A979-C9A832D1A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43" y="1392386"/>
            <a:ext cx="3949534" cy="11725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0D31F2E-866C-42E3-9F1A-3FB79AE54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808173"/>
            <a:ext cx="1352550" cy="381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5FBECD3-D46F-4607-8E28-FEAC13843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743" y="4970895"/>
            <a:ext cx="3382778" cy="10478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53596DA-8519-4700-9F4C-857E26909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479" y="4894752"/>
            <a:ext cx="41243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41972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5BC76-EC7A-4F04-9443-6BA6C5E6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로지스틱 회기 </a:t>
            </a:r>
            <a:r>
              <a:rPr lang="en-US" altLang="ko-KR"/>
              <a:t>(5)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CBC7D9-EC46-4F0F-BE02-1ABD7B6D5A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:r>
                  <a:rPr lang="ko-KR" altLang="en-US">
                    <a:sym typeface="Wingdings" panose="05000000000000000000" pitchFamily="2" charset="2"/>
                  </a:rPr>
                  <a:t>계수 확인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lvl="1"/>
                <a:endParaRPr lang="en-US" altLang="ko-KR">
                  <a:sym typeface="Wingdings" panose="05000000000000000000" pitchFamily="2" charset="2"/>
                </a:endParaRPr>
              </a:p>
              <a:p>
                <a:pPr lvl="1"/>
                <a:endParaRPr lang="en-US" altLang="ko-KR">
                  <a:sym typeface="Wingdings" panose="05000000000000000000" pitchFamily="2" charset="2"/>
                </a:endParaRPr>
              </a:p>
              <a:p>
                <a:pPr lvl="2"/>
                <a:r>
                  <a:rPr lang="ko-KR" altLang="en-US">
                    <a:sym typeface="Wingdings" panose="05000000000000000000" pitchFamily="2" charset="2"/>
                  </a:rPr>
                  <a:t>각 클래스</a:t>
                </a:r>
                <a:r>
                  <a:rPr lang="en-US" altLang="ko-KR">
                    <a:sym typeface="Wingdings" panose="05000000000000000000" pitchFamily="2" charset="2"/>
                  </a:rPr>
                  <a:t>(7 </a:t>
                </a:r>
                <a:r>
                  <a:rPr lang="ko-KR" altLang="en-US">
                    <a:sym typeface="Wingdings" panose="05000000000000000000" pitchFamily="2" charset="2"/>
                  </a:rPr>
                  <a:t>종류</a:t>
                </a:r>
                <a:r>
                  <a:rPr lang="en-US" altLang="ko-KR">
                    <a:sym typeface="Wingdings" panose="05000000000000000000" pitchFamily="2" charset="2"/>
                  </a:rPr>
                  <a:t>)</a:t>
                </a:r>
                <a:r>
                  <a:rPr lang="ko-KR" altLang="en-US">
                    <a:sym typeface="Wingdings" panose="05000000000000000000" pitchFamily="2" charset="2"/>
                  </a:rPr>
                  <a:t>마다 </a:t>
                </a:r>
                <a:r>
                  <a:rPr lang="en-US" altLang="ko-KR">
                    <a:sym typeface="Wingdings" panose="05000000000000000000" pitchFamily="2" charset="2"/>
                  </a:rPr>
                  <a:t>z</a:t>
                </a:r>
                <a:r>
                  <a:rPr lang="ko-KR" altLang="en-US">
                    <a:sym typeface="Wingdings" panose="05000000000000000000" pitchFamily="2" charset="2"/>
                  </a:rPr>
                  <a:t>값을 하나씩 계산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lvl="2"/>
                <a:r>
                  <a:rPr lang="ko-KR" altLang="en-US">
                    <a:sym typeface="Wingdings" panose="05000000000000000000" pitchFamily="2" charset="2"/>
                  </a:rPr>
                  <a:t>가장 높은 </a:t>
                </a:r>
                <a:r>
                  <a:rPr lang="en-US" altLang="ko-KR">
                    <a:sym typeface="Wingdings" panose="05000000000000000000" pitchFamily="2" charset="2"/>
                  </a:rPr>
                  <a:t>z</a:t>
                </a:r>
                <a:r>
                  <a:rPr lang="ko-KR" altLang="en-US">
                    <a:sym typeface="Wingdings" panose="05000000000000000000" pitchFamily="2" charset="2"/>
                  </a:rPr>
                  <a:t>값을 출력하는 클래스가 예측 클래스가 됨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lvl="2"/>
                <a:r>
                  <a:rPr lang="ko-KR" altLang="en-US">
                    <a:sym typeface="Wingdings" panose="05000000000000000000" pitchFamily="2" charset="2"/>
                  </a:rPr>
                  <a:t>다중 분류는 시그모이드가 아닌 소프트맥스</a:t>
                </a:r>
                <a:r>
                  <a:rPr lang="en-US" altLang="ko-KR">
                    <a:sym typeface="Wingdings" panose="05000000000000000000" pitchFamily="2" charset="2"/>
                  </a:rPr>
                  <a:t>(softmax) </a:t>
                </a:r>
                <a:r>
                  <a:rPr lang="ko-KR" altLang="en-US">
                    <a:sym typeface="Wingdings" panose="05000000000000000000" pitchFamily="2" charset="2"/>
                  </a:rPr>
                  <a:t>함수를 사용하여 확률로 변환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marL="779400" lvl="2" indent="0">
                  <a:buNone/>
                </a:pPr>
                <a:r>
                  <a:rPr lang="en-US" altLang="ko-KR">
                    <a:sym typeface="Wingdings" panose="05000000000000000000" pitchFamily="2" charset="2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sum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5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6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z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7</m:t>
                            </m:r>
                          </m:sub>
                        </m:sSub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lang="en-US" altLang="ko-KR">
                  <a:sym typeface="Wingdings" panose="05000000000000000000" pitchFamily="2" charset="2"/>
                </a:endParaRPr>
              </a:p>
              <a:p>
                <a:pPr marL="779400" lvl="2" indent="0">
                  <a:buNone/>
                </a:pPr>
                <a:r>
                  <a:rPr lang="en-US" altLang="ko-KR">
                    <a:sym typeface="Wingdings" panose="05000000000000000000" pitchFamily="2" charset="2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3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4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5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6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7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sum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>
                  <a:sym typeface="Wingdings" panose="05000000000000000000" pitchFamily="2" charset="2"/>
                </a:endParaRPr>
              </a:p>
              <a:p>
                <a:pPr marL="779400" lvl="2" indent="0">
                  <a:buNone/>
                </a:pPr>
                <a:r>
                  <a:rPr lang="en-US" altLang="ko-KR">
                    <a:sym typeface="Wingdings" panose="05000000000000000000" pitchFamily="2" charset="2"/>
                  </a:rPr>
                  <a:t>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</m:oMath>
                </a14:m>
                <a:r>
                  <a:rPr lang="en-US" altLang="ko-KR">
                    <a:sym typeface="Wingdings" panose="05000000000000000000" pitchFamily="2" charset="2"/>
                  </a:rPr>
                  <a:t>)</a:t>
                </a:r>
              </a:p>
              <a:p>
                <a:pPr marL="779400" lvl="2" indent="0">
                  <a:buNone/>
                </a:pPr>
                <a:endParaRPr lang="en-US" altLang="ko-KR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CBC7D9-EC46-4F0F-BE02-1ABD7B6D5A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696C0-FC1B-4A70-BC96-00C3D2A4A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7CDD3C3-16A7-4E11-9BB3-48C62BBD7F20}"/>
              </a:ext>
            </a:extLst>
          </p:cNvPr>
          <p:cNvSpPr/>
          <p:nvPr/>
        </p:nvSpPr>
        <p:spPr>
          <a:xfrm>
            <a:off x="5292080" y="1744410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095B07-6CBD-46D1-8699-D833CA4D9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556792"/>
            <a:ext cx="3950954" cy="5476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0F57745-084A-4A92-BFB3-6BE6C3C02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1750884"/>
            <a:ext cx="733425" cy="2095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A3DF550-31F7-45B6-9AB4-9049FBD7765E}"/>
              </a:ext>
            </a:extLst>
          </p:cNvPr>
          <p:cNvSpPr/>
          <p:nvPr/>
        </p:nvSpPr>
        <p:spPr>
          <a:xfrm>
            <a:off x="1187624" y="5445224"/>
            <a:ext cx="4438003" cy="31646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Sigmoid </a:t>
            </a:r>
            <a:r>
              <a:rPr lang="ko-KR" altLang="en-US" sz="1200">
                <a:solidFill>
                  <a:srgbClr val="FF0000"/>
                </a:solidFill>
              </a:rPr>
              <a:t>함수와 </a:t>
            </a:r>
            <a:r>
              <a:rPr lang="en-US" altLang="ko-KR" sz="1200">
                <a:solidFill>
                  <a:srgbClr val="FF0000"/>
                </a:solidFill>
              </a:rPr>
              <a:t>softmax </a:t>
            </a:r>
            <a:r>
              <a:rPr lang="ko-KR" altLang="en-US" sz="1200">
                <a:solidFill>
                  <a:srgbClr val="FF0000"/>
                </a:solidFill>
              </a:rPr>
              <a:t>함수는 신경망에서 다시 등장</a:t>
            </a:r>
            <a:r>
              <a:rPr lang="en-US" altLang="ko-KR" sz="1200">
                <a:solidFill>
                  <a:srgbClr val="FF0000"/>
                </a:solidFill>
              </a:rPr>
              <a:t>!!!</a:t>
            </a:r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83306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5BC76-EC7A-4F04-9443-6BA6C5E6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로지스틱 회기 </a:t>
            </a:r>
            <a:r>
              <a:rPr lang="en-US" altLang="ko-KR"/>
              <a:t>(6)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CBC7D9-EC46-4F0F-BE02-1ABD7B6D5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확률 계산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en-US" altLang="ko-KR">
                <a:sym typeface="Wingdings" panose="05000000000000000000" pitchFamily="2" charset="2"/>
              </a:rPr>
              <a:t>softmax()</a:t>
            </a:r>
            <a:r>
              <a:rPr lang="ko-KR" altLang="en-US">
                <a:sym typeface="Wingdings" panose="05000000000000000000" pitchFamily="2" charset="2"/>
              </a:rPr>
              <a:t>의 매개변수 </a:t>
            </a:r>
            <a:r>
              <a:rPr lang="en-US" altLang="ko-KR">
                <a:sym typeface="Wingdings" panose="05000000000000000000" pitchFamily="2" charset="2"/>
              </a:rPr>
              <a:t>axis=1</a:t>
            </a:r>
            <a:r>
              <a:rPr lang="ko-KR" altLang="en-US">
                <a:sym typeface="Wingdings" panose="05000000000000000000" pitchFamily="2" charset="2"/>
              </a:rPr>
              <a:t>은 각 샘플에 대한 소프트맥스 계산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r>
              <a:rPr lang="ko-KR" altLang="en-US">
                <a:sym typeface="Wingdings" panose="05000000000000000000" pitchFamily="2" charset="2"/>
              </a:rPr>
              <a:t>이 값을 지정하지 않으면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전체 샘플에 대한 소프트맥스를 계산하여 의미가 퇴색됨</a:t>
            </a:r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696C0-FC1B-4A70-BC96-00C3D2A4A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7CDD3C3-16A7-4E11-9BB3-48C62BBD7F20}"/>
              </a:ext>
            </a:extLst>
          </p:cNvPr>
          <p:cNvSpPr/>
          <p:nvPr/>
        </p:nvSpPr>
        <p:spPr>
          <a:xfrm>
            <a:off x="5107005" y="2322316"/>
            <a:ext cx="216024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7622A3-A57B-4537-BC69-1B0CA19E5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14685"/>
            <a:ext cx="3960440" cy="20312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1C2DD70-F80C-4085-BA1A-A54092AAB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059" y="1581320"/>
            <a:ext cx="3614589" cy="16980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D87AF0-AB28-498B-B8DD-823AC2287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735" y="5038724"/>
            <a:ext cx="3311109" cy="91055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4D34AB-E25E-47D7-A585-1B9DB408FDD9}"/>
              </a:ext>
            </a:extLst>
          </p:cNvPr>
          <p:cNvSpPr/>
          <p:nvPr/>
        </p:nvSpPr>
        <p:spPr>
          <a:xfrm>
            <a:off x="5323029" y="3372921"/>
            <a:ext cx="3501899" cy="31646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</a:rPr>
              <a:t>10</a:t>
            </a:r>
            <a:r>
              <a:rPr lang="ko-KR" altLang="en-US" sz="1200">
                <a:solidFill>
                  <a:srgbClr val="FF0000"/>
                </a:solidFill>
              </a:rPr>
              <a:t>쪽의 </a:t>
            </a:r>
            <a:r>
              <a:rPr lang="en-US" altLang="ko-KR" sz="1200">
                <a:solidFill>
                  <a:srgbClr val="FF0000"/>
                </a:solidFill>
              </a:rPr>
              <a:t>predict_prob()</a:t>
            </a:r>
            <a:r>
              <a:rPr lang="ko-KR" altLang="en-US" sz="1200">
                <a:solidFill>
                  <a:srgbClr val="FF0000"/>
                </a:solidFill>
              </a:rPr>
              <a:t>의 출력 값과 동일</a:t>
            </a:r>
            <a:r>
              <a:rPr lang="en-US" altLang="ko-KR" sz="1200">
                <a:solidFill>
                  <a:srgbClr val="FF0000"/>
                </a:solidFill>
              </a:rPr>
              <a:t>!!</a:t>
            </a:r>
            <a:endParaRPr lang="ko-KR" alt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131555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</a:t>
            </a:r>
            <a:r>
              <a:rPr lang="ko-KR" altLang="en-US"/>
              <a:t>요약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dirty="0"/>
              <a:t>Key words</a:t>
            </a:r>
          </a:p>
          <a:p>
            <a:pPr lvl="1"/>
            <a:r>
              <a:rPr lang="ko-KR" altLang="en-US"/>
              <a:t>로지스틱회귀</a:t>
            </a:r>
            <a:r>
              <a:rPr lang="en-US" altLang="ko-KR"/>
              <a:t>: </a:t>
            </a:r>
            <a:r>
              <a:rPr lang="ko-KR" altLang="en-US"/>
              <a:t>선형방정식을 사용한 분류 알고리즘</a:t>
            </a:r>
            <a:r>
              <a:rPr lang="en-US" altLang="ko-KR"/>
              <a:t>. </a:t>
            </a:r>
            <a:r>
              <a:rPr lang="ko-KR" altLang="en-US"/>
              <a:t>선형회귀와 달리 시그모이드 함수나 소프트맥스 함수를 사용하여 클래스 확률 계산</a:t>
            </a:r>
            <a:endParaRPr lang="en-US" altLang="ko-KR"/>
          </a:p>
          <a:p>
            <a:pPr lvl="1"/>
            <a:r>
              <a:rPr lang="ko-KR" altLang="en-US"/>
              <a:t>다중분류</a:t>
            </a:r>
            <a:r>
              <a:rPr lang="en-US" altLang="ko-KR"/>
              <a:t>: </a:t>
            </a:r>
            <a:r>
              <a:rPr lang="ko-KR" altLang="en-US"/>
              <a:t>타겟 클래스가 </a:t>
            </a:r>
            <a:r>
              <a:rPr lang="en-US" altLang="ko-KR"/>
              <a:t>2</a:t>
            </a:r>
            <a:r>
              <a:rPr lang="ko-KR" altLang="en-US"/>
              <a:t>개 이상인 분류 문제</a:t>
            </a:r>
            <a:r>
              <a:rPr lang="en-US" altLang="ko-KR"/>
              <a:t>. </a:t>
            </a:r>
            <a:r>
              <a:rPr lang="ko-KR" altLang="en-US"/>
              <a:t>로지스틱회귀는 다중분류를 위해 소프트맥스 함수를 사용하여 클래스 예측</a:t>
            </a:r>
            <a:endParaRPr lang="en-US" altLang="ko-KR"/>
          </a:p>
          <a:p>
            <a:pPr lvl="1"/>
            <a:r>
              <a:rPr lang="ko-KR" altLang="en-US"/>
              <a:t>시그모이드 함수</a:t>
            </a:r>
            <a:r>
              <a:rPr lang="en-US" altLang="ko-KR"/>
              <a:t>: </a:t>
            </a:r>
            <a:r>
              <a:rPr lang="ko-KR" altLang="en-US"/>
              <a:t>선형방정식의 출력을 </a:t>
            </a:r>
            <a:r>
              <a:rPr lang="en-US" altLang="ko-KR"/>
              <a:t>0</a:t>
            </a:r>
            <a:r>
              <a:rPr lang="ko-KR" altLang="en-US"/>
              <a:t>과 </a:t>
            </a:r>
            <a:r>
              <a:rPr lang="en-US" altLang="ko-KR"/>
              <a:t>1 </a:t>
            </a:r>
            <a:r>
              <a:rPr lang="ko-KR" altLang="en-US"/>
              <a:t>사이의 값으로 압축하며 이진 분류를 위해 사용</a:t>
            </a:r>
            <a:endParaRPr lang="en-US" altLang="ko-KR"/>
          </a:p>
          <a:p>
            <a:pPr lvl="1"/>
            <a:r>
              <a:rPr lang="ko-KR" altLang="en-US"/>
              <a:t>소프트맥스 함수</a:t>
            </a:r>
            <a:r>
              <a:rPr lang="en-US" altLang="ko-KR"/>
              <a:t>: </a:t>
            </a:r>
            <a:r>
              <a:rPr lang="ko-KR" altLang="en-US"/>
              <a:t>다중분류에서 여러 선형방정식의 출력 결과를 정규화하여 합이 </a:t>
            </a:r>
            <a:r>
              <a:rPr lang="en-US" altLang="ko-KR"/>
              <a:t>1</a:t>
            </a:r>
            <a:r>
              <a:rPr lang="ko-KR" altLang="en-US"/>
              <a:t>이 되도록 함</a:t>
            </a:r>
            <a:endParaRPr lang="en-US" altLang="ko-KR"/>
          </a:p>
          <a:p>
            <a:r>
              <a:rPr lang="en-US" altLang="ko-KR"/>
              <a:t>sklearn </a:t>
            </a:r>
            <a:r>
              <a:rPr lang="ko-KR" altLang="en-US"/>
              <a:t>패키지</a:t>
            </a:r>
            <a:r>
              <a:rPr lang="en-US" altLang="ko-KR"/>
              <a:t>:</a:t>
            </a:r>
          </a:p>
          <a:p>
            <a:pPr lvl="1"/>
            <a:r>
              <a:rPr lang="en-US" altLang="ko-KR"/>
              <a:t>LogisticRegression </a:t>
            </a:r>
            <a:r>
              <a:rPr lang="ko-KR" altLang="en-US"/>
              <a:t>클래스</a:t>
            </a:r>
            <a:r>
              <a:rPr lang="en-US" altLang="ko-KR"/>
              <a:t>:</a:t>
            </a:r>
          </a:p>
          <a:p>
            <a:pPr lvl="2"/>
            <a:r>
              <a:rPr lang="en-US" altLang="ko-KR"/>
              <a:t>penalty</a:t>
            </a:r>
            <a:r>
              <a:rPr lang="ko-KR" altLang="en-US"/>
              <a:t> 매개변수에서 규제방식 선택</a:t>
            </a:r>
            <a:r>
              <a:rPr lang="en-US" altLang="ko-KR"/>
              <a:t>(L1(</a:t>
            </a:r>
            <a:r>
              <a:rPr lang="ko-KR" altLang="en-US"/>
              <a:t>라쏘</a:t>
            </a:r>
            <a:r>
              <a:rPr lang="en-US" altLang="ko-KR"/>
              <a:t>), L2(</a:t>
            </a:r>
            <a:r>
              <a:rPr lang="ko-KR" altLang="en-US"/>
              <a:t>릿지</a:t>
            </a:r>
            <a:r>
              <a:rPr lang="en-US" altLang="ko-KR"/>
              <a:t>)). default</a:t>
            </a:r>
            <a:r>
              <a:rPr lang="ko-KR" altLang="en-US"/>
              <a:t>는 </a:t>
            </a:r>
            <a:r>
              <a:rPr lang="en-US" altLang="ko-KR"/>
              <a:t>L2</a:t>
            </a:r>
          </a:p>
          <a:p>
            <a:pPr lvl="2"/>
            <a:r>
              <a:rPr lang="en-US" altLang="ko-KR"/>
              <a:t>C </a:t>
            </a:r>
            <a:r>
              <a:rPr lang="ko-KR" altLang="en-US"/>
              <a:t>매개변수에서 규제 강도 제어</a:t>
            </a:r>
            <a:r>
              <a:rPr lang="en-US" altLang="ko-KR"/>
              <a:t>. default</a:t>
            </a:r>
            <a:r>
              <a:rPr lang="ko-KR" altLang="en-US"/>
              <a:t>는 </a:t>
            </a:r>
            <a:r>
              <a:rPr lang="en-US" altLang="ko-KR"/>
              <a:t>1. </a:t>
            </a:r>
            <a:r>
              <a:rPr lang="ko-KR" altLang="en-US"/>
              <a:t>값이 작을수록 규제 강해짐</a:t>
            </a:r>
            <a:endParaRPr lang="en-US" altLang="ko-KR"/>
          </a:p>
          <a:p>
            <a:pPr lvl="1"/>
            <a:r>
              <a:rPr lang="en-US" altLang="ko-KR"/>
              <a:t>predict_proba() </a:t>
            </a:r>
            <a:r>
              <a:rPr lang="ko-KR" altLang="en-US"/>
              <a:t>메서드</a:t>
            </a:r>
            <a:r>
              <a:rPr lang="en-US" altLang="ko-KR"/>
              <a:t>:</a:t>
            </a:r>
          </a:p>
          <a:p>
            <a:pPr lvl="2"/>
            <a:r>
              <a:rPr lang="ko-KR" altLang="en-US"/>
              <a:t>예측 확률 반환</a:t>
            </a:r>
            <a:endParaRPr lang="en-US" altLang="ko-KR"/>
          </a:p>
          <a:p>
            <a:pPr lvl="2"/>
            <a:r>
              <a:rPr lang="ko-KR" altLang="en-US"/>
              <a:t>이진 분류의 경우에는 샘플마다 음성클래스와 양성클래스에 대한 확률 반환</a:t>
            </a:r>
            <a:endParaRPr lang="en-US" altLang="ko-KR"/>
          </a:p>
          <a:p>
            <a:pPr lvl="2"/>
            <a:r>
              <a:rPr lang="ko-KR" altLang="en-US"/>
              <a:t>다중 분류의 경우에는 샘플마다 모든 클래스에 대한 확률 반환</a:t>
            </a:r>
            <a:endParaRPr lang="en-US" altLang="ko-KR"/>
          </a:p>
          <a:p>
            <a:pPr lvl="1"/>
            <a:r>
              <a:rPr lang="en-US" altLang="ko-KR"/>
              <a:t>decision_function() </a:t>
            </a:r>
            <a:r>
              <a:rPr lang="ko-KR" altLang="en-US"/>
              <a:t>메서드</a:t>
            </a:r>
            <a:r>
              <a:rPr lang="en-US" altLang="ko-KR"/>
              <a:t>:</a:t>
            </a:r>
          </a:p>
          <a:p>
            <a:pPr lvl="2"/>
            <a:r>
              <a:rPr lang="ko-KR" altLang="en-US"/>
              <a:t>모델이 학습한 선형방정식의 출력</a:t>
            </a:r>
            <a:r>
              <a:rPr lang="en-US" altLang="ko-KR"/>
              <a:t>(z</a:t>
            </a:r>
            <a:r>
              <a:rPr lang="ko-KR" altLang="en-US"/>
              <a:t>값</a:t>
            </a:r>
            <a:r>
              <a:rPr lang="en-US" altLang="ko-KR"/>
              <a:t>) </a:t>
            </a:r>
            <a:r>
              <a:rPr lang="ko-KR" altLang="en-US"/>
              <a:t>반환</a:t>
            </a:r>
            <a:endParaRPr lang="en-US" altLang="ko-KR"/>
          </a:p>
          <a:p>
            <a:pPr lvl="2"/>
            <a:r>
              <a:rPr lang="ko-KR" altLang="en-US"/>
              <a:t>이진 분류의 경우에는 양성클래스의 값 반환</a:t>
            </a:r>
            <a:r>
              <a:rPr lang="en-US" altLang="ko-KR"/>
              <a:t>. 0</a:t>
            </a:r>
            <a:r>
              <a:rPr lang="ko-KR" altLang="en-US"/>
              <a:t>보다 크면 양성클래스</a:t>
            </a:r>
            <a:r>
              <a:rPr lang="en-US" altLang="ko-KR"/>
              <a:t>, 0</a:t>
            </a:r>
            <a:r>
              <a:rPr lang="ko-KR" altLang="en-US"/>
              <a:t>보다 작거나 같으면 음성클래스</a:t>
            </a:r>
            <a:endParaRPr lang="en-US" altLang="ko-KR"/>
          </a:p>
          <a:p>
            <a:pPr lvl="2"/>
            <a:r>
              <a:rPr lang="ko-KR" altLang="en-US"/>
              <a:t>다중 분류의 경우에는 각 클래스마다 선형방정식 계산</a:t>
            </a:r>
            <a:r>
              <a:rPr lang="en-US" altLang="ko-KR"/>
              <a:t>. </a:t>
            </a:r>
            <a:r>
              <a:rPr lang="ko-KR" altLang="en-US"/>
              <a:t>가장 큰 값의 클래스가 예측 클래스가 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36145</TotalTime>
  <Words>1072</Words>
  <Application>Microsoft Office PowerPoint</Application>
  <PresentationFormat>화면 슬라이드 쇼(4:3)</PresentationFormat>
  <Paragraphs>198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HY견고딕</vt:lpstr>
      <vt:lpstr>굴림</vt:lpstr>
      <vt:lpstr>맑은 고딕</vt:lpstr>
      <vt:lpstr>휴먼엑스포</vt:lpstr>
      <vt:lpstr>Cambria Math</vt:lpstr>
      <vt:lpstr>Times New Roman</vt:lpstr>
      <vt:lpstr>Wingdings</vt:lpstr>
      <vt:lpstr>기본 디자인</vt:lpstr>
      <vt:lpstr>Logistic Regression</vt:lpstr>
      <vt:lpstr>지난 시간 복습</vt:lpstr>
      <vt:lpstr>학습목표</vt:lpstr>
      <vt:lpstr>럭키백 속의 생선 확률</vt:lpstr>
      <vt:lpstr>Data 준비하기</vt:lpstr>
      <vt:lpstr>k-최근접 이웃 분류기의 확률 예측</vt:lpstr>
      <vt:lpstr>로지스틱 회기 (1)</vt:lpstr>
      <vt:lpstr>로지스틱 회기 (2)</vt:lpstr>
      <vt:lpstr>로지스틱 회기 (3)</vt:lpstr>
      <vt:lpstr>로지스틱 회기 (4)</vt:lpstr>
      <vt:lpstr>로지스틱 회기 (5)</vt:lpstr>
      <vt:lpstr>로지스틱 회기 (6)</vt:lpstr>
      <vt:lpstr>학습 요약 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752</cp:revision>
  <dcterms:created xsi:type="dcterms:W3CDTF">2003-05-07T20:17:23Z</dcterms:created>
  <dcterms:modified xsi:type="dcterms:W3CDTF">2025-10-05T12:39:32Z</dcterms:modified>
</cp:coreProperties>
</file>