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632" r:id="rId2"/>
    <p:sldId id="722" r:id="rId3"/>
    <p:sldId id="719" r:id="rId4"/>
    <p:sldId id="776" r:id="rId5"/>
    <p:sldId id="791" r:id="rId6"/>
    <p:sldId id="795" r:id="rId7"/>
    <p:sldId id="792" r:id="rId8"/>
    <p:sldId id="793" r:id="rId9"/>
    <p:sldId id="794" r:id="rId10"/>
    <p:sldId id="796" r:id="rId11"/>
    <p:sldId id="797" r:id="rId12"/>
    <p:sldId id="798" r:id="rId13"/>
    <p:sldId id="800" r:id="rId14"/>
    <p:sldId id="717" r:id="rId15"/>
    <p:sldId id="703" r:id="rId16"/>
  </p:sldIdLst>
  <p:sldSz cx="9144000" cy="6858000" type="screen4x3"/>
  <p:notesSz cx="6669088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CCFF"/>
    <a:srgbClr val="CCECFF"/>
    <a:srgbClr val="6699FF"/>
    <a:srgbClr val="FF6699"/>
    <a:srgbClr val="0070C0"/>
    <a:srgbClr val="FFCC66"/>
    <a:srgbClr val="5599BF"/>
    <a:srgbClr val="C5DBDD"/>
    <a:srgbClr val="FDF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83" autoAdjust="0"/>
    <p:restoredTop sz="94148" autoAdjust="0"/>
  </p:normalViewPr>
  <p:slideViewPr>
    <p:cSldViewPr>
      <p:cViewPr varScale="1">
        <p:scale>
          <a:sx n="89" d="100"/>
          <a:sy n="89" d="100"/>
        </p:scale>
        <p:origin x="90" y="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8C382E9-E5ED-4CED-B6BC-23B4AA5643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9321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56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C7CC32-617A-4543-9F16-0492C8AD01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3298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4949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4C1E9-341E-47A5-AC3A-D9E2B75F85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itchFamily="50" charset="-127"/>
                <a:ea typeface="맑은 고딕" pitchFamily="50" charset="-127"/>
              </a:defRPr>
            </a:lvl1pPr>
            <a:lvl2pPr marL="648000" indent="-216000">
              <a:buClr>
                <a:schemeClr val="accent6">
                  <a:lumMod val="50000"/>
                </a:schemeClr>
              </a:buClr>
              <a:defRPr sz="2200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008000"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>
              <a:defRPr sz="1800" b="1">
                <a:latin typeface="맑은 고딕" pitchFamily="50" charset="-127"/>
                <a:ea typeface="맑은 고딕" pitchFamily="50" charset="-127"/>
              </a:defRPr>
            </a:lvl4pPr>
            <a:lvl5pPr>
              <a:defRPr sz="18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C9E6-AAC5-4CE3-AEB9-B27125AB2F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CB472-C4C4-477E-8AC0-53956F9811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81EA1-F96D-428B-BAD9-77C664AB88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81765-32A9-43A2-A13B-73A4EFC8A2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97352"/>
            <a:ext cx="533400" cy="23518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C69D1-562B-4BA3-B970-F557F71732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63119-A075-4A06-B8B9-191AF54DF5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034A6-DBBC-48F1-A09B-6AF30E1274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30B49-4FB7-4305-BEBF-6D643FD066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B478B-1B83-4F62-9152-5F83492182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8E164-0165-4B37-AF99-AD7B6ECE17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23F4B-D0D5-4898-8A05-343EBDC5E8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55672"/>
            <a:ext cx="8928100" cy="807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1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34150"/>
            <a:ext cx="533400" cy="28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accent6">
                    <a:lumMod val="75000"/>
                  </a:schemeClr>
                </a:solidFill>
                <a:latin typeface="휴먼엑스포" pitchFamily="18" charset="-127"/>
                <a:ea typeface="휴먼엑스포" pitchFamily="18" charset="-127"/>
              </a:defRPr>
            </a:lvl1pPr>
          </a:lstStyle>
          <a:p>
            <a:pPr>
              <a:defRPr/>
            </a:pPr>
            <a:fld id="{C0C53A76-8A71-4B64-A76C-1B97F54C0D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12359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꿈     은 이루어진다</a:t>
            </a:r>
            <a:endParaRPr lang="ko-KR" altLang="en-US" dirty="0">
              <a:solidFill>
                <a:srgbClr val="CC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포인트가 5개인 별 9"/>
          <p:cNvSpPr/>
          <p:nvPr userDrawn="1"/>
        </p:nvSpPr>
        <p:spPr>
          <a:xfrm>
            <a:off x="286457" y="6453336"/>
            <a:ext cx="360040" cy="380578"/>
          </a:xfrm>
          <a:prstGeom prst="star5">
            <a:avLst/>
          </a:prstGeom>
          <a:solidFill>
            <a:srgbClr val="FF0000"/>
          </a:solidFill>
          <a:ln w="3175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6534222"/>
            <a:ext cx="1296144" cy="2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itchFamily="2" charset="2"/>
        <a:buChar char="v"/>
        <a:defRPr kumimoji="1" sz="24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Wingdings" pitchFamily="2" charset="2"/>
        <a:buChar char="§"/>
        <a:defRPr kumimoji="1" sz="2000" b="1">
          <a:solidFill>
            <a:srgbClr val="0070C0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 b="1">
          <a:solidFill>
            <a:srgbClr val="40404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 dirty="0"/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803772" y="1005117"/>
            <a:ext cx="7514232" cy="1269706"/>
          </a:xfrm>
        </p:spPr>
        <p:txBody>
          <a:bodyPr/>
          <a:lstStyle/>
          <a:p>
            <a:pPr algn="ctr">
              <a:defRPr/>
            </a:pPr>
            <a:r>
              <a:rPr lang="en-US" altLang="ko-KR" sz="4000"/>
              <a:t>Stochastic Gradient Descent</a:t>
            </a:r>
            <a:endParaRPr lang="ko-KR" alt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78754-65CB-43B1-8FA6-6B2AEC5BA3F2}"/>
              </a:ext>
            </a:extLst>
          </p:cNvPr>
          <p:cNvSpPr txBox="1"/>
          <p:nvPr/>
        </p:nvSpPr>
        <p:spPr>
          <a:xfrm>
            <a:off x="1968600" y="5450141"/>
            <a:ext cx="5184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&lt;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출처</a:t>
            </a:r>
            <a:r>
              <a:rPr lang="en-US" altLang="ko-KR">
                <a:solidFill>
                  <a:schemeClr val="bg1">
                    <a:lumMod val="85000"/>
                  </a:schemeClr>
                </a:solidFill>
              </a:rPr>
              <a:t>: https://miro.medium.com/&gt;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026" name="Picture 2" descr="Batch , Mini Batch and Stochastic gradient descent | by Sweta | Medium">
            <a:extLst>
              <a:ext uri="{FF2B5EF4-FFF2-40B4-BE49-F238E27FC236}">
                <a16:creationId xmlns:a16="http://schemas.microsoft.com/office/drawing/2014/main" id="{B5E63DB8-C4BE-4EC4-A113-46A15D82C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322" y="2299832"/>
            <a:ext cx="6367966" cy="3155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Tm="36370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71B43-C860-495B-8CD4-EC58BD07D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지난 시간 복습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A9F84D4-1220-4ACA-A103-F13EAF52BB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ko-KR" altLang="en-US"/>
                  <a:t>다중분류</a:t>
                </a:r>
                <a:r>
                  <a:rPr lang="en-US" altLang="ko-KR"/>
                  <a:t>(multi-class classification)</a:t>
                </a:r>
              </a:p>
              <a:p>
                <a:pPr lvl="1"/>
                <a:r>
                  <a:rPr lang="ko-KR" altLang="en-US"/>
                  <a:t>타겟 데이터에 </a:t>
                </a:r>
                <a:r>
                  <a:rPr lang="en-US" altLang="ko-KR"/>
                  <a:t>2 </a:t>
                </a:r>
                <a:r>
                  <a:rPr lang="ko-KR" altLang="en-US"/>
                  <a:t>이상의 클래스가 포함된 문제</a:t>
                </a:r>
                <a:endParaRPr lang="en-US" altLang="ko-KR"/>
              </a:p>
              <a:p>
                <a:pPr lvl="1"/>
                <a:r>
                  <a:rPr lang="en-US" altLang="ko-KR"/>
                  <a:t>k-</a:t>
                </a:r>
                <a:r>
                  <a:rPr lang="ko-KR" altLang="en-US"/>
                  <a:t>최근접 이웃 분류기로 이웃의 비율에 따라 확률 예측 가능</a:t>
                </a:r>
                <a:endParaRPr lang="en-US" altLang="ko-KR"/>
              </a:p>
              <a:p>
                <a:r>
                  <a:rPr lang="ko-KR" altLang="en-US"/>
                  <a:t>로지스틱 회귀</a:t>
                </a:r>
                <a:r>
                  <a:rPr lang="en-US" altLang="ko-KR"/>
                  <a:t>(Logistic regression)</a:t>
                </a:r>
              </a:p>
              <a:p>
                <a:pPr lvl="1"/>
                <a:r>
                  <a:rPr lang="ko-KR" altLang="en-US"/>
                  <a:t>이름은 회귀이지만 분류</a:t>
                </a:r>
                <a:r>
                  <a:rPr lang="en-US" altLang="ko-KR"/>
                  <a:t>(classification) </a:t>
                </a:r>
                <a:r>
                  <a:rPr lang="ko-KR" altLang="en-US"/>
                  <a:t>모델</a:t>
                </a:r>
                <a:endParaRPr lang="en-US" altLang="ko-KR"/>
              </a:p>
              <a:p>
                <a:pPr lvl="1"/>
                <a:r>
                  <a:rPr lang="ko-KR" altLang="en-US"/>
                  <a:t>선형회기</a:t>
                </a:r>
                <a:r>
                  <a:rPr lang="en-US" altLang="ko-KR"/>
                  <a:t>(linear regression)</a:t>
                </a:r>
                <a:r>
                  <a:rPr lang="ko-KR" altLang="en-US"/>
                  <a:t>과 동일하게 선형방정식을 학습 </a:t>
                </a:r>
                <a:r>
                  <a:rPr lang="en-US" altLang="ko-KR"/>
                  <a:t>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𝒃𝒚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𝒄𝒛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+…, 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여기서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ko-KR" altLang="en-US"/>
                  <a:t>은 계수</a:t>
                </a:r>
                <a:r>
                  <a:rPr lang="en-US" altLang="ko-KR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ko-KR" altLang="en-US"/>
                  <a:t>는 어떤 값이든 가능하지만 확률이 되기 위해 </a:t>
                </a:r>
                <a:r>
                  <a:rPr lang="en-US" altLang="ko-KR"/>
                  <a:t>0</a:t>
                </a:r>
                <a:r>
                  <a:rPr lang="ko-KR" altLang="en-US"/>
                  <a:t>과</a:t>
                </a:r>
                <a:r>
                  <a:rPr lang="en-US" altLang="ko-KR"/>
                  <a:t> 1</a:t>
                </a:r>
                <a:r>
                  <a:rPr lang="ko-KR" altLang="en-US"/>
                  <a:t>사이의 값으로 압축</a:t>
                </a:r>
                <a:br>
                  <a:rPr lang="en-US" altLang="ko-KR"/>
                </a:br>
                <a:r>
                  <a:rPr lang="en-US" altLang="ko-KR">
                    <a:sym typeface="Wingdings" panose="05000000000000000000" pitchFamily="2" charset="2"/>
                  </a:rPr>
                  <a:t> sigmoid(or logistic) function(</a:t>
                </a:r>
                <a:r>
                  <a:rPr lang="ko-KR" altLang="en-US">
                    <a:sym typeface="Wingdings" panose="05000000000000000000" pitchFamily="2" charset="2"/>
                  </a:rPr>
                  <a:t>이진 분류의 경우</a:t>
                </a:r>
                <a:r>
                  <a:rPr lang="en-US" altLang="ko-KR">
                    <a:sym typeface="Wingdings" panose="05000000000000000000" pitchFamily="2" charset="2"/>
                  </a:rPr>
                  <a:t>), softmax function(</a:t>
                </a:r>
                <a:r>
                  <a:rPr lang="ko-KR" altLang="en-US">
                    <a:sym typeface="Wingdings" panose="05000000000000000000" pitchFamily="2" charset="2"/>
                  </a:rPr>
                  <a:t>다중 분류의 경우</a:t>
                </a:r>
                <a:r>
                  <a:rPr lang="en-US" altLang="ko-KR">
                    <a:sym typeface="Wingdings" panose="05000000000000000000" pitchFamily="2" charset="2"/>
                  </a:rPr>
                  <a:t>)</a:t>
                </a:r>
                <a:endParaRPr lang="en-US" altLang="ko-KR"/>
              </a:p>
              <a:p>
                <a:r>
                  <a:rPr lang="ko-KR" altLang="en-US"/>
                  <a:t>데이터 준비</a:t>
                </a:r>
                <a:endParaRPr lang="en-US" altLang="ko-KR"/>
              </a:p>
              <a:p>
                <a:pPr lvl="1"/>
                <a:r>
                  <a:rPr lang="en-US" altLang="ko-KR"/>
                  <a:t>bream(</a:t>
                </a:r>
                <a:r>
                  <a:rPr lang="ko-KR" altLang="en-US"/>
                  <a:t>도미</a:t>
                </a:r>
                <a:r>
                  <a:rPr lang="en-US" altLang="ko-KR"/>
                  <a:t>), roach(</a:t>
                </a:r>
                <a:r>
                  <a:rPr lang="ko-KR" altLang="en-US"/>
                  <a:t>잉어과 물고기</a:t>
                </a:r>
                <a:r>
                  <a:rPr lang="en-US" altLang="ko-KR"/>
                  <a:t>), whitefish(</a:t>
                </a:r>
                <a:r>
                  <a:rPr lang="ko-KR" altLang="en-US"/>
                  <a:t>송어</a:t>
                </a:r>
                <a:r>
                  <a:rPr lang="en-US" altLang="ko-KR"/>
                  <a:t>), parkii, perch(</a:t>
                </a:r>
                <a:r>
                  <a:rPr lang="ko-KR" altLang="en-US"/>
                  <a:t>농어</a:t>
                </a:r>
                <a:r>
                  <a:rPr lang="en-US" altLang="ko-KR"/>
                  <a:t>), pike(</a:t>
                </a:r>
                <a:r>
                  <a:rPr lang="ko-KR" altLang="en-US"/>
                  <a:t>창꼬치</a:t>
                </a:r>
                <a:r>
                  <a:rPr lang="en-US" altLang="ko-KR"/>
                  <a:t>), smelt(</a:t>
                </a:r>
                <a:r>
                  <a:rPr lang="ko-KR" altLang="en-US"/>
                  <a:t>빙어</a:t>
                </a:r>
                <a:r>
                  <a:rPr lang="en-US" altLang="ko-KR"/>
                  <a:t>) 159</a:t>
                </a:r>
                <a:r>
                  <a:rPr lang="ko-KR" altLang="en-US"/>
                  <a:t>마리</a:t>
                </a:r>
                <a:r>
                  <a:rPr lang="en-US" altLang="ko-KR"/>
                  <a:t>, </a:t>
                </a:r>
                <a:r>
                  <a:rPr lang="en-US" altLang="ko-KR">
                    <a:sym typeface="Wingdings" panose="05000000000000000000" pitchFamily="2" charset="2"/>
                  </a:rPr>
                  <a:t>‘</a:t>
                </a:r>
                <a:r>
                  <a:rPr lang="ko-KR" altLang="en-US">
                    <a:sym typeface="Wingdings" panose="05000000000000000000" pitchFamily="2" charset="2"/>
                  </a:rPr>
                  <a:t>종류</a:t>
                </a:r>
                <a:r>
                  <a:rPr lang="en-US" altLang="ko-KR">
                    <a:sym typeface="Wingdings" panose="05000000000000000000" pitchFamily="2" charset="2"/>
                  </a:rPr>
                  <a:t>‘, ‘</a:t>
                </a:r>
                <a:r>
                  <a:rPr lang="ko-KR" altLang="en-US">
                    <a:sym typeface="Wingdings" panose="05000000000000000000" pitchFamily="2" charset="2"/>
                  </a:rPr>
                  <a:t>무게</a:t>
                </a:r>
                <a:r>
                  <a:rPr lang="en-US" altLang="ko-KR">
                    <a:sym typeface="Wingdings" panose="05000000000000000000" pitchFamily="2" charset="2"/>
                  </a:rPr>
                  <a:t>’, ‘</a:t>
                </a:r>
                <a:r>
                  <a:rPr lang="ko-KR" altLang="en-US">
                    <a:sym typeface="Wingdings" panose="05000000000000000000" pitchFamily="2" charset="2"/>
                  </a:rPr>
                  <a:t>길이</a:t>
                </a:r>
                <a:r>
                  <a:rPr lang="en-US" altLang="ko-KR">
                    <a:sym typeface="Wingdings" panose="05000000000000000000" pitchFamily="2" charset="2"/>
                  </a:rPr>
                  <a:t>’, ‘</a:t>
                </a:r>
                <a:r>
                  <a:rPr lang="ko-KR" altLang="en-US">
                    <a:sym typeface="Wingdings" panose="05000000000000000000" pitchFamily="2" charset="2"/>
                  </a:rPr>
                  <a:t>대각선</a:t>
                </a:r>
                <a:r>
                  <a:rPr lang="en-US" altLang="ko-KR">
                    <a:sym typeface="Wingdings" panose="05000000000000000000" pitchFamily="2" charset="2"/>
                  </a:rPr>
                  <a:t>’, ‘</a:t>
                </a:r>
                <a:r>
                  <a:rPr lang="ko-KR" altLang="en-US">
                    <a:sym typeface="Wingdings" panose="05000000000000000000" pitchFamily="2" charset="2"/>
                  </a:rPr>
                  <a:t>높이</a:t>
                </a:r>
                <a:r>
                  <a:rPr lang="en-US" altLang="ko-KR">
                    <a:sym typeface="Wingdings" panose="05000000000000000000" pitchFamily="2" charset="2"/>
                  </a:rPr>
                  <a:t>’, ‘</a:t>
                </a:r>
                <a:r>
                  <a:rPr lang="ko-KR" altLang="en-US">
                    <a:sym typeface="Wingdings" panose="05000000000000000000" pitchFamily="2" charset="2"/>
                  </a:rPr>
                  <a:t>두께</a:t>
                </a:r>
                <a:r>
                  <a:rPr lang="en-US" altLang="ko-KR">
                    <a:sym typeface="Wingdings" panose="05000000000000000000" pitchFamily="2" charset="2"/>
                  </a:rPr>
                  <a:t>‘ </a:t>
                </a:r>
                <a:endParaRPr lang="en-US" altLang="ko-KR"/>
              </a:p>
              <a:p>
                <a:pPr lvl="1"/>
                <a:r>
                  <a:rPr lang="en-US" altLang="ko-KR"/>
                  <a:t>CSV </a:t>
                </a:r>
                <a:r>
                  <a:rPr lang="ko-KR" altLang="en-US"/>
                  <a:t>파일을 데이터프레임 객체에 저장</a:t>
                </a:r>
                <a:r>
                  <a:rPr lang="en-US" altLang="ko-KR"/>
                  <a:t>: df=pandas.read_csv(‘</a:t>
                </a:r>
                <a:r>
                  <a:rPr lang="en-US" altLang="ko-KR" i="1"/>
                  <a:t>csv_url </a:t>
                </a:r>
                <a:r>
                  <a:rPr lang="en-US" altLang="ko-KR"/>
                  <a:t>’)</a:t>
                </a:r>
              </a:p>
              <a:p>
                <a:pPr lvl="1"/>
                <a:r>
                  <a:rPr lang="en-US" altLang="ko-KR"/>
                  <a:t>numpy</a:t>
                </a:r>
                <a:r>
                  <a:rPr lang="ko-KR" altLang="en-US"/>
                  <a:t>배열 준비</a:t>
                </a:r>
                <a:r>
                  <a:rPr lang="en-US" altLang="ko-KR"/>
                  <a:t>: perch_full = df.to_numpy()</a:t>
                </a:r>
              </a:p>
              <a:p>
                <a:pPr lvl="1"/>
                <a:r>
                  <a:rPr lang="en-US" altLang="ko-KR"/>
                  <a:t>test_train_split()</a:t>
                </a:r>
                <a:r>
                  <a:rPr lang="ko-KR" altLang="en-US"/>
                  <a:t>을 이용하여 </a:t>
                </a:r>
                <a:r>
                  <a:rPr lang="en-US" altLang="ko-KR"/>
                  <a:t>input, target </a:t>
                </a:r>
                <a:r>
                  <a:rPr lang="ko-KR" altLang="en-US"/>
                  <a:t>준비</a:t>
                </a:r>
                <a:endParaRPr lang="en-US" altLang="ko-KR"/>
              </a:p>
              <a:p>
                <a:pPr lvl="1"/>
                <a:r>
                  <a:rPr lang="ko-KR" altLang="en-US"/>
                  <a:t>표준점수화</a:t>
                </a:r>
                <a:r>
                  <a:rPr lang="en-US" altLang="ko-KR"/>
                  <a:t>: StandardScaler </a:t>
                </a:r>
                <a:r>
                  <a:rPr lang="ko-KR" altLang="en-US"/>
                  <a:t>객체 </a:t>
                </a:r>
                <a:r>
                  <a:rPr lang="en-US" altLang="ko-KR"/>
                  <a:t>ss, ss.fit(), ss.transform(input)</a:t>
                </a:r>
              </a:p>
              <a:p>
                <a:pPr lvl="1"/>
                <a:r>
                  <a:rPr lang="ko-KR" altLang="en-US"/>
                  <a:t>이진분류를 위해서는 </a:t>
                </a:r>
                <a:r>
                  <a:rPr lang="en-US" altLang="ko-KR"/>
                  <a:t>Boolean indexing</a:t>
                </a:r>
                <a:r>
                  <a:rPr lang="ko-KR" altLang="en-US"/>
                  <a:t>으로 선택</a:t>
                </a:r>
                <a:endParaRPr lang="en-US" altLang="ko-KR"/>
              </a:p>
              <a:p>
                <a:r>
                  <a:rPr lang="ko-KR" altLang="en-US"/>
                  <a:t>로지스틱 회귀 실행</a:t>
                </a:r>
                <a:endParaRPr lang="en-US" altLang="ko-KR"/>
              </a:p>
              <a:p>
                <a:pPr lvl="1"/>
                <a:r>
                  <a:rPr lang="en-US" altLang="ko-KR"/>
                  <a:t>LogisticRegression </a:t>
                </a:r>
                <a:r>
                  <a:rPr lang="ko-KR" altLang="en-US"/>
                  <a:t>객체를 </a:t>
                </a:r>
                <a:r>
                  <a:rPr lang="en-US" altLang="ko-KR"/>
                  <a:t>fit(), predict(), predict_proba() </a:t>
                </a:r>
                <a:r>
                  <a:rPr lang="ko-KR" altLang="en-US"/>
                  <a:t>하여 훈련</a:t>
                </a:r>
                <a:r>
                  <a:rPr lang="en-US" altLang="ko-KR"/>
                  <a:t>, </a:t>
                </a:r>
                <a:r>
                  <a:rPr lang="ko-KR" altLang="en-US"/>
                  <a:t>예측</a:t>
                </a:r>
                <a:r>
                  <a:rPr lang="en-US" altLang="ko-KR"/>
                  <a:t>, </a:t>
                </a:r>
                <a:r>
                  <a:rPr lang="ko-KR" altLang="en-US"/>
                  <a:t>확률 계산</a:t>
                </a:r>
                <a:endParaRPr lang="en-US" altLang="ko-KR"/>
              </a:p>
              <a:p>
                <a:pPr lvl="1"/>
                <a:r>
                  <a:rPr lang="ko-KR" altLang="en-US"/>
                  <a:t>다중분류의 경우에는 객체를 만들 때 매개변수 </a:t>
                </a:r>
                <a:r>
                  <a:rPr lang="en-US" altLang="ko-KR"/>
                  <a:t>C(</a:t>
                </a:r>
                <a:r>
                  <a:rPr lang="ko-KR" altLang="en-US"/>
                  <a:t>규제</a:t>
                </a:r>
                <a:r>
                  <a:rPr lang="en-US" altLang="ko-KR"/>
                  <a:t> </a:t>
                </a:r>
                <a:r>
                  <a:rPr lang="ko-KR" altLang="en-US"/>
                  <a:t>제어변수</a:t>
                </a:r>
                <a:r>
                  <a:rPr lang="en-US" altLang="ko-KR"/>
                  <a:t>), max_iter(</a:t>
                </a:r>
                <a:r>
                  <a:rPr lang="ko-KR" altLang="en-US"/>
                  <a:t>반복회수</a:t>
                </a:r>
                <a:r>
                  <a:rPr lang="en-US" altLang="ko-KR"/>
                  <a:t>) </a:t>
                </a:r>
                <a:r>
                  <a:rPr lang="ko-KR" altLang="en-US"/>
                  <a:t>지정</a:t>
                </a:r>
                <a:endParaRPr lang="en-US" altLang="ko-KR"/>
              </a:p>
              <a:p>
                <a:pPr lvl="1"/>
                <a:r>
                  <a:rPr lang="ko-KR" altLang="en-US"/>
                  <a:t>확률은 이진분류의 경우는 </a:t>
                </a:r>
                <a:r>
                  <a:rPr lang="en-US" altLang="ko-KR"/>
                  <a:t>sigmoid function, </a:t>
                </a:r>
                <a:r>
                  <a:rPr lang="ko-KR" altLang="en-US"/>
                  <a:t>다중분류의 경우에는 </a:t>
                </a:r>
                <a:r>
                  <a:rPr lang="en-US" altLang="ko-KR"/>
                  <a:t>softmax function </a:t>
                </a:r>
                <a:r>
                  <a:rPr lang="ko-KR" altLang="en-US"/>
                  <a:t>적용</a:t>
                </a:r>
                <a:endParaRPr lang="en-US" altLang="ko-KR"/>
              </a:p>
              <a:p>
                <a:pPr lvl="1"/>
                <a:endParaRPr lang="en-US" altLang="ko-KR"/>
              </a:p>
              <a:p>
                <a:pPr lvl="1"/>
                <a:endParaRPr lang="en-US" altLang="ko-KR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A9F84D4-1220-4ACA-A103-F13EAF52BB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04" t="-221" r="-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C460A6-4DBA-442D-B1A5-54053CCF98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1528316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E6938-5846-4440-B5F2-782388FED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학습목표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81E4D7-BB54-4FF2-8452-113620F71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 시간이 </a:t>
            </a:r>
            <a:r>
              <a:rPr lang="ko-KR" altLang="en-US"/>
              <a:t>종료되면 학생들은</a:t>
            </a:r>
            <a:endParaRPr lang="en-US" altLang="ko-KR"/>
          </a:p>
          <a:p>
            <a:pPr lvl="1"/>
            <a:r>
              <a:rPr lang="ko-KR" altLang="en-US"/>
              <a:t>확률적 경사하강법을 설명할 수 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손실함수를 설명할 수 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로지스틱 손실함수를 설명할 수 있다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SGDClassifier </a:t>
            </a:r>
            <a:r>
              <a:rPr lang="ko-KR" altLang="en-US"/>
              <a:t>클래스를 이용하여 훈련</a:t>
            </a:r>
            <a:r>
              <a:rPr lang="en-US" altLang="ko-KR"/>
              <a:t>/</a:t>
            </a:r>
            <a:r>
              <a:rPr lang="ko-KR" altLang="en-US"/>
              <a:t>예측을 할 수 있다</a:t>
            </a:r>
            <a:r>
              <a:rPr lang="en-US" altLang="ko-KR"/>
              <a:t>.</a:t>
            </a:r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06078B-3071-4128-9A58-72556F263B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4191978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8C414-B436-4C8D-AF33-1A801337F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럭키백 속의 생선 확률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F218E9-F0F5-43A2-9064-6D95E4134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우리의 문제</a:t>
            </a:r>
            <a:endParaRPr lang="en-US" altLang="ko-KR"/>
          </a:p>
          <a:p>
            <a:pPr lvl="1"/>
            <a:r>
              <a:rPr lang="ko-KR" altLang="en-US"/>
              <a:t>기존의 문제와 같이</a:t>
            </a:r>
            <a:r>
              <a:rPr lang="en-US" altLang="ko-KR"/>
              <a:t>...</a:t>
            </a:r>
          </a:p>
          <a:p>
            <a:pPr lvl="2"/>
            <a:r>
              <a:rPr lang="ko-KR" altLang="en-US"/>
              <a:t>럭키백 속에 생선 한마리를 넣음</a:t>
            </a:r>
            <a:endParaRPr lang="en-US" altLang="ko-KR"/>
          </a:p>
          <a:p>
            <a:pPr lvl="2"/>
            <a:r>
              <a:rPr lang="en-US" altLang="ko-KR"/>
              <a:t>7</a:t>
            </a:r>
            <a:r>
              <a:rPr lang="ko-KR" altLang="en-US"/>
              <a:t>가지 생선</a:t>
            </a:r>
            <a:r>
              <a:rPr lang="en-US" altLang="ko-KR"/>
              <a:t>(bream(</a:t>
            </a:r>
            <a:r>
              <a:rPr lang="ko-KR" altLang="en-US"/>
              <a:t>도미</a:t>
            </a:r>
            <a:r>
              <a:rPr lang="en-US" altLang="ko-KR"/>
              <a:t>), roach(</a:t>
            </a:r>
            <a:r>
              <a:rPr lang="ko-KR" altLang="en-US"/>
              <a:t>잉어과 물고기</a:t>
            </a:r>
            <a:r>
              <a:rPr lang="en-US" altLang="ko-KR"/>
              <a:t>), whitefish(</a:t>
            </a:r>
            <a:r>
              <a:rPr lang="ko-KR" altLang="en-US"/>
              <a:t>송어</a:t>
            </a:r>
            <a:r>
              <a:rPr lang="en-US" altLang="ko-KR"/>
              <a:t>), parkii, perch(</a:t>
            </a:r>
            <a:r>
              <a:rPr lang="ko-KR" altLang="en-US"/>
              <a:t>농어</a:t>
            </a:r>
            <a:r>
              <a:rPr lang="en-US" altLang="ko-KR"/>
              <a:t>), pike(</a:t>
            </a:r>
            <a:r>
              <a:rPr lang="ko-KR" altLang="en-US"/>
              <a:t>창꼬치</a:t>
            </a:r>
            <a:r>
              <a:rPr lang="en-US" altLang="ko-KR"/>
              <a:t>), smelt(</a:t>
            </a:r>
            <a:r>
              <a:rPr lang="ko-KR" altLang="en-US"/>
              <a:t>빙어</a:t>
            </a:r>
            <a:r>
              <a:rPr lang="en-US" altLang="ko-KR"/>
              <a:t>)) </a:t>
            </a:r>
            <a:r>
              <a:rPr lang="ko-KR" altLang="en-US"/>
              <a:t>중</a:t>
            </a:r>
            <a:r>
              <a:rPr lang="en-US" altLang="ko-KR"/>
              <a:t> </a:t>
            </a:r>
            <a:r>
              <a:rPr lang="ko-KR" altLang="en-US"/>
              <a:t>어떤 생선인지를 확률로 결정</a:t>
            </a:r>
            <a:endParaRPr lang="en-US" altLang="ko-KR"/>
          </a:p>
          <a:p>
            <a:pPr lvl="1"/>
            <a:r>
              <a:rPr lang="ko-KR" altLang="en-US">
                <a:sym typeface="Wingdings" panose="05000000000000000000" pitchFamily="2" charset="2"/>
              </a:rPr>
              <a:t>훈련데이터가 한번에 모두 준비되는 것이 아니라 조금씩 전달</a:t>
            </a:r>
            <a:endParaRPr lang="en-US" altLang="ko-KR">
              <a:sym typeface="Wingdings" panose="05000000000000000000" pitchFamily="2" charset="2"/>
            </a:endParaRPr>
          </a:p>
          <a:p>
            <a:pPr lvl="2"/>
            <a:r>
              <a:rPr lang="ko-KR" altLang="en-US">
                <a:sym typeface="Wingdings" panose="05000000000000000000" pitchFamily="2" charset="2"/>
              </a:rPr>
              <a:t>기존의 데이터에 신규 데이터를 합하여 매번 새로 훈련</a:t>
            </a:r>
            <a:br>
              <a:rPr lang="en-US" altLang="ko-KR">
                <a:sym typeface="Wingdings" panose="05000000000000000000" pitchFamily="2" charset="2"/>
              </a:rPr>
            </a:b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ko-KR" altLang="en-US">
                <a:sym typeface="Wingdings" panose="05000000000000000000" pitchFamily="2" charset="2"/>
              </a:rPr>
              <a:t>시간이 흐를수록 데이터가 쌓여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나중에는 감당하기 어려움</a:t>
            </a:r>
            <a:r>
              <a:rPr lang="en-US" altLang="ko-KR">
                <a:sym typeface="Wingdings" panose="05000000000000000000" pitchFamily="2" charset="2"/>
              </a:rPr>
              <a:t> </a:t>
            </a:r>
          </a:p>
          <a:p>
            <a:pPr lvl="2"/>
            <a:r>
              <a:rPr lang="ko-KR" altLang="en-US">
                <a:sym typeface="Wingdings" panose="05000000000000000000" pitchFamily="2" charset="2"/>
              </a:rPr>
              <a:t>신규 데이터가 올 때마다 기존</a:t>
            </a:r>
            <a:r>
              <a:rPr lang="en-US" altLang="ko-KR">
                <a:sym typeface="Wingdings" panose="05000000000000000000" pitchFamily="2" charset="2"/>
              </a:rPr>
              <a:t> </a:t>
            </a:r>
            <a:r>
              <a:rPr lang="ko-KR" altLang="en-US">
                <a:sym typeface="Wingdings" panose="05000000000000000000" pitchFamily="2" charset="2"/>
              </a:rPr>
              <a:t>데이터를 버리고 신규 데이터로만 새로 훈련</a:t>
            </a:r>
            <a:br>
              <a:rPr lang="en-US" altLang="ko-KR">
                <a:sym typeface="Wingdings" panose="05000000000000000000" pitchFamily="2" charset="2"/>
              </a:rPr>
            </a:b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ko-KR" altLang="en-US">
                <a:sym typeface="Wingdings" panose="05000000000000000000" pitchFamily="2" charset="2"/>
              </a:rPr>
              <a:t>훈련데이터 크기는 일정하나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기존의 중요 데이터가 날아갈 위험이 있음</a:t>
            </a:r>
            <a:endParaRPr lang="en-US" altLang="ko-KR">
              <a:sym typeface="Wingdings" panose="05000000000000000000" pitchFamily="2" charset="2"/>
            </a:endParaRPr>
          </a:p>
          <a:p>
            <a:pPr lvl="2"/>
            <a:r>
              <a:rPr lang="ko-KR" altLang="en-US">
                <a:sym typeface="Wingdings" panose="05000000000000000000" pitchFamily="2" charset="2"/>
              </a:rPr>
              <a:t>기존의 훈련 모델을 버리지 않고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신규 데이터로만 조금씩 더 훈련</a:t>
            </a:r>
            <a:br>
              <a:rPr lang="en-US" altLang="ko-KR">
                <a:sym typeface="Wingdings" panose="05000000000000000000" pitchFamily="2" charset="2"/>
              </a:rPr>
            </a:b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ko-KR" altLang="en-US">
                <a:sym typeface="Wingdings" panose="05000000000000000000" pitchFamily="2" charset="2"/>
              </a:rPr>
              <a:t>기존의 훈련데이터를 보관할 필요도 없고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기존 모델의 기억을 유지</a:t>
            </a:r>
            <a:br>
              <a:rPr lang="en-US" altLang="ko-KR">
                <a:sym typeface="Wingdings" panose="05000000000000000000" pitchFamily="2" charset="2"/>
              </a:rPr>
            </a:b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ko-KR" altLang="en-US">
                <a:sym typeface="Wingdings" panose="05000000000000000000" pitchFamily="2" charset="2"/>
              </a:rPr>
              <a:t>점진적 학습</a:t>
            </a:r>
            <a:r>
              <a:rPr lang="en-US" altLang="ko-KR">
                <a:sym typeface="Wingdings" panose="05000000000000000000" pitchFamily="2" charset="2"/>
              </a:rPr>
              <a:t>(or on-line</a:t>
            </a:r>
            <a:r>
              <a:rPr lang="ko-KR" altLang="en-US">
                <a:sym typeface="Wingdings" panose="05000000000000000000" pitchFamily="2" charset="2"/>
              </a:rPr>
              <a:t> 학습</a:t>
            </a:r>
            <a:r>
              <a:rPr lang="en-US" altLang="ko-KR">
                <a:sym typeface="Wingdings" panose="05000000000000000000" pitchFamily="2" charset="2"/>
              </a:rPr>
              <a:t>)</a:t>
            </a:r>
            <a:br>
              <a:rPr lang="en-US" altLang="ko-KR">
                <a:sym typeface="Wingdings" panose="05000000000000000000" pitchFamily="2" charset="2"/>
              </a:rPr>
            </a:br>
            <a:r>
              <a:rPr lang="en-US" altLang="ko-KR">
                <a:sym typeface="Wingdings" panose="05000000000000000000" pitchFamily="2" charset="2"/>
              </a:rPr>
              <a:t> “</a:t>
            </a:r>
            <a:r>
              <a:rPr lang="ko-KR" altLang="en-US">
                <a:solidFill>
                  <a:srgbClr val="FF0000"/>
                </a:solidFill>
                <a:sym typeface="Wingdings" panose="05000000000000000000" pitchFamily="2" charset="2"/>
              </a:rPr>
              <a:t>확률적 경사 하강법</a:t>
            </a:r>
            <a:r>
              <a:rPr lang="en-US" altLang="ko-KR">
                <a:sym typeface="Wingdings" panose="05000000000000000000" pitchFamily="2" charset="2"/>
              </a:rPr>
              <a:t>”</a:t>
            </a:r>
            <a:r>
              <a:rPr lang="ko-KR" altLang="en-US">
                <a:sym typeface="Wingdings" panose="05000000000000000000" pitchFamily="2" charset="2"/>
              </a:rPr>
              <a:t>이 대표적인 알고리즘임</a:t>
            </a:r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F9D0F5-F4D5-4255-828D-7D6F7C62CD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5533848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A90BA-FA3B-474A-982C-A90F25268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확률적 경사하강법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0F9587-6EC9-40A7-89F6-7C920FDAF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/>
              <a:t>경사하강법</a:t>
            </a:r>
            <a:r>
              <a:rPr lang="en-US" altLang="ko-KR"/>
              <a:t>(gradient</a:t>
            </a:r>
            <a:r>
              <a:rPr lang="ko-KR" altLang="en-US"/>
              <a:t> </a:t>
            </a:r>
            <a:r>
              <a:rPr lang="en-US" altLang="ko-KR"/>
              <a:t>descent)</a:t>
            </a:r>
            <a:r>
              <a:rPr lang="ko-KR" altLang="en-US"/>
              <a:t>이란</a:t>
            </a:r>
            <a:r>
              <a:rPr lang="en-US" altLang="ko-KR"/>
              <a:t>?</a:t>
            </a:r>
          </a:p>
          <a:p>
            <a:pPr lvl="1"/>
            <a:r>
              <a:rPr lang="ko-KR" altLang="en-US"/>
              <a:t>목표를 향한 기울기를 따라 진행하여 목표에 도달하는 방법</a:t>
            </a:r>
            <a:endParaRPr lang="en-US" altLang="ko-KR"/>
          </a:p>
          <a:p>
            <a:pPr lvl="1"/>
            <a:r>
              <a:rPr lang="ko-KR" altLang="en-US"/>
              <a:t>한번에 너무 많이 움직이면</a:t>
            </a:r>
            <a:r>
              <a:rPr lang="en-US" altLang="ko-KR"/>
              <a:t>, </a:t>
            </a:r>
            <a:r>
              <a:rPr lang="ko-KR" altLang="en-US"/>
              <a:t>목표지점을 지나서 </a:t>
            </a:r>
            <a:r>
              <a:rPr lang="en-US" altLang="ko-KR"/>
              <a:t>swing</a:t>
            </a:r>
            <a:r>
              <a:rPr lang="ko-KR" altLang="en-US"/>
              <a:t>할 수도 있으므로 가장 급경사를 따라 조금씩 움직이는 것이 중요</a:t>
            </a:r>
            <a:endParaRPr lang="en-US" altLang="ko-KR"/>
          </a:p>
          <a:p>
            <a:r>
              <a:rPr lang="ko-KR" altLang="en-US"/>
              <a:t> 확률적</a:t>
            </a:r>
            <a:r>
              <a:rPr lang="en-US" altLang="ko-KR"/>
              <a:t>(stochastic)</a:t>
            </a:r>
            <a:r>
              <a:rPr lang="ko-KR" altLang="en-US"/>
              <a:t>이란</a:t>
            </a:r>
            <a:r>
              <a:rPr lang="en-US" altLang="ko-KR"/>
              <a:t>?</a:t>
            </a:r>
          </a:p>
          <a:p>
            <a:pPr lvl="1"/>
            <a:r>
              <a:rPr lang="en-US" altLang="ko-KR"/>
              <a:t>‘</a:t>
            </a:r>
            <a:r>
              <a:rPr lang="ko-KR" altLang="en-US"/>
              <a:t>무작위하게</a:t>
            </a:r>
            <a:r>
              <a:rPr lang="en-US" altLang="ko-KR"/>
              <a:t>’, ‘</a:t>
            </a:r>
            <a:r>
              <a:rPr lang="ko-KR" altLang="en-US"/>
              <a:t>랜덤하게</a:t>
            </a:r>
            <a:r>
              <a:rPr lang="en-US" altLang="ko-KR"/>
              <a:t>’</a:t>
            </a:r>
          </a:p>
          <a:p>
            <a:pPr lvl="1"/>
            <a:r>
              <a:rPr lang="ko-KR" altLang="en-US"/>
              <a:t>전체 샘플을 사용하지 않고</a:t>
            </a:r>
            <a:r>
              <a:rPr lang="en-US" altLang="ko-KR"/>
              <a:t>, </a:t>
            </a:r>
            <a:r>
              <a:rPr lang="ko-KR" altLang="en-US"/>
              <a:t>훈련세트에서 랜덤하게 샘플을 골라 훈련에 사용</a:t>
            </a:r>
            <a:endParaRPr lang="en-US" altLang="ko-KR"/>
          </a:p>
          <a:p>
            <a:r>
              <a:rPr lang="ko-KR" altLang="en-US"/>
              <a:t>확률적 경사하강법</a:t>
            </a:r>
            <a:r>
              <a:rPr lang="en-US" altLang="ko-KR"/>
              <a:t>(stochastic gradient descent)</a:t>
            </a:r>
            <a:r>
              <a:rPr lang="ko-KR" altLang="en-US"/>
              <a:t>이란</a:t>
            </a:r>
            <a:r>
              <a:rPr lang="en-US" altLang="ko-KR"/>
              <a:t>?</a:t>
            </a:r>
          </a:p>
          <a:p>
            <a:pPr lvl="1"/>
            <a:r>
              <a:rPr lang="ko-KR" altLang="en-US"/>
              <a:t>훈련세트에서 랜덤하게 하나의 샘플을 골라 경사하강법을 시행하는 방법</a:t>
            </a:r>
            <a:endParaRPr lang="en-US" altLang="ko-KR"/>
          </a:p>
          <a:p>
            <a:pPr lvl="1"/>
            <a:r>
              <a:rPr lang="ko-KR" altLang="en-US"/>
              <a:t>전체 샘플을 다 선택할 때까지 반복 </a:t>
            </a:r>
            <a:br>
              <a:rPr lang="en-US" altLang="ko-KR"/>
            </a:b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ko-KR" altLang="en-US">
                <a:sym typeface="Wingdings" panose="05000000000000000000" pitchFamily="2" charset="2"/>
              </a:rPr>
              <a:t>에포크</a:t>
            </a:r>
            <a:r>
              <a:rPr lang="en-US" altLang="ko-KR">
                <a:sym typeface="Wingdings" panose="05000000000000000000" pitchFamily="2" charset="2"/>
              </a:rPr>
              <a:t>(epoch): </a:t>
            </a:r>
            <a:r>
              <a:rPr lang="ko-KR" altLang="en-US">
                <a:sym typeface="Wingdings" panose="05000000000000000000" pitchFamily="2" charset="2"/>
              </a:rPr>
              <a:t>훈련세트를 한번 모두 사용하는 과정</a:t>
            </a:r>
            <a:r>
              <a:rPr lang="en-US" altLang="ko-KR">
                <a:sym typeface="Wingdings" panose="05000000000000000000" pitchFamily="2" charset="2"/>
              </a:rPr>
              <a:t>. </a:t>
            </a:r>
            <a:r>
              <a:rPr lang="ko-KR" altLang="en-US">
                <a:sym typeface="Wingdings" panose="05000000000000000000" pitchFamily="2" charset="2"/>
              </a:rPr>
              <a:t>일반적으로 경사하강법은 수십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수백번 이상의 에포크를 수행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04E459-D069-40E3-A021-A6B2EB4E4F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01090999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AD874A-2348-4DD9-B336-540BA7222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경사하강법의 종류 </a:t>
            </a:r>
            <a:r>
              <a:rPr lang="en-US" altLang="ko-KR"/>
              <a:t>(1)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ACC39B-6D28-4385-9DA6-FEC01CF30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배치</a:t>
            </a:r>
            <a:r>
              <a:rPr lang="en-US" altLang="ko-KR"/>
              <a:t>(batch)</a:t>
            </a:r>
            <a:r>
              <a:rPr lang="ko-KR" altLang="en-US"/>
              <a:t> 경사하강법</a:t>
            </a:r>
            <a:endParaRPr lang="en-US" altLang="ko-KR"/>
          </a:p>
          <a:p>
            <a:pPr lvl="1"/>
            <a:r>
              <a:rPr lang="ko-KR" altLang="en-US"/>
              <a:t>전체 샘플을 사용하여 한번에 경사를 따라 이동</a:t>
            </a:r>
            <a:endParaRPr lang="en-US" altLang="ko-KR"/>
          </a:p>
          <a:p>
            <a:pPr lvl="1"/>
            <a:r>
              <a:rPr lang="ko-KR" altLang="en-US"/>
              <a:t>가장 안정적인 방법</a:t>
            </a:r>
            <a:endParaRPr lang="en-US" altLang="ko-KR"/>
          </a:p>
          <a:p>
            <a:pPr lvl="1"/>
            <a:r>
              <a:rPr lang="ko-KR" altLang="en-US"/>
              <a:t>컴퓨터 자원을 많이 사용</a:t>
            </a:r>
            <a:r>
              <a:rPr lang="en-US" altLang="ko-KR"/>
              <a:t>. </a:t>
            </a:r>
            <a:r>
              <a:rPr lang="ko-KR" altLang="en-US"/>
              <a:t>데이터가 너무 크면</a:t>
            </a:r>
            <a:r>
              <a:rPr lang="en-US" altLang="ko-KR"/>
              <a:t>, </a:t>
            </a:r>
            <a:r>
              <a:rPr lang="ko-KR" altLang="en-US"/>
              <a:t>불가능할 수도</a:t>
            </a:r>
            <a:r>
              <a:rPr lang="en-US" altLang="ko-KR"/>
              <a:t>...</a:t>
            </a:r>
          </a:p>
          <a:p>
            <a:r>
              <a:rPr lang="ko-KR" altLang="en-US"/>
              <a:t>미니비치</a:t>
            </a:r>
            <a:r>
              <a:rPr lang="en-US" altLang="ko-KR"/>
              <a:t>(minibatch)</a:t>
            </a:r>
            <a:r>
              <a:rPr lang="ko-KR" altLang="en-US"/>
              <a:t> 경사하강법</a:t>
            </a:r>
            <a:endParaRPr lang="en-US" altLang="ko-KR"/>
          </a:p>
          <a:p>
            <a:pPr lvl="1"/>
            <a:r>
              <a:rPr lang="ko-KR" altLang="en-US"/>
              <a:t>여러개의 샘플</a:t>
            </a:r>
            <a:r>
              <a:rPr lang="en-US" altLang="ko-KR"/>
              <a:t>(</a:t>
            </a:r>
            <a:r>
              <a:rPr lang="ko-KR" altLang="en-US"/>
              <a:t>무작위</a:t>
            </a:r>
            <a:r>
              <a:rPr lang="en-US" altLang="ko-KR"/>
              <a:t>)</a:t>
            </a:r>
            <a:r>
              <a:rPr lang="ko-KR" altLang="en-US"/>
              <a:t>을 사용하여 경사하강</a:t>
            </a:r>
            <a:endParaRPr lang="en-US" altLang="ko-KR"/>
          </a:p>
          <a:p>
            <a:pPr lvl="1"/>
            <a:r>
              <a:rPr lang="ko-KR" altLang="en-US"/>
              <a:t>배치 경사하강법과</a:t>
            </a:r>
            <a:r>
              <a:rPr lang="en-US" altLang="ko-KR"/>
              <a:t> </a:t>
            </a:r>
            <a:r>
              <a:rPr lang="ko-KR" altLang="en-US"/>
              <a:t>확률적 경사하강법의 중간 형태</a:t>
            </a:r>
            <a:endParaRPr lang="en-US" altLang="ko-KR"/>
          </a:p>
          <a:p>
            <a:pPr lvl="1"/>
            <a:r>
              <a:rPr lang="ko-KR" altLang="en-US"/>
              <a:t>실전에서 많이 사용</a:t>
            </a:r>
            <a:endParaRPr lang="en-US" altLang="ko-KR"/>
          </a:p>
          <a:p>
            <a:r>
              <a:rPr lang="ko-KR" altLang="en-US"/>
              <a:t>확률적</a:t>
            </a:r>
            <a:r>
              <a:rPr lang="en-US" altLang="ko-KR"/>
              <a:t>(stochastic) </a:t>
            </a:r>
            <a:r>
              <a:rPr lang="ko-KR" altLang="en-US"/>
              <a:t>경사하강법</a:t>
            </a:r>
            <a:endParaRPr lang="en-US" altLang="ko-KR"/>
          </a:p>
          <a:p>
            <a:pPr lvl="1"/>
            <a:r>
              <a:rPr lang="ko-KR" altLang="en-US"/>
              <a:t>하나의 샘플</a:t>
            </a:r>
            <a:r>
              <a:rPr lang="en-US" altLang="ko-KR"/>
              <a:t>(</a:t>
            </a:r>
            <a:r>
              <a:rPr lang="ko-KR" altLang="en-US"/>
              <a:t>무작위</a:t>
            </a:r>
            <a:r>
              <a:rPr lang="en-US" altLang="ko-KR"/>
              <a:t>)</a:t>
            </a:r>
            <a:r>
              <a:rPr lang="ko-KR" altLang="en-US"/>
              <a:t>을 사용하여 경사하강</a:t>
            </a:r>
            <a:endParaRPr lang="en-US" altLang="ko-KR"/>
          </a:p>
          <a:p>
            <a:pPr lvl="1"/>
            <a:r>
              <a:rPr lang="ko-KR" altLang="en-US"/>
              <a:t>신경망의</a:t>
            </a:r>
            <a:r>
              <a:rPr lang="en-US" altLang="ko-KR"/>
              <a:t> </a:t>
            </a:r>
            <a:r>
              <a:rPr lang="ko-KR" altLang="en-US"/>
              <a:t>경우에는 많은 데이터를 사용하므로</a:t>
            </a:r>
            <a:r>
              <a:rPr lang="en-US" altLang="ko-KR"/>
              <a:t>, </a:t>
            </a:r>
            <a:r>
              <a:rPr lang="ko-KR" altLang="en-US"/>
              <a:t>확률적 경사하강법이나</a:t>
            </a:r>
            <a:r>
              <a:rPr lang="en-US" altLang="ko-KR"/>
              <a:t>, </a:t>
            </a:r>
            <a:r>
              <a:rPr lang="ko-KR" altLang="en-US"/>
              <a:t>미니배치 경사하강법을 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76704A-A17D-4FD2-B3AD-7D752E2A08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83553242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AD874A-2348-4DD9-B336-540BA7222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경사하강법의 종류 </a:t>
            </a:r>
            <a:r>
              <a:rPr lang="en-US" altLang="ko-KR"/>
              <a:t>(2)</a:t>
            </a:r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0860BC9-2551-423F-BC24-3A5DB0DAD3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4987" y="1021556"/>
            <a:ext cx="8096250" cy="543877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76704A-A17D-4FD2-B3AD-7D752E2A08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83026081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A87CEF-5B8B-4A57-834E-E58371CFA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손실함수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C1E4A9-97B4-4F51-B87C-4DD113F7F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/>
              <a:t>손실함수</a:t>
            </a:r>
            <a:r>
              <a:rPr lang="en-US" altLang="ko-KR"/>
              <a:t>(loss</a:t>
            </a:r>
            <a:r>
              <a:rPr lang="ko-KR" altLang="en-US"/>
              <a:t> </a:t>
            </a:r>
            <a:r>
              <a:rPr lang="en-US" altLang="ko-KR"/>
              <a:t>function </a:t>
            </a:r>
            <a:r>
              <a:rPr lang="ko-KR" altLang="en-US"/>
              <a:t>또는</a:t>
            </a:r>
            <a:r>
              <a:rPr lang="en-US" altLang="ko-KR"/>
              <a:t> </a:t>
            </a:r>
            <a:r>
              <a:rPr lang="ko-KR" altLang="en-US"/>
              <a:t>비용함수</a:t>
            </a:r>
            <a:r>
              <a:rPr lang="en-US" altLang="ko-KR"/>
              <a:t>(cost function))</a:t>
            </a:r>
            <a:r>
              <a:rPr lang="ko-KR" altLang="en-US"/>
              <a:t>란</a:t>
            </a:r>
            <a:r>
              <a:rPr lang="en-US" altLang="ko-KR"/>
              <a:t>?</a:t>
            </a:r>
          </a:p>
          <a:p>
            <a:pPr lvl="1"/>
            <a:r>
              <a:rPr lang="ko-KR" altLang="en-US"/>
              <a:t>머신러닝 알고리즘이 얼마나 엉터리인지를 측정하는 함수</a:t>
            </a:r>
            <a:endParaRPr lang="en-US" altLang="ko-KR"/>
          </a:p>
          <a:p>
            <a:pPr lvl="1"/>
            <a:r>
              <a:rPr lang="ko-KR" altLang="en-US"/>
              <a:t>하강의 방향을 정함 </a:t>
            </a: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ko-KR" altLang="en-US">
                <a:sym typeface="Wingdings" panose="05000000000000000000" pitchFamily="2" charset="2"/>
              </a:rPr>
              <a:t>손실함수의 값이 최소인 곳으로 진행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어떤 값이 최소인지는 알 수 없으나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적절한</a:t>
            </a:r>
            <a:r>
              <a:rPr lang="en-US" altLang="ko-KR">
                <a:sym typeface="Wingdings" panose="05000000000000000000" pitchFamily="2" charset="2"/>
              </a:rPr>
              <a:t>(?) </a:t>
            </a:r>
            <a:r>
              <a:rPr lang="ko-KR" altLang="en-US">
                <a:sym typeface="Wingdings" panose="05000000000000000000" pitchFamily="2" charset="2"/>
              </a:rPr>
              <a:t>값을 인정</a:t>
            </a:r>
            <a:endParaRPr lang="en-US" altLang="ko-KR"/>
          </a:p>
          <a:p>
            <a:pPr lvl="1"/>
            <a:r>
              <a:rPr lang="ko-KR" altLang="en-US"/>
              <a:t>기술적으로 손실함수는 미분가능해야 함</a:t>
            </a:r>
            <a:r>
              <a:rPr lang="en-US" altLang="ko-KR"/>
              <a:t>. </a:t>
            </a:r>
            <a:r>
              <a:rPr lang="ko-KR" altLang="en-US"/>
              <a:t>즉 연속적이라야 함</a:t>
            </a:r>
            <a:endParaRPr lang="en-US" altLang="ko-KR"/>
          </a:p>
          <a:p>
            <a:r>
              <a:rPr lang="ko-KR" altLang="en-US"/>
              <a:t>분류에서의 손실</a:t>
            </a:r>
            <a:endParaRPr lang="en-US" altLang="ko-KR"/>
          </a:p>
          <a:p>
            <a:pPr lvl="1"/>
            <a:r>
              <a:rPr lang="ko-KR" altLang="en-US"/>
              <a:t>정답을 못 맞히는 것 </a:t>
            </a: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ko-KR" altLang="en-US">
                <a:sym typeface="Wingdings" panose="05000000000000000000" pitchFamily="2" charset="2"/>
              </a:rPr>
              <a:t>정답에서 멀 수록 값이 크도록 설계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/>
              <a:t>정확도를 손실함수로 이용하면</a:t>
            </a:r>
            <a:r>
              <a:rPr lang="en-US" altLang="ko-KR"/>
              <a:t>?</a:t>
            </a:r>
          </a:p>
          <a:p>
            <a:pPr lvl="2"/>
            <a:r>
              <a:rPr lang="ko-KR" altLang="en-US"/>
              <a:t>맞히면 </a:t>
            </a:r>
            <a:r>
              <a:rPr lang="en-US" altLang="ko-KR"/>
              <a:t>0, </a:t>
            </a:r>
            <a:r>
              <a:rPr lang="ko-KR" altLang="en-US"/>
              <a:t>못 맞히면 </a:t>
            </a:r>
            <a:r>
              <a:rPr lang="en-US" altLang="ko-KR"/>
              <a:t>1</a:t>
            </a:r>
            <a:r>
              <a:rPr lang="ko-KR" altLang="en-US"/>
              <a:t>로</a:t>
            </a:r>
            <a:r>
              <a:rPr lang="en-US" altLang="ko-KR"/>
              <a:t> </a:t>
            </a:r>
            <a:r>
              <a:rPr lang="ko-KR" altLang="en-US"/>
              <a:t>가정</a:t>
            </a:r>
            <a:endParaRPr lang="en-US" altLang="ko-KR"/>
          </a:p>
          <a:p>
            <a:pPr lvl="2"/>
            <a:r>
              <a:rPr lang="ko-KR" altLang="en-US"/>
              <a:t>정확도 </a:t>
            </a:r>
            <a:r>
              <a:rPr lang="en-US" altLang="ko-KR"/>
              <a:t>= (0+1+0+1)/4 = 0.5</a:t>
            </a:r>
          </a:p>
          <a:p>
            <a:pPr lvl="2"/>
            <a:r>
              <a:rPr lang="ko-KR" altLang="en-US"/>
              <a:t>이 경우</a:t>
            </a:r>
            <a:r>
              <a:rPr lang="en-US" altLang="ko-KR"/>
              <a:t>, </a:t>
            </a:r>
            <a:r>
              <a:rPr lang="ko-KR" altLang="en-US"/>
              <a:t>정확도는 </a:t>
            </a:r>
            <a:r>
              <a:rPr lang="en-US" altLang="ko-KR"/>
              <a:t>(sample</a:t>
            </a:r>
            <a:r>
              <a:rPr lang="ko-KR" altLang="en-US"/>
              <a:t>이 </a:t>
            </a:r>
            <a:r>
              <a:rPr lang="en-US" altLang="ko-KR"/>
              <a:t>4</a:t>
            </a:r>
            <a:r>
              <a:rPr lang="ko-KR" altLang="en-US"/>
              <a:t>개이므로</a:t>
            </a:r>
            <a:r>
              <a:rPr lang="en-US" altLang="ko-KR"/>
              <a:t>)</a:t>
            </a:r>
            <a:br>
              <a:rPr lang="en-US" altLang="ko-KR"/>
            </a:br>
            <a:r>
              <a:rPr lang="en-US" altLang="ko-KR"/>
              <a:t>0, 0.25, 0.5, 0.75, 1</a:t>
            </a:r>
            <a:r>
              <a:rPr lang="ko-KR" altLang="en-US"/>
              <a:t>의</a:t>
            </a:r>
            <a:r>
              <a:rPr lang="en-US" altLang="ko-KR"/>
              <a:t> 5</a:t>
            </a:r>
            <a:r>
              <a:rPr lang="ko-KR" altLang="en-US"/>
              <a:t>가지 중 하나가 됨</a:t>
            </a:r>
            <a:br>
              <a:rPr lang="en-US" altLang="ko-KR"/>
            </a:br>
            <a:r>
              <a:rPr lang="en-US" altLang="ko-KR">
                <a:sym typeface="Wingdings" panose="05000000000000000000" pitchFamily="2" charset="2"/>
              </a:rPr>
              <a:t></a:t>
            </a:r>
            <a:r>
              <a:rPr lang="ko-KR" altLang="en-US">
                <a:sym typeface="Wingdings" panose="05000000000000000000" pitchFamily="2" charset="2"/>
              </a:rPr>
              <a:t> 이산</a:t>
            </a:r>
            <a:r>
              <a:rPr lang="en-US" altLang="ko-KR">
                <a:sym typeface="Wingdings" panose="05000000000000000000" pitchFamily="2" charset="2"/>
              </a:rPr>
              <a:t>(discrete). </a:t>
            </a:r>
            <a:r>
              <a:rPr lang="ko-KR" altLang="en-US">
                <a:sym typeface="Wingdings" panose="05000000000000000000" pitchFamily="2" charset="2"/>
              </a:rPr>
              <a:t>연속적이지 않음</a:t>
            </a:r>
            <a:endParaRPr lang="en-US" altLang="ko-KR">
              <a:sym typeface="Wingdings" panose="05000000000000000000" pitchFamily="2" charset="2"/>
            </a:endParaRPr>
          </a:p>
          <a:p>
            <a:pPr lvl="2"/>
            <a:r>
              <a:rPr lang="ko-KR" altLang="en-US">
                <a:sym typeface="Wingdings" panose="05000000000000000000" pitchFamily="2" charset="2"/>
              </a:rPr>
              <a:t>정확도는 손실함수로는 부적합</a:t>
            </a:r>
            <a:endParaRPr lang="en-US" altLang="ko-KR">
              <a:sym typeface="Wingdings" panose="05000000000000000000" pitchFamily="2" charset="2"/>
            </a:endParaRPr>
          </a:p>
          <a:p>
            <a:pPr marL="432000" lvl="1" indent="0">
              <a:buNone/>
            </a:pPr>
            <a:r>
              <a:rPr lang="en-US" altLang="ko-KR">
                <a:sym typeface="Wingdings" panose="05000000000000000000" pitchFamily="2" charset="2"/>
              </a:rPr>
              <a:t>   </a:t>
            </a:r>
            <a:r>
              <a:rPr lang="ko-KR" altLang="en-US">
                <a:sym typeface="Wingdings" panose="05000000000000000000" pitchFamily="2" charset="2"/>
              </a:rPr>
              <a:t>로지스틱회기 모델의 확률</a:t>
            </a:r>
            <a:r>
              <a:rPr lang="en-US" altLang="ko-KR">
                <a:sym typeface="Wingdings" panose="05000000000000000000" pitchFamily="2" charset="2"/>
              </a:rPr>
              <a:t>(0~1</a:t>
            </a:r>
            <a:r>
              <a:rPr lang="ko-KR" altLang="en-US">
                <a:sym typeface="Wingdings" panose="05000000000000000000" pitchFamily="2" charset="2"/>
              </a:rPr>
              <a:t>값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연속적</a:t>
            </a:r>
            <a:r>
              <a:rPr lang="en-US" altLang="ko-KR"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874E0E-310D-43F2-A2F0-0EC6C2D42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F566D6C-A72F-4169-B38E-D0F2B2335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350272"/>
              </p:ext>
            </p:extLst>
          </p:nvPr>
        </p:nvGraphicFramePr>
        <p:xfrm>
          <a:off x="6372200" y="4221088"/>
          <a:ext cx="2520280" cy="1838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4008">
                  <a:extLst>
                    <a:ext uri="{9D8B030D-6E8A-4147-A177-3AD203B41FA5}">
                      <a16:colId xmlns:a16="http://schemas.microsoft.com/office/drawing/2014/main" val="3374599628"/>
                    </a:ext>
                  </a:extLst>
                </a:gridCol>
                <a:gridCol w="292096">
                  <a:extLst>
                    <a:ext uri="{9D8B030D-6E8A-4147-A177-3AD203B41FA5}">
                      <a16:colId xmlns:a16="http://schemas.microsoft.com/office/drawing/2014/main" val="3426114672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4194283937"/>
                    </a:ext>
                  </a:extLst>
                </a:gridCol>
              </a:tblGrid>
              <a:tr h="2548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예측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정답</a:t>
                      </a:r>
                      <a:r>
                        <a:rPr lang="en-US" altLang="ko-KR"/>
                        <a:t>(target)</a:t>
                      </a:r>
                      <a:endParaRPr lang="ko-KR" alt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58382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=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0672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≠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9324935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=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602628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≠</a:t>
                      </a:r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0771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5141347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2DEF1D-9DDA-4292-B88D-0777EADA5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로지스틱 손실함수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5ABD16F-91EF-4214-97EA-1D8AE5895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950" y="981075"/>
                <a:ext cx="8950325" cy="5519738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ko-KR" altLang="en-US" dirty="0"/>
                  <a:t>샘플에서 예측확률을 고려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예측확률은 예측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이 맞을 확률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손실함수를 아래와 같이 설정하면</a:t>
                </a:r>
                <a:r>
                  <a:rPr lang="en-US" altLang="ko-KR" dirty="0"/>
                  <a:t>,</a:t>
                </a:r>
              </a:p>
              <a:p>
                <a:pPr lvl="2"/>
                <a:r>
                  <a:rPr lang="en-US" altLang="ko-KR" dirty="0"/>
                  <a:t>Target</a:t>
                </a:r>
                <a:r>
                  <a:rPr lang="ko-KR" altLang="en-US" dirty="0"/>
                  <a:t>이 양성클래스</a:t>
                </a:r>
                <a:r>
                  <a:rPr lang="en-US" altLang="ko-KR" dirty="0"/>
                  <a:t>(1)</a:t>
                </a:r>
                <a:r>
                  <a:rPr lang="ko-KR" altLang="en-US" dirty="0"/>
                  <a:t>일 경우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예측확률 </a:t>
                </a:r>
                <a:r>
                  <a:rPr lang="en-US" altLang="ko-KR" dirty="0"/>
                  <a:t>* (-1)</a:t>
                </a:r>
              </a:p>
              <a:p>
                <a:pPr lvl="2"/>
                <a:r>
                  <a:rPr lang="en-US" altLang="ko-KR" dirty="0"/>
                  <a:t>Target</a:t>
                </a:r>
                <a:r>
                  <a:rPr lang="ko-KR" altLang="en-US" dirty="0"/>
                  <a:t>이 음성클래스</a:t>
                </a:r>
                <a:r>
                  <a:rPr lang="en-US" altLang="ko-KR" dirty="0"/>
                  <a:t>(0)</a:t>
                </a:r>
                <a:r>
                  <a:rPr lang="ko-KR" altLang="en-US" dirty="0"/>
                  <a:t>일 경우</a:t>
                </a:r>
                <a:r>
                  <a:rPr lang="en-US" altLang="ko-KR" dirty="0"/>
                  <a:t>: (1-</a:t>
                </a:r>
                <a:r>
                  <a:rPr lang="ko-KR" altLang="en-US" dirty="0"/>
                  <a:t>예측확률</a:t>
                </a:r>
                <a:r>
                  <a:rPr lang="en-US" altLang="ko-KR" dirty="0"/>
                  <a:t>) * (-1)</a:t>
                </a:r>
              </a:p>
              <a:p>
                <a:pPr lvl="2"/>
                <a:r>
                  <a:rPr lang="ko-KR" altLang="en-US" dirty="0"/>
                  <a:t>손실함수 값은 </a:t>
                </a:r>
                <a:r>
                  <a:rPr lang="en-US" altLang="ko-KR" dirty="0"/>
                  <a:t>	0.9 * (-1) 		= -0.9</a:t>
                </a:r>
                <a:br>
                  <a:rPr lang="en-US" altLang="ko-KR" dirty="0"/>
                </a:br>
                <a:r>
                  <a:rPr lang="en-US" altLang="ko-KR" dirty="0"/>
                  <a:t>		0.3 * (-1) 		= -0.3</a:t>
                </a:r>
                <a:br>
                  <a:rPr lang="en-US" altLang="ko-KR" dirty="0"/>
                </a:br>
                <a:r>
                  <a:rPr lang="en-US" altLang="ko-KR" dirty="0"/>
                  <a:t>		(1-0.2) * (-1)	= -0.8</a:t>
                </a:r>
                <a:br>
                  <a:rPr lang="en-US" altLang="ko-KR" dirty="0"/>
                </a:br>
                <a:r>
                  <a:rPr lang="en-US" altLang="ko-KR" dirty="0"/>
                  <a:t>		(1-0.8) * (-1) 	= -0.2</a:t>
                </a:r>
              </a:p>
              <a:p>
                <a:pPr lvl="1"/>
                <a:r>
                  <a:rPr lang="ko-KR" altLang="en-US" dirty="0"/>
                  <a:t>손실함수를 </a:t>
                </a:r>
                <a:endParaRPr lang="en-US" altLang="ko-KR" dirty="0"/>
              </a:p>
              <a:p>
                <a:pPr lvl="2"/>
                <a:r>
                  <a:rPr lang="en-US" altLang="ko-KR" dirty="0"/>
                  <a:t>Target</a:t>
                </a:r>
                <a:r>
                  <a:rPr lang="ko-KR" altLang="en-US" dirty="0"/>
                  <a:t>이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일 경우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𝒍𝒐𝒈</m:t>
                    </m:r>
                  </m:oMath>
                </a14:m>
                <a:r>
                  <a:rPr lang="en-US" altLang="ko-KR" dirty="0"/>
                  <a:t>(</a:t>
                </a:r>
                <a:r>
                  <a:rPr lang="ko-KR" altLang="en-US" dirty="0"/>
                  <a:t>예측확률</a:t>
                </a:r>
                <a:r>
                  <a:rPr lang="en-US" altLang="ko-KR" dirty="0"/>
                  <a:t>)</a:t>
                </a:r>
              </a:p>
              <a:p>
                <a:pPr lvl="2"/>
                <a:r>
                  <a:rPr lang="en-US" altLang="ko-KR" dirty="0"/>
                  <a:t>Target</a:t>
                </a:r>
                <a:r>
                  <a:rPr lang="ko-KR" altLang="en-US" dirty="0"/>
                  <a:t>이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일 경우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𝒍𝒐𝒈</m:t>
                    </m:r>
                  </m:oMath>
                </a14:m>
                <a:r>
                  <a:rPr lang="en-US" altLang="ko-KR" dirty="0"/>
                  <a:t>(1-</a:t>
                </a:r>
                <a:r>
                  <a:rPr lang="ko-KR" altLang="en-US" dirty="0"/>
                  <a:t>예측확률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로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하면 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손실함수 값은 </a:t>
                </a:r>
                <a:r>
                  <a:rPr lang="en-US" altLang="ko-KR" dirty="0"/>
                  <a:t>	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𝒍𝒐𝒈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dirty="0"/>
                  <a:t> 0.04576</a:t>
                </a:r>
              </a:p>
              <a:p>
                <a:pPr marL="779400" lvl="2" indent="0">
                  <a:buNone/>
                </a:pPr>
                <a:r>
                  <a:rPr lang="en-US" altLang="ko-KR" dirty="0"/>
                  <a:t>			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𝒍𝒐𝒈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dirty="0"/>
                  <a:t> 0.52288</a:t>
                </a:r>
              </a:p>
              <a:p>
                <a:pPr marL="779400" lvl="2" indent="0">
                  <a:buNone/>
                </a:pPr>
                <a:r>
                  <a:rPr lang="en-US" altLang="ko-KR" dirty="0"/>
                  <a:t>			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𝒍𝒐𝒈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dirty="0"/>
                  <a:t> 0.09691</a:t>
                </a:r>
              </a:p>
              <a:p>
                <a:pPr marL="779400" lvl="2" indent="0">
                  <a:buNone/>
                </a:pPr>
                <a:r>
                  <a:rPr lang="en-US" altLang="ko-KR" dirty="0"/>
                  <a:t>			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𝒍𝒐𝒈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dirty="0"/>
                  <a:t> 0.69897</a:t>
                </a:r>
              </a:p>
              <a:p>
                <a:pPr marL="779400" lvl="2" indent="0">
                  <a:buNone/>
                </a:pPr>
                <a:r>
                  <a:rPr lang="en-US" altLang="ko-KR" dirty="0"/>
                  <a:t>☞ </a:t>
                </a:r>
                <a:r>
                  <a:rPr lang="ko-KR" altLang="en-US" dirty="0"/>
                  <a:t>손실함수 값이 크다는 것은 </a:t>
                </a:r>
                <a:r>
                  <a:rPr lang="en-US" altLang="ko-KR" dirty="0"/>
                  <a:t>Target</a:t>
                </a:r>
                <a:r>
                  <a:rPr lang="ko-KR" altLang="en-US" dirty="0"/>
                  <a:t>을 맞출 확률이 매우 적어진다는 뜻</a:t>
                </a:r>
                <a:endParaRPr lang="en-US" altLang="ko-KR" dirty="0"/>
              </a:p>
              <a:p>
                <a:pPr marL="779400" lvl="2" indent="0">
                  <a:buNone/>
                </a:pPr>
                <a:r>
                  <a:rPr lang="ko-KR" altLang="en-US" dirty="0"/>
                  <a:t> </a:t>
                </a:r>
                <a:endParaRPr lang="en-US" altLang="ko-KR" dirty="0"/>
              </a:p>
              <a:p>
                <a:pPr lvl="1">
                  <a:buFont typeface="Wingdings" panose="05000000000000000000" pitchFamily="2" charset="2"/>
                  <a:buChar char="è"/>
                </a:pPr>
                <a:r>
                  <a:rPr lang="ko-KR" altLang="en-US" dirty="0">
                    <a:sym typeface="Wingdings" panose="05000000000000000000" pitchFamily="2" charset="2"/>
                  </a:rPr>
                  <a:t>로지스틱 손실함수</a:t>
                </a:r>
                <a:r>
                  <a:rPr lang="en-US" altLang="ko-KR" dirty="0">
                    <a:sym typeface="Wingdings" panose="05000000000000000000" pitchFamily="2" charset="2"/>
                  </a:rPr>
                  <a:t>(logistic loss function) </a:t>
                </a:r>
                <a:r>
                  <a:rPr lang="ko-KR" altLang="en-US" dirty="0">
                    <a:sym typeface="Wingdings" panose="05000000000000000000" pitchFamily="2" charset="2"/>
                  </a:rPr>
                  <a:t>또는</a:t>
                </a:r>
                <a:endParaRPr lang="en-US" altLang="ko-KR" dirty="0">
                  <a:sym typeface="Wingdings" panose="05000000000000000000" pitchFamily="2" charset="2"/>
                </a:endParaRPr>
              </a:p>
              <a:p>
                <a:pPr marL="432000" lvl="1" indent="0">
                  <a:buNone/>
                </a:pPr>
                <a:r>
                  <a:rPr lang="en-US" altLang="ko-KR" dirty="0">
                    <a:sym typeface="Wingdings" panose="05000000000000000000" pitchFamily="2" charset="2"/>
                  </a:rPr>
                  <a:t>   </a:t>
                </a:r>
                <a:r>
                  <a:rPr lang="ko-KR" altLang="en-US" dirty="0">
                    <a:sym typeface="Wingdings" panose="05000000000000000000" pitchFamily="2" charset="2"/>
                  </a:rPr>
                  <a:t>이진 </a:t>
                </a:r>
                <a:r>
                  <a:rPr lang="ko-KR" altLang="en-US" dirty="0" err="1">
                    <a:sym typeface="Wingdings" panose="05000000000000000000" pitchFamily="2" charset="2"/>
                  </a:rPr>
                  <a:t>크로스엔트로피</a:t>
                </a:r>
                <a:r>
                  <a:rPr lang="ko-KR" altLang="en-US" dirty="0">
                    <a:sym typeface="Wingdings" panose="05000000000000000000" pitchFamily="2" charset="2"/>
                  </a:rPr>
                  <a:t> 손실함수</a:t>
                </a:r>
                <a:r>
                  <a:rPr lang="en-US" altLang="ko-KR" dirty="0">
                    <a:sym typeface="Wingdings" panose="05000000000000000000" pitchFamily="2" charset="2"/>
                  </a:rPr>
                  <a:t>(binary cross-entropy</a:t>
                </a:r>
                <a:r>
                  <a:rPr lang="ko-KR" altLang="en-US" dirty="0">
                    <a:sym typeface="Wingdings" panose="05000000000000000000" pitchFamily="2" charset="2"/>
                  </a:rPr>
                  <a:t> </a:t>
                </a:r>
                <a:r>
                  <a:rPr lang="en-US" altLang="ko-KR" dirty="0">
                    <a:sym typeface="Wingdings" panose="05000000000000000000" pitchFamily="2" charset="2"/>
                  </a:rPr>
                  <a:t>loss</a:t>
                </a:r>
                <a:r>
                  <a:rPr lang="ko-KR" altLang="en-US" dirty="0">
                    <a:sym typeface="Wingdings" panose="05000000000000000000" pitchFamily="2" charset="2"/>
                  </a:rPr>
                  <a:t> </a:t>
                </a:r>
                <a:r>
                  <a:rPr lang="en-US" altLang="ko-KR" dirty="0">
                    <a:sym typeface="Wingdings" panose="05000000000000000000" pitchFamily="2" charset="2"/>
                  </a:rPr>
                  <a:t>function)</a:t>
                </a:r>
              </a:p>
              <a:p>
                <a:pPr marL="432000" lvl="1" indent="0">
                  <a:buNone/>
                </a:pPr>
                <a:r>
                  <a:rPr lang="en-US" altLang="ko-KR" dirty="0">
                    <a:sym typeface="Wingdings" panose="05000000000000000000" pitchFamily="2" charset="2"/>
                  </a:rPr>
                  <a:t>   </a:t>
                </a:r>
                <a:r>
                  <a:rPr lang="en-US" altLang="ko-KR" dirty="0" err="1">
                    <a:sym typeface="Wingdings" panose="05000000000000000000" pitchFamily="2" charset="2"/>
                  </a:rPr>
                  <a:t>cf</a:t>
                </a:r>
                <a:r>
                  <a:rPr lang="en-US" altLang="ko-KR" dirty="0">
                    <a:sym typeface="Wingdings" panose="05000000000000000000" pitchFamily="2" charset="2"/>
                  </a:rPr>
                  <a:t>) </a:t>
                </a:r>
                <a:r>
                  <a:rPr lang="ko-KR" altLang="en-US" dirty="0">
                    <a:sym typeface="Wingdings" panose="05000000000000000000" pitchFamily="2" charset="2"/>
                  </a:rPr>
                  <a:t>다중 분류의 경우에는 </a:t>
                </a:r>
                <a:r>
                  <a:rPr lang="ko-KR" altLang="en-US" dirty="0" err="1">
                    <a:sym typeface="Wingdings" panose="05000000000000000000" pitchFamily="2" charset="2"/>
                  </a:rPr>
                  <a:t>크로스엔트로피</a:t>
                </a:r>
                <a:r>
                  <a:rPr lang="ko-KR" altLang="en-US" dirty="0">
                    <a:sym typeface="Wingdings" panose="05000000000000000000" pitchFamily="2" charset="2"/>
                  </a:rPr>
                  <a:t> 손실함수</a:t>
                </a:r>
                <a:r>
                  <a:rPr lang="en-US" altLang="ko-KR" dirty="0">
                    <a:sym typeface="Wingdings" panose="05000000000000000000" pitchFamily="2" charset="2"/>
                  </a:rPr>
                  <a:t>(cross-entropy</a:t>
                </a:r>
                <a:r>
                  <a:rPr lang="ko-KR" altLang="en-US" dirty="0">
                    <a:sym typeface="Wingdings" panose="05000000000000000000" pitchFamily="2" charset="2"/>
                  </a:rPr>
                  <a:t> </a:t>
                </a:r>
                <a:r>
                  <a:rPr lang="en-US" altLang="ko-KR" dirty="0">
                    <a:sym typeface="Wingdings" panose="05000000000000000000" pitchFamily="2" charset="2"/>
                  </a:rPr>
                  <a:t>loss</a:t>
                </a:r>
                <a:r>
                  <a:rPr lang="ko-KR" altLang="en-US" dirty="0">
                    <a:sym typeface="Wingdings" panose="05000000000000000000" pitchFamily="2" charset="2"/>
                  </a:rPr>
                  <a:t> </a:t>
                </a:r>
                <a:r>
                  <a:rPr lang="en-US" altLang="ko-KR" dirty="0">
                    <a:sym typeface="Wingdings" panose="05000000000000000000" pitchFamily="2" charset="2"/>
                  </a:rPr>
                  <a:t>function)</a:t>
                </a:r>
              </a:p>
              <a:p>
                <a:pPr marL="432000" lvl="1" indent="0">
                  <a:buNone/>
                </a:pPr>
                <a:r>
                  <a:rPr lang="en-US" altLang="ko-KR" dirty="0"/>
                  <a:t>   </a:t>
                </a:r>
                <a:r>
                  <a:rPr lang="en-US" altLang="ko-KR" dirty="0" err="1"/>
                  <a:t>cf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 회귀의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경우는 </a:t>
                </a:r>
                <a:r>
                  <a:rPr lang="ko-KR" altLang="en-US" dirty="0" err="1"/>
                  <a:t>평균제곱오차</a:t>
                </a:r>
                <a:r>
                  <a:rPr lang="en-US" altLang="ko-KR" dirty="0"/>
                  <a:t>(mean squared error)</a:t>
                </a:r>
                <a:r>
                  <a:rPr lang="ko-KR" altLang="en-US" dirty="0"/>
                  <a:t>를 손실함수로 많이 사용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손실함수를 직접 계산할 필요는 없음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중요한 것은 정답에서 멀어질수록 손실함수가 크도록 설계하는 것</a:t>
                </a:r>
                <a:r>
                  <a:rPr lang="en-US" altLang="ko-KR" dirty="0"/>
                  <a:t>!</a:t>
                </a:r>
                <a:r>
                  <a:rPr lang="ko-KR" altLang="en-US" dirty="0"/>
                  <a:t> </a:t>
                </a:r>
                <a:endParaRPr lang="en-US" altLang="ko-KR" dirty="0"/>
              </a:p>
              <a:p>
                <a:pPr marL="779400" lvl="2" indent="0">
                  <a:buNone/>
                </a:pPr>
                <a:endParaRPr lang="en-US" altLang="ko-KR" dirty="0"/>
              </a:p>
              <a:p>
                <a:pPr marL="779400" lvl="2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5ABD16F-91EF-4214-97EA-1D8AE5895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950" y="981075"/>
                <a:ext cx="8950325" cy="5519738"/>
              </a:xfrm>
              <a:blipFill>
                <a:blip r:embed="rId2"/>
                <a:stretch>
                  <a:fillRect l="-204" t="-2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8F39C8-4DB9-4481-8B11-4F94F49493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7FD8011-6C3E-4A41-A27D-47E44E540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718110"/>
              </p:ext>
            </p:extLst>
          </p:nvPr>
        </p:nvGraphicFramePr>
        <p:xfrm>
          <a:off x="6475512" y="1089658"/>
          <a:ext cx="2592288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3374599628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342611467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194283937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264601818"/>
                    </a:ext>
                  </a:extLst>
                </a:gridCol>
              </a:tblGrid>
              <a:tr h="2644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예측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정답</a:t>
                      </a:r>
                      <a:endParaRPr lang="en-US" altLang="ko-KR" sz="1200"/>
                    </a:p>
                    <a:p>
                      <a:pPr algn="ctr" latinLnBrk="1"/>
                      <a:r>
                        <a:rPr lang="en-US" altLang="ko-KR" sz="1200"/>
                        <a:t>(target)</a:t>
                      </a:r>
                      <a:endParaRPr lang="ko-KR" altLang="en-US" sz="1200"/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예측</a:t>
                      </a:r>
                      <a:endParaRPr lang="en-US" altLang="ko-KR" sz="1200"/>
                    </a:p>
                    <a:p>
                      <a:pPr algn="ctr" latinLnBrk="1"/>
                      <a:r>
                        <a:rPr lang="ko-KR" altLang="en-US" sz="1200"/>
                        <a:t>확률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8382418"/>
                  </a:ext>
                </a:extLst>
              </a:tr>
              <a:tr h="1586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=</a:t>
                      </a:r>
                      <a:endParaRPr lang="ko-KR" altLang="en-US" sz="12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</a:t>
                      </a:r>
                      <a:endParaRPr lang="ko-KR" altLang="en-US" sz="1200"/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0.9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672227"/>
                  </a:ext>
                </a:extLst>
              </a:tr>
              <a:tr h="1586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≠</a:t>
                      </a:r>
                      <a:endParaRPr lang="ko-KR" altLang="en-US" sz="12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</a:t>
                      </a:r>
                      <a:endParaRPr lang="ko-KR" altLang="en-US" sz="1200"/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0.3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3249356"/>
                  </a:ext>
                </a:extLst>
              </a:tr>
              <a:tr h="1586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=</a:t>
                      </a:r>
                      <a:endParaRPr lang="ko-KR" altLang="en-US" sz="12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</a:t>
                      </a:r>
                      <a:endParaRPr lang="ko-KR" altLang="en-US" sz="1200"/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0.2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026285"/>
                  </a:ext>
                </a:extLst>
              </a:tr>
              <a:tr h="1586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≠</a:t>
                      </a:r>
                      <a:endParaRPr lang="ko-KR" altLang="en-US" sz="12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</a:t>
                      </a:r>
                      <a:endParaRPr lang="ko-KR" altLang="en-US" sz="1200"/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0.8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0771106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97649566-F68A-49A8-9DF4-FEF00715A826}"/>
              </a:ext>
            </a:extLst>
          </p:cNvPr>
          <p:cNvSpPr/>
          <p:nvPr/>
        </p:nvSpPr>
        <p:spPr>
          <a:xfrm>
            <a:off x="6156176" y="2852936"/>
            <a:ext cx="115212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낮은 손실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61D5430-FD54-4DD5-9644-A70CEB55C877}"/>
              </a:ext>
            </a:extLst>
          </p:cNvPr>
          <p:cNvSpPr/>
          <p:nvPr/>
        </p:nvSpPr>
        <p:spPr>
          <a:xfrm>
            <a:off x="6210067" y="3238375"/>
            <a:ext cx="1080120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높은 손실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EF064F5-45CC-4079-8137-D2690B7DC856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5292080" y="2276872"/>
            <a:ext cx="864096" cy="720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025346F-104D-4F9B-B16F-46F1E10345EF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4572000" y="2644138"/>
            <a:ext cx="1584176" cy="352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9B91786-B51A-48CE-845E-EA370F4BF9F4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5292080" y="2492896"/>
            <a:ext cx="917987" cy="8894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FAFBC6D-2A60-4DC0-8FFF-EBBB89D30D3F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4572000" y="2852936"/>
            <a:ext cx="1638067" cy="5294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EA331C5A-3786-4F82-96E7-2365E2DC4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527" y="3623814"/>
            <a:ext cx="2053555" cy="135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019442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24EC8D-0F06-47B1-B618-6084F23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데이터 준비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4B5D9FF-E4E1-4E67-A4A7-331869E006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089" y="1472019"/>
            <a:ext cx="8820046" cy="45378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F6F4FE-FAE7-4244-86EA-6599EB2301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40179950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D87C80-6946-4C1E-9588-472CC0B4B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SGDClassifier</a:t>
            </a:r>
            <a:r>
              <a:rPr lang="ko-KR" altLang="en-US"/>
              <a:t>를 이용한 훈련</a:t>
            </a:r>
            <a:r>
              <a:rPr lang="en-US" altLang="ko-KR"/>
              <a:t>/</a:t>
            </a:r>
            <a:r>
              <a:rPr lang="ko-KR" altLang="en-US"/>
              <a:t>예측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E21DAE-32C6-41A9-BD59-D71901CF1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50325" cy="5519738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/>
              <a:t>sklearn</a:t>
            </a:r>
            <a:r>
              <a:rPr lang="ko-KR" altLang="en-US"/>
              <a:t>의 </a:t>
            </a:r>
            <a:r>
              <a:rPr lang="en-US" altLang="ko-KR"/>
              <a:t>SGDClassifer </a:t>
            </a:r>
            <a:r>
              <a:rPr lang="ko-KR" altLang="en-US"/>
              <a:t>클래스를 이용하여 훈련</a:t>
            </a:r>
            <a:r>
              <a:rPr lang="en-US" altLang="ko-KR"/>
              <a:t>/</a:t>
            </a:r>
            <a:r>
              <a:rPr lang="ko-KR" altLang="en-US"/>
              <a:t>예측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1 </a:t>
            </a:r>
            <a:r>
              <a:rPr lang="ko-KR" altLang="en-US"/>
              <a:t>에포크 동안 더 훈련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>
              <a:buFont typeface="Wingdings" panose="05000000000000000000" pitchFamily="2" charset="2"/>
              <a:buChar char="è"/>
            </a:pPr>
            <a:r>
              <a:rPr lang="ko-KR" altLang="en-US"/>
              <a:t>훈련세트를 한꺼번에 전달했지만 </a:t>
            </a:r>
            <a:r>
              <a:rPr lang="en-US" altLang="ko-KR"/>
              <a:t>SGDClassifier</a:t>
            </a:r>
            <a:r>
              <a:rPr lang="ko-KR" altLang="en-US"/>
              <a:t>는 하나의 샘플씩 꺼내 훈련함</a:t>
            </a:r>
            <a:endParaRPr lang="en-US" altLang="ko-KR"/>
          </a:p>
          <a:p>
            <a:pPr lvl="1">
              <a:buFont typeface="Wingdings" panose="05000000000000000000" pitchFamily="2" charset="2"/>
              <a:buChar char="è"/>
            </a:pPr>
            <a:r>
              <a:rPr lang="en-US" altLang="ko-KR"/>
              <a:t>not</a:t>
            </a:r>
            <a:r>
              <a:rPr lang="ko-KR" altLang="en-US"/>
              <a:t> 미니배치 경사하강법 </a:t>
            </a:r>
            <a:r>
              <a:rPr lang="en-US" altLang="ko-KR"/>
              <a:t>but </a:t>
            </a:r>
            <a:r>
              <a:rPr lang="ko-KR" altLang="en-US"/>
              <a:t>확률적 경사하강법</a:t>
            </a:r>
            <a:endParaRPr lang="en-US" altLang="ko-KR"/>
          </a:p>
          <a:p>
            <a:pPr lvl="1">
              <a:buFont typeface="Wingdings" panose="05000000000000000000" pitchFamily="2" charset="2"/>
              <a:buChar char="è"/>
            </a:pPr>
            <a:r>
              <a:rPr lang="ko-KR" altLang="en-US"/>
              <a:t>미니배치 경사하강법은 신경망에서 사용</a:t>
            </a:r>
            <a:endParaRPr lang="en-US" altLang="ko-KR"/>
          </a:p>
          <a:p>
            <a:pPr marL="0" indent="0">
              <a:buNone/>
            </a:pP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ko-KR" altLang="en-US">
                <a:sym typeface="Wingdings" panose="05000000000000000000" pitchFamily="2" charset="2"/>
              </a:rPr>
              <a:t>얼마나 더 훈련해야 할까</a:t>
            </a:r>
            <a:r>
              <a:rPr lang="en-US" altLang="ko-KR">
                <a:sym typeface="Wingdings" panose="05000000000000000000" pitchFamily="2" charset="2"/>
              </a:rPr>
              <a:t>?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A05A9A-0FC8-4D68-86C6-CD109AD2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6D72EF8-0206-4892-9BBF-A5DA1B11F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18" y="1403893"/>
            <a:ext cx="5965433" cy="15121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78F439B-8442-41BF-8B5C-BA029D080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267" y="1763933"/>
            <a:ext cx="1962400" cy="494345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3AE0F75F-62A1-4BDC-B5F2-C810B8802AC8}"/>
              </a:ext>
            </a:extLst>
          </p:cNvPr>
          <p:cNvSpPr/>
          <p:nvPr/>
        </p:nvSpPr>
        <p:spPr>
          <a:xfrm>
            <a:off x="6622663" y="1903093"/>
            <a:ext cx="288032" cy="2160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B55FF14-A2F9-4936-B497-A4B65886A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18" y="3444133"/>
            <a:ext cx="4354484" cy="10081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D786E83E-D840-4EAC-AF6E-D9BAD5A9E6B8}"/>
              </a:ext>
            </a:extLst>
          </p:cNvPr>
          <p:cNvSpPr/>
          <p:nvPr/>
        </p:nvSpPr>
        <p:spPr>
          <a:xfrm>
            <a:off x="6608375" y="3768169"/>
            <a:ext cx="288032" cy="2160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DFB6609-277C-4068-B83A-A43E7F50A8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5881" y="3609975"/>
            <a:ext cx="1812595" cy="49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121847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420792-2DEE-47F8-9E87-6729E728B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에포크의 과대</a:t>
            </a:r>
            <a:r>
              <a:rPr lang="en-US" altLang="ko-KR"/>
              <a:t>/</a:t>
            </a:r>
            <a:r>
              <a:rPr lang="ko-KR" altLang="en-US"/>
              <a:t>과소적합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00DE5C-DD8D-41C1-B3C7-6BD621871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/>
              <a:t>훈련은 에포크를 몇번 적용하느에 큰 영향 받음</a:t>
            </a:r>
            <a:endParaRPr lang="en-US" altLang="ko-KR"/>
          </a:p>
          <a:p>
            <a:pPr lvl="1"/>
            <a:r>
              <a:rPr lang="en-US" altLang="ko-KR"/>
              <a:t>Epoch </a:t>
            </a:r>
            <a:r>
              <a:rPr lang="ko-KR" altLang="en-US"/>
              <a:t>횟수가 너무 적으면 과소적합</a:t>
            </a:r>
            <a:endParaRPr lang="en-US" altLang="ko-KR"/>
          </a:p>
          <a:p>
            <a:pPr lvl="1"/>
            <a:r>
              <a:rPr lang="en-US" altLang="ko-KR"/>
              <a:t>Epoch </a:t>
            </a:r>
            <a:r>
              <a:rPr lang="ko-KR" altLang="en-US"/>
              <a:t>횟수가 너무 많으면 과대적합</a:t>
            </a:r>
            <a:endParaRPr lang="en-US" altLang="ko-KR"/>
          </a:p>
          <a:p>
            <a:pPr lvl="1">
              <a:buFont typeface="Wingdings" panose="05000000000000000000" pitchFamily="2" charset="2"/>
              <a:buChar char="è"/>
            </a:pPr>
            <a:r>
              <a:rPr lang="ko-KR" altLang="en-US">
                <a:sym typeface="Wingdings" panose="05000000000000000000" pitchFamily="2" charset="2"/>
              </a:rPr>
              <a:t>과대적합이 시작되기 전에 훈련을 멈추는 것이 중요</a:t>
            </a:r>
            <a:endParaRPr lang="en-US" altLang="ko-KR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è"/>
            </a:pPr>
            <a:r>
              <a:rPr lang="ko-KR" altLang="en-US">
                <a:sym typeface="Wingdings" panose="05000000000000000000" pitchFamily="2" charset="2"/>
              </a:rPr>
              <a:t>조기종료</a:t>
            </a:r>
            <a:r>
              <a:rPr lang="en-US" altLang="ko-KR">
                <a:sym typeface="Wingdings" panose="05000000000000000000" pitchFamily="2" charset="2"/>
              </a:rPr>
              <a:t>(early stopping)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FCEBB5-D0BC-4EF5-9362-AE8F62A647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8C7A48-B3BF-4299-827A-BDAFF5C8E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924944"/>
            <a:ext cx="5204370" cy="35758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F4011A1-6E87-492D-9928-19A93811F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888" y="3573016"/>
            <a:ext cx="3199343" cy="2160240"/>
          </a:xfrm>
          <a:prstGeom prst="rect">
            <a:avLst/>
          </a:prstGeom>
        </p:spPr>
      </p:pic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CEE2C37F-3E74-42AF-B410-609A51864245}"/>
              </a:ext>
            </a:extLst>
          </p:cNvPr>
          <p:cNvSpPr/>
          <p:nvPr/>
        </p:nvSpPr>
        <p:spPr>
          <a:xfrm>
            <a:off x="7111628" y="3339250"/>
            <a:ext cx="144016" cy="43204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CBFB92A-8AE2-467F-8701-3E2E91E74A58}"/>
              </a:ext>
            </a:extLst>
          </p:cNvPr>
          <p:cNvSpPr/>
          <p:nvPr/>
        </p:nvSpPr>
        <p:spPr>
          <a:xfrm>
            <a:off x="6319540" y="3102402"/>
            <a:ext cx="1728192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과대적합의 시작</a:t>
            </a:r>
          </a:p>
        </p:txBody>
      </p:sp>
    </p:spTree>
    <p:extLst>
      <p:ext uri="{BB962C8B-B14F-4D97-AF65-F5344CB8AC3E}">
        <p14:creationId xmlns:p14="http://schemas.microsoft.com/office/powerpoint/2010/main" val="1273924064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D15303-495D-46FE-9682-EBB393C19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조기종료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1781DB-4A13-476F-ACEC-C289CC9B0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50325" cy="5519738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/>
              <a:t>반복횟수를 </a:t>
            </a:r>
            <a:r>
              <a:rPr lang="en-US" altLang="ko-KR"/>
              <a:t>100</a:t>
            </a:r>
            <a:r>
              <a:rPr lang="ko-KR" altLang="en-US"/>
              <a:t>으로 맞추고</a:t>
            </a:r>
            <a:r>
              <a:rPr lang="en-US" altLang="ko-KR"/>
              <a:t>...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r>
              <a:rPr lang="en-US" altLang="ko-KR"/>
              <a:t>SGDClassifier</a:t>
            </a:r>
            <a:r>
              <a:rPr lang="ko-KR" altLang="en-US"/>
              <a:t>는 일정 </a:t>
            </a:r>
            <a:r>
              <a:rPr lang="en-US" altLang="ko-KR"/>
              <a:t>epoch</a:t>
            </a:r>
            <a:r>
              <a:rPr lang="ko-KR" altLang="en-US"/>
              <a:t>동안 성능이 향상되지 않으면 자동 멈춤</a:t>
            </a:r>
            <a:endParaRPr lang="en-US" altLang="ko-KR"/>
          </a:p>
          <a:p>
            <a:pPr lvl="1"/>
            <a:r>
              <a:rPr lang="en-US" altLang="ko-KR"/>
              <a:t>tol </a:t>
            </a:r>
            <a:r>
              <a:rPr lang="ko-KR" altLang="en-US"/>
              <a:t>매개변수는 향상될 최소값을 지정</a:t>
            </a:r>
            <a:endParaRPr lang="en-US" altLang="ko-KR"/>
          </a:p>
          <a:p>
            <a:pPr lvl="1"/>
            <a:r>
              <a:rPr lang="en-US" altLang="ko-KR"/>
              <a:t>tol</a:t>
            </a:r>
            <a:r>
              <a:rPr lang="ko-KR" altLang="en-US"/>
              <a:t>을 </a:t>
            </a:r>
            <a:r>
              <a:rPr lang="en-US" altLang="ko-KR"/>
              <a:t>None</a:t>
            </a:r>
            <a:r>
              <a:rPr lang="ko-KR" altLang="en-US"/>
              <a:t>으로 지정하면 자동 멈춤 없이 </a:t>
            </a:r>
            <a:r>
              <a:rPr lang="en-US" altLang="ko-KR"/>
              <a:t>max_iter</a:t>
            </a:r>
            <a:r>
              <a:rPr lang="ko-KR" altLang="en-US"/>
              <a:t>까지 무조건 반복</a:t>
            </a:r>
            <a:endParaRPr lang="en-US" altLang="ko-KR"/>
          </a:p>
          <a:p>
            <a:r>
              <a:rPr lang="en-US" altLang="ko-KR"/>
              <a:t>loss </a:t>
            </a:r>
            <a:r>
              <a:rPr lang="ko-KR" altLang="en-US"/>
              <a:t>매개변수의 </a:t>
            </a:r>
            <a:r>
              <a:rPr lang="en-US" altLang="ko-KR"/>
              <a:t>default </a:t>
            </a:r>
            <a:r>
              <a:rPr lang="ko-KR" altLang="en-US"/>
              <a:t>값은 </a:t>
            </a:r>
            <a:r>
              <a:rPr lang="en-US" altLang="ko-KR"/>
              <a:t>hinge(support</a:t>
            </a:r>
            <a:r>
              <a:rPr lang="ko-KR" altLang="en-US"/>
              <a:t> </a:t>
            </a:r>
            <a:r>
              <a:rPr lang="en-US" altLang="ko-KR"/>
              <a:t>vector machine</a:t>
            </a:r>
            <a:r>
              <a:rPr lang="ko-KR" altLang="en-US"/>
              <a:t>에서 사용</a:t>
            </a:r>
            <a:r>
              <a:rPr lang="en-US" altLang="ko-KR"/>
              <a:t>)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r>
              <a:rPr lang="en-US" altLang="ko-KR"/>
              <a:t> </a:t>
            </a:r>
            <a:r>
              <a:rPr lang="ko-KR" altLang="en-US"/>
              <a:t> 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5365CB-C8FA-46BB-BEBD-E7779DDC3E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FF61BBC-9CF7-4D6A-9DDF-47D218849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2852936"/>
            <a:ext cx="1910507" cy="533165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05098A79-03B5-4C85-925D-8034200DC234}"/>
              </a:ext>
            </a:extLst>
          </p:cNvPr>
          <p:cNvSpPr/>
          <p:nvPr/>
        </p:nvSpPr>
        <p:spPr>
          <a:xfrm>
            <a:off x="3275856" y="3011507"/>
            <a:ext cx="288032" cy="2160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243E4C4A-A81B-4448-A3DB-AAB3484BDEB6}"/>
              </a:ext>
            </a:extLst>
          </p:cNvPr>
          <p:cNvSpPr/>
          <p:nvPr/>
        </p:nvSpPr>
        <p:spPr>
          <a:xfrm>
            <a:off x="3275856" y="6211406"/>
            <a:ext cx="288032" cy="2160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F073ACF-654F-4CE4-9803-929633254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609" y="6093296"/>
            <a:ext cx="1473488" cy="42418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F38E380-93DC-48A0-A881-AC783E955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1" y="4972049"/>
            <a:ext cx="6341677" cy="11212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BEED280-C7A3-4F0B-946F-56C7A9358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52" y="1484784"/>
            <a:ext cx="7592492" cy="13681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95551805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D3210-38D6-43CE-B004-622EA64CC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</a:t>
            </a:r>
            <a:r>
              <a:rPr lang="ko-KR" altLang="en-US"/>
              <a:t>요약</a:t>
            </a:r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8EA3D-4374-4DAC-9300-F51D6A775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ko-KR" dirty="0"/>
              <a:t>Key words</a:t>
            </a:r>
          </a:p>
          <a:p>
            <a:pPr lvl="1"/>
            <a:r>
              <a:rPr lang="ko-KR" altLang="en-US"/>
              <a:t>확률적 경사하강법</a:t>
            </a:r>
            <a:r>
              <a:rPr lang="en-US" altLang="ko-KR"/>
              <a:t>: </a:t>
            </a:r>
            <a:r>
              <a:rPr lang="ko-KR" altLang="en-US"/>
              <a:t>훈련세트에서 샘플 하나씩 꺼내 손실함수의 경사에 따라 최적의 모델을 찾는 알고리즘</a:t>
            </a:r>
            <a:r>
              <a:rPr lang="en-US" altLang="ko-KR"/>
              <a:t>. </a:t>
            </a:r>
            <a:r>
              <a:rPr lang="ko-KR" altLang="en-US"/>
              <a:t>샘플을 여러개 꺼내면 미니배치 경사하강법</a:t>
            </a:r>
            <a:r>
              <a:rPr lang="en-US" altLang="ko-KR"/>
              <a:t>, </a:t>
            </a:r>
            <a:r>
              <a:rPr lang="ko-KR" altLang="en-US"/>
              <a:t>샘플을 한꺼번에 모두 꺼내면 배치 경사하강법임</a:t>
            </a:r>
            <a:endParaRPr lang="en-US" altLang="ko-KR"/>
          </a:p>
          <a:p>
            <a:pPr lvl="1"/>
            <a:r>
              <a:rPr lang="ko-KR" altLang="en-US"/>
              <a:t>손실함수</a:t>
            </a:r>
            <a:r>
              <a:rPr lang="en-US" altLang="ko-KR"/>
              <a:t>: </a:t>
            </a:r>
            <a:r>
              <a:rPr lang="ko-KR" altLang="en-US"/>
              <a:t>확률적 경사하강법의 최적화 대상</a:t>
            </a:r>
            <a:r>
              <a:rPr lang="en-US" altLang="ko-KR"/>
              <a:t>. </a:t>
            </a:r>
            <a:r>
              <a:rPr lang="ko-KR" altLang="en-US"/>
              <a:t>대부분의 문제에는 적절한 손실함수가 정의되어 있음</a:t>
            </a:r>
            <a:r>
              <a:rPr lang="en-US" altLang="ko-KR"/>
              <a:t>. </a:t>
            </a:r>
            <a:r>
              <a:rPr lang="ko-KR" altLang="en-US"/>
              <a:t>이진분류에는 로지스틱회귀</a:t>
            </a:r>
            <a:r>
              <a:rPr lang="en-US" altLang="ko-KR"/>
              <a:t>(</a:t>
            </a:r>
            <a:r>
              <a:rPr lang="ko-KR" altLang="en-US"/>
              <a:t>이진 크로스엔트로피</a:t>
            </a:r>
            <a:r>
              <a:rPr lang="en-US" altLang="ko-KR"/>
              <a:t>)</a:t>
            </a:r>
            <a:r>
              <a:rPr lang="ko-KR" altLang="en-US"/>
              <a:t> 손실함수</a:t>
            </a:r>
            <a:r>
              <a:rPr lang="en-US" altLang="ko-KR"/>
              <a:t>, </a:t>
            </a:r>
            <a:r>
              <a:rPr lang="ko-KR" altLang="en-US"/>
              <a:t>다중분류에는 크로스엔트로피 손실함수</a:t>
            </a:r>
            <a:r>
              <a:rPr lang="en-US" altLang="ko-KR"/>
              <a:t>, </a:t>
            </a:r>
            <a:r>
              <a:rPr lang="ko-KR" altLang="en-US"/>
              <a:t>회귀 문제에는 평균 제곱 오차를 사용</a:t>
            </a:r>
            <a:endParaRPr lang="en-US" altLang="ko-KR"/>
          </a:p>
          <a:p>
            <a:pPr lvl="1"/>
            <a:r>
              <a:rPr lang="ko-KR" altLang="en-US"/>
              <a:t>에포크</a:t>
            </a:r>
            <a:r>
              <a:rPr lang="en-US" altLang="ko-KR"/>
              <a:t>: </a:t>
            </a:r>
            <a:r>
              <a:rPr lang="ko-KR" altLang="en-US"/>
              <a:t>확률적 경사하강법에서 전체 샘플을 모두 사용하는 한번의 반복</a:t>
            </a:r>
            <a:r>
              <a:rPr lang="en-US" altLang="ko-KR"/>
              <a:t>. </a:t>
            </a:r>
            <a:r>
              <a:rPr lang="ko-KR" altLang="en-US"/>
              <a:t>일반적으로 경사하강법 알고리즘에는 수십에서 수백번의 에포크를 사용</a:t>
            </a:r>
            <a:endParaRPr lang="en-US" altLang="ko-KR"/>
          </a:p>
          <a:p>
            <a:r>
              <a:rPr lang="en-US" altLang="ko-KR"/>
              <a:t>sklearn </a:t>
            </a:r>
            <a:r>
              <a:rPr lang="ko-KR" altLang="en-US"/>
              <a:t>패키지</a:t>
            </a:r>
            <a:r>
              <a:rPr lang="en-US" altLang="ko-KR"/>
              <a:t>:</a:t>
            </a:r>
          </a:p>
          <a:p>
            <a:pPr lvl="1"/>
            <a:r>
              <a:rPr lang="en-US" altLang="ko-KR"/>
              <a:t>SGDClassifier </a:t>
            </a:r>
            <a:r>
              <a:rPr lang="ko-KR" altLang="en-US"/>
              <a:t>클래스</a:t>
            </a:r>
            <a:r>
              <a:rPr lang="en-US" altLang="ko-KR"/>
              <a:t>:</a:t>
            </a:r>
          </a:p>
          <a:p>
            <a:pPr lvl="2"/>
            <a:r>
              <a:rPr lang="en-US" altLang="ko-KR"/>
              <a:t>loss</a:t>
            </a:r>
            <a:r>
              <a:rPr lang="ko-KR" altLang="en-US"/>
              <a:t> 매개변수는</a:t>
            </a:r>
            <a:r>
              <a:rPr lang="en-US" altLang="ko-KR"/>
              <a:t> </a:t>
            </a:r>
            <a:r>
              <a:rPr lang="ko-KR" altLang="en-US"/>
              <a:t>최적화할 손실함수 지정</a:t>
            </a:r>
            <a:r>
              <a:rPr lang="en-US" altLang="ko-KR"/>
              <a:t>. default</a:t>
            </a:r>
            <a:r>
              <a:rPr lang="ko-KR" altLang="en-US"/>
              <a:t>는 </a:t>
            </a:r>
            <a:r>
              <a:rPr lang="en-US" altLang="ko-KR"/>
              <a:t>hinge</a:t>
            </a:r>
          </a:p>
          <a:p>
            <a:pPr lvl="2"/>
            <a:r>
              <a:rPr lang="en-US" altLang="ko-KR"/>
              <a:t>penalty</a:t>
            </a:r>
            <a:r>
              <a:rPr lang="ko-KR" altLang="en-US"/>
              <a:t> 매개변수는 규제의 종류 지정</a:t>
            </a:r>
            <a:r>
              <a:rPr lang="en-US" altLang="ko-KR"/>
              <a:t>. defaul</a:t>
            </a:r>
            <a:r>
              <a:rPr lang="ko-KR" altLang="en-US"/>
              <a:t>는 </a:t>
            </a:r>
            <a:r>
              <a:rPr lang="en-US" altLang="ko-KR"/>
              <a:t>L2</a:t>
            </a:r>
          </a:p>
          <a:p>
            <a:pPr lvl="2"/>
            <a:r>
              <a:rPr lang="en-US" altLang="ko-KR"/>
              <a:t>alpha </a:t>
            </a:r>
            <a:r>
              <a:rPr lang="ko-KR" altLang="en-US"/>
              <a:t>매개변수는 규제 강도 지정</a:t>
            </a:r>
            <a:r>
              <a:rPr lang="en-US" altLang="ko-KR"/>
              <a:t>. default</a:t>
            </a:r>
            <a:r>
              <a:rPr lang="ko-KR" altLang="en-US"/>
              <a:t>는 </a:t>
            </a:r>
            <a:r>
              <a:rPr lang="en-US" altLang="ko-KR"/>
              <a:t>0.0001</a:t>
            </a:r>
          </a:p>
          <a:p>
            <a:pPr lvl="2"/>
            <a:r>
              <a:rPr lang="en-US" altLang="ko-KR"/>
              <a:t>max_iter</a:t>
            </a:r>
            <a:r>
              <a:rPr lang="ko-KR" altLang="en-US"/>
              <a:t> 매개변수는 에포크 횟수 지정</a:t>
            </a:r>
            <a:r>
              <a:rPr lang="en-US" altLang="ko-KR"/>
              <a:t>. defaul</a:t>
            </a:r>
            <a:r>
              <a:rPr lang="ko-KR" altLang="en-US"/>
              <a:t>는 </a:t>
            </a:r>
            <a:r>
              <a:rPr lang="en-US" altLang="ko-KR"/>
              <a:t>1000</a:t>
            </a:r>
          </a:p>
          <a:p>
            <a:pPr lvl="2"/>
            <a:r>
              <a:rPr lang="en-US" altLang="ko-KR"/>
              <a:t>tol </a:t>
            </a:r>
            <a:r>
              <a:rPr lang="ko-KR" altLang="en-US"/>
              <a:t>매개변수는 멈춤 조건</a:t>
            </a:r>
            <a:r>
              <a:rPr lang="en-US" altLang="ko-KR"/>
              <a:t>. n_iter_no_change </a:t>
            </a:r>
            <a:r>
              <a:rPr lang="ko-KR" altLang="en-US"/>
              <a:t>매개변수에서 지정한 에포크 동안 손실이 </a:t>
            </a:r>
            <a:r>
              <a:rPr lang="en-US" altLang="ko-KR"/>
              <a:t>tol</a:t>
            </a:r>
            <a:r>
              <a:rPr lang="ko-KR" altLang="en-US"/>
              <a:t>만큼 줄어들지 않으면 알고리즘 중단</a:t>
            </a:r>
            <a:r>
              <a:rPr lang="en-US" altLang="ko-KR"/>
              <a:t>. tol </a:t>
            </a:r>
            <a:r>
              <a:rPr lang="ko-KR" altLang="en-US"/>
              <a:t>매개변수의 </a:t>
            </a:r>
            <a:r>
              <a:rPr lang="en-US" altLang="ko-KR"/>
              <a:t>defaul</a:t>
            </a:r>
            <a:r>
              <a:rPr lang="ko-KR" altLang="en-US"/>
              <a:t>는 </a:t>
            </a:r>
            <a:r>
              <a:rPr lang="en-US" altLang="ko-KR"/>
              <a:t>0.001, n_iter_no_chang</a:t>
            </a:r>
            <a:r>
              <a:rPr lang="ko-KR" altLang="en-US"/>
              <a:t>의 </a:t>
            </a:r>
            <a:r>
              <a:rPr lang="en-US" altLang="ko-KR"/>
              <a:t>defaul</a:t>
            </a:r>
            <a:r>
              <a:rPr lang="ko-KR" altLang="en-US"/>
              <a:t>는 </a:t>
            </a:r>
            <a:r>
              <a:rPr lang="en-US" altLang="ko-KR"/>
              <a:t>5</a:t>
            </a:r>
          </a:p>
          <a:p>
            <a:pPr lvl="1"/>
            <a:r>
              <a:rPr lang="en-US" altLang="ko-KR"/>
              <a:t>SGDRegressor </a:t>
            </a:r>
            <a:r>
              <a:rPr lang="ko-KR" altLang="en-US"/>
              <a:t>클래스</a:t>
            </a:r>
            <a:r>
              <a:rPr lang="en-US" altLang="ko-KR"/>
              <a:t>: </a:t>
            </a:r>
            <a:r>
              <a:rPr lang="ko-KR" altLang="en-US"/>
              <a:t>확률적 경사하강법을 사용한 회귀 모델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53D893-8F8F-414A-A449-4F40C004A0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89297896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students learn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36841</TotalTime>
  <Words>1397</Words>
  <Application>Microsoft Office PowerPoint</Application>
  <PresentationFormat>화면 슬라이드 쇼(4:3)</PresentationFormat>
  <Paragraphs>217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HY견고딕</vt:lpstr>
      <vt:lpstr>굴림</vt:lpstr>
      <vt:lpstr>맑은 고딕</vt:lpstr>
      <vt:lpstr>휴먼엑스포</vt:lpstr>
      <vt:lpstr>Cambria Math</vt:lpstr>
      <vt:lpstr>Times New Roman</vt:lpstr>
      <vt:lpstr>Wingdings</vt:lpstr>
      <vt:lpstr>기본 디자인</vt:lpstr>
      <vt:lpstr>Stochastic Gradient Descent</vt:lpstr>
      <vt:lpstr>지난 시간 복습</vt:lpstr>
      <vt:lpstr>학습목표</vt:lpstr>
      <vt:lpstr>럭키백 속의 생선 확률</vt:lpstr>
      <vt:lpstr>확률적 경사하강법</vt:lpstr>
      <vt:lpstr>경사하강법의 종류 (1)</vt:lpstr>
      <vt:lpstr>경사하강법의 종류 (2)</vt:lpstr>
      <vt:lpstr>손실함수</vt:lpstr>
      <vt:lpstr>로지스틱 손실함수</vt:lpstr>
      <vt:lpstr>데이터 준비</vt:lpstr>
      <vt:lpstr>SGDClassifier를 이용한 훈련/예측</vt:lpstr>
      <vt:lpstr>에포크의 과대/과소적합</vt:lpstr>
      <vt:lpstr>조기종료</vt:lpstr>
      <vt:lpstr>학습 요약 </vt:lpstr>
      <vt:lpstr>질의 응답</vt:lpstr>
    </vt:vector>
  </TitlesOfParts>
  <Company>두원공과대학 컴퓨터공학과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김영우</dc:creator>
  <cp:lastModifiedBy>김영우</cp:lastModifiedBy>
  <cp:revision>774</cp:revision>
  <dcterms:created xsi:type="dcterms:W3CDTF">2003-05-07T20:17:23Z</dcterms:created>
  <dcterms:modified xsi:type="dcterms:W3CDTF">2025-10-05T09:04:54Z</dcterms:modified>
</cp:coreProperties>
</file>