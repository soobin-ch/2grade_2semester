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632" r:id="rId2"/>
    <p:sldId id="722" r:id="rId3"/>
    <p:sldId id="719" r:id="rId4"/>
    <p:sldId id="776" r:id="rId5"/>
    <p:sldId id="801" r:id="rId6"/>
    <p:sldId id="805" r:id="rId7"/>
    <p:sldId id="806" r:id="rId8"/>
    <p:sldId id="802" r:id="rId9"/>
    <p:sldId id="807" r:id="rId10"/>
    <p:sldId id="808" r:id="rId11"/>
    <p:sldId id="803" r:id="rId12"/>
    <p:sldId id="809" r:id="rId13"/>
    <p:sldId id="810" r:id="rId14"/>
    <p:sldId id="811" r:id="rId15"/>
    <p:sldId id="717" r:id="rId16"/>
    <p:sldId id="703" r:id="rId17"/>
  </p:sldIdLst>
  <p:sldSz cx="9144000" cy="6858000" type="screen4x3"/>
  <p:notesSz cx="6669088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CCFF"/>
    <a:srgbClr val="CCECFF"/>
    <a:srgbClr val="6699FF"/>
    <a:srgbClr val="FF6699"/>
    <a:srgbClr val="0070C0"/>
    <a:srgbClr val="FFCC66"/>
    <a:srgbClr val="5599BF"/>
    <a:srgbClr val="C5DBDD"/>
    <a:srgbClr val="FDF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83" autoAdjust="0"/>
    <p:restoredTop sz="94175" autoAdjust="0"/>
  </p:normalViewPr>
  <p:slideViewPr>
    <p:cSldViewPr>
      <p:cViewPr varScale="1">
        <p:scale>
          <a:sx n="154" d="100"/>
          <a:sy n="154" d="100"/>
        </p:scale>
        <p:origin x="227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8C382E9-E5ED-4CED-B6BC-23B4AA564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9321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56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C7CC32-617A-4543-9F16-0492C8AD01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3298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4949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4C1E9-341E-47A5-AC3A-D9E2B75F85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itchFamily="50" charset="-127"/>
                <a:ea typeface="맑은 고딕" pitchFamily="50" charset="-127"/>
              </a:defRPr>
            </a:lvl1pPr>
            <a:lvl2pPr marL="648000" indent="-216000">
              <a:buClr>
                <a:schemeClr val="accent6">
                  <a:lumMod val="50000"/>
                </a:schemeClr>
              </a:buClr>
              <a:defRPr sz="2200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008000"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800" b="1">
                <a:latin typeface="맑은 고딕" pitchFamily="50" charset="-127"/>
                <a:ea typeface="맑은 고딕" pitchFamily="50" charset="-127"/>
              </a:defRPr>
            </a:lvl4pPr>
            <a:lvl5pPr>
              <a:defRPr sz="18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C9E6-AAC5-4CE3-AEB9-B27125AB2F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CB472-C4C4-477E-8AC0-53956F9811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81EA1-F96D-428B-BAD9-77C664AB88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81765-32A9-43A2-A13B-73A4EFC8A2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97352"/>
            <a:ext cx="533400" cy="23518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C69D1-562B-4BA3-B970-F557F71732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63119-A075-4A06-B8B9-191AF54DF5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034A6-DBBC-48F1-A09B-6AF30E127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30B49-4FB7-4305-BEBF-6D643FD066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B478B-1B83-4F62-9152-5F83492182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8E164-0165-4B37-AF99-AD7B6ECE17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23F4B-D0D5-4898-8A05-343EBDC5E8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55672"/>
            <a:ext cx="8928100" cy="807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1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34150"/>
            <a:ext cx="533400" cy="28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accent6">
                    <a:lumMod val="75000"/>
                  </a:schemeClr>
                </a:solidFill>
                <a:latin typeface="휴먼엑스포" pitchFamily="18" charset="-127"/>
                <a:ea typeface="휴먼엑스포" pitchFamily="18" charset="-127"/>
              </a:defRPr>
            </a:lvl1pPr>
          </a:lstStyle>
          <a:p>
            <a:pPr>
              <a:defRPr/>
            </a:pPr>
            <a:fld id="{C0C53A76-8A71-4B64-A76C-1B97F54C0D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12359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꿈     은 이루어진다</a:t>
            </a:r>
            <a:endParaRPr lang="ko-KR" altLang="en-US" dirty="0">
              <a:solidFill>
                <a:srgbClr val="CC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포인트가 5개인 별 9"/>
          <p:cNvSpPr/>
          <p:nvPr userDrawn="1"/>
        </p:nvSpPr>
        <p:spPr>
          <a:xfrm>
            <a:off x="286457" y="6453336"/>
            <a:ext cx="360040" cy="380578"/>
          </a:xfrm>
          <a:prstGeom prst="star5">
            <a:avLst/>
          </a:prstGeom>
          <a:solidFill>
            <a:srgbClr val="FF0000"/>
          </a:solidFill>
          <a:ln w="3175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6534222"/>
            <a:ext cx="1296144" cy="2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itchFamily="2" charset="2"/>
        <a:buChar char="v"/>
        <a:defRPr kumimoji="1" sz="24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Wingdings" pitchFamily="2" charset="2"/>
        <a:buChar char="§"/>
        <a:defRPr kumimoji="1" sz="2000" b="1">
          <a:solidFill>
            <a:srgbClr val="0070C0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 b="1">
          <a:solidFill>
            <a:srgbClr val="40404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60488" y="6113998"/>
            <a:ext cx="6400800" cy="555362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</a:t>
            </a: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803772" y="1005117"/>
            <a:ext cx="7514232" cy="1269706"/>
          </a:xfrm>
        </p:spPr>
        <p:txBody>
          <a:bodyPr/>
          <a:lstStyle/>
          <a:p>
            <a:pPr algn="ctr">
              <a:defRPr/>
            </a:pPr>
            <a:r>
              <a:rPr lang="en-US" altLang="ko-KR" sz="4000"/>
              <a:t>Decision Tree</a:t>
            </a:r>
            <a:endParaRPr lang="ko-KR" altLang="en-US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825996" y="532162"/>
            <a:ext cx="3090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2025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학년도 </a:t>
            </a:r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학기 </a:t>
            </a:r>
            <a:r>
              <a:rPr lang="ko-KR" altLang="en-US" sz="1800" b="1" dirty="0" err="1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머신러닝</a:t>
            </a:r>
            <a:endParaRPr lang="ko-KR" altLang="en-US" sz="1800" b="1" dirty="0">
              <a:solidFill>
                <a:srgbClr val="CC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78754-65CB-43B1-8FA6-6B2AEC5BA3F2}"/>
              </a:ext>
            </a:extLst>
          </p:cNvPr>
          <p:cNvSpPr txBox="1"/>
          <p:nvPr/>
        </p:nvSpPr>
        <p:spPr>
          <a:xfrm>
            <a:off x="1968600" y="5450141"/>
            <a:ext cx="5184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&lt;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출처</a:t>
            </a:r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: https://miro.medium.com/&gt;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" name="Picture 2" descr="https://miro.medium.com/max/569/0*Yclq0kqMAwCQcIV_.jpg">
            <a:extLst>
              <a:ext uri="{FF2B5EF4-FFF2-40B4-BE49-F238E27FC236}">
                <a16:creationId xmlns:a16="http://schemas.microsoft.com/office/drawing/2014/main" id="{B4C61115-0C2C-4485-999D-99479516B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023" y="2060848"/>
            <a:ext cx="4067954" cy="3131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Tm="36370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71B43-C860-495B-8CD4-EC58BD07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지난 시간 복습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A9F84D4-1220-4ACA-A103-F13EAF52BB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ko-KR" altLang="en-US"/>
                  <a:t>확률적 경사하강법</a:t>
                </a:r>
                <a:r>
                  <a:rPr lang="en-US" altLang="ko-KR"/>
                  <a:t>(Stochastic Gradient Descent)</a:t>
                </a:r>
              </a:p>
              <a:p>
                <a:pPr lvl="1"/>
                <a:r>
                  <a:rPr lang="ko-KR" altLang="en-US"/>
                  <a:t>훈련세트에서 랜덤하게 하나의 샘플을 골라 경사하강법을 시행하는 방법</a:t>
                </a:r>
                <a:endParaRPr lang="en-US" altLang="ko-KR"/>
              </a:p>
              <a:p>
                <a:pPr lvl="1"/>
                <a:r>
                  <a:rPr lang="ko-KR" altLang="en-US"/>
                  <a:t>전체 샘플을 다 선택할 때까지 반복 </a:t>
                </a:r>
                <a:br>
                  <a:rPr lang="en-US" altLang="ko-KR"/>
                </a:br>
                <a:r>
                  <a:rPr lang="en-US" altLang="ko-KR">
                    <a:sym typeface="Wingdings" panose="05000000000000000000" pitchFamily="2" charset="2"/>
                  </a:rPr>
                  <a:t> </a:t>
                </a:r>
                <a:r>
                  <a:rPr lang="ko-KR" altLang="en-US">
                    <a:sym typeface="Wingdings" panose="05000000000000000000" pitchFamily="2" charset="2"/>
                  </a:rPr>
                  <a:t>에포크</a:t>
                </a:r>
                <a:r>
                  <a:rPr lang="en-US" altLang="ko-KR">
                    <a:sym typeface="Wingdings" panose="05000000000000000000" pitchFamily="2" charset="2"/>
                  </a:rPr>
                  <a:t>(epoch): </a:t>
                </a:r>
                <a:r>
                  <a:rPr lang="ko-KR" altLang="en-US">
                    <a:sym typeface="Wingdings" panose="05000000000000000000" pitchFamily="2" charset="2"/>
                  </a:rPr>
                  <a:t>훈련세트를 한번 모두 사용하는 과정</a:t>
                </a:r>
                <a:r>
                  <a:rPr lang="en-US" altLang="ko-KR">
                    <a:sym typeface="Wingdings" panose="05000000000000000000" pitchFamily="2" charset="2"/>
                  </a:rPr>
                  <a:t>. </a:t>
                </a:r>
                <a:r>
                  <a:rPr lang="ko-KR" altLang="en-US">
                    <a:sym typeface="Wingdings" panose="05000000000000000000" pitchFamily="2" charset="2"/>
                  </a:rPr>
                  <a:t>일반적으로 경사하강법은 수십</a:t>
                </a:r>
                <a:r>
                  <a:rPr lang="en-US" altLang="ko-KR">
                    <a:sym typeface="Wingdings" panose="05000000000000000000" pitchFamily="2" charset="2"/>
                  </a:rPr>
                  <a:t>, </a:t>
                </a:r>
                <a:r>
                  <a:rPr lang="ko-KR" altLang="en-US">
                    <a:sym typeface="Wingdings" panose="05000000000000000000" pitchFamily="2" charset="2"/>
                  </a:rPr>
                  <a:t>수백번 이상의 에포크를 수행</a:t>
                </a:r>
                <a:endParaRPr lang="en-US" altLang="ko-KR">
                  <a:sym typeface="Wingdings" panose="05000000000000000000" pitchFamily="2" charset="2"/>
                </a:endParaRPr>
              </a:p>
              <a:p>
                <a:r>
                  <a:rPr lang="ko-KR" altLang="en-US"/>
                  <a:t>손실함수</a:t>
                </a:r>
                <a:r>
                  <a:rPr lang="en-US" altLang="ko-KR"/>
                  <a:t>(Loss function </a:t>
                </a:r>
                <a:r>
                  <a:rPr lang="ko-KR" altLang="en-US"/>
                  <a:t>또느 </a:t>
                </a:r>
                <a:r>
                  <a:rPr lang="en-US" altLang="ko-KR"/>
                  <a:t>Cost function)</a:t>
                </a:r>
              </a:p>
              <a:p>
                <a:pPr lvl="1"/>
                <a:r>
                  <a:rPr lang="ko-KR" altLang="en-US"/>
                  <a:t>머신러닝 알고리즘이 얼마나 엉터리인지를 측정하는 함수</a:t>
                </a:r>
                <a:endParaRPr lang="en-US" altLang="ko-KR"/>
              </a:p>
              <a:p>
                <a:pPr lvl="1"/>
                <a:r>
                  <a:rPr lang="ko-KR" altLang="en-US"/>
                  <a:t>하강의 방향을 정함 </a:t>
                </a:r>
                <a:r>
                  <a:rPr lang="en-US" altLang="ko-KR">
                    <a:sym typeface="Wingdings" panose="05000000000000000000" pitchFamily="2" charset="2"/>
                  </a:rPr>
                  <a:t> </a:t>
                </a:r>
                <a:r>
                  <a:rPr lang="ko-KR" altLang="en-US">
                    <a:sym typeface="Wingdings" panose="05000000000000000000" pitchFamily="2" charset="2"/>
                  </a:rPr>
                  <a:t>손실함수의 값이 최소인 곳으로 진행</a:t>
                </a:r>
                <a:endParaRPr lang="en-US" altLang="ko-KR">
                  <a:sym typeface="Wingdings" panose="05000000000000000000" pitchFamily="2" charset="2"/>
                </a:endParaRPr>
              </a:p>
              <a:p>
                <a:pPr lvl="1"/>
                <a:r>
                  <a:rPr lang="ko-KR" altLang="en-US"/>
                  <a:t>기술적으로 손실함수는 미분가능해야 함</a:t>
                </a:r>
                <a:r>
                  <a:rPr lang="en-US" altLang="ko-KR"/>
                  <a:t>. </a:t>
                </a:r>
                <a:r>
                  <a:rPr lang="ko-KR" altLang="en-US"/>
                  <a:t>즉 연속적이라야 함</a:t>
                </a:r>
                <a:endParaRPr lang="en-US" altLang="ko-KR"/>
              </a:p>
              <a:p>
                <a:pPr lvl="1"/>
                <a:r>
                  <a:rPr lang="ko-KR" altLang="en-US"/>
                  <a:t>손실함수를 직접 계산할 필요는 없음</a:t>
                </a:r>
                <a:r>
                  <a:rPr lang="en-US" altLang="ko-KR"/>
                  <a:t>. </a:t>
                </a:r>
                <a:r>
                  <a:rPr lang="ko-KR" altLang="en-US"/>
                  <a:t>중요한 것은 정답에서 멀어질수록 손실함수가 크도록 설계하는 것</a:t>
                </a:r>
                <a:r>
                  <a:rPr lang="en-US" altLang="ko-KR"/>
                  <a:t>!</a:t>
                </a:r>
                <a:r>
                  <a:rPr lang="ko-KR" altLang="en-US"/>
                  <a:t> </a:t>
                </a:r>
                <a:endParaRPr lang="en-US" altLang="ko-KR"/>
              </a:p>
              <a:p>
                <a:r>
                  <a:rPr lang="ko-KR" altLang="en-US"/>
                  <a:t>로지스틱 회귀</a:t>
                </a:r>
                <a:r>
                  <a:rPr lang="en-US" altLang="ko-KR"/>
                  <a:t>(Logistic regression)</a:t>
                </a:r>
              </a:p>
              <a:p>
                <a:pPr lvl="1"/>
                <a:r>
                  <a:rPr lang="ko-KR" altLang="en-US"/>
                  <a:t>이름은 회귀이지만 분류</a:t>
                </a:r>
                <a:r>
                  <a:rPr lang="en-US" altLang="ko-KR"/>
                  <a:t>(classification) </a:t>
                </a:r>
                <a:r>
                  <a:rPr lang="ko-KR" altLang="en-US"/>
                  <a:t>모델</a:t>
                </a:r>
                <a:endParaRPr lang="en-US" altLang="ko-KR"/>
              </a:p>
              <a:p>
                <a:pPr lvl="1"/>
                <a:r>
                  <a:rPr lang="ko-KR" altLang="en-US"/>
                  <a:t>선형회기</a:t>
                </a:r>
                <a:r>
                  <a:rPr lang="en-US" altLang="ko-KR"/>
                  <a:t>(linear regression)</a:t>
                </a:r>
                <a:r>
                  <a:rPr lang="ko-KR" altLang="en-US"/>
                  <a:t>과 동일하게 선형방정식을 학습 </a:t>
                </a:r>
                <a:r>
                  <a:rPr lang="en-US" altLang="ko-KR"/>
                  <a:t>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𝒃𝒚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𝒄𝒛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+…, 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여기서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ko-KR" altLang="en-US"/>
                  <a:t>은 계수</a:t>
                </a:r>
                <a:r>
                  <a:rPr lang="en-US" altLang="ko-KR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ko-KR" altLang="en-US"/>
                  <a:t>는 어떤 값이든 가능하지만 확률이 되기 위해 </a:t>
                </a:r>
                <a:r>
                  <a:rPr lang="en-US" altLang="ko-KR"/>
                  <a:t>0</a:t>
                </a:r>
                <a:r>
                  <a:rPr lang="ko-KR" altLang="en-US"/>
                  <a:t>과</a:t>
                </a:r>
                <a:r>
                  <a:rPr lang="en-US" altLang="ko-KR"/>
                  <a:t> 1</a:t>
                </a:r>
                <a:r>
                  <a:rPr lang="ko-KR" altLang="en-US"/>
                  <a:t>사이의 값으로 압축</a:t>
                </a:r>
                <a:br>
                  <a:rPr lang="en-US" altLang="ko-KR"/>
                </a:br>
                <a:r>
                  <a:rPr lang="en-US" altLang="ko-KR">
                    <a:sym typeface="Wingdings" panose="05000000000000000000" pitchFamily="2" charset="2"/>
                  </a:rPr>
                  <a:t> sigmoid(or logistic) function(</a:t>
                </a:r>
                <a:r>
                  <a:rPr lang="ko-KR" altLang="en-US">
                    <a:sym typeface="Wingdings" panose="05000000000000000000" pitchFamily="2" charset="2"/>
                  </a:rPr>
                  <a:t>이진 분류의 경우</a:t>
                </a:r>
                <a:r>
                  <a:rPr lang="en-US" altLang="ko-KR">
                    <a:sym typeface="Wingdings" panose="05000000000000000000" pitchFamily="2" charset="2"/>
                  </a:rPr>
                  <a:t>), softmax function(</a:t>
                </a:r>
                <a:r>
                  <a:rPr lang="ko-KR" altLang="en-US">
                    <a:sym typeface="Wingdings" panose="05000000000000000000" pitchFamily="2" charset="2"/>
                  </a:rPr>
                  <a:t>다중 분류의 경우</a:t>
                </a:r>
                <a:r>
                  <a:rPr lang="en-US" altLang="ko-KR">
                    <a:sym typeface="Wingdings" panose="05000000000000000000" pitchFamily="2" charset="2"/>
                  </a:rPr>
                  <a:t>)</a:t>
                </a:r>
                <a:endParaRPr lang="en-US" altLang="ko-KR"/>
              </a:p>
              <a:p>
                <a:r>
                  <a:rPr lang="en-US" altLang="ko-KR"/>
                  <a:t>SGDClassifier</a:t>
                </a:r>
                <a:r>
                  <a:rPr lang="ko-KR" altLang="en-US"/>
                  <a:t>를 이용한 훈련</a:t>
                </a:r>
                <a:r>
                  <a:rPr lang="en-US" altLang="ko-KR"/>
                  <a:t>/</a:t>
                </a:r>
                <a:r>
                  <a:rPr lang="ko-KR" altLang="en-US"/>
                  <a:t>예측</a:t>
                </a:r>
                <a:endParaRPr lang="en-US" altLang="ko-KR"/>
              </a:p>
              <a:p>
                <a:pPr lvl="1"/>
                <a:r>
                  <a:rPr lang="ko-KR" altLang="en-US"/>
                  <a:t>에포크 동안 더 훈련</a:t>
                </a:r>
                <a:endParaRPr lang="en-US" altLang="ko-KR"/>
              </a:p>
              <a:p>
                <a:pPr lvl="1"/>
                <a:r>
                  <a:rPr lang="ko-KR" altLang="en-US"/>
                  <a:t>최적의 성능이 일어나는 에포크 추적</a:t>
                </a:r>
                <a:endParaRPr lang="en-US" altLang="ko-KR"/>
              </a:p>
              <a:p>
                <a:pPr lvl="1"/>
                <a:endParaRPr lang="en-US" altLang="ko-KR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A9F84D4-1220-4ACA-A103-F13EAF52BB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1" t="-4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C460A6-4DBA-442D-B1A5-54053CCF9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1528316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E6938-5846-4440-B5F2-782388FE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학습목표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81E4D7-BB54-4FF2-8452-113620F71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 시간이 </a:t>
            </a:r>
            <a:r>
              <a:rPr lang="ko-KR" altLang="en-US"/>
              <a:t>종료되면 학생들은</a:t>
            </a:r>
            <a:endParaRPr lang="en-US" altLang="ko-KR"/>
          </a:p>
          <a:p>
            <a:pPr lvl="1"/>
            <a:r>
              <a:rPr lang="ko-KR" altLang="en-US"/>
              <a:t>결정 트리의 개념을 이야기할 수 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06078B-3071-4128-9A58-72556F263B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4191978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8C414-B436-4C8D-AF33-1A801337F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캔 속의 레드와인 </a:t>
            </a:r>
            <a:r>
              <a:rPr lang="en-US" altLang="ko-KR"/>
              <a:t>or </a:t>
            </a:r>
            <a:r>
              <a:rPr lang="ko-KR" altLang="en-US"/>
              <a:t>화이트와인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F218E9-F0F5-43A2-9064-6D95E4134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우리의 문제</a:t>
            </a:r>
            <a:endParaRPr lang="en-US" altLang="ko-KR"/>
          </a:p>
          <a:p>
            <a:pPr lvl="1"/>
            <a:r>
              <a:rPr lang="ko-KR" altLang="en-US"/>
              <a:t>캔에 와인이 담김</a:t>
            </a:r>
            <a:r>
              <a:rPr lang="en-US" altLang="ko-KR"/>
              <a:t>. but, </a:t>
            </a:r>
            <a:r>
              <a:rPr lang="ko-KR" altLang="en-US"/>
              <a:t>레드와인인지 화이트와인인지 표기 안됨</a:t>
            </a:r>
            <a:endParaRPr lang="en-US" altLang="ko-KR"/>
          </a:p>
          <a:p>
            <a:pPr lvl="1"/>
            <a:r>
              <a:rPr lang="ko-KR" altLang="en-US"/>
              <a:t>캔에 표기된 알콜 도수</a:t>
            </a:r>
            <a:r>
              <a:rPr lang="en-US" altLang="ko-KR"/>
              <a:t>, </a:t>
            </a:r>
            <a:r>
              <a:rPr lang="ko-KR" altLang="en-US"/>
              <a:t>당도</a:t>
            </a:r>
            <a:r>
              <a:rPr lang="en-US" altLang="ko-KR"/>
              <a:t>, pH</a:t>
            </a:r>
            <a:r>
              <a:rPr lang="ko-KR" altLang="en-US"/>
              <a:t>로 구분 필요</a:t>
            </a:r>
            <a:endParaRPr lang="en-US" altLang="ko-KR"/>
          </a:p>
          <a:p>
            <a:pPr lvl="1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F9D0F5-F4D5-4255-828D-7D6F7C62CD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5533848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D080F3-3339-44DE-8309-BCD8480EA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로지스틱 회기모델로 와인 구분 </a:t>
            </a:r>
            <a:r>
              <a:rPr lang="en-US" altLang="ko-KR"/>
              <a:t>(1)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77015F-5FA7-4E03-9532-BB606A249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로지스틱 회기모델은 분류 모델이므로 적용 가능</a:t>
            </a:r>
            <a:endParaRPr lang="en-US" altLang="ko-KR"/>
          </a:p>
          <a:p>
            <a:pPr lvl="1"/>
            <a:r>
              <a:rPr lang="ko-KR" altLang="en-US"/>
              <a:t>이분 분류이므로 분류함수로는 시그모이드 적용</a:t>
            </a:r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614DDB-A34E-424F-913F-C7806B906C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FCBFDB-60A5-4370-829C-A103F07C2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988840"/>
            <a:ext cx="5167120" cy="26642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64C98E9-717F-4A08-A26F-26483E7E8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506" y="1988840"/>
            <a:ext cx="2912030" cy="13681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8ACA012-B282-49A4-B904-F9EA6ED62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175" y="3520634"/>
            <a:ext cx="2861507" cy="1420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61F6488-F840-4A71-8F5B-3CA84D5F83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7744" y="4581128"/>
            <a:ext cx="3779512" cy="239493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67B08FE-E6D4-4A48-9D15-7AA333FC0CE7}"/>
              </a:ext>
            </a:extLst>
          </p:cNvPr>
          <p:cNvCxnSpPr/>
          <p:nvPr/>
        </p:nvCxnSpPr>
        <p:spPr>
          <a:xfrm flipV="1">
            <a:off x="3635896" y="3140968"/>
            <a:ext cx="2448272" cy="7920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02C0571-66BF-4D3D-8770-BE00902DA1EF}"/>
              </a:ext>
            </a:extLst>
          </p:cNvPr>
          <p:cNvCxnSpPr/>
          <p:nvPr/>
        </p:nvCxnSpPr>
        <p:spPr>
          <a:xfrm flipV="1">
            <a:off x="5292080" y="4077072"/>
            <a:ext cx="839426" cy="153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D891DB1-4D97-4209-9CD8-8ADA748D3BC2}"/>
              </a:ext>
            </a:extLst>
          </p:cNvPr>
          <p:cNvCxnSpPr/>
          <p:nvPr/>
        </p:nvCxnSpPr>
        <p:spPr>
          <a:xfrm>
            <a:off x="1475656" y="4563956"/>
            <a:ext cx="720080" cy="6652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9A62AC8-49C5-4B0D-90A7-700B272C24DD}"/>
              </a:ext>
            </a:extLst>
          </p:cNvPr>
          <p:cNvCxnSpPr/>
          <p:nvPr/>
        </p:nvCxnSpPr>
        <p:spPr>
          <a:xfrm flipV="1">
            <a:off x="5299576" y="4081978"/>
            <a:ext cx="839426" cy="1538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B494C1E-54A7-4645-8B31-8FE30BE0B165}"/>
              </a:ext>
            </a:extLst>
          </p:cNvPr>
          <p:cNvCxnSpPr/>
          <p:nvPr/>
        </p:nvCxnSpPr>
        <p:spPr>
          <a:xfrm>
            <a:off x="1483152" y="4568862"/>
            <a:ext cx="720080" cy="6652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864682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D080F3-3339-44DE-8309-BCD8480EA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로지스틱 회기모델로 와인 구분 </a:t>
            </a:r>
            <a:r>
              <a:rPr lang="en-US" altLang="ko-KR"/>
              <a:t>(2)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614DDB-A34E-424F-913F-C7806B906C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99EA61B-2424-4A6D-BB30-2C448A65D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124743"/>
            <a:ext cx="6052542" cy="525264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0BA36D7-C5DB-4A39-A38F-303B6F8CE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240" y="1772816"/>
            <a:ext cx="2232248" cy="3446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BD6414B-835A-4E87-B7BA-991236D2A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7088" y="4217930"/>
            <a:ext cx="2197400" cy="6159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9E2FD87A-FC05-4552-B9F6-6D99DC61A4CE}"/>
              </a:ext>
            </a:extLst>
          </p:cNvPr>
          <p:cNvSpPr/>
          <p:nvPr/>
        </p:nvSpPr>
        <p:spPr>
          <a:xfrm>
            <a:off x="6660232" y="2420888"/>
            <a:ext cx="2375818" cy="55755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solidFill>
                  <a:srgbClr val="FF0000"/>
                </a:solidFill>
              </a:rPr>
              <a:t>test_size </a:t>
            </a:r>
            <a:r>
              <a:rPr lang="ko-KR" altLang="en-US" sz="1400">
                <a:solidFill>
                  <a:srgbClr val="FF0000"/>
                </a:solidFill>
              </a:rPr>
              <a:t>매개변수 </a:t>
            </a:r>
            <a:r>
              <a:rPr lang="en-US" altLang="ko-KR" sz="1400">
                <a:solidFill>
                  <a:srgbClr val="FF0000"/>
                </a:solidFill>
              </a:rPr>
              <a:t>= 0.2</a:t>
            </a:r>
            <a:r>
              <a:rPr lang="ko-KR" altLang="en-US" sz="1400">
                <a:solidFill>
                  <a:srgbClr val="FF0000"/>
                </a:solidFill>
              </a:rPr>
              <a:t>이므로 </a:t>
            </a:r>
            <a:r>
              <a:rPr lang="en-US" altLang="ko-KR" sz="1400">
                <a:solidFill>
                  <a:srgbClr val="FF0000"/>
                </a:solidFill>
              </a:rPr>
              <a:t>20%</a:t>
            </a:r>
            <a:r>
              <a:rPr lang="ko-KR" altLang="en-US" sz="1400">
                <a:solidFill>
                  <a:srgbClr val="FF0000"/>
                </a:solidFill>
              </a:rPr>
              <a:t>가 </a:t>
            </a:r>
            <a:r>
              <a:rPr lang="en-US" altLang="ko-KR" sz="1400">
                <a:solidFill>
                  <a:srgbClr val="FF0000"/>
                </a:solidFill>
              </a:rPr>
              <a:t>test </a:t>
            </a:r>
            <a:r>
              <a:rPr lang="ko-KR" altLang="en-US" sz="1400">
                <a:solidFill>
                  <a:srgbClr val="FF0000"/>
                </a:solidFill>
              </a:rPr>
              <a:t>데이터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798A52A-11FC-4E04-AD2F-9C4A93198FD3}"/>
              </a:ext>
            </a:extLst>
          </p:cNvPr>
          <p:cNvCxnSpPr/>
          <p:nvPr/>
        </p:nvCxnSpPr>
        <p:spPr>
          <a:xfrm flipV="1">
            <a:off x="5436096" y="1988840"/>
            <a:ext cx="1224136" cy="10801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E81B7050-3B19-49E5-8E7E-6DBD71581967}"/>
              </a:ext>
            </a:extLst>
          </p:cNvPr>
          <p:cNvCxnSpPr/>
          <p:nvPr/>
        </p:nvCxnSpPr>
        <p:spPr>
          <a:xfrm flipV="1">
            <a:off x="4499992" y="4725144"/>
            <a:ext cx="2160240" cy="12961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543640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D080F3-3339-44DE-8309-BCD8480EA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로지스틱 회기모델로 와인 구분 </a:t>
            </a:r>
            <a:r>
              <a:rPr lang="en-US" altLang="ko-KR"/>
              <a:t>(3)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9F46B98-7B1F-4397-AC35-D3E454DCCA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/>
                  <a:t>방정식의 계수 확인</a:t>
                </a:r>
                <a:endParaRPr lang="en-US" altLang="ko-KR"/>
              </a:p>
              <a:p>
                <a:pPr lvl="1"/>
                <a:r>
                  <a:rPr lang="ko-KR" altLang="en-US"/>
                  <a:t>로지스틱 회기모델은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𝒂𝒍𝒄𝒐𝒉𝒐𝒍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𝒔𝒖𝒈𝒂𝒓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𝒑𝑯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의</a:t>
                </a:r>
                <a:r>
                  <a:rPr lang="en-US" altLang="ko-KR"/>
                  <a:t>  </a:t>
                </a:r>
                <a:r>
                  <a:rPr lang="ko-KR" altLang="en-US"/>
                  <a:t>계수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/>
                  <a:t>를 찾아냄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9F46B98-7B1F-4397-AC35-D3E454DCCA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4" t="-3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614DDB-A34E-424F-913F-C7806B906C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5A9D01-33CA-4B43-91A4-48D5088A2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492896"/>
            <a:ext cx="3077025" cy="5760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D22B05B-688B-4410-AFA2-27E8568D3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696" y="3645024"/>
            <a:ext cx="6422231" cy="38186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7BD7397-1597-4C90-A435-1D2C850D2E9F}"/>
              </a:ext>
            </a:extLst>
          </p:cNvPr>
          <p:cNvCxnSpPr/>
          <p:nvPr/>
        </p:nvCxnSpPr>
        <p:spPr>
          <a:xfrm>
            <a:off x="1619672" y="2996952"/>
            <a:ext cx="648072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0964176-87D5-48FB-A9F4-27BEC27FCA73}"/>
              </a:ext>
            </a:extLst>
          </p:cNvPr>
          <p:cNvSpPr/>
          <p:nvPr/>
        </p:nvSpPr>
        <p:spPr>
          <a:xfrm>
            <a:off x="1835696" y="4191108"/>
            <a:ext cx="4897413" cy="47861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>
                <a:solidFill>
                  <a:srgbClr val="FF0000"/>
                </a:solidFill>
              </a:rPr>
              <a:t>이런 계수로는 전문가가 아닌 사람들에게 설명하기 어려움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599E776-699C-48BF-B4C5-EC1A7E811CA5}"/>
              </a:ext>
            </a:extLst>
          </p:cNvPr>
          <p:cNvSpPr/>
          <p:nvPr/>
        </p:nvSpPr>
        <p:spPr>
          <a:xfrm>
            <a:off x="1828984" y="4787086"/>
            <a:ext cx="6487432" cy="47861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>
                <a:solidFill>
                  <a:srgbClr val="FF0000"/>
                </a:solidFill>
              </a:rPr>
              <a:t>전문가로서도 왜 이런 계수가 나왔는지 확인하기 어려움 </a:t>
            </a:r>
            <a:r>
              <a:rPr lang="en-US" altLang="ko-KR" sz="1400">
                <a:solidFill>
                  <a:srgbClr val="FF0000"/>
                </a:solidFill>
                <a:sym typeface="Wingdings" panose="05000000000000000000" pitchFamily="2" charset="2"/>
              </a:rPr>
              <a:t></a:t>
            </a:r>
            <a:r>
              <a:rPr lang="en-US" altLang="ko-KR" sz="1400">
                <a:solidFill>
                  <a:srgbClr val="FF0000"/>
                </a:solidFill>
              </a:rPr>
              <a:t> AI</a:t>
            </a:r>
            <a:r>
              <a:rPr lang="ko-KR" altLang="en-US" sz="1400">
                <a:solidFill>
                  <a:srgbClr val="FF0000"/>
                </a:solidFill>
              </a:rPr>
              <a:t>의 학습에 의함</a:t>
            </a:r>
          </a:p>
        </p:txBody>
      </p:sp>
    </p:spTree>
    <p:extLst>
      <p:ext uri="{BB962C8B-B14F-4D97-AF65-F5344CB8AC3E}">
        <p14:creationId xmlns:p14="http://schemas.microsoft.com/office/powerpoint/2010/main" val="2916779814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F6C42C-F1CA-4875-9BE9-859C221E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결정 트리</a:t>
            </a:r>
            <a:r>
              <a:rPr lang="en-US" altLang="ko-KR"/>
              <a:t>(Decision Tree) (1)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621FF4-5952-49E9-AC14-9B73849F7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50325" cy="5519738"/>
          </a:xfrm>
        </p:spPr>
        <p:txBody>
          <a:bodyPr/>
          <a:lstStyle/>
          <a:p>
            <a:r>
              <a:rPr lang="ko-KR" altLang="en-US"/>
              <a:t>순서도</a:t>
            </a:r>
            <a:r>
              <a:rPr lang="en-US" altLang="ko-KR"/>
              <a:t>(flow chart)</a:t>
            </a:r>
            <a:r>
              <a:rPr lang="ko-KR" altLang="en-US"/>
              <a:t>의 판단</a:t>
            </a:r>
            <a:r>
              <a:rPr lang="en-US" altLang="ko-KR"/>
              <a:t>(decision)</a:t>
            </a:r>
            <a:r>
              <a:rPr lang="ko-KR" altLang="en-US"/>
              <a:t>의 참</a:t>
            </a:r>
            <a:r>
              <a:rPr lang="en-US" altLang="ko-KR"/>
              <a:t>/</a:t>
            </a:r>
            <a:r>
              <a:rPr lang="ko-KR" altLang="en-US"/>
              <a:t>거짓에 따라 진행 방향이 달라지는 그림이라면 일반인도 이해하기 쉬움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순서도와 같은 판단에 따라 결론으로 이동하는 형태의 진행이 결정 트리임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9B6E05-C8CF-4AB1-9BEF-159213DA4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CB20BFE-9653-4588-9D04-AD30400861F3}"/>
              </a:ext>
            </a:extLst>
          </p:cNvPr>
          <p:cNvGrpSpPr/>
          <p:nvPr/>
        </p:nvGrpSpPr>
        <p:grpSpPr>
          <a:xfrm>
            <a:off x="1763688" y="2060848"/>
            <a:ext cx="4608512" cy="1512168"/>
            <a:chOff x="1763688" y="2276872"/>
            <a:chExt cx="4608512" cy="1512168"/>
          </a:xfrm>
        </p:grpSpPr>
        <p:sp>
          <p:nvSpPr>
            <p:cNvPr id="5" name="순서도: 판단 4">
              <a:extLst>
                <a:ext uri="{FF2B5EF4-FFF2-40B4-BE49-F238E27FC236}">
                  <a16:creationId xmlns:a16="http://schemas.microsoft.com/office/drawing/2014/main" id="{31B10572-3B86-47AA-A227-682E2B7816DD}"/>
                </a:ext>
              </a:extLst>
            </p:cNvPr>
            <p:cNvSpPr/>
            <p:nvPr/>
          </p:nvSpPr>
          <p:spPr>
            <a:xfrm>
              <a:off x="1763688" y="2276872"/>
              <a:ext cx="1800200" cy="504056"/>
            </a:xfrm>
            <a:prstGeom prst="flowChartDecis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?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순서도: 처리 5">
              <a:extLst>
                <a:ext uri="{FF2B5EF4-FFF2-40B4-BE49-F238E27FC236}">
                  <a16:creationId xmlns:a16="http://schemas.microsoft.com/office/drawing/2014/main" id="{51E17DB0-D053-49A2-B0A9-3366A9A2C8FD}"/>
                </a:ext>
              </a:extLst>
            </p:cNvPr>
            <p:cNvSpPr/>
            <p:nvPr/>
          </p:nvSpPr>
          <p:spPr>
            <a:xfrm>
              <a:off x="4716016" y="2276872"/>
              <a:ext cx="1656184" cy="504056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a = b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순서도: 처리 6">
              <a:extLst>
                <a:ext uri="{FF2B5EF4-FFF2-40B4-BE49-F238E27FC236}">
                  <a16:creationId xmlns:a16="http://schemas.microsoft.com/office/drawing/2014/main" id="{8592F3E9-6C5D-45ED-9291-DC98D01D4E45}"/>
                </a:ext>
              </a:extLst>
            </p:cNvPr>
            <p:cNvSpPr/>
            <p:nvPr/>
          </p:nvSpPr>
          <p:spPr>
            <a:xfrm>
              <a:off x="1835696" y="3284984"/>
              <a:ext cx="1656184" cy="504056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a = c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1C5DC050-0ADB-4E5B-9DFD-B449D2FA7D17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>
              <a:off x="3563888" y="2528900"/>
              <a:ext cx="115212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AFF58DCE-05A9-4004-90A7-6A01CCCE36BB}"/>
                </a:ext>
              </a:extLst>
            </p:cNvPr>
            <p:cNvCxnSpPr>
              <a:stCxn id="5" idx="2"/>
              <a:endCxn id="7" idx="0"/>
            </p:cNvCxnSpPr>
            <p:nvPr/>
          </p:nvCxnSpPr>
          <p:spPr>
            <a:xfrm>
              <a:off x="2663788" y="2780928"/>
              <a:ext cx="0" cy="5040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순서도: 처리 11">
              <a:extLst>
                <a:ext uri="{FF2B5EF4-FFF2-40B4-BE49-F238E27FC236}">
                  <a16:creationId xmlns:a16="http://schemas.microsoft.com/office/drawing/2014/main" id="{BBCCA0C3-356B-4865-AED2-9B214019A055}"/>
                </a:ext>
              </a:extLst>
            </p:cNvPr>
            <p:cNvSpPr/>
            <p:nvPr/>
          </p:nvSpPr>
          <p:spPr>
            <a:xfrm>
              <a:off x="3995936" y="2276872"/>
              <a:ext cx="288032" cy="216020"/>
            </a:xfrm>
            <a:prstGeom prst="flowChartProces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Y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순서도: 처리 12">
              <a:extLst>
                <a:ext uri="{FF2B5EF4-FFF2-40B4-BE49-F238E27FC236}">
                  <a16:creationId xmlns:a16="http://schemas.microsoft.com/office/drawing/2014/main" id="{100E118C-70A9-4F79-B175-510D22191BF8}"/>
                </a:ext>
              </a:extLst>
            </p:cNvPr>
            <p:cNvSpPr/>
            <p:nvPr/>
          </p:nvSpPr>
          <p:spPr>
            <a:xfrm flipH="1">
              <a:off x="2771800" y="2899038"/>
              <a:ext cx="152400" cy="216020"/>
            </a:xfrm>
            <a:prstGeom prst="flowChartProces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N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4568494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F6C42C-F1CA-4875-9BE9-859C221E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결정 트리</a:t>
            </a:r>
            <a:r>
              <a:rPr lang="en-US" altLang="ko-KR"/>
              <a:t>(Decision Tree) (2)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621FF4-5952-49E9-AC14-9B73849F7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50325" cy="5519738"/>
          </a:xfrm>
        </p:spPr>
        <p:txBody>
          <a:bodyPr/>
          <a:lstStyle/>
          <a:p>
            <a:r>
              <a:rPr lang="ko-KR" altLang="en-US"/>
              <a:t>결정 트리 모델 클래스</a:t>
            </a:r>
            <a:r>
              <a:rPr lang="en-US" altLang="ko-KR"/>
              <a:t>(DecisionTreeClassifier)</a:t>
            </a:r>
            <a:r>
              <a:rPr lang="ko-KR" altLang="en-US"/>
              <a:t>로 훈련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9B6E05-C8CF-4AB1-9BEF-159213DA4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2B1E3AB-8686-40E1-993C-FD5AFCE63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7" y="1484784"/>
            <a:ext cx="4483445" cy="30243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D4DA6B0-3BF5-487A-9A4D-923C87B69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1988840"/>
            <a:ext cx="1872208" cy="48538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38027AE-6A31-4E78-828F-6C2A3E3B5203}"/>
              </a:ext>
            </a:extLst>
          </p:cNvPr>
          <p:cNvCxnSpPr/>
          <p:nvPr/>
        </p:nvCxnSpPr>
        <p:spPr>
          <a:xfrm flipV="1">
            <a:off x="4499992" y="2276872"/>
            <a:ext cx="1296144" cy="4320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5F5B7151-9617-4671-85DF-B93769881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984" y="3239408"/>
            <a:ext cx="4587627" cy="306422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B5AAD18-7DFA-43FC-8AD7-E60F55BE598A}"/>
              </a:ext>
            </a:extLst>
          </p:cNvPr>
          <p:cNvCxnSpPr/>
          <p:nvPr/>
        </p:nvCxnSpPr>
        <p:spPr>
          <a:xfrm>
            <a:off x="3347864" y="4149081"/>
            <a:ext cx="1008112" cy="7920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450670F-618E-427D-86B6-1E47A411718B}"/>
              </a:ext>
            </a:extLst>
          </p:cNvPr>
          <p:cNvSpPr/>
          <p:nvPr/>
        </p:nvSpPr>
        <p:spPr>
          <a:xfrm>
            <a:off x="1691680" y="5733256"/>
            <a:ext cx="2693640" cy="34152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>
                <a:solidFill>
                  <a:srgbClr val="FF0000"/>
                </a:solidFill>
              </a:rPr>
              <a:t>결정 노드의 내용을 볼 수 없음</a:t>
            </a:r>
          </a:p>
        </p:txBody>
      </p:sp>
    </p:spTree>
    <p:extLst>
      <p:ext uri="{BB962C8B-B14F-4D97-AF65-F5344CB8AC3E}">
        <p14:creationId xmlns:p14="http://schemas.microsoft.com/office/powerpoint/2010/main" val="4022489271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F6C42C-F1CA-4875-9BE9-859C221E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결정 트리</a:t>
            </a:r>
            <a:r>
              <a:rPr lang="en-US" altLang="ko-KR"/>
              <a:t>(Decision Tree) (3)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621FF4-5952-49E9-AC14-9B73849F7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50325" cy="5519738"/>
          </a:xfrm>
        </p:spPr>
        <p:txBody>
          <a:bodyPr/>
          <a:lstStyle/>
          <a:p>
            <a:r>
              <a:rPr lang="ko-KR" altLang="en-US"/>
              <a:t>깊이를 </a:t>
            </a:r>
            <a:r>
              <a:rPr lang="en-US" altLang="ko-KR"/>
              <a:t>1(root </a:t>
            </a:r>
            <a:r>
              <a:rPr lang="ko-KR" altLang="en-US"/>
              <a:t>및 </a:t>
            </a:r>
            <a:r>
              <a:rPr lang="en-US" altLang="ko-KR"/>
              <a:t>level 1 nodes)</a:t>
            </a:r>
            <a:r>
              <a:rPr lang="ko-KR" altLang="en-US"/>
              <a:t>로 하여 결정 트리 그려보기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9B6E05-C8CF-4AB1-9BEF-159213DA4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19FE8E-B8A8-46EA-8097-9EC534424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484784"/>
            <a:ext cx="7250652" cy="10081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5E66B15-A9C8-4AA8-87A6-6E41EAF1B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829992"/>
            <a:ext cx="4476750" cy="3048000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B5C854E-C63D-4B17-AC1E-FFA7DB168172}"/>
              </a:ext>
            </a:extLst>
          </p:cNvPr>
          <p:cNvCxnSpPr>
            <a:cxnSpLocks/>
          </p:cNvCxnSpPr>
          <p:nvPr/>
        </p:nvCxnSpPr>
        <p:spPr>
          <a:xfrm>
            <a:off x="1475656" y="2348880"/>
            <a:ext cx="288032" cy="9361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2BEB6A9-8EE5-4E3E-BB44-D6E29BA66E88}"/>
              </a:ext>
            </a:extLst>
          </p:cNvPr>
          <p:cNvSpPr/>
          <p:nvPr/>
        </p:nvSpPr>
        <p:spPr>
          <a:xfrm>
            <a:off x="5012172" y="4005064"/>
            <a:ext cx="4041972" cy="122413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>
                <a:solidFill>
                  <a:srgbClr val="FF0000"/>
                </a:solidFill>
              </a:rPr>
              <a:t>각 노드에서의 판단 근거를 볼 수 있음</a:t>
            </a:r>
            <a:endParaRPr lang="en-US" altLang="ko-KR" sz="140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FF0000"/>
                </a:solidFill>
              </a:rPr>
              <a:t>Root node</a:t>
            </a:r>
            <a:r>
              <a:rPr lang="ko-KR" altLang="en-US" sz="1400">
                <a:solidFill>
                  <a:srgbClr val="FF0000"/>
                </a:solidFill>
              </a:rPr>
              <a:t>에서는 </a:t>
            </a:r>
            <a:r>
              <a:rPr lang="en-US" altLang="ko-KR" sz="1400">
                <a:solidFill>
                  <a:srgbClr val="FF0000"/>
                </a:solidFill>
              </a:rPr>
              <a:t>sugar</a:t>
            </a:r>
            <a:r>
              <a:rPr lang="ko-KR" altLang="en-US" sz="1400">
                <a:solidFill>
                  <a:srgbClr val="FF0000"/>
                </a:solidFill>
              </a:rPr>
              <a:t>가 </a:t>
            </a:r>
            <a:r>
              <a:rPr lang="en-US" altLang="ko-KR" sz="1400">
                <a:solidFill>
                  <a:srgbClr val="FF0000"/>
                </a:solidFill>
              </a:rPr>
              <a:t>-0.239</a:t>
            </a:r>
            <a:r>
              <a:rPr lang="ko-KR" altLang="en-US" sz="1400">
                <a:solidFill>
                  <a:srgbClr val="FF0000"/>
                </a:solidFill>
              </a:rPr>
              <a:t>보다 큰지 작은지에 따라 분지</a:t>
            </a:r>
            <a:endParaRPr lang="en-US" altLang="ko-KR" sz="140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FF0000"/>
                </a:solidFill>
              </a:rPr>
              <a:t>Level 1 nodes</a:t>
            </a:r>
            <a:r>
              <a:rPr lang="ko-KR" altLang="en-US" sz="1400">
                <a:solidFill>
                  <a:srgbClr val="FF0000"/>
                </a:solidFill>
              </a:rPr>
              <a:t>에서는 각각</a:t>
            </a:r>
            <a:r>
              <a:rPr lang="en-US" altLang="ko-KR" sz="1400">
                <a:solidFill>
                  <a:srgbClr val="FF0000"/>
                </a:solidFill>
              </a:rPr>
              <a:t> sugar</a:t>
            </a:r>
            <a:r>
              <a:rPr lang="ko-KR" altLang="en-US" sz="1400">
                <a:solidFill>
                  <a:srgbClr val="FF0000"/>
                </a:solidFill>
              </a:rPr>
              <a:t>가 </a:t>
            </a:r>
            <a:r>
              <a:rPr lang="en-US" altLang="ko-KR" sz="1400">
                <a:solidFill>
                  <a:srgbClr val="FF0000"/>
                </a:solidFill>
              </a:rPr>
              <a:t>0.481, 0.069</a:t>
            </a:r>
            <a:r>
              <a:rPr lang="ko-KR" altLang="en-US" sz="1400">
                <a:solidFill>
                  <a:srgbClr val="FF0000"/>
                </a:solidFill>
              </a:rPr>
              <a:t>를 기준으로 다음 노드로 진행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D143755-AC40-4AD4-A976-ECFF26E1B60D}"/>
              </a:ext>
            </a:extLst>
          </p:cNvPr>
          <p:cNvSpPr/>
          <p:nvPr/>
        </p:nvSpPr>
        <p:spPr>
          <a:xfrm>
            <a:off x="5012172" y="5282836"/>
            <a:ext cx="4041972" cy="29946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solidFill>
                  <a:srgbClr val="FF0000"/>
                </a:solidFill>
              </a:rPr>
              <a:t>gini</a:t>
            </a:r>
            <a:r>
              <a:rPr lang="ko-KR" altLang="en-US" sz="1400">
                <a:solidFill>
                  <a:srgbClr val="FF0000"/>
                </a:solidFill>
              </a:rPr>
              <a:t>는 불순도</a:t>
            </a:r>
            <a:r>
              <a:rPr lang="en-US" altLang="ko-KR" sz="1400">
                <a:solidFill>
                  <a:srgbClr val="FF0000"/>
                </a:solidFill>
              </a:rPr>
              <a:t>(</a:t>
            </a:r>
            <a:r>
              <a:rPr lang="ko-KR" altLang="en-US" sz="1400">
                <a:solidFill>
                  <a:srgbClr val="FF0000"/>
                </a:solidFill>
              </a:rPr>
              <a:t>순수하지 않은 정도</a:t>
            </a:r>
            <a:r>
              <a:rPr lang="en-US" altLang="ko-KR" sz="1400">
                <a:solidFill>
                  <a:srgbClr val="FF0000"/>
                </a:solidFill>
              </a:rPr>
              <a:t>)</a:t>
            </a:r>
            <a:r>
              <a:rPr lang="ko-KR" altLang="en-US" sz="1400">
                <a:solidFill>
                  <a:srgbClr val="FF0000"/>
                </a:solidFill>
              </a:rPr>
              <a:t>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7FFFE33-4C32-4C50-9CA2-3FEE795C2B96}"/>
              </a:ext>
            </a:extLst>
          </p:cNvPr>
          <p:cNvSpPr/>
          <p:nvPr/>
        </p:nvSpPr>
        <p:spPr>
          <a:xfrm>
            <a:off x="5016302" y="2553528"/>
            <a:ext cx="4020194" cy="12241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solidFill>
                  <a:srgbClr val="FF0000"/>
                </a:solidFill>
              </a:rPr>
              <a:t>plot_tree() </a:t>
            </a:r>
            <a:r>
              <a:rPr lang="ko-KR" altLang="en-US" sz="1400">
                <a:solidFill>
                  <a:srgbClr val="FF0000"/>
                </a:solidFill>
              </a:rPr>
              <a:t>함수에서 </a:t>
            </a:r>
            <a:endParaRPr lang="en-US" altLang="ko-KR" sz="1400">
              <a:solidFill>
                <a:srgbClr val="FF0000"/>
              </a:solidFill>
            </a:endParaRPr>
          </a:p>
          <a:p>
            <a:r>
              <a:rPr lang="en-US" altLang="ko-KR" sz="1400">
                <a:solidFill>
                  <a:srgbClr val="FF0000"/>
                </a:solidFill>
              </a:rPr>
              <a:t>- max_depth</a:t>
            </a:r>
            <a:r>
              <a:rPr lang="ko-KR" altLang="en-US" sz="1400">
                <a:solidFill>
                  <a:srgbClr val="FF0000"/>
                </a:solidFill>
              </a:rPr>
              <a:t>는 트리의 깊이 지정</a:t>
            </a:r>
            <a:endParaRPr lang="en-US" altLang="ko-KR" sz="1400">
              <a:solidFill>
                <a:srgbClr val="FF0000"/>
              </a:solidFill>
            </a:endParaRPr>
          </a:p>
          <a:p>
            <a:r>
              <a:rPr lang="en-US" altLang="ko-KR" sz="1400">
                <a:solidFill>
                  <a:srgbClr val="FF0000"/>
                </a:solidFill>
              </a:rPr>
              <a:t>- filled</a:t>
            </a:r>
            <a:r>
              <a:rPr lang="ko-KR" altLang="en-US" sz="1400">
                <a:solidFill>
                  <a:srgbClr val="FF0000"/>
                </a:solidFill>
              </a:rPr>
              <a:t>는 노드의 색깔 설정</a:t>
            </a:r>
            <a:r>
              <a:rPr lang="en-US" altLang="ko-KR" sz="1400">
                <a:solidFill>
                  <a:srgbClr val="FF0000"/>
                </a:solidFill>
              </a:rPr>
              <a:t>(</a:t>
            </a:r>
            <a:r>
              <a:rPr lang="ko-KR" altLang="en-US" sz="1400">
                <a:solidFill>
                  <a:srgbClr val="FF0000"/>
                </a:solidFill>
              </a:rPr>
              <a:t>짙은 색일수록 </a:t>
            </a:r>
            <a:br>
              <a:rPr lang="en-US" altLang="ko-KR" sz="1400">
                <a:solidFill>
                  <a:srgbClr val="FF0000"/>
                </a:solidFill>
              </a:rPr>
            </a:br>
            <a:r>
              <a:rPr lang="en-US" altLang="ko-KR" sz="1400">
                <a:solidFill>
                  <a:srgbClr val="FF0000"/>
                </a:solidFill>
              </a:rPr>
              <a:t>   </a:t>
            </a:r>
            <a:r>
              <a:rPr lang="ko-KR" altLang="en-US" sz="1400">
                <a:solidFill>
                  <a:srgbClr val="FF0000"/>
                </a:solidFill>
              </a:rPr>
              <a:t>순도가 높음</a:t>
            </a:r>
            <a:endParaRPr lang="en-US" altLang="ko-KR" sz="1400">
              <a:solidFill>
                <a:srgbClr val="FF0000"/>
              </a:solidFill>
            </a:endParaRPr>
          </a:p>
          <a:p>
            <a:r>
              <a:rPr lang="en-US" altLang="ko-KR" sz="1400">
                <a:solidFill>
                  <a:srgbClr val="FF0000"/>
                </a:solidFill>
              </a:rPr>
              <a:t>- featur_names</a:t>
            </a:r>
            <a:r>
              <a:rPr lang="ko-KR" altLang="en-US" sz="1400">
                <a:solidFill>
                  <a:srgbClr val="FF0000"/>
                </a:solidFill>
              </a:rPr>
              <a:t>는 판단의 근거가 되는 특성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F2F21CB-19E7-435C-99AA-12115DA43893}"/>
              </a:ext>
            </a:extLst>
          </p:cNvPr>
          <p:cNvSpPr/>
          <p:nvPr/>
        </p:nvSpPr>
        <p:spPr>
          <a:xfrm>
            <a:off x="5011768" y="6172241"/>
            <a:ext cx="4041972" cy="29946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>
                <a:solidFill>
                  <a:srgbClr val="FF0000"/>
                </a:solidFill>
              </a:rPr>
              <a:t>판단의 근거는 </a:t>
            </a:r>
            <a:r>
              <a:rPr lang="en-US" altLang="ko-KR" sz="1400">
                <a:solidFill>
                  <a:srgbClr val="FF0000"/>
                </a:solidFill>
              </a:rPr>
              <a:t>k-</a:t>
            </a:r>
            <a:r>
              <a:rPr lang="ko-KR" altLang="en-US" sz="1400">
                <a:solidFill>
                  <a:srgbClr val="FF0000"/>
                </a:solidFill>
              </a:rPr>
              <a:t>최근접 이웃과</a:t>
            </a:r>
            <a:r>
              <a:rPr lang="en-US" altLang="ko-KR" sz="1400">
                <a:solidFill>
                  <a:srgbClr val="FF0000"/>
                </a:solidFill>
              </a:rPr>
              <a:t> </a:t>
            </a:r>
            <a:r>
              <a:rPr lang="ko-KR" altLang="en-US" sz="1400">
                <a:solidFill>
                  <a:srgbClr val="FF0000"/>
                </a:solidFill>
              </a:rPr>
              <a:t>유사함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1AE58F9-6A1E-4505-B7A8-CF21B0706A64}"/>
              </a:ext>
            </a:extLst>
          </p:cNvPr>
          <p:cNvSpPr/>
          <p:nvPr/>
        </p:nvSpPr>
        <p:spPr>
          <a:xfrm>
            <a:off x="5012172" y="5662894"/>
            <a:ext cx="4041972" cy="46472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solidFill>
                  <a:srgbClr val="FF0000"/>
                </a:solidFill>
              </a:rPr>
              <a:t>value</a:t>
            </a:r>
            <a:r>
              <a:rPr lang="ko-KR" altLang="en-US" sz="1400">
                <a:solidFill>
                  <a:srgbClr val="FF0000"/>
                </a:solidFill>
              </a:rPr>
              <a:t>는 현 노드에서 양성클래스</a:t>
            </a:r>
            <a:r>
              <a:rPr lang="en-US" altLang="ko-KR" sz="1400">
                <a:solidFill>
                  <a:srgbClr val="FF0000"/>
                </a:solidFill>
              </a:rPr>
              <a:t>(</a:t>
            </a:r>
            <a:r>
              <a:rPr lang="ko-KR" altLang="en-US" sz="1400">
                <a:solidFill>
                  <a:srgbClr val="FF0000"/>
                </a:solidFill>
              </a:rPr>
              <a:t>화이트와인</a:t>
            </a:r>
            <a:r>
              <a:rPr lang="en-US" altLang="ko-KR" sz="1400">
                <a:solidFill>
                  <a:srgbClr val="FF0000"/>
                </a:solidFill>
              </a:rPr>
              <a:t>)</a:t>
            </a:r>
            <a:r>
              <a:rPr lang="ko-KR" altLang="en-US" sz="1400">
                <a:solidFill>
                  <a:srgbClr val="FF0000"/>
                </a:solidFill>
              </a:rPr>
              <a:t>과</a:t>
            </a:r>
            <a:r>
              <a:rPr lang="en-US" altLang="ko-KR" sz="1400">
                <a:solidFill>
                  <a:srgbClr val="FF0000"/>
                </a:solidFill>
              </a:rPr>
              <a:t> </a:t>
            </a:r>
            <a:r>
              <a:rPr lang="ko-KR" altLang="en-US" sz="1400">
                <a:solidFill>
                  <a:srgbClr val="FF0000"/>
                </a:solidFill>
              </a:rPr>
              <a:t>음성클래스</a:t>
            </a:r>
            <a:r>
              <a:rPr lang="en-US" altLang="ko-KR" sz="1400">
                <a:solidFill>
                  <a:srgbClr val="FF0000"/>
                </a:solidFill>
              </a:rPr>
              <a:t>(</a:t>
            </a:r>
            <a:r>
              <a:rPr lang="ko-KR" altLang="en-US" sz="1400">
                <a:solidFill>
                  <a:srgbClr val="FF0000"/>
                </a:solidFill>
              </a:rPr>
              <a:t>레드와인</a:t>
            </a:r>
            <a:r>
              <a:rPr lang="en-US" altLang="ko-KR" sz="1400">
                <a:solidFill>
                  <a:srgbClr val="FF0000"/>
                </a:solidFill>
              </a:rPr>
              <a:t>)</a:t>
            </a:r>
            <a:r>
              <a:rPr lang="ko-KR" altLang="en-US" sz="1400">
                <a:solidFill>
                  <a:srgbClr val="FF0000"/>
                </a:solidFill>
              </a:rPr>
              <a:t>의</a:t>
            </a:r>
            <a:r>
              <a:rPr lang="en-US" altLang="ko-KR" sz="1400">
                <a:solidFill>
                  <a:srgbClr val="FF0000"/>
                </a:solidFill>
              </a:rPr>
              <a:t> </a:t>
            </a:r>
            <a:r>
              <a:rPr lang="ko-KR" altLang="en-US" sz="1400">
                <a:solidFill>
                  <a:srgbClr val="FF0000"/>
                </a:solidFill>
              </a:rPr>
              <a:t>개수 </a:t>
            </a:r>
          </a:p>
        </p:txBody>
      </p:sp>
    </p:spTree>
    <p:extLst>
      <p:ext uri="{BB962C8B-B14F-4D97-AF65-F5344CB8AC3E}">
        <p14:creationId xmlns:p14="http://schemas.microsoft.com/office/powerpoint/2010/main" val="3707854795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48AF8-C510-42FB-B520-A9DC767C4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지니 불순도</a:t>
            </a:r>
            <a:r>
              <a:rPr lang="en-US" altLang="ko-KR"/>
              <a:t>(gini impurity)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FA8797-B244-47C5-93FA-40F77F957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/>
              <a:t>의미</a:t>
            </a:r>
            <a:endParaRPr lang="en-US" altLang="ko-KR" dirty="0"/>
          </a:p>
          <a:p>
            <a:pPr lvl="1"/>
            <a:r>
              <a:rPr lang="ko-KR" altLang="en-US" dirty="0"/>
              <a:t>순수하지 않은 정도</a:t>
            </a:r>
            <a:endParaRPr lang="en-US" altLang="ko-KR" dirty="0"/>
          </a:p>
          <a:p>
            <a:pPr lvl="1"/>
            <a:r>
              <a:rPr lang="ko-KR" altLang="en-US" i="1" dirty="0"/>
              <a:t>지니 불순도 </a:t>
            </a:r>
            <a:r>
              <a:rPr lang="en-US" altLang="ko-KR" i="1" dirty="0"/>
              <a:t>= 1 - (</a:t>
            </a:r>
            <a:r>
              <a:rPr lang="ko-KR" altLang="en-US" i="1" dirty="0" err="1"/>
              <a:t>음성클래스</a:t>
            </a:r>
            <a:r>
              <a:rPr lang="ko-KR" altLang="en-US" i="1" dirty="0"/>
              <a:t> 비율</a:t>
            </a:r>
            <a:r>
              <a:rPr lang="en-US" altLang="ko-KR" i="1" dirty="0"/>
              <a:t>)</a:t>
            </a:r>
            <a:r>
              <a:rPr lang="en-US" altLang="ko-KR" i="1" baseline="30000" dirty="0"/>
              <a:t>2</a:t>
            </a:r>
            <a:r>
              <a:rPr lang="en-US" altLang="ko-KR" i="1" dirty="0"/>
              <a:t> - (</a:t>
            </a:r>
            <a:r>
              <a:rPr lang="ko-KR" altLang="en-US" i="1" dirty="0" err="1"/>
              <a:t>양성클래스</a:t>
            </a:r>
            <a:r>
              <a:rPr lang="ko-KR" altLang="en-US" i="1" dirty="0"/>
              <a:t> 비율</a:t>
            </a:r>
            <a:r>
              <a:rPr lang="en-US" altLang="ko-KR" i="1" dirty="0"/>
              <a:t>)</a:t>
            </a:r>
            <a:r>
              <a:rPr lang="en-US" altLang="ko-KR" i="1" baseline="30000" dirty="0"/>
              <a:t>2</a:t>
            </a:r>
          </a:p>
          <a:p>
            <a:pPr lvl="1"/>
            <a:r>
              <a:rPr lang="ko-KR" altLang="en-US" dirty="0"/>
              <a:t>양성클래스와 음성클래스가 각각 </a:t>
            </a:r>
            <a:r>
              <a:rPr lang="en-US" altLang="ko-KR" dirty="0"/>
              <a:t>50%</a:t>
            </a:r>
            <a:r>
              <a:rPr lang="ko-KR" altLang="en-US" dirty="0"/>
              <a:t>이면 지니 </a:t>
            </a:r>
            <a:r>
              <a:rPr lang="ko-KR" altLang="en-US" dirty="0" err="1"/>
              <a:t>불순도는</a:t>
            </a:r>
            <a:r>
              <a:rPr lang="ko-KR" altLang="en-US" dirty="0"/>
              <a:t> </a:t>
            </a:r>
            <a:r>
              <a:rPr lang="en-US" altLang="ko-KR" dirty="0"/>
              <a:t>0.5</a:t>
            </a:r>
          </a:p>
          <a:p>
            <a:pPr lvl="1"/>
            <a:r>
              <a:rPr lang="ko-KR" altLang="en-US" dirty="0" err="1"/>
              <a:t>양성클래스</a:t>
            </a:r>
            <a:r>
              <a:rPr lang="ko-KR" altLang="en-US" dirty="0"/>
              <a:t> 또는 음성클래스가 </a:t>
            </a:r>
            <a:r>
              <a:rPr lang="en-US" altLang="ko-KR" dirty="0"/>
              <a:t>100%</a:t>
            </a:r>
            <a:r>
              <a:rPr lang="ko-KR" altLang="en-US" dirty="0"/>
              <a:t>이면</a:t>
            </a:r>
            <a:r>
              <a:rPr lang="en-US" altLang="ko-KR" dirty="0"/>
              <a:t> </a:t>
            </a:r>
            <a:r>
              <a:rPr lang="ko-KR" altLang="en-US" dirty="0"/>
              <a:t>지니 </a:t>
            </a:r>
            <a:r>
              <a:rPr lang="ko-KR" altLang="en-US" dirty="0" err="1"/>
              <a:t>불순도는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</a:p>
          <a:p>
            <a:pPr lvl="1"/>
            <a:r>
              <a:rPr lang="ko-KR" altLang="en-US" dirty="0" err="1"/>
              <a:t>불순도가</a:t>
            </a:r>
            <a:r>
              <a:rPr lang="ko-KR" altLang="en-US" dirty="0"/>
              <a:t> 낮을수록 분리가 잘 된 것을 의미함</a:t>
            </a:r>
            <a:endParaRPr lang="en-US" altLang="ko-KR" dirty="0"/>
          </a:p>
          <a:p>
            <a:pPr lvl="1"/>
            <a:r>
              <a:rPr lang="ko-KR" altLang="en-US" dirty="0" err="1"/>
              <a:t>결정트리</a:t>
            </a:r>
            <a:r>
              <a:rPr lang="ko-KR" altLang="en-US" dirty="0"/>
              <a:t> 모델은 무모 노드와 </a:t>
            </a:r>
            <a:r>
              <a:rPr lang="ko-KR" altLang="en-US" dirty="0" err="1"/>
              <a:t>자식노드의</a:t>
            </a:r>
            <a:r>
              <a:rPr lang="ko-KR" altLang="en-US" dirty="0"/>
              <a:t> 불순도 차이가 가능한 크도록 트리를 성장시킴</a:t>
            </a:r>
            <a:endParaRPr lang="en-US" altLang="ko-KR" dirty="0"/>
          </a:p>
          <a:p>
            <a:pPr lvl="1"/>
            <a:r>
              <a:rPr lang="ko-KR" altLang="en-US" dirty="0" err="1"/>
              <a:t>결정트리의</a:t>
            </a:r>
            <a:r>
              <a:rPr lang="ko-KR" altLang="en-US" dirty="0"/>
              <a:t> 크기를 제한하지 않으면 </a:t>
            </a:r>
            <a:r>
              <a:rPr lang="ko-KR" altLang="en-US" dirty="0" err="1"/>
              <a:t>불순도가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이 될 때까지 트리를 확장</a:t>
            </a:r>
            <a:r>
              <a:rPr lang="en-US" altLang="ko-KR" dirty="0"/>
              <a:t>(</a:t>
            </a:r>
            <a:r>
              <a:rPr lang="ko-KR" altLang="en-US" dirty="0"/>
              <a:t>이 때의 노드가 </a:t>
            </a:r>
            <a:r>
              <a:rPr lang="en-US" altLang="ko-KR" dirty="0"/>
              <a:t>leaf node</a:t>
            </a:r>
            <a:r>
              <a:rPr lang="ko-KR" altLang="en-US" dirty="0"/>
              <a:t>가 됨</a:t>
            </a:r>
            <a:r>
              <a:rPr lang="en-US" altLang="ko-KR" dirty="0"/>
              <a:t>) </a:t>
            </a: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en-US" altLang="ko-KR" dirty="0"/>
              <a:t> </a:t>
            </a:r>
            <a:r>
              <a:rPr lang="ko-KR" altLang="en-US" dirty="0"/>
              <a:t>제한을 두지 않으면 </a:t>
            </a:r>
            <a:r>
              <a:rPr lang="ko-KR" altLang="en-US" dirty="0" err="1">
                <a:solidFill>
                  <a:srgbClr val="FF0000"/>
                </a:solidFill>
              </a:rPr>
              <a:t>과대적합</a:t>
            </a:r>
            <a:r>
              <a:rPr lang="ko-KR" altLang="en-US" dirty="0" err="1"/>
              <a:t>이</a:t>
            </a:r>
            <a:r>
              <a:rPr lang="ko-KR" altLang="en-US" dirty="0"/>
              <a:t> 될 가능성 높음</a:t>
            </a:r>
            <a:endParaRPr lang="en-US" altLang="ko-KR" dirty="0"/>
          </a:p>
          <a:p>
            <a:pPr lvl="1"/>
            <a:r>
              <a:rPr lang="ko-KR" altLang="en-US" dirty="0"/>
              <a:t>부모 노드와 자식 노드의 불순도 차이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>
                <a:solidFill>
                  <a:srgbClr val="FF0000"/>
                </a:solidFill>
              </a:rPr>
              <a:t>정보 이득</a:t>
            </a:r>
            <a:r>
              <a:rPr lang="en-US" altLang="ko-KR" dirty="0">
                <a:solidFill>
                  <a:srgbClr val="FF0000"/>
                </a:solidFill>
              </a:rPr>
              <a:t>(information gain) </a:t>
            </a:r>
            <a:r>
              <a:rPr lang="en-US" altLang="ko-KR" dirty="0"/>
              <a:t>= </a:t>
            </a:r>
            <a:r>
              <a:rPr lang="ko-KR" altLang="en-US" dirty="0" err="1"/>
              <a:t>불순도의</a:t>
            </a:r>
            <a:r>
              <a:rPr lang="ko-KR" altLang="en-US" dirty="0"/>
              <a:t> 차이 </a:t>
            </a:r>
            <a:r>
              <a:rPr lang="en-US" altLang="ko-KR" dirty="0"/>
              <a:t>= </a:t>
            </a:r>
            <a:r>
              <a:rPr lang="ko-KR" altLang="en-US" dirty="0"/>
              <a:t>부모의 불순도 </a:t>
            </a:r>
            <a:r>
              <a:rPr lang="en-US" altLang="ko-KR" dirty="0"/>
              <a:t>- (</a:t>
            </a:r>
            <a:r>
              <a:rPr lang="ko-KR" altLang="en-US" dirty="0"/>
              <a:t>왼쪽 노드 샘플 수 </a:t>
            </a:r>
            <a:r>
              <a:rPr lang="en-US" altLang="ko-KR" dirty="0"/>
              <a:t>/ </a:t>
            </a:r>
            <a:r>
              <a:rPr lang="ko-KR" altLang="en-US" dirty="0"/>
              <a:t>부모의 샘플 수</a:t>
            </a:r>
            <a:r>
              <a:rPr lang="en-US" altLang="ko-KR" dirty="0"/>
              <a:t>) x </a:t>
            </a:r>
            <a:r>
              <a:rPr lang="ko-KR" altLang="en-US" dirty="0"/>
              <a:t>왼쪽 노드 불순도 </a:t>
            </a:r>
            <a:r>
              <a:rPr lang="en-US" altLang="ko-KR" dirty="0"/>
              <a:t>– (</a:t>
            </a:r>
            <a:r>
              <a:rPr lang="ko-KR" altLang="en-US" dirty="0"/>
              <a:t>오른쪽 노드 샘플 수 </a:t>
            </a:r>
            <a:r>
              <a:rPr lang="en-US" altLang="ko-KR" dirty="0"/>
              <a:t>/ </a:t>
            </a:r>
            <a:r>
              <a:rPr lang="ko-KR" altLang="en-US" dirty="0"/>
              <a:t>부모의 샘플 수</a:t>
            </a:r>
            <a:r>
              <a:rPr lang="en-US" altLang="ko-KR" dirty="0"/>
              <a:t>) x </a:t>
            </a:r>
            <a:r>
              <a:rPr lang="ko-KR" altLang="en-US" dirty="0"/>
              <a:t>오른쪽 노드 불순도</a:t>
            </a:r>
            <a:endParaRPr lang="en-US" altLang="ko-KR" dirty="0"/>
          </a:p>
          <a:p>
            <a:pPr lvl="1"/>
            <a:r>
              <a:rPr lang="ko-KR" altLang="en-US" dirty="0"/>
              <a:t>결정 트리의 노드는 정보 이득이 최대가 되도록 진행</a:t>
            </a:r>
            <a:endParaRPr lang="en-US" altLang="ko-KR" dirty="0"/>
          </a:p>
          <a:p>
            <a:pPr lvl="1"/>
            <a:r>
              <a:rPr lang="en-US" altLang="ko-KR" dirty="0" err="1"/>
              <a:t>DecisionTreeClassifier</a:t>
            </a:r>
            <a:r>
              <a:rPr lang="en-US" altLang="ko-KR" dirty="0"/>
              <a:t> </a:t>
            </a:r>
            <a:r>
              <a:rPr lang="ko-KR" altLang="en-US" dirty="0"/>
              <a:t>클래스에서 </a:t>
            </a:r>
            <a:r>
              <a:rPr lang="en-US" altLang="ko-KR" dirty="0"/>
              <a:t>criterion </a:t>
            </a:r>
            <a:r>
              <a:rPr lang="ko-KR" altLang="en-US" dirty="0"/>
              <a:t>매개변수를 </a:t>
            </a:r>
            <a:r>
              <a:rPr lang="en-US" altLang="ko-KR" dirty="0"/>
              <a:t>‘entropy’</a:t>
            </a:r>
            <a:r>
              <a:rPr lang="ko-KR" altLang="en-US" dirty="0"/>
              <a:t>로 하여 진행할 수도 있음</a:t>
            </a:r>
            <a:r>
              <a:rPr lang="en-US" altLang="ko-KR" dirty="0"/>
              <a:t>(default</a:t>
            </a:r>
            <a:r>
              <a:rPr lang="ko-KR" altLang="en-US" dirty="0"/>
              <a:t>는 </a:t>
            </a:r>
            <a:r>
              <a:rPr lang="en-US" altLang="ko-KR" dirty="0"/>
              <a:t>'</a:t>
            </a:r>
            <a:r>
              <a:rPr lang="en-US" altLang="ko-KR" dirty="0" err="1"/>
              <a:t>gini</a:t>
            </a:r>
            <a:r>
              <a:rPr lang="en-US" altLang="ko-KR" dirty="0"/>
              <a:t>')</a:t>
            </a:r>
          </a:p>
          <a:p>
            <a:pPr lvl="1"/>
            <a:endParaRPr lang="ko-KR" altLang="en-US" i="1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7DFF29-3DE2-427D-A432-66E492942E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7011327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70E9F-25F2-4A89-A534-57ACA60D8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가지치기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2405E2-14EF-4788-A0B4-7C4DF9BFB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제한을 두지 않으면 </a:t>
            </a:r>
            <a:r>
              <a:rPr lang="ko-KR" altLang="en-US">
                <a:solidFill>
                  <a:srgbClr val="FF0000"/>
                </a:solidFill>
              </a:rPr>
              <a:t>과대적합</a:t>
            </a:r>
            <a:r>
              <a:rPr lang="ko-KR" altLang="en-US"/>
              <a:t>이 될 가능성 높으므로 적당한 선에서 제한을 둠 </a:t>
            </a:r>
            <a:r>
              <a:rPr lang="en-US" altLang="ko-KR">
                <a:sym typeface="Wingdings" panose="05000000000000000000" pitchFamily="2" charset="2"/>
              </a:rPr>
              <a:t></a:t>
            </a:r>
            <a:r>
              <a:rPr lang="en-US" altLang="ko-KR"/>
              <a:t> max_depth</a:t>
            </a:r>
            <a:r>
              <a:rPr lang="ko-KR" altLang="en-US"/>
              <a:t>를 설정하는 것이 가장 쉬움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CF9919-9AC3-4C4B-A8C4-013B57F62A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939BAE-BB9E-4305-BBB8-AAA019AC9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5" y="1988840"/>
            <a:ext cx="5967097" cy="1800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E7410DD-27AE-4675-A87F-F4B5CD772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4005064"/>
            <a:ext cx="1649804" cy="4949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43D1DDA-AADC-4D88-8BC5-6B66F0291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912" y="3837124"/>
            <a:ext cx="4824536" cy="300763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E44059E-7EF6-4B80-86A1-C1FC0EE20F2A}"/>
              </a:ext>
            </a:extLst>
          </p:cNvPr>
          <p:cNvCxnSpPr/>
          <p:nvPr/>
        </p:nvCxnSpPr>
        <p:spPr>
          <a:xfrm>
            <a:off x="827584" y="2888940"/>
            <a:ext cx="1152128" cy="14041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39F9301-C72B-42D6-9185-A556920A4A83}"/>
              </a:ext>
            </a:extLst>
          </p:cNvPr>
          <p:cNvCxnSpPr/>
          <p:nvPr/>
        </p:nvCxnSpPr>
        <p:spPr>
          <a:xfrm>
            <a:off x="2915816" y="3573016"/>
            <a:ext cx="1008112" cy="5040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016440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483AC-D396-4038-BDE9-704BFD4A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결정 트리에서는 표준점수화가 필요 없음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647C2-DF05-4F57-A89A-FC930D5B0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표준점수화하지 않고</a:t>
            </a:r>
            <a:r>
              <a:rPr lang="en-US" altLang="ko-KR"/>
              <a:t>(</a:t>
            </a:r>
            <a:r>
              <a:rPr lang="ko-KR" altLang="en-US"/>
              <a:t>결정을 이해하기 쉬움</a:t>
            </a:r>
            <a:r>
              <a:rPr lang="en-US" altLang="ko-KR"/>
              <a:t>) </a:t>
            </a:r>
            <a:r>
              <a:rPr lang="ko-KR" altLang="en-US"/>
              <a:t>진행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0BC01D-71E8-4DE1-9A2B-87B93D8E0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6E6535A-4CA0-4EC2-84A3-2FD4C3FF1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484784"/>
            <a:ext cx="6849292" cy="21602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EEE4FD8-EB99-4BEB-9C05-D66C15F0B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375" y="3717032"/>
            <a:ext cx="5046939" cy="30865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3B66211-BDFB-4215-A20C-4056795FC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989" y="3933056"/>
            <a:ext cx="1876425" cy="56197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58CC30-CE16-488A-9002-B8B0FFB79869}"/>
              </a:ext>
            </a:extLst>
          </p:cNvPr>
          <p:cNvCxnSpPr/>
          <p:nvPr/>
        </p:nvCxnSpPr>
        <p:spPr>
          <a:xfrm>
            <a:off x="1187624" y="2564904"/>
            <a:ext cx="864096" cy="12961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CA3A04A7-41FF-4F46-AB79-33D2C209699C}"/>
              </a:ext>
            </a:extLst>
          </p:cNvPr>
          <p:cNvCxnSpPr/>
          <p:nvPr/>
        </p:nvCxnSpPr>
        <p:spPr>
          <a:xfrm>
            <a:off x="3059832" y="3356992"/>
            <a:ext cx="1080120" cy="6413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644287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0B5099-DB05-4CEF-A59E-1820A71B3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결정 트리의 특성 중요도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7DF139-EC3F-4B64-84B1-7E2A10BA3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feature_importances</a:t>
            </a:r>
            <a:r>
              <a:rPr lang="en-US" altLang="ko-KR" dirty="0"/>
              <a:t>_ </a:t>
            </a:r>
            <a:r>
              <a:rPr lang="ko-KR" altLang="en-US" dirty="0"/>
              <a:t>속성으로 확인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786634-D672-488A-A73F-19A317A0BA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C38732E-A811-4188-A956-D9DEC970F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31" y="1484784"/>
            <a:ext cx="4224469" cy="7920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A55B537-0161-4348-9E5A-51BC60EEE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2636912"/>
            <a:ext cx="5358334" cy="69628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81C1479-FCF6-4D8F-AACB-F002F4A3269F}"/>
              </a:ext>
            </a:extLst>
          </p:cNvPr>
          <p:cNvCxnSpPr/>
          <p:nvPr/>
        </p:nvCxnSpPr>
        <p:spPr>
          <a:xfrm>
            <a:off x="1259632" y="2204864"/>
            <a:ext cx="648072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A19852-907A-4A17-8867-8E4C519138E6}"/>
              </a:ext>
            </a:extLst>
          </p:cNvPr>
          <p:cNvSpPr/>
          <p:nvPr/>
        </p:nvSpPr>
        <p:spPr>
          <a:xfrm>
            <a:off x="1831838" y="3524563"/>
            <a:ext cx="4320480" cy="67223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solidFill>
                  <a:srgbClr val="FF0000"/>
                </a:solidFill>
              </a:rPr>
              <a:t>alcohol, sugar, pH </a:t>
            </a:r>
            <a:r>
              <a:rPr lang="ko-KR" altLang="en-US" sz="1400">
                <a:solidFill>
                  <a:srgbClr val="FF0000"/>
                </a:solidFill>
              </a:rPr>
              <a:t>중 </a:t>
            </a:r>
            <a:r>
              <a:rPr lang="en-US" altLang="ko-KR" sz="1400">
                <a:solidFill>
                  <a:srgbClr val="FF0000"/>
                </a:solidFill>
              </a:rPr>
              <a:t>sugar</a:t>
            </a:r>
            <a:r>
              <a:rPr lang="ko-KR" altLang="en-US" sz="1400">
                <a:solidFill>
                  <a:srgbClr val="FF0000"/>
                </a:solidFill>
              </a:rPr>
              <a:t>가 </a:t>
            </a:r>
            <a:r>
              <a:rPr lang="en-US" altLang="ko-KR" sz="1400">
                <a:solidFill>
                  <a:srgbClr val="FF0000"/>
                </a:solidFill>
              </a:rPr>
              <a:t>white/red wine</a:t>
            </a:r>
            <a:r>
              <a:rPr lang="ko-KR" altLang="en-US" sz="1400">
                <a:solidFill>
                  <a:srgbClr val="FF0000"/>
                </a:solidFill>
              </a:rPr>
              <a:t>을 구별하는 데 가장 중요한 특성임을 보여 줌</a:t>
            </a:r>
          </a:p>
        </p:txBody>
      </p:sp>
    </p:spTree>
    <p:extLst>
      <p:ext uri="{BB962C8B-B14F-4D97-AF65-F5344CB8AC3E}">
        <p14:creationId xmlns:p14="http://schemas.microsoft.com/office/powerpoint/2010/main" val="3024880537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D3210-38D6-43CE-B004-622EA64CC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</a:t>
            </a:r>
            <a:r>
              <a:rPr lang="ko-KR" altLang="en-US"/>
              <a:t>요약</a:t>
            </a:r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8EA3D-4374-4DAC-9300-F51D6A775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/>
              <a:t>Key words</a:t>
            </a:r>
          </a:p>
          <a:p>
            <a:pPr lvl="1"/>
            <a:r>
              <a:rPr lang="ko-KR" altLang="en-US"/>
              <a:t>결정 트리</a:t>
            </a:r>
            <a:endParaRPr lang="en-US" altLang="ko-KR"/>
          </a:p>
          <a:p>
            <a:pPr lvl="1"/>
            <a:r>
              <a:rPr lang="ko-KR" altLang="en-US"/>
              <a:t>불순도</a:t>
            </a:r>
            <a:endParaRPr lang="en-US" altLang="ko-KR"/>
          </a:p>
          <a:p>
            <a:pPr lvl="1"/>
            <a:r>
              <a:rPr lang="ko-KR" altLang="en-US"/>
              <a:t>정보 이득</a:t>
            </a:r>
            <a:endParaRPr lang="en-US" altLang="ko-KR"/>
          </a:p>
          <a:p>
            <a:pPr lvl="1"/>
            <a:r>
              <a:rPr lang="ko-KR" altLang="en-US"/>
              <a:t>가지치기</a:t>
            </a:r>
            <a:endParaRPr lang="en-US" altLang="ko-KR"/>
          </a:p>
          <a:p>
            <a:pPr lvl="1"/>
            <a:r>
              <a:rPr lang="ko-KR" altLang="en-US"/>
              <a:t>특성 중요도</a:t>
            </a:r>
            <a:endParaRPr lang="en-US" altLang="ko-KR"/>
          </a:p>
          <a:p>
            <a:r>
              <a:rPr lang="en-US" altLang="ko-KR"/>
              <a:t>pandas </a:t>
            </a:r>
            <a:r>
              <a:rPr lang="ko-KR" altLang="en-US"/>
              <a:t>패키지</a:t>
            </a:r>
            <a:endParaRPr lang="en-US" altLang="ko-KR"/>
          </a:p>
          <a:p>
            <a:pPr lvl="1"/>
            <a:r>
              <a:rPr lang="en-US" altLang="ko-KR"/>
              <a:t>info()</a:t>
            </a:r>
          </a:p>
          <a:p>
            <a:pPr lvl="1"/>
            <a:r>
              <a:rPr lang="en-US" altLang="ko-KR"/>
              <a:t>describe()</a:t>
            </a:r>
          </a:p>
          <a:p>
            <a:r>
              <a:rPr lang="en-US" altLang="ko-KR"/>
              <a:t>sklearn </a:t>
            </a:r>
            <a:r>
              <a:rPr lang="ko-KR" altLang="en-US"/>
              <a:t>패키지</a:t>
            </a:r>
            <a:endParaRPr lang="en-US" altLang="ko-KR"/>
          </a:p>
          <a:p>
            <a:pPr lvl="1"/>
            <a:r>
              <a:rPr lang="en-US" altLang="ko-KR"/>
              <a:t>DecisionTreeClassifier </a:t>
            </a:r>
            <a:r>
              <a:rPr lang="ko-KR" altLang="en-US"/>
              <a:t>클래스</a:t>
            </a:r>
            <a:endParaRPr lang="en-US" altLang="ko-KR"/>
          </a:p>
          <a:p>
            <a:pPr lvl="1"/>
            <a:r>
              <a:rPr lang="en-US" altLang="ko-KR"/>
              <a:t>plot_tree()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53D893-8F8F-414A-A449-4F40C004A0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89297896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students learn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37285</TotalTime>
  <Words>830</Words>
  <Application>Microsoft Office PowerPoint</Application>
  <PresentationFormat>화면 슬라이드 쇼(4:3)</PresentationFormat>
  <Paragraphs>122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HY견고딕</vt:lpstr>
      <vt:lpstr>굴림</vt:lpstr>
      <vt:lpstr>맑은 고딕</vt:lpstr>
      <vt:lpstr>휴먼엑스포</vt:lpstr>
      <vt:lpstr>Arial</vt:lpstr>
      <vt:lpstr>Cambria Math</vt:lpstr>
      <vt:lpstr>Times New Roman</vt:lpstr>
      <vt:lpstr>Wingdings</vt:lpstr>
      <vt:lpstr>기본 디자인</vt:lpstr>
      <vt:lpstr>Decision Tree</vt:lpstr>
      <vt:lpstr>지난 시간 복습</vt:lpstr>
      <vt:lpstr>학습목표</vt:lpstr>
      <vt:lpstr>캔 속의 레드와인 or 화이트와인</vt:lpstr>
      <vt:lpstr>로지스틱 회기모델로 와인 구분 (1)</vt:lpstr>
      <vt:lpstr>로지스틱 회기모델로 와인 구분 (2)</vt:lpstr>
      <vt:lpstr>로지스틱 회기모델로 와인 구분 (3)</vt:lpstr>
      <vt:lpstr>결정 트리(Decision Tree) (1)</vt:lpstr>
      <vt:lpstr>결정 트리(Decision Tree) (2)</vt:lpstr>
      <vt:lpstr>결정 트리(Decision Tree) (3)</vt:lpstr>
      <vt:lpstr>지니 불순도(gini impurity)</vt:lpstr>
      <vt:lpstr>가지치기</vt:lpstr>
      <vt:lpstr>결정 트리에서는 표준점수화가 필요 없음</vt:lpstr>
      <vt:lpstr>결정 트리의 특성 중요도</vt:lpstr>
      <vt:lpstr>학습 요약 </vt:lpstr>
      <vt:lpstr>질의 응답</vt:lpstr>
    </vt:vector>
  </TitlesOfParts>
  <Company>두원공과대학 컴퓨터공학과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김영우</dc:creator>
  <cp:lastModifiedBy>김영우</cp:lastModifiedBy>
  <cp:revision>787</cp:revision>
  <dcterms:created xsi:type="dcterms:W3CDTF">2003-05-07T20:17:23Z</dcterms:created>
  <dcterms:modified xsi:type="dcterms:W3CDTF">2025-10-13T00:17:17Z</dcterms:modified>
</cp:coreProperties>
</file>