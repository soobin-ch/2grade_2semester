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632" r:id="rId2"/>
    <p:sldId id="722" r:id="rId3"/>
    <p:sldId id="719" r:id="rId4"/>
    <p:sldId id="776" r:id="rId5"/>
    <p:sldId id="812" r:id="rId6"/>
    <p:sldId id="817" r:id="rId7"/>
    <p:sldId id="816" r:id="rId8"/>
    <p:sldId id="813" r:id="rId9"/>
    <p:sldId id="818" r:id="rId10"/>
    <p:sldId id="819" r:id="rId11"/>
    <p:sldId id="814" r:id="rId12"/>
    <p:sldId id="820" r:id="rId13"/>
    <p:sldId id="821" r:id="rId14"/>
    <p:sldId id="822" r:id="rId15"/>
    <p:sldId id="823" r:id="rId16"/>
    <p:sldId id="717" r:id="rId17"/>
    <p:sldId id="703" r:id="rId18"/>
  </p:sldIdLst>
  <p:sldSz cx="9144000" cy="6858000" type="screen4x3"/>
  <p:notesSz cx="6669088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0070C0"/>
    <a:srgbClr val="FFFFCC"/>
    <a:srgbClr val="FFCCFF"/>
    <a:srgbClr val="CCECFF"/>
    <a:srgbClr val="6699FF"/>
    <a:srgbClr val="FF6699"/>
    <a:srgbClr val="FFCC66"/>
    <a:srgbClr val="5599BF"/>
    <a:srgbClr val="C5DB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3" autoAdjust="0"/>
    <p:restoredTop sz="94175" autoAdjust="0"/>
  </p:normalViewPr>
  <p:slideViewPr>
    <p:cSldViewPr>
      <p:cViewPr varScale="1">
        <p:scale>
          <a:sx n="154" d="100"/>
          <a:sy n="154" d="100"/>
        </p:scale>
        <p:origin x="227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949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7261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648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08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6">
                    <a:lumMod val="75000"/>
                  </a:schemeClr>
                </a:solidFill>
                <a:latin typeface="휴먼엑스포" pitchFamily="18" charset="-127"/>
                <a:ea typeface="휴먼엑스포" pitchFamily="18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6534222"/>
            <a:ext cx="1296144" cy="2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rgbClr val="0070C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6113998"/>
            <a:ext cx="6400800" cy="555362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803772" y="1005117"/>
            <a:ext cx="7514232" cy="1269706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altLang="ko-KR" sz="4000"/>
              <a:t>Cross Validation &amp;</a:t>
            </a:r>
            <a:br>
              <a:rPr lang="en-US" altLang="ko-KR" sz="4000"/>
            </a:br>
            <a:r>
              <a:rPr lang="en-US" altLang="ko-KR" sz="4000"/>
              <a:t>Grid Search</a:t>
            </a:r>
            <a:endParaRPr lang="ko-KR" alt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825996" y="532162"/>
            <a:ext cx="309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2025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학년도 </a:t>
            </a:r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학기 </a:t>
            </a:r>
            <a:r>
              <a:rPr lang="ko-KR" altLang="en-US" sz="1800" b="1" dirty="0" err="1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머신러닝</a:t>
            </a:r>
            <a:endParaRPr lang="ko-KR" altLang="en-US" sz="1800" b="1" dirty="0">
              <a:solidFill>
                <a:srgbClr val="CC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8754-65CB-43B1-8FA6-6B2AEC5BA3F2}"/>
              </a:ext>
            </a:extLst>
          </p:cNvPr>
          <p:cNvSpPr txBox="1"/>
          <p:nvPr/>
        </p:nvSpPr>
        <p:spPr>
          <a:xfrm>
            <a:off x="2575112" y="5094449"/>
            <a:ext cx="3971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: https://miro.medium.com&gt;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026" name="Picture 2" descr="K-Fold Cross Validation for Machine Learning Models | by Eugenia Anello |  Towards AI">
            <a:extLst>
              <a:ext uri="{FF2B5EF4-FFF2-40B4-BE49-F238E27FC236}">
                <a16:creationId xmlns:a16="http://schemas.microsoft.com/office/drawing/2014/main" id="{72E27B5F-5BA4-4109-AF03-C4791E834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716083"/>
            <a:ext cx="4300394" cy="2292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n Intro to Hyper-parameter Optimization using Grid Search and Random Search  | by Elyse Lee | Medium">
            <a:extLst>
              <a:ext uri="{FF2B5EF4-FFF2-40B4-BE49-F238E27FC236}">
                <a16:creationId xmlns:a16="http://schemas.microsoft.com/office/drawing/2014/main" id="{0B01DEFC-4175-4C7F-8B36-11C43C7F2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140968"/>
            <a:ext cx="3523520" cy="178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Tm="36370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71B43-C860-495B-8CD4-EC58BD07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지난 시간 복습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9F84D4-1220-4ACA-A103-F13EAF52B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/>
              <a:t>결정 트리</a:t>
            </a:r>
            <a:r>
              <a:rPr lang="en-US" altLang="ko-KR"/>
              <a:t>(Decision Tree)</a:t>
            </a:r>
          </a:p>
          <a:p>
            <a:pPr lvl="1"/>
            <a:r>
              <a:rPr lang="ko-KR" altLang="en-US"/>
              <a:t>순서도의</a:t>
            </a:r>
            <a:r>
              <a:rPr lang="en-US" altLang="ko-KR"/>
              <a:t> </a:t>
            </a:r>
            <a:r>
              <a:rPr lang="ko-KR" altLang="en-US"/>
              <a:t>판단처럼 </a:t>
            </a:r>
            <a:r>
              <a:rPr lang="en-US" altLang="ko-KR"/>
              <a:t>Y/N</a:t>
            </a:r>
            <a:r>
              <a:rPr lang="ko-KR" altLang="en-US"/>
              <a:t>의 경우에 따라 정답을 찾아 학습하는 알고리즘</a:t>
            </a:r>
            <a:endParaRPr lang="en-US" altLang="ko-KR"/>
          </a:p>
          <a:p>
            <a:r>
              <a:rPr lang="ko-KR" altLang="en-US"/>
              <a:t>불순도</a:t>
            </a:r>
            <a:r>
              <a:rPr lang="en-US" altLang="ko-KR"/>
              <a:t>(Impurity)</a:t>
            </a:r>
          </a:p>
          <a:p>
            <a:pPr lvl="1"/>
            <a:r>
              <a:rPr lang="ko-KR" altLang="en-US"/>
              <a:t>순수하지 않은 정도</a:t>
            </a:r>
            <a:r>
              <a:rPr lang="en-US" altLang="ko-KR"/>
              <a:t>(0</a:t>
            </a:r>
            <a:r>
              <a:rPr lang="ko-KR" altLang="en-US"/>
              <a:t>일수록 순수</a:t>
            </a:r>
            <a:r>
              <a:rPr lang="en-US" altLang="ko-KR"/>
              <a:t>)</a:t>
            </a:r>
          </a:p>
          <a:p>
            <a:pPr lvl="1"/>
            <a:r>
              <a:rPr lang="en-US" altLang="ko-KR"/>
              <a:t>sklearn</a:t>
            </a:r>
            <a:r>
              <a:rPr lang="ko-KR" altLang="en-US"/>
              <a:t>에서는 </a:t>
            </a:r>
            <a:r>
              <a:rPr lang="en-US" altLang="ko-KR"/>
              <a:t>gini </a:t>
            </a:r>
            <a:r>
              <a:rPr lang="ko-KR" altLang="en-US"/>
              <a:t>불순도와 </a:t>
            </a:r>
            <a:r>
              <a:rPr lang="en-US" altLang="ko-KR"/>
              <a:t>entropy </a:t>
            </a:r>
            <a:r>
              <a:rPr lang="ko-KR" altLang="en-US"/>
              <a:t>불순도 제공</a:t>
            </a:r>
            <a:endParaRPr lang="en-US" altLang="ko-KR"/>
          </a:p>
          <a:p>
            <a:pPr lvl="1"/>
            <a:r>
              <a:rPr lang="en-US" altLang="ko-KR" i="1"/>
              <a:t>gini </a:t>
            </a:r>
            <a:r>
              <a:rPr lang="ko-KR" altLang="en-US" i="1"/>
              <a:t>불순도 </a:t>
            </a:r>
            <a:r>
              <a:rPr lang="en-US" altLang="ko-KR" i="1"/>
              <a:t>= 1 - (</a:t>
            </a:r>
            <a:r>
              <a:rPr lang="ko-KR" altLang="en-US" i="1"/>
              <a:t>음성클래스 비율</a:t>
            </a:r>
            <a:r>
              <a:rPr lang="en-US" altLang="ko-KR" i="1"/>
              <a:t>)</a:t>
            </a:r>
            <a:r>
              <a:rPr lang="en-US" altLang="ko-KR" i="1" baseline="30000"/>
              <a:t>2</a:t>
            </a:r>
            <a:r>
              <a:rPr lang="en-US" altLang="ko-KR" i="1"/>
              <a:t> - (</a:t>
            </a:r>
            <a:r>
              <a:rPr lang="ko-KR" altLang="en-US" i="1"/>
              <a:t>양성클래스 비율</a:t>
            </a:r>
            <a:r>
              <a:rPr lang="en-US" altLang="ko-KR" i="1"/>
              <a:t>)</a:t>
            </a:r>
            <a:r>
              <a:rPr lang="en-US" altLang="ko-KR" i="1" baseline="30000"/>
              <a:t>2</a:t>
            </a:r>
          </a:p>
          <a:p>
            <a:pPr lvl="1"/>
            <a:r>
              <a:rPr lang="ko-KR" altLang="en-US"/>
              <a:t>양성클래스와 음성클래스의 비율이 같으면</a:t>
            </a:r>
            <a:r>
              <a:rPr lang="en-US" altLang="ko-KR"/>
              <a:t>, gini</a:t>
            </a:r>
            <a:r>
              <a:rPr lang="ko-KR" altLang="en-US"/>
              <a:t> 불수도는 최대</a:t>
            </a:r>
            <a:r>
              <a:rPr lang="en-US" altLang="ko-KR"/>
              <a:t>(0.5)</a:t>
            </a:r>
          </a:p>
          <a:p>
            <a:r>
              <a:rPr lang="ko-KR" altLang="en-US"/>
              <a:t>정보 이득</a:t>
            </a:r>
            <a:r>
              <a:rPr lang="en-US" altLang="ko-KR"/>
              <a:t>(information gain)</a:t>
            </a:r>
          </a:p>
          <a:p>
            <a:pPr lvl="1"/>
            <a:r>
              <a:rPr lang="ko-KR" altLang="en-US"/>
              <a:t>부모노드와 자식노드의 불순도 차이</a:t>
            </a:r>
            <a:endParaRPr lang="en-US" altLang="ko-KR"/>
          </a:p>
          <a:p>
            <a:pPr lvl="1"/>
            <a:r>
              <a:rPr lang="ko-KR" altLang="en-US"/>
              <a:t>결정트리의 노드는 정보 이득이 최대가 되도록 진행</a:t>
            </a:r>
            <a:endParaRPr lang="en-US" altLang="ko-KR"/>
          </a:p>
          <a:p>
            <a:r>
              <a:rPr lang="ko-KR" altLang="en-US"/>
              <a:t>가지치기</a:t>
            </a:r>
            <a:endParaRPr lang="en-US" altLang="ko-KR"/>
          </a:p>
          <a:p>
            <a:pPr lvl="1"/>
            <a:r>
              <a:rPr lang="ko-KR" altLang="en-US"/>
              <a:t>결정트리의 최대 깊이</a:t>
            </a:r>
            <a:r>
              <a:rPr lang="en-US" altLang="ko-KR"/>
              <a:t>(max_depth </a:t>
            </a:r>
            <a:r>
              <a:rPr lang="ko-KR" altLang="en-US"/>
              <a:t>매개변수</a:t>
            </a:r>
            <a:r>
              <a:rPr lang="en-US" altLang="ko-KR"/>
              <a:t>)</a:t>
            </a:r>
            <a:r>
              <a:rPr lang="ko-KR" altLang="en-US"/>
              <a:t>를</a:t>
            </a:r>
            <a:r>
              <a:rPr lang="en-US" altLang="ko-KR"/>
              <a:t> </a:t>
            </a:r>
            <a:r>
              <a:rPr lang="ko-KR" altLang="en-US"/>
              <a:t>한정하지 않으면 과대적합 가능성 높음</a:t>
            </a:r>
            <a:endParaRPr lang="en-US" altLang="ko-KR"/>
          </a:p>
          <a:p>
            <a:pPr lvl="1"/>
            <a:r>
              <a:rPr lang="ko-KR" altLang="en-US"/>
              <a:t>적절한 선에서 </a:t>
            </a:r>
            <a:r>
              <a:rPr lang="en-US" altLang="ko-KR"/>
              <a:t>max_depth</a:t>
            </a:r>
            <a:r>
              <a:rPr lang="ko-KR" altLang="en-US"/>
              <a:t>를 제한</a:t>
            </a:r>
            <a:endParaRPr lang="en-US" altLang="ko-KR"/>
          </a:p>
          <a:p>
            <a:pPr marL="432000" lvl="1" indent="0">
              <a:buNone/>
            </a:pP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C460A6-4DBA-442D-B1A5-54053CCF9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5283161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E6938-5846-4440-B5F2-782388FE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학습목표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81E4D7-BB54-4FF2-8452-113620F71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 시간이 </a:t>
            </a:r>
            <a:r>
              <a:rPr lang="ko-KR" altLang="en-US"/>
              <a:t>종료되면 학생들은</a:t>
            </a:r>
            <a:endParaRPr lang="en-US" altLang="ko-KR"/>
          </a:p>
          <a:p>
            <a:pPr lvl="1"/>
            <a:r>
              <a:rPr lang="ko-KR" altLang="en-US"/>
              <a:t>교차 검증을 실행할 수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그리드 서치를 사용하여 하이퍼파라미터 튜닝을 할 수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랜덤 서치를 이용하여 하이퍼파라미터 튜닝을 할 수 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06078B-3071-4128-9A58-72556F263B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4191978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A8C414-B436-4C8D-AF33-1A801337F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캔 속의 레드와인 </a:t>
            </a:r>
            <a:r>
              <a:rPr lang="en-US" altLang="ko-KR"/>
              <a:t>or </a:t>
            </a:r>
            <a:r>
              <a:rPr lang="ko-KR" altLang="en-US"/>
              <a:t>화이트와인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F218E9-F0F5-43A2-9064-6D95E4134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우리의 문제</a:t>
            </a:r>
            <a:endParaRPr lang="en-US" altLang="ko-KR"/>
          </a:p>
          <a:p>
            <a:pPr marL="432000" lvl="1" indent="0">
              <a:buNone/>
            </a:pPr>
            <a:r>
              <a:rPr lang="en-US" altLang="ko-KR"/>
              <a:t>(</a:t>
            </a:r>
            <a:r>
              <a:rPr lang="ko-KR" altLang="en-US"/>
              <a:t>기존</a:t>
            </a:r>
            <a:r>
              <a:rPr lang="en-US" altLang="ko-KR"/>
              <a:t>)</a:t>
            </a:r>
          </a:p>
          <a:p>
            <a:pPr lvl="1"/>
            <a:r>
              <a:rPr lang="ko-KR" altLang="en-US"/>
              <a:t>캔에 와인이 담김</a:t>
            </a:r>
            <a:r>
              <a:rPr lang="en-US" altLang="ko-KR"/>
              <a:t>. but, </a:t>
            </a:r>
            <a:r>
              <a:rPr lang="ko-KR" altLang="en-US"/>
              <a:t>레드와인인지 화이트와인인지 표기 안됨</a:t>
            </a:r>
            <a:endParaRPr lang="en-US" altLang="ko-KR"/>
          </a:p>
          <a:p>
            <a:pPr lvl="1"/>
            <a:r>
              <a:rPr lang="ko-KR" altLang="en-US"/>
              <a:t>캔에 표기된 알콜 도수</a:t>
            </a:r>
            <a:r>
              <a:rPr lang="en-US" altLang="ko-KR"/>
              <a:t>, </a:t>
            </a:r>
            <a:r>
              <a:rPr lang="ko-KR" altLang="en-US"/>
              <a:t>당도</a:t>
            </a:r>
            <a:r>
              <a:rPr lang="en-US" altLang="ko-KR"/>
              <a:t>, pH</a:t>
            </a:r>
            <a:r>
              <a:rPr lang="ko-KR" altLang="en-US"/>
              <a:t>로 구분 필요</a:t>
            </a:r>
            <a:endParaRPr lang="en-US" altLang="ko-KR"/>
          </a:p>
          <a:p>
            <a:pPr marL="432000" lvl="1" indent="0">
              <a:buNone/>
            </a:pPr>
            <a:r>
              <a:rPr lang="en-US" altLang="ko-KR"/>
              <a:t>(</a:t>
            </a:r>
            <a:r>
              <a:rPr lang="ko-KR" altLang="en-US"/>
              <a:t>추가</a:t>
            </a:r>
            <a:r>
              <a:rPr lang="en-US" altLang="ko-KR"/>
              <a:t>)</a:t>
            </a:r>
          </a:p>
          <a:p>
            <a:pPr lvl="1"/>
            <a:r>
              <a:rPr lang="ko-KR" altLang="en-US"/>
              <a:t>테스트 세트로 성능을 확인하여 최고 성능이 나도록 모델을 맞추다 보면</a:t>
            </a:r>
            <a:r>
              <a:rPr lang="en-US" altLang="ko-KR"/>
              <a:t>, </a:t>
            </a:r>
            <a:r>
              <a:rPr lang="ko-KR" altLang="en-US"/>
              <a:t>모델이 일반화되지 못하고 데스트 세트에 맞추게 되는 결과가 나오게 됨</a:t>
            </a:r>
            <a:endParaRPr lang="en-US" altLang="ko-KR"/>
          </a:p>
          <a:p>
            <a:pPr lvl="1"/>
            <a:r>
              <a:rPr lang="ko-KR" altLang="en-US"/>
              <a:t>테스트 세트는 마지막에 딱 한번만 사용하는 것이 좋음</a:t>
            </a:r>
            <a:endParaRPr lang="en-US" altLang="ko-KR"/>
          </a:p>
          <a:p>
            <a:pPr lvl="1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F9D0F5-F4D5-4255-828D-7D6F7C62C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5533848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B4D7F5-FA37-4CED-BA00-94F42F61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검증 세트</a:t>
            </a:r>
            <a:r>
              <a:rPr lang="en-US" altLang="ko-KR"/>
              <a:t>(Validation Set) (1)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11EB94-3CA8-46CF-9B8C-F73E2FC64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50325" cy="5519738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/>
              <a:t>문제의 해결</a:t>
            </a:r>
            <a:endParaRPr lang="en-US" altLang="ko-KR"/>
          </a:p>
          <a:p>
            <a:pPr lvl="1"/>
            <a:r>
              <a:rPr lang="ko-KR" altLang="en-US"/>
              <a:t>테스트 세트를 사용하지 않으면 과대적합인지 과소적합인지 확인하기 어려움</a:t>
            </a:r>
            <a:endParaRPr lang="en-US" altLang="ko-KR"/>
          </a:p>
          <a:p>
            <a:pPr lvl="1"/>
            <a:r>
              <a:rPr lang="ko-KR" altLang="en-US">
                <a:sym typeface="Wingdings" panose="05000000000000000000" pitchFamily="2" charset="2"/>
              </a:rPr>
              <a:t>훈련 단계에서 </a:t>
            </a:r>
            <a:r>
              <a:rPr lang="ko-KR" altLang="en-US">
                <a:solidFill>
                  <a:srgbClr val="A50021"/>
                </a:solidFill>
                <a:sym typeface="Wingdings" panose="05000000000000000000" pitchFamily="2" charset="2"/>
              </a:rPr>
              <a:t>테스트 세트를 사용하지 않고 테스트</a:t>
            </a:r>
            <a:r>
              <a:rPr lang="ko-KR" altLang="en-US">
                <a:sym typeface="Wingdings" panose="05000000000000000000" pitchFamily="2" charset="2"/>
              </a:rPr>
              <a:t>를 해 보면서 성능을 올리는 방법을 사용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훈련 세트에서 일부를 떼어내 훈련 단계에서의 테스트 시행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검증 세트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r>
              <a:rPr lang="ko-KR" altLang="en-US">
                <a:sym typeface="Wingdings" panose="05000000000000000000" pitchFamily="2" charset="2"/>
              </a:rPr>
              <a:t>모델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훈련 단계</a:t>
            </a:r>
            <a:endParaRPr lang="en-US" altLang="ko-KR">
              <a:sym typeface="Wingdings" panose="05000000000000000000" pitchFamily="2" charset="2"/>
            </a:endParaRPr>
          </a:p>
          <a:p>
            <a:pPr marL="889200" lvl="1" indent="-457200">
              <a:buFont typeface="+mj-lt"/>
              <a:buAutoNum type="arabicPeriod"/>
            </a:pPr>
            <a:r>
              <a:rPr lang="ko-KR" altLang="en-US">
                <a:sym typeface="Wingdings" panose="05000000000000000000" pitchFamily="2" charset="2"/>
              </a:rPr>
              <a:t>훈련 세트</a:t>
            </a:r>
            <a:r>
              <a:rPr lang="en-US" altLang="ko-KR">
                <a:sym typeface="Wingdings" panose="05000000000000000000" pitchFamily="2" charset="2"/>
              </a:rPr>
              <a:t>(sub)</a:t>
            </a:r>
            <a:r>
              <a:rPr lang="ko-KR" altLang="en-US">
                <a:sym typeface="Wingdings" panose="05000000000000000000" pitchFamily="2" charset="2"/>
              </a:rPr>
              <a:t>로 훈련하고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검증 세트로 모델 평가</a:t>
            </a:r>
            <a:endParaRPr lang="en-US" altLang="ko-KR">
              <a:sym typeface="Wingdings" panose="05000000000000000000" pitchFamily="2" charset="2"/>
            </a:endParaRPr>
          </a:p>
          <a:p>
            <a:pPr marL="889200" lvl="1" indent="-457200">
              <a:buFont typeface="+mj-lt"/>
              <a:buAutoNum type="arabicPeriod"/>
            </a:pPr>
            <a:r>
              <a:rPr lang="ko-KR" altLang="en-US">
                <a:sym typeface="Wingdings" panose="05000000000000000000" pitchFamily="2" charset="2"/>
              </a:rPr>
              <a:t>매개변수를 바꿔가며 좋은 모델을 선택</a:t>
            </a:r>
            <a:endParaRPr lang="en-US" altLang="ko-KR">
              <a:sym typeface="Wingdings" panose="05000000000000000000" pitchFamily="2" charset="2"/>
            </a:endParaRPr>
          </a:p>
          <a:p>
            <a:pPr marL="889200" lvl="1" indent="-457200">
              <a:buFont typeface="+mj-lt"/>
              <a:buAutoNum type="arabicPeriod"/>
            </a:pPr>
            <a:r>
              <a:rPr lang="ko-KR" altLang="en-US">
                <a:sym typeface="Wingdings" panose="05000000000000000000" pitchFamily="2" charset="2"/>
              </a:rPr>
              <a:t>최적의 매개변수에서 훈련 세트 </a:t>
            </a:r>
            <a:r>
              <a:rPr lang="en-US" altLang="ko-KR">
                <a:sym typeface="Wingdings" panose="05000000000000000000" pitchFamily="2" charset="2"/>
              </a:rPr>
              <a:t>+ </a:t>
            </a:r>
            <a:r>
              <a:rPr lang="ko-KR" altLang="en-US">
                <a:sym typeface="Wingdings" panose="05000000000000000000" pitchFamily="2" charset="2"/>
              </a:rPr>
              <a:t>검증 세트로 훈련</a:t>
            </a:r>
            <a:endParaRPr lang="en-US" altLang="ko-KR">
              <a:sym typeface="Wingdings" panose="05000000000000000000" pitchFamily="2" charset="2"/>
            </a:endParaRPr>
          </a:p>
          <a:p>
            <a:pPr marL="889200" lvl="1" indent="-457200">
              <a:buFont typeface="+mj-lt"/>
              <a:buAutoNum type="arabicPeriod"/>
            </a:pPr>
            <a:r>
              <a:rPr lang="ko-KR" altLang="en-US">
                <a:sym typeface="Wingdings" panose="05000000000000000000" pitchFamily="2" charset="2"/>
              </a:rPr>
              <a:t>최종으로 테스트 세트로 최종점수 평가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1E17BD-83CC-496E-81A4-9273CAA973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2050" name="Picture 2" descr="Machine Learning에서 validation set을 사용하는 이유 :: Deep Play">
            <a:extLst>
              <a:ext uri="{FF2B5EF4-FFF2-40B4-BE49-F238E27FC236}">
                <a16:creationId xmlns:a16="http://schemas.microsoft.com/office/drawing/2014/main" id="{39FE2058-7A9A-4391-9EAB-A14E35D7A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284984"/>
            <a:ext cx="3528392" cy="1091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110335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B4D7F5-FA37-4CED-BA00-94F42F61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검증 세트</a:t>
            </a:r>
            <a:r>
              <a:rPr lang="en-US" altLang="ko-KR"/>
              <a:t>(Validation Set) (2)</a:t>
            </a:r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DDBB285-A0A3-4DCB-875E-7AC30A98D0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814" y="1268760"/>
            <a:ext cx="8730596" cy="49443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1E17BD-83CC-496E-81A4-9273CAA973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87102496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B4D7F5-FA37-4CED-BA00-94F42F61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검증 세트</a:t>
            </a:r>
            <a:r>
              <a:rPr lang="en-US" altLang="ko-KR"/>
              <a:t>(Validation Set) (3)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1E17BD-83CC-496E-81A4-9273CAA973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EEE67E3-7707-45E0-8176-BBF04CA17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50325" cy="5519738"/>
          </a:xfrm>
        </p:spPr>
        <p:txBody>
          <a:bodyPr/>
          <a:lstStyle/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7FB2997-709B-4A02-84F9-89D899B59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332" y="1140994"/>
            <a:ext cx="6285335" cy="17281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40E79E5-3871-42BF-96A7-04966EA02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2" y="3161159"/>
            <a:ext cx="1998506" cy="535682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B49BBCF1-1EE0-421D-8DBB-0ADE4D428972}"/>
              </a:ext>
            </a:extLst>
          </p:cNvPr>
          <p:cNvSpPr/>
          <p:nvPr/>
        </p:nvSpPr>
        <p:spPr>
          <a:xfrm>
            <a:off x="3372633" y="3323655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32969D-653B-4A45-90ED-99D8C83A2F80}"/>
              </a:ext>
            </a:extLst>
          </p:cNvPr>
          <p:cNvSpPr/>
          <p:nvPr/>
        </p:nvSpPr>
        <p:spPr>
          <a:xfrm>
            <a:off x="4105738" y="3821667"/>
            <a:ext cx="932524" cy="2880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FF0000"/>
                </a:solidFill>
              </a:rPr>
              <a:t>과대적합</a:t>
            </a:r>
            <a:r>
              <a:rPr lang="en-US" altLang="ko-KR" sz="1200">
                <a:solidFill>
                  <a:srgbClr val="FF0000"/>
                </a:solidFill>
              </a:rPr>
              <a:t>!</a:t>
            </a:r>
            <a:endParaRPr lang="ko-KR" altLang="en-US" sz="1200">
              <a:solidFill>
                <a:srgbClr val="FF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91DA845-6504-450D-98DD-6C54940B343B}"/>
              </a:ext>
            </a:extLst>
          </p:cNvPr>
          <p:cNvSpPr/>
          <p:nvPr/>
        </p:nvSpPr>
        <p:spPr>
          <a:xfrm>
            <a:off x="3583859" y="4501734"/>
            <a:ext cx="1998506" cy="53568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FF0000"/>
                </a:solidFill>
              </a:rPr>
              <a:t>매개변수를 바꾸어서</a:t>
            </a:r>
            <a:endParaRPr lang="en-US" altLang="ko-KR" sz="1200">
              <a:solidFill>
                <a:srgbClr val="FF0000"/>
              </a:solidFill>
            </a:endParaRPr>
          </a:p>
          <a:p>
            <a:pPr algn="ctr"/>
            <a:r>
              <a:rPr lang="ko-KR" altLang="en-US" sz="1200">
                <a:solidFill>
                  <a:srgbClr val="FF0000"/>
                </a:solidFill>
              </a:rPr>
              <a:t>더 좋은 모델을 찾아야 함</a:t>
            </a:r>
          </a:p>
        </p:txBody>
      </p:sp>
    </p:spTree>
    <p:extLst>
      <p:ext uri="{BB962C8B-B14F-4D97-AF65-F5344CB8AC3E}">
        <p14:creationId xmlns:p14="http://schemas.microsoft.com/office/powerpoint/2010/main" val="1749653621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26493-1922-4E03-8331-DF29A9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교차 검증</a:t>
            </a:r>
            <a:r>
              <a:rPr lang="en-US" altLang="ko-KR"/>
              <a:t>(Cross Validation) (1)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14C336-88BB-4EC8-8F99-7DD587CF0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/>
              <a:t>문제점</a:t>
            </a:r>
            <a:endParaRPr lang="en-US" altLang="ko-KR"/>
          </a:p>
          <a:p>
            <a:pPr lvl="1"/>
            <a:r>
              <a:rPr lang="ko-KR" altLang="en-US"/>
              <a:t>검증 세트를 만들어서 훈련 세트가 줄어들었음</a:t>
            </a:r>
            <a:endParaRPr lang="en-US" altLang="ko-KR"/>
          </a:p>
          <a:p>
            <a:pPr lvl="1"/>
            <a:r>
              <a:rPr lang="ko-KR" altLang="en-US"/>
              <a:t>검증 세트가 너무 작으면</a:t>
            </a:r>
            <a:r>
              <a:rPr lang="en-US" altLang="ko-KR"/>
              <a:t> </a:t>
            </a:r>
            <a:r>
              <a:rPr lang="ko-KR" altLang="en-US"/>
              <a:t>검증 점수가 불안정</a:t>
            </a:r>
            <a:endParaRPr lang="en-US" altLang="ko-KR"/>
          </a:p>
          <a:p>
            <a:r>
              <a:rPr lang="ko-KR" altLang="en-US"/>
              <a:t>문제 해결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교차 검증</a:t>
            </a:r>
            <a:endParaRPr lang="en-US" altLang="ko-KR"/>
          </a:p>
          <a:p>
            <a:pPr lvl="1"/>
            <a:r>
              <a:rPr lang="ko-KR" altLang="en-US"/>
              <a:t>검증 세트를 테어내어 평가하는 과정을 여러번 반복</a:t>
            </a:r>
            <a:endParaRPr lang="en-US" altLang="ko-KR"/>
          </a:p>
          <a:p>
            <a:pPr lvl="1"/>
            <a:r>
              <a:rPr lang="ko-KR" altLang="en-US"/>
              <a:t>이 과정들의 평균으로 검증점수를 얻음</a:t>
            </a:r>
            <a:endParaRPr lang="en-US" altLang="ko-KR"/>
          </a:p>
          <a:p>
            <a:pPr lvl="1"/>
            <a:r>
              <a:rPr lang="ko-KR" altLang="en-US"/>
              <a:t>보통</a:t>
            </a:r>
            <a:r>
              <a:rPr lang="en-US" altLang="ko-KR"/>
              <a:t> 5-</a:t>
            </a:r>
            <a:r>
              <a:rPr lang="ko-KR" altLang="en-US"/>
              <a:t>폴드</a:t>
            </a:r>
            <a:r>
              <a:rPr lang="en-US" altLang="ko-KR"/>
              <a:t>, 10-</a:t>
            </a:r>
            <a:r>
              <a:rPr lang="ko-KR" altLang="en-US"/>
              <a:t>폴드 교차검증을 많이 사용</a:t>
            </a:r>
            <a:r>
              <a:rPr lang="en-US" altLang="ko-KR"/>
              <a:t>(default = 5)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marL="432000" lvl="1" indent="0">
              <a:buNone/>
            </a:pP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5CC6CD-936D-46FD-9580-FBD1F9FA19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87E10-4F4F-4EEC-B93B-3957D39FD985}"/>
              </a:ext>
            </a:extLst>
          </p:cNvPr>
          <p:cNvSpPr txBox="1"/>
          <p:nvPr/>
        </p:nvSpPr>
        <p:spPr>
          <a:xfrm>
            <a:off x="2411760" y="6156594"/>
            <a:ext cx="3971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: https://miro.medium.com&gt;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6" name="Picture 2" descr="K-Fold Cross Validation for Machine Learning Models | by Eugenia Anello |  Towards AI">
            <a:extLst>
              <a:ext uri="{FF2B5EF4-FFF2-40B4-BE49-F238E27FC236}">
                <a16:creationId xmlns:a16="http://schemas.microsoft.com/office/drawing/2014/main" id="{DDD64F1D-C456-42B5-A363-2B0DCCF69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012" y="3636451"/>
            <a:ext cx="4722200" cy="251768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7971400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26493-1922-4E03-8331-DF29A9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교차 검증</a:t>
            </a:r>
            <a:r>
              <a:rPr lang="en-US" altLang="ko-KR"/>
              <a:t>(Cross Validation) (2)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14C336-88BB-4EC8-8F99-7DD587CF0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sklearn</a:t>
            </a:r>
            <a:r>
              <a:rPr lang="ko-KR" altLang="en-US" dirty="0"/>
              <a:t>의 </a:t>
            </a:r>
            <a:r>
              <a:rPr lang="en-US" altLang="ko-KR" dirty="0" err="1"/>
              <a:t>cross_validate</a:t>
            </a:r>
            <a:r>
              <a:rPr lang="en-US" altLang="ko-KR" dirty="0"/>
              <a:t>() </a:t>
            </a:r>
            <a:r>
              <a:rPr lang="ko-KR" altLang="en-US" dirty="0"/>
              <a:t>함수</a:t>
            </a:r>
            <a:endParaRPr lang="en-US" altLang="ko-KR" dirty="0"/>
          </a:p>
          <a:p>
            <a:pPr lvl="1"/>
            <a:r>
              <a:rPr lang="ko-KR" altLang="en-US" dirty="0"/>
              <a:t>교차 검증 함수</a:t>
            </a:r>
            <a:endParaRPr lang="en-US" altLang="ko-KR" dirty="0"/>
          </a:p>
          <a:p>
            <a:pPr lvl="1"/>
            <a:r>
              <a:rPr lang="ko-KR" altLang="en-US" dirty="0"/>
              <a:t>매개변수</a:t>
            </a:r>
            <a:r>
              <a:rPr lang="en-US" altLang="ko-KR" dirty="0"/>
              <a:t>: </a:t>
            </a:r>
            <a:r>
              <a:rPr lang="ko-KR" altLang="en-US" dirty="0"/>
              <a:t>모델 객체</a:t>
            </a:r>
            <a:r>
              <a:rPr lang="en-US" altLang="ko-KR" dirty="0"/>
              <a:t>, </a:t>
            </a:r>
            <a:r>
              <a:rPr lang="ko-KR" altLang="en-US" dirty="0"/>
              <a:t>훈련 세트 전체</a:t>
            </a:r>
            <a:endParaRPr lang="en-US" altLang="ko-KR" dirty="0"/>
          </a:p>
          <a:p>
            <a:pPr lvl="2"/>
            <a:r>
              <a:rPr lang="en-US" altLang="ko-KR" dirty="0"/>
              <a:t>cv </a:t>
            </a:r>
            <a:r>
              <a:rPr lang="ko-KR" altLang="en-US" dirty="0"/>
              <a:t>매개변수를 통해 </a:t>
            </a:r>
            <a:r>
              <a:rPr lang="ko-KR" altLang="en-US" dirty="0" err="1"/>
              <a:t>폴드</a:t>
            </a:r>
            <a:r>
              <a:rPr lang="ko-KR" altLang="en-US" dirty="0"/>
              <a:t> 수 전달</a:t>
            </a:r>
            <a:r>
              <a:rPr lang="en-US" altLang="ko-KR" dirty="0"/>
              <a:t>(default = 5)</a:t>
            </a:r>
          </a:p>
          <a:p>
            <a:pPr lvl="1"/>
            <a:r>
              <a:rPr lang="ko-KR" altLang="en-US" dirty="0"/>
              <a:t>반환 값</a:t>
            </a:r>
            <a:r>
              <a:rPr lang="en-US" altLang="ko-KR" dirty="0"/>
              <a:t>: </a:t>
            </a:r>
            <a:r>
              <a:rPr lang="ko-KR" altLang="en-US" dirty="0" err="1"/>
              <a:t>딕셔너리</a:t>
            </a:r>
            <a:r>
              <a:rPr lang="ko-KR" altLang="en-US" dirty="0"/>
              <a:t> 반환</a:t>
            </a:r>
            <a:endParaRPr lang="en-US" altLang="ko-KR" dirty="0"/>
          </a:p>
          <a:p>
            <a:pPr lvl="2"/>
            <a:r>
              <a:rPr lang="en-US" altLang="ko-KR" dirty="0" err="1"/>
              <a:t>fit_time</a:t>
            </a:r>
            <a:r>
              <a:rPr lang="en-US" altLang="ko-KR" dirty="0"/>
              <a:t>: </a:t>
            </a:r>
            <a:r>
              <a:rPr lang="ko-KR" altLang="en-US" dirty="0"/>
              <a:t>훈련 시간</a:t>
            </a:r>
            <a:endParaRPr lang="en-US" altLang="ko-KR" dirty="0"/>
          </a:p>
          <a:p>
            <a:pPr lvl="2"/>
            <a:r>
              <a:rPr lang="en-US" altLang="ko-KR" dirty="0" err="1"/>
              <a:t>score_time</a:t>
            </a:r>
            <a:r>
              <a:rPr lang="en-US" altLang="ko-KR" dirty="0"/>
              <a:t>: </a:t>
            </a:r>
            <a:r>
              <a:rPr lang="ko-KR" altLang="en-US" dirty="0"/>
              <a:t>검증</a:t>
            </a:r>
            <a:r>
              <a:rPr lang="en-US" altLang="ko-KR" dirty="0"/>
              <a:t> </a:t>
            </a:r>
            <a:r>
              <a:rPr lang="ko-KR" altLang="en-US" dirty="0"/>
              <a:t>시간</a:t>
            </a:r>
            <a:endParaRPr lang="en-US" altLang="ko-KR" dirty="0"/>
          </a:p>
          <a:p>
            <a:pPr lvl="2"/>
            <a:r>
              <a:rPr lang="en-US" altLang="ko-KR" dirty="0" err="1"/>
              <a:t>test_score</a:t>
            </a:r>
            <a:r>
              <a:rPr lang="en-US" altLang="ko-KR" dirty="0"/>
              <a:t>: </a:t>
            </a:r>
            <a:r>
              <a:rPr lang="ko-KR" altLang="en-US" dirty="0"/>
              <a:t>검증 </a:t>
            </a:r>
            <a:r>
              <a:rPr lang="ko-KR" altLang="en-US" dirty="0" err="1"/>
              <a:t>폴드의</a:t>
            </a:r>
            <a:r>
              <a:rPr lang="ko-KR" altLang="en-US" dirty="0"/>
              <a:t> 점수 </a:t>
            </a:r>
            <a:r>
              <a:rPr lang="en-US" altLang="ko-KR" dirty="0">
                <a:sym typeface="Wingdings" panose="05000000000000000000" pitchFamily="2" charset="2"/>
              </a:rPr>
              <a:t> k-fold </a:t>
            </a:r>
            <a:r>
              <a:rPr lang="ko-KR" altLang="en-US" dirty="0">
                <a:sym typeface="Wingdings" panose="05000000000000000000" pitchFamily="2" charset="2"/>
              </a:rPr>
              <a:t>점수의 평균으로 최종 점수 확인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779400" lvl="2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  <a:p>
            <a:pPr marL="779400" lvl="2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32000" lvl="1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5CC6CD-936D-46FD-9580-FBD1F9FA19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5217DC2-9E46-4543-8EA4-100174C49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59" y="4005064"/>
            <a:ext cx="7851539" cy="11521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2371693-1D40-40B7-A6DB-EC05A42DF619}"/>
              </a:ext>
            </a:extLst>
          </p:cNvPr>
          <p:cNvSpPr/>
          <p:nvPr/>
        </p:nvSpPr>
        <p:spPr>
          <a:xfrm>
            <a:off x="755576" y="5517232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CFD1F3C-277C-463D-920B-94F2B48A0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613" y="5275302"/>
            <a:ext cx="7211811" cy="76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51694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26493-1922-4E03-8331-DF29A9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교차 검증</a:t>
            </a:r>
            <a:r>
              <a:rPr lang="en-US" altLang="ko-KR"/>
              <a:t>(Cross Validation) (3)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14C336-88BB-4EC8-8F99-7DD587CF0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>
                <a:sym typeface="Wingdings" panose="05000000000000000000" pitchFamily="2" charset="2"/>
              </a:rPr>
              <a:t>교차 검증의 평균 확인</a:t>
            </a:r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r>
              <a:rPr lang="en-US" altLang="ko-KR">
                <a:sym typeface="Wingdings" panose="05000000000000000000" pitchFamily="2" charset="2"/>
              </a:rPr>
              <a:t>cross_validate()</a:t>
            </a:r>
            <a:r>
              <a:rPr lang="ko-KR" altLang="en-US">
                <a:sym typeface="Wingdings" panose="05000000000000000000" pitchFamily="2" charset="2"/>
              </a:rPr>
              <a:t>는 훈련 세트를 섞지 않고 폴드로 나눔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train_test_split()</a:t>
            </a:r>
            <a:r>
              <a:rPr lang="ko-KR" altLang="en-US">
                <a:sym typeface="Wingdings" panose="05000000000000000000" pitchFamily="2" charset="2"/>
              </a:rPr>
              <a:t>에서 이미 전체 데이터를 섞음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따로 훈련 세트를 섞을 필요가 있으면 분할기</a:t>
            </a:r>
            <a:r>
              <a:rPr lang="en-US" altLang="ko-KR">
                <a:sym typeface="Wingdings" panose="05000000000000000000" pitchFamily="2" charset="2"/>
              </a:rPr>
              <a:t>(splitter) </a:t>
            </a:r>
            <a:r>
              <a:rPr lang="ko-KR" altLang="en-US">
                <a:sym typeface="Wingdings" panose="05000000000000000000" pitchFamily="2" charset="2"/>
              </a:rPr>
              <a:t>사용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splitter</a:t>
            </a:r>
            <a:r>
              <a:rPr lang="ko-KR" altLang="en-US">
                <a:sym typeface="Wingdings" panose="05000000000000000000" pitchFamily="2" charset="2"/>
              </a:rPr>
              <a:t>는 회기모델의 경우 </a:t>
            </a:r>
            <a:r>
              <a:rPr lang="en-US" altLang="ko-KR">
                <a:sym typeface="Wingdings" panose="05000000000000000000" pitchFamily="2" charset="2"/>
              </a:rPr>
              <a:t>Kfold(), </a:t>
            </a:r>
            <a:r>
              <a:rPr lang="ko-KR" altLang="en-US">
                <a:sym typeface="Wingdings" panose="05000000000000000000" pitchFamily="2" charset="2"/>
              </a:rPr>
              <a:t>분류모델의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경우 </a:t>
            </a:r>
            <a:r>
              <a:rPr lang="en-US" altLang="ko-KR">
                <a:sym typeface="Wingdings" panose="05000000000000000000" pitchFamily="2" charset="2"/>
              </a:rPr>
              <a:t>StratifiedKFold() </a:t>
            </a:r>
            <a:r>
              <a:rPr lang="ko-KR" altLang="en-US">
                <a:sym typeface="Wingdings" panose="05000000000000000000" pitchFamily="2" charset="2"/>
              </a:rPr>
              <a:t>사용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splitter</a:t>
            </a:r>
            <a:r>
              <a:rPr lang="ko-KR" altLang="en-US">
                <a:sym typeface="Wingdings" panose="05000000000000000000" pitchFamily="2" charset="2"/>
              </a:rPr>
              <a:t>는 </a:t>
            </a:r>
            <a:r>
              <a:rPr lang="en-US" altLang="ko-KR">
                <a:sym typeface="Wingdings" panose="05000000000000000000" pitchFamily="2" charset="2"/>
              </a:rPr>
              <a:t>cv </a:t>
            </a:r>
            <a:r>
              <a:rPr lang="ko-KR" altLang="en-US">
                <a:sym typeface="Wingdings" panose="05000000000000000000" pitchFamily="2" charset="2"/>
              </a:rPr>
              <a:t>매개변수에 할당</a:t>
            </a:r>
            <a:r>
              <a:rPr lang="en-US" altLang="ko-KR">
                <a:sym typeface="Wingdings" panose="05000000000000000000" pitchFamily="2" charset="2"/>
              </a:rPr>
              <a:t> </a:t>
            </a:r>
          </a:p>
          <a:p>
            <a:pPr lvl="1"/>
            <a:endParaRPr lang="en-US" altLang="ko-KR">
              <a:sym typeface="Wingdings" panose="05000000000000000000" pitchFamily="2" charset="2"/>
            </a:endParaRPr>
          </a:p>
          <a:p>
            <a:endParaRPr lang="en-US" altLang="ko-KR">
              <a:sym typeface="Wingdings" panose="05000000000000000000" pitchFamily="2" charset="2"/>
            </a:endParaRPr>
          </a:p>
          <a:p>
            <a:pPr marL="779400" lvl="2" indent="0">
              <a:buNone/>
            </a:pPr>
            <a:endParaRPr lang="en-US" altLang="ko-KR">
              <a:sym typeface="Wingdings" panose="05000000000000000000" pitchFamily="2" charset="2"/>
            </a:endParaRPr>
          </a:p>
          <a:p>
            <a:pPr lvl="2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marL="432000" lvl="1" indent="0">
              <a:buNone/>
            </a:pP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5CC6CD-936D-46FD-9580-FBD1F9FA19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2371693-1D40-40B7-A6DB-EC05A42DF619}"/>
              </a:ext>
            </a:extLst>
          </p:cNvPr>
          <p:cNvSpPr/>
          <p:nvPr/>
        </p:nvSpPr>
        <p:spPr>
          <a:xfrm>
            <a:off x="4679580" y="1664804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71088C-A90F-4F96-A17D-2DD632F64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340768"/>
            <a:ext cx="3924870" cy="8640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DA6A4F7-07A1-4003-8019-C39930317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1611287"/>
            <a:ext cx="2371944" cy="324036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E13352F2-A86F-48D2-8EBA-C1769746A46C}"/>
              </a:ext>
            </a:extLst>
          </p:cNvPr>
          <p:cNvSpPr/>
          <p:nvPr/>
        </p:nvSpPr>
        <p:spPr>
          <a:xfrm>
            <a:off x="4679580" y="4851158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F5C0EF5-0189-4E20-9B68-0A1612137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4797152"/>
            <a:ext cx="2371944" cy="32403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34221AB-943D-4B42-A883-159AF0BB4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5125033"/>
            <a:ext cx="7356799" cy="10670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DCDA64D-FF0B-4827-A593-44213D9DCC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534" y="3645024"/>
            <a:ext cx="8056998" cy="11524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8912E15C-2B2E-43D7-BA2D-3EFD8BF823CB}"/>
              </a:ext>
            </a:extLst>
          </p:cNvPr>
          <p:cNvSpPr/>
          <p:nvPr/>
        </p:nvSpPr>
        <p:spPr>
          <a:xfrm>
            <a:off x="4679580" y="6249980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DCF7EFD-F79D-41B3-A8A8-D6657453A0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0432" y="6204643"/>
            <a:ext cx="2299936" cy="279886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DDA39C3-EDE7-4767-A547-9B524092808A}"/>
              </a:ext>
            </a:extLst>
          </p:cNvPr>
          <p:cNvSpPr/>
          <p:nvPr/>
        </p:nvSpPr>
        <p:spPr>
          <a:xfrm>
            <a:off x="3392243" y="5427468"/>
            <a:ext cx="115212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1EF4CB1-F6AC-46CB-AAB6-711357B04003}"/>
              </a:ext>
            </a:extLst>
          </p:cNvPr>
          <p:cNvSpPr/>
          <p:nvPr/>
        </p:nvSpPr>
        <p:spPr>
          <a:xfrm>
            <a:off x="4698260" y="5422080"/>
            <a:ext cx="129614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503237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9AE7C-CDD1-4387-A6C0-DA25A089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하이퍼파라미터 튜닝 </a:t>
            </a:r>
            <a:r>
              <a:rPr lang="en-US" altLang="ko-KR"/>
              <a:t>(1)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C4CD3E-C500-4C5D-BC12-CFCA1B3D1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머신러닝 모델의 파라미터</a:t>
            </a:r>
            <a:endParaRPr lang="en-US" altLang="ko-KR"/>
          </a:p>
          <a:p>
            <a:pPr lvl="1"/>
            <a:r>
              <a:rPr lang="ko-KR" altLang="en-US"/>
              <a:t>모델 파라미터</a:t>
            </a:r>
            <a:r>
              <a:rPr lang="en-US" altLang="ko-KR"/>
              <a:t>: </a:t>
            </a:r>
            <a:r>
              <a:rPr lang="ko-KR" altLang="en-US"/>
              <a:t>머신러닝 모델이 학습하는 파라미터</a:t>
            </a:r>
            <a:endParaRPr lang="en-US" altLang="ko-KR"/>
          </a:p>
          <a:p>
            <a:pPr lvl="1"/>
            <a:r>
              <a:rPr lang="ko-KR" altLang="en-US"/>
              <a:t>하이퍼파라미터</a:t>
            </a:r>
            <a:r>
              <a:rPr lang="en-US" altLang="ko-KR"/>
              <a:t>: </a:t>
            </a:r>
            <a:r>
              <a:rPr lang="ko-KR" altLang="en-US"/>
              <a:t>모델이 학습할 수 없어 사용자가 직접 지정하는 파라미터</a:t>
            </a:r>
            <a:endParaRPr lang="en-US" altLang="ko-KR"/>
          </a:p>
          <a:p>
            <a:r>
              <a:rPr lang="ko-KR" altLang="en-US"/>
              <a:t>하이퍼파라미터 튜닝의 문제점</a:t>
            </a:r>
            <a:endParaRPr lang="en-US" altLang="ko-KR"/>
          </a:p>
          <a:p>
            <a:pPr lvl="1"/>
            <a:r>
              <a:rPr lang="ko-KR" altLang="en-US"/>
              <a:t>모델마다 여러개의 하이퍼파라미터를 제공하는데</a:t>
            </a:r>
            <a:r>
              <a:rPr lang="en-US" altLang="ko-KR"/>
              <a:t>, </a:t>
            </a:r>
            <a:r>
              <a:rPr lang="ko-KR" altLang="en-US"/>
              <a:t>다른 파라미터를 고정하고 하나의 하이퍼파라미터의 최적값을 찾아도</a:t>
            </a:r>
            <a:r>
              <a:rPr lang="en-US" altLang="ko-KR"/>
              <a:t>, </a:t>
            </a:r>
            <a:r>
              <a:rPr lang="ko-KR" altLang="en-US"/>
              <a:t>이 값을 다른 하이퍼파라미터의 최적값을 찾는데 활용할 수 없음</a:t>
            </a:r>
            <a:r>
              <a:rPr lang="en-US" altLang="ko-KR"/>
              <a:t>. </a:t>
            </a:r>
          </a:p>
          <a:p>
            <a:pPr lvl="1"/>
            <a:r>
              <a:rPr lang="ko-KR" altLang="en-US"/>
              <a:t>각 하이퍼파라미터의 값은 다른 하이퍼파라미터의 값에 영향을 주어 최적의 값을 찾으려면 모든 하이퍼파라미터를 다 변화시키면서 찾을 수 밖에 없음</a:t>
            </a:r>
            <a:endParaRPr lang="en-US" altLang="ko-KR"/>
          </a:p>
          <a:p>
            <a:r>
              <a:rPr lang="ko-KR" altLang="en-US"/>
              <a:t>하이퍼파라미터 튜닝의 문제점 해결</a:t>
            </a:r>
            <a:endParaRPr lang="en-US" altLang="ko-KR"/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중첩 </a:t>
            </a:r>
            <a:r>
              <a:rPr lang="en-US" altLang="ko-KR">
                <a:sym typeface="Wingdings" panose="05000000000000000000" pitchFamily="2" charset="2"/>
              </a:rPr>
              <a:t>for</a:t>
            </a:r>
            <a:r>
              <a:rPr lang="ko-KR" altLang="en-US">
                <a:sym typeface="Wingdings" panose="05000000000000000000" pitchFamily="2" charset="2"/>
              </a:rPr>
              <a:t>문에 의해 해결 가능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sklearn</a:t>
            </a:r>
            <a:r>
              <a:rPr lang="ko-KR" altLang="en-US">
                <a:sym typeface="Wingdings" panose="05000000000000000000" pitchFamily="2" charset="2"/>
              </a:rPr>
              <a:t>의 그리드 서치</a:t>
            </a:r>
            <a:r>
              <a:rPr lang="en-US" altLang="ko-KR">
                <a:sym typeface="Wingdings" panose="05000000000000000000" pitchFamily="2" charset="2"/>
              </a:rPr>
              <a:t>(Grid Search)</a:t>
            </a:r>
            <a:r>
              <a:rPr lang="ko-KR" altLang="en-US">
                <a:sym typeface="Wingdings" panose="05000000000000000000" pitchFamily="2" charset="2"/>
              </a:rPr>
              <a:t>를 사용하여 해결 가능</a:t>
            </a:r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322052-4FEA-4DD7-B054-C21FBB1BAB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1043508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9AE7C-CDD1-4387-A6C0-DA25A089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하이퍼파라미터 튜닝 </a:t>
            </a:r>
            <a:r>
              <a:rPr lang="en-US" altLang="ko-KR"/>
              <a:t>(2)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C4CD3E-C500-4C5D-BC12-CFCA1B3D1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sklearn</a:t>
            </a:r>
            <a:r>
              <a:rPr lang="ko-KR" altLang="en-US"/>
              <a:t>의 </a:t>
            </a:r>
            <a:r>
              <a:rPr lang="en-US" altLang="ko-KR"/>
              <a:t>GridSearchCV </a:t>
            </a:r>
            <a:r>
              <a:rPr lang="ko-KR" altLang="en-US"/>
              <a:t>클래스 </a:t>
            </a:r>
            <a:endParaRPr lang="en-US" altLang="ko-KR"/>
          </a:p>
          <a:p>
            <a:pPr lvl="1"/>
            <a:r>
              <a:rPr lang="ko-KR" altLang="en-US"/>
              <a:t>하이퍼파라미터 탐색과 교차 검증을 한번에 수행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322052-4FEA-4DD7-B054-C21FBB1BAB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D2E479A-A99D-4934-83C8-7D5465D50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916832"/>
            <a:ext cx="6804248" cy="44848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121518B5-5EFD-4756-96B0-B83463FA04D9}"/>
              </a:ext>
            </a:extLst>
          </p:cNvPr>
          <p:cNvSpPr/>
          <p:nvPr/>
        </p:nvSpPr>
        <p:spPr>
          <a:xfrm>
            <a:off x="5038098" y="4797152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8A54D55-1BC0-49DA-85DA-ABF3A54B5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975" y="4797152"/>
            <a:ext cx="3392300" cy="254694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D18D2FB8-25DE-4EC8-A406-BE86DF0BCBCA}"/>
              </a:ext>
            </a:extLst>
          </p:cNvPr>
          <p:cNvSpPr/>
          <p:nvPr/>
        </p:nvSpPr>
        <p:spPr>
          <a:xfrm>
            <a:off x="5037626" y="4414061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55E572-8D1E-40AE-925E-9C378BCBC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975" y="4443238"/>
            <a:ext cx="1930361" cy="246080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530BA3A9-7DBC-427C-954C-927C3496A26B}"/>
              </a:ext>
            </a:extLst>
          </p:cNvPr>
          <p:cNvSpPr/>
          <p:nvPr/>
        </p:nvSpPr>
        <p:spPr>
          <a:xfrm>
            <a:off x="5037626" y="5401138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C99DA95-6B8A-4138-8E82-72268B4B8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0092" y="5440519"/>
            <a:ext cx="3392300" cy="137261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0FE8B264-8C15-4174-9014-3444F8E72DF1}"/>
              </a:ext>
            </a:extLst>
          </p:cNvPr>
          <p:cNvSpPr/>
          <p:nvPr/>
        </p:nvSpPr>
        <p:spPr>
          <a:xfrm>
            <a:off x="5037626" y="6161174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78D3987-1763-4FFD-8977-BA028B02E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975" y="6141839"/>
            <a:ext cx="3392300" cy="25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291302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9AE7C-CDD1-4387-A6C0-DA25A089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하이퍼파라미터 튜닝 </a:t>
            </a:r>
            <a:r>
              <a:rPr lang="en-US" altLang="ko-KR"/>
              <a:t>(3)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C4CD3E-C500-4C5D-BC12-CFCA1B3D1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sklearn</a:t>
            </a:r>
            <a:r>
              <a:rPr lang="ko-KR" altLang="en-US"/>
              <a:t>의 </a:t>
            </a:r>
            <a:r>
              <a:rPr lang="en-US" altLang="ko-KR"/>
              <a:t>GridSearchCV </a:t>
            </a:r>
            <a:r>
              <a:rPr lang="ko-KR" altLang="en-US"/>
              <a:t>클래스 </a:t>
            </a:r>
            <a:r>
              <a:rPr lang="en-US" altLang="ko-KR"/>
              <a:t>(</a:t>
            </a:r>
            <a:r>
              <a:rPr lang="ko-KR" altLang="en-US"/>
              <a:t>매개변수 추가</a:t>
            </a:r>
            <a:r>
              <a:rPr lang="en-US" altLang="ko-KR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322052-4FEA-4DD7-B054-C21FBB1BAB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121518B5-5EFD-4756-96B0-B83463FA04D9}"/>
              </a:ext>
            </a:extLst>
          </p:cNvPr>
          <p:cNvSpPr/>
          <p:nvPr/>
        </p:nvSpPr>
        <p:spPr>
          <a:xfrm>
            <a:off x="611560" y="5155873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D18D2FB8-25DE-4EC8-A406-BE86DF0BCBCA}"/>
              </a:ext>
            </a:extLst>
          </p:cNvPr>
          <p:cNvSpPr/>
          <p:nvPr/>
        </p:nvSpPr>
        <p:spPr>
          <a:xfrm>
            <a:off x="611560" y="4542801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9C4A7B1-2E89-4514-8C9E-3097CA358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557020"/>
            <a:ext cx="7596336" cy="2709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79D79E4-0D17-4956-960C-48CAA2304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00" y="4536635"/>
            <a:ext cx="7956376" cy="28047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FA7DE8A-E7CB-4083-B647-F5E658785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789" y="5119485"/>
            <a:ext cx="1990035" cy="30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335650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9AE7C-CDD1-4387-A6C0-DA25A089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하이퍼파라미터 튜닝 </a:t>
            </a:r>
            <a:r>
              <a:rPr lang="en-US" altLang="ko-KR"/>
              <a:t>(4)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C4CD3E-C500-4C5D-BC12-CFCA1B3D1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Grid Search</a:t>
            </a:r>
            <a:r>
              <a:rPr lang="ko-KR" altLang="en-US"/>
              <a:t>의 문제점</a:t>
            </a:r>
            <a:endParaRPr lang="en-US" altLang="ko-KR"/>
          </a:p>
          <a:p>
            <a:pPr lvl="1"/>
            <a:r>
              <a:rPr lang="ko-KR" altLang="en-US"/>
              <a:t>각 파라미터의 값의 범위와 간격이 예제와 같이 주어지는 것이 최선인지 확인할 수 없음</a:t>
            </a:r>
            <a:endParaRPr lang="en-US" altLang="ko-KR"/>
          </a:p>
          <a:p>
            <a:r>
              <a:rPr lang="ko-KR" altLang="en-US"/>
              <a:t>문제점의 해결</a:t>
            </a:r>
            <a:r>
              <a:rPr lang="en-US" altLang="ko-KR"/>
              <a:t>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랜덤 서치</a:t>
            </a:r>
            <a:r>
              <a:rPr lang="en-US" altLang="ko-KR">
                <a:sym typeface="Wingdings" panose="05000000000000000000" pitchFamily="2" charset="2"/>
              </a:rPr>
              <a:t>(Random Search)</a:t>
            </a: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매개변수로 값의 목록을 전달하지 않고</a:t>
            </a:r>
            <a:r>
              <a:rPr lang="en-US" altLang="ko-KR">
                <a:sym typeface="Wingdings" panose="05000000000000000000" pitchFamily="2" charset="2"/>
              </a:rPr>
              <a:t>, </a:t>
            </a:r>
            <a:r>
              <a:rPr lang="ko-KR" altLang="en-US">
                <a:sym typeface="Wingdings" panose="05000000000000000000" pitchFamily="2" charset="2"/>
              </a:rPr>
              <a:t>확률분포 객체를 전달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싸이파이</a:t>
            </a:r>
            <a:r>
              <a:rPr lang="en-US" altLang="ko-KR">
                <a:sym typeface="Wingdings" panose="05000000000000000000" pitchFamily="2" charset="2"/>
              </a:rPr>
              <a:t>(scipy)</a:t>
            </a:r>
            <a:r>
              <a:rPr lang="ko-KR" altLang="en-US">
                <a:sym typeface="Wingdings" panose="05000000000000000000" pitchFamily="2" charset="2"/>
              </a:rPr>
              <a:t>의 </a:t>
            </a:r>
            <a:r>
              <a:rPr lang="en-US" altLang="ko-KR">
                <a:sym typeface="Wingdings" panose="05000000000000000000" pitchFamily="2" charset="2"/>
              </a:rPr>
              <a:t>uniform()(</a:t>
            </a:r>
            <a:r>
              <a:rPr lang="ko-KR" altLang="en-US">
                <a:sym typeface="Wingdings" panose="05000000000000000000" pitchFamily="2" charset="2"/>
              </a:rPr>
              <a:t>실수</a:t>
            </a:r>
            <a:r>
              <a:rPr lang="en-US" altLang="ko-KR">
                <a:sym typeface="Wingdings" panose="05000000000000000000" pitchFamily="2" charset="2"/>
              </a:rPr>
              <a:t>), randint()(</a:t>
            </a:r>
            <a:r>
              <a:rPr lang="ko-KR" altLang="en-US">
                <a:sym typeface="Wingdings" panose="05000000000000000000" pitchFamily="2" charset="2"/>
              </a:rPr>
              <a:t>정수</a:t>
            </a:r>
            <a:r>
              <a:rPr lang="en-US" altLang="ko-KR">
                <a:sym typeface="Wingdings" panose="05000000000000000000" pitchFamily="2" charset="2"/>
              </a:rPr>
              <a:t>) </a:t>
            </a:r>
            <a:r>
              <a:rPr lang="ko-KR" altLang="en-US">
                <a:sym typeface="Wingdings" panose="05000000000000000000" pitchFamily="2" charset="2"/>
              </a:rPr>
              <a:t>함수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사용</a:t>
            </a:r>
            <a:r>
              <a:rPr lang="ko-KR" altLang="en-US"/>
              <a:t> 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322052-4FEA-4DD7-B054-C21FBB1BAB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9743C7-E8C4-4A64-8627-DDD5F5E5107C}"/>
              </a:ext>
            </a:extLst>
          </p:cNvPr>
          <p:cNvSpPr txBox="1"/>
          <p:nvPr/>
        </p:nvSpPr>
        <p:spPr>
          <a:xfrm>
            <a:off x="2597336" y="6195596"/>
            <a:ext cx="3971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: https://miro.medium.com&gt;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1" name="Picture 4" descr="An Intro to Hyper-parameter Optimization using Grid Search and Random Search  | by Elyse Lee | Medium">
            <a:extLst>
              <a:ext uri="{FF2B5EF4-FFF2-40B4-BE49-F238E27FC236}">
                <a16:creationId xmlns:a16="http://schemas.microsoft.com/office/drawing/2014/main" id="{C81D4438-31E1-4790-91B3-4B1698F84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894326"/>
            <a:ext cx="4464496" cy="2263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2919795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9AE7C-CDD1-4387-A6C0-DA25A089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하이퍼파라미터 튜닝 </a:t>
            </a:r>
            <a:r>
              <a:rPr lang="en-US" altLang="ko-KR"/>
              <a:t>(5)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322052-4FEA-4DD7-B054-C21FBB1BAB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ACD43C-798C-4F6A-9618-0896DD800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340768"/>
            <a:ext cx="6859308" cy="46805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4D0A3298-5782-461F-A35D-19A24FE79668}"/>
              </a:ext>
            </a:extLst>
          </p:cNvPr>
          <p:cNvSpPr/>
          <p:nvPr/>
        </p:nvSpPr>
        <p:spPr>
          <a:xfrm>
            <a:off x="4716016" y="4581128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8CB6A880-8946-419E-A376-83B9E2FCE9A4}"/>
              </a:ext>
            </a:extLst>
          </p:cNvPr>
          <p:cNvSpPr/>
          <p:nvPr/>
        </p:nvSpPr>
        <p:spPr>
          <a:xfrm>
            <a:off x="4716016" y="5058931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9326A81A-276E-4017-A5CC-F3FF78839A87}"/>
              </a:ext>
            </a:extLst>
          </p:cNvPr>
          <p:cNvSpPr/>
          <p:nvPr/>
        </p:nvSpPr>
        <p:spPr>
          <a:xfrm>
            <a:off x="4716016" y="5805264"/>
            <a:ext cx="288032" cy="216024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21A9D35-2C92-4CC7-BD5F-F8B3E397A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631" y="4581128"/>
            <a:ext cx="3874419" cy="21602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0F9F8F3-B601-403E-B4F3-B746F1D94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631" y="5013202"/>
            <a:ext cx="2279954" cy="25591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0C0F421-0B6B-4AE7-AD02-CD11A52C46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4698" y="5725835"/>
            <a:ext cx="562497" cy="29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806758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D3210-38D6-43CE-B004-622EA64C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</a:t>
            </a:r>
            <a:r>
              <a:rPr lang="ko-KR" altLang="en-US"/>
              <a:t>요약</a:t>
            </a: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8EA3D-4374-4DAC-9300-F51D6A775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/>
              <a:t>Key words</a:t>
            </a:r>
          </a:p>
          <a:p>
            <a:pPr lvl="1"/>
            <a:r>
              <a:rPr lang="ko-KR" altLang="en-US"/>
              <a:t>검증세트</a:t>
            </a:r>
            <a:r>
              <a:rPr lang="en-US" altLang="ko-KR"/>
              <a:t>: </a:t>
            </a:r>
            <a:r>
              <a:rPr lang="ko-KR" altLang="en-US"/>
              <a:t>모델을 평가할 때 테스트 세트를 사용하지 않기 위해 훈련세트에서 다시 떼어낸 테스트 세트</a:t>
            </a:r>
            <a:endParaRPr lang="en-US" altLang="ko-KR"/>
          </a:p>
          <a:p>
            <a:pPr lvl="1"/>
            <a:r>
              <a:rPr lang="ko-KR" altLang="en-US"/>
              <a:t>교차검증</a:t>
            </a:r>
            <a:r>
              <a:rPr lang="en-US" altLang="ko-KR"/>
              <a:t>: </a:t>
            </a:r>
            <a:r>
              <a:rPr lang="ko-KR" altLang="en-US"/>
              <a:t>훈련세트를 여러 폴드로 나눈 후 한 폴드가 검증세트의 역할을 수행</a:t>
            </a:r>
            <a:r>
              <a:rPr lang="en-US" altLang="ko-KR"/>
              <a:t>, </a:t>
            </a:r>
            <a:r>
              <a:rPr lang="ko-KR" altLang="en-US"/>
              <a:t>모든 폴드가 돌아가며 역할을 수행하고 평균으로 검증 점수를 얻는 방법</a:t>
            </a:r>
            <a:endParaRPr lang="en-US" altLang="ko-KR"/>
          </a:p>
          <a:p>
            <a:pPr lvl="1"/>
            <a:r>
              <a:rPr lang="ko-KR" altLang="en-US"/>
              <a:t>그리드서치</a:t>
            </a:r>
            <a:r>
              <a:rPr lang="en-US" altLang="ko-KR"/>
              <a:t>: </a:t>
            </a:r>
            <a:r>
              <a:rPr lang="ko-KR" altLang="en-US"/>
              <a:t>하이퍼파라미터 탐색을 자동으로 해주는 도구</a:t>
            </a:r>
            <a:r>
              <a:rPr lang="en-US" altLang="ko-KR"/>
              <a:t>, </a:t>
            </a:r>
            <a:r>
              <a:rPr lang="ko-KR" altLang="en-US"/>
              <a:t>각 파라미터의 일정한 간격으로 탐색 진행</a:t>
            </a:r>
            <a:endParaRPr lang="en-US" altLang="ko-KR"/>
          </a:p>
          <a:p>
            <a:pPr lvl="1"/>
            <a:r>
              <a:rPr lang="ko-KR" altLang="en-US"/>
              <a:t>랜던서치</a:t>
            </a:r>
            <a:r>
              <a:rPr lang="en-US" altLang="ko-KR"/>
              <a:t>: </a:t>
            </a:r>
            <a:r>
              <a:rPr lang="ko-KR" altLang="en-US"/>
              <a:t>탐색 값을 직접 나열하지 않고</a:t>
            </a:r>
            <a:r>
              <a:rPr lang="en-US" altLang="ko-KR"/>
              <a:t>, </a:t>
            </a:r>
            <a:r>
              <a:rPr lang="ko-KR" altLang="en-US"/>
              <a:t>샘플링 할 수 있는 확률 분포 객체를 전달</a:t>
            </a:r>
            <a:r>
              <a:rPr lang="en-US" altLang="ko-KR"/>
              <a:t>. </a:t>
            </a:r>
            <a:r>
              <a:rPr lang="ko-KR" altLang="en-US"/>
              <a:t>탐색량을 조절할 수 있음 </a:t>
            </a:r>
            <a:endParaRPr lang="en-US" altLang="ko-KR"/>
          </a:p>
          <a:p>
            <a:r>
              <a:rPr lang="en-US" altLang="ko-KR"/>
              <a:t>sklearn </a:t>
            </a:r>
            <a:r>
              <a:rPr lang="ko-KR" altLang="en-US"/>
              <a:t>패키지</a:t>
            </a:r>
            <a:endParaRPr lang="en-US" altLang="ko-KR"/>
          </a:p>
          <a:p>
            <a:pPr lvl="1"/>
            <a:r>
              <a:rPr lang="en-US" altLang="ko-KR"/>
              <a:t>cross_validator(): </a:t>
            </a:r>
            <a:r>
              <a:rPr lang="ko-KR" altLang="en-US"/>
              <a:t>교차검증을 수행하는 함수</a:t>
            </a:r>
            <a:endParaRPr lang="en-US" altLang="ko-KR"/>
          </a:p>
          <a:p>
            <a:pPr lvl="2"/>
            <a:r>
              <a:rPr lang="en-US" altLang="ko-KR"/>
              <a:t>cv </a:t>
            </a:r>
            <a:r>
              <a:rPr lang="ko-KR" altLang="en-US"/>
              <a:t>매개변수는 교차검증 폴드 수나</a:t>
            </a:r>
            <a:r>
              <a:rPr lang="en-US" altLang="ko-KR"/>
              <a:t>, splitter </a:t>
            </a:r>
            <a:r>
              <a:rPr lang="ko-KR" altLang="en-US"/>
              <a:t>객체 지정</a:t>
            </a:r>
            <a:r>
              <a:rPr lang="en-US" altLang="ko-KR"/>
              <a:t>(default = 5)</a:t>
            </a:r>
          </a:p>
          <a:p>
            <a:pPr lvl="2"/>
            <a:r>
              <a:rPr lang="ko-KR" altLang="en-US"/>
              <a:t>회귀일 때는 </a:t>
            </a:r>
            <a:r>
              <a:rPr lang="en-US" altLang="ko-KR"/>
              <a:t>Kfold</a:t>
            </a:r>
            <a:r>
              <a:rPr lang="ko-KR" altLang="en-US"/>
              <a:t>클래스</a:t>
            </a:r>
            <a:r>
              <a:rPr lang="en-US" altLang="ko-KR"/>
              <a:t>, </a:t>
            </a:r>
            <a:r>
              <a:rPr lang="ko-KR" altLang="en-US"/>
              <a:t>분류일 때는 </a:t>
            </a:r>
            <a:r>
              <a:rPr lang="en-US" altLang="ko-KR"/>
              <a:t>StratifiedKFold</a:t>
            </a:r>
            <a:r>
              <a:rPr lang="ko-KR" altLang="en-US"/>
              <a:t>클래스의 객체 사용</a:t>
            </a:r>
            <a:endParaRPr lang="en-US" altLang="ko-KR"/>
          </a:p>
          <a:p>
            <a:pPr lvl="1"/>
            <a:r>
              <a:rPr lang="en-US" altLang="ko-KR"/>
              <a:t>GridSearchCV </a:t>
            </a:r>
            <a:r>
              <a:rPr lang="ko-KR" altLang="en-US"/>
              <a:t>클래스</a:t>
            </a:r>
            <a:r>
              <a:rPr lang="en-US" altLang="ko-KR"/>
              <a:t>: </a:t>
            </a:r>
            <a:r>
              <a:rPr lang="ko-KR" altLang="en-US"/>
              <a:t>그리드서치 수행</a:t>
            </a:r>
            <a:endParaRPr lang="en-US" altLang="ko-KR"/>
          </a:p>
          <a:p>
            <a:pPr lvl="1"/>
            <a:r>
              <a:rPr lang="en-US" altLang="ko-KR"/>
              <a:t>RandomizedSearchCV </a:t>
            </a:r>
            <a:r>
              <a:rPr lang="ko-KR" altLang="en-US"/>
              <a:t>클래스</a:t>
            </a:r>
            <a:r>
              <a:rPr lang="en-US" altLang="ko-KR"/>
              <a:t>: </a:t>
            </a:r>
            <a:r>
              <a:rPr lang="ko-KR" altLang="en-US"/>
              <a:t>랜덤서치</a:t>
            </a:r>
            <a:r>
              <a:rPr lang="en-US" altLang="ko-KR"/>
              <a:t> </a:t>
            </a:r>
            <a:r>
              <a:rPr lang="ko-KR" altLang="en-US"/>
              <a:t>수행</a:t>
            </a:r>
            <a:endParaRPr lang="en-US" altLang="ko-KR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53D893-8F8F-414A-A449-4F40C004A0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9297896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students learn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37623</TotalTime>
  <Words>887</Words>
  <Application>Microsoft Office PowerPoint</Application>
  <PresentationFormat>화면 슬라이드 쇼(4:3)</PresentationFormat>
  <Paragraphs>165</Paragraphs>
  <Slides>17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HY견고딕</vt:lpstr>
      <vt:lpstr>굴림</vt:lpstr>
      <vt:lpstr>맑은 고딕</vt:lpstr>
      <vt:lpstr>휴먼엑스포</vt:lpstr>
      <vt:lpstr>Times New Roman</vt:lpstr>
      <vt:lpstr>Wingdings</vt:lpstr>
      <vt:lpstr>기본 디자인</vt:lpstr>
      <vt:lpstr>Cross Validation &amp; Grid Search</vt:lpstr>
      <vt:lpstr>지난 시간 복습</vt:lpstr>
      <vt:lpstr>학습목표</vt:lpstr>
      <vt:lpstr>캔 속의 레드와인 or 화이트와인</vt:lpstr>
      <vt:lpstr>검증 세트(Validation Set) (1)</vt:lpstr>
      <vt:lpstr>검증 세트(Validation Set) (2)</vt:lpstr>
      <vt:lpstr>검증 세트(Validation Set) (3)</vt:lpstr>
      <vt:lpstr>교차 검증(Cross Validation) (1)</vt:lpstr>
      <vt:lpstr>교차 검증(Cross Validation) (2)</vt:lpstr>
      <vt:lpstr>교차 검증(Cross Validation) (3)</vt:lpstr>
      <vt:lpstr>하이퍼파라미터 튜닝 (1)</vt:lpstr>
      <vt:lpstr>하이퍼파라미터 튜닝 (2)</vt:lpstr>
      <vt:lpstr>하이퍼파라미터 튜닝 (3)</vt:lpstr>
      <vt:lpstr>하이퍼파라미터 튜닝 (4)</vt:lpstr>
      <vt:lpstr>하이퍼파라미터 튜닝 (5)</vt:lpstr>
      <vt:lpstr>학습 요약 </vt:lpstr>
      <vt:lpstr>질의 응답</vt:lpstr>
    </vt:vector>
  </TitlesOfParts>
  <Company>두원공과대학 컴퓨터공학과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김영우</dc:creator>
  <cp:lastModifiedBy>김영우</cp:lastModifiedBy>
  <cp:revision>811</cp:revision>
  <dcterms:created xsi:type="dcterms:W3CDTF">2003-05-07T20:17:23Z</dcterms:created>
  <dcterms:modified xsi:type="dcterms:W3CDTF">2025-10-13T00:18:11Z</dcterms:modified>
</cp:coreProperties>
</file>