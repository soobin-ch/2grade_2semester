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632" r:id="rId2"/>
    <p:sldId id="722" r:id="rId3"/>
    <p:sldId id="719" r:id="rId4"/>
    <p:sldId id="723" r:id="rId5"/>
    <p:sldId id="729" r:id="rId6"/>
    <p:sldId id="730" r:id="rId7"/>
    <p:sldId id="728" r:id="rId8"/>
    <p:sldId id="727" r:id="rId9"/>
    <p:sldId id="724" r:id="rId10"/>
    <p:sldId id="731" r:id="rId11"/>
    <p:sldId id="732" r:id="rId12"/>
    <p:sldId id="733" r:id="rId13"/>
    <p:sldId id="725" r:id="rId14"/>
    <p:sldId id="734" r:id="rId15"/>
    <p:sldId id="735" r:id="rId16"/>
    <p:sldId id="738" r:id="rId17"/>
    <p:sldId id="739" r:id="rId18"/>
    <p:sldId id="736" r:id="rId19"/>
    <p:sldId id="740" r:id="rId20"/>
    <p:sldId id="741" r:id="rId21"/>
    <p:sldId id="717" r:id="rId22"/>
    <p:sldId id="742" r:id="rId23"/>
    <p:sldId id="703" r:id="rId24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3A729A"/>
    <a:srgbClr val="A50021"/>
    <a:srgbClr val="FFFFCC"/>
    <a:srgbClr val="FFCCFF"/>
    <a:srgbClr val="CCECFF"/>
    <a:srgbClr val="6699FF"/>
    <a:srgbClr val="FF6699"/>
    <a:srgbClr val="FFCC66"/>
    <a:srgbClr val="5599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 autoAdjust="0"/>
    <p:restoredTop sz="96370" autoAdjust="0"/>
  </p:normalViewPr>
  <p:slideViewPr>
    <p:cSldViewPr>
      <p:cViewPr varScale="1">
        <p:scale>
          <a:sx n="163" d="100"/>
          <a:sy n="163" d="100"/>
        </p:scale>
        <p:origin x="2332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949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21876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rgbClr val="0070C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6113998"/>
            <a:ext cx="6400800" cy="555362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803772" y="1005117"/>
            <a:ext cx="7514232" cy="1269706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altLang="ko-KR" sz="4000"/>
              <a:t>Ensemble Learning</a:t>
            </a:r>
            <a:endParaRPr lang="ko-KR" alt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825996" y="532162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2025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학년도 </a:t>
            </a:r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학기 </a:t>
            </a:r>
            <a:r>
              <a:rPr lang="ko-KR" altLang="en-US" sz="1800" b="1" dirty="0" err="1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머신러닝</a:t>
            </a:r>
            <a:endParaRPr lang="ko-KR" altLang="en-US" sz="1800" b="1" dirty="0">
              <a:solidFill>
                <a:srgbClr val="CC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754-65CB-43B1-8FA6-6B2AEC5BA3F2}"/>
              </a:ext>
            </a:extLst>
          </p:cNvPr>
          <p:cNvSpPr txBox="1"/>
          <p:nvPr/>
        </p:nvSpPr>
        <p:spPr>
          <a:xfrm>
            <a:off x="1547664" y="5606391"/>
            <a:ext cx="6048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https://assets-global.website-files.com/&gt;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" name="Picture 2" descr="An ensemble of multiple linear classifiers ">
            <a:extLst>
              <a:ext uri="{FF2B5EF4-FFF2-40B4-BE49-F238E27FC236}">
                <a16:creationId xmlns:a16="http://schemas.microsoft.com/office/drawing/2014/main" id="{BD3AEAB1-5E25-4ABB-822A-F08FD4FC2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988" y="2060848"/>
            <a:ext cx="4788024" cy="3511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Tm="3637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71B43-C860-495B-8CD4-EC58BD07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지난 시간 복습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9F84D4-1220-4ACA-A103-F13EAF52B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1" y="981075"/>
            <a:ext cx="5616177" cy="5519738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/>
              <a:t>검증 세트</a:t>
            </a:r>
            <a:r>
              <a:rPr lang="en-US" altLang="ko-KR"/>
              <a:t>(Validation Set)</a:t>
            </a: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훈련 단계에서 테스트 세트를 사용하지 않고 테스트를 해 보면서 성능을 올리는 방법을 사용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훈련 세트에서 일부를 떼어내 훈련 단계에서의 테스트 시행</a:t>
            </a:r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교차 검증</a:t>
            </a:r>
            <a:r>
              <a:rPr lang="en-US" altLang="ko-KR">
                <a:sym typeface="Wingdings" panose="05000000000000000000" pitchFamily="2" charset="2"/>
              </a:rPr>
              <a:t>(Cross Validation)</a:t>
            </a:r>
          </a:p>
          <a:p>
            <a:pPr lvl="1"/>
            <a:r>
              <a:rPr lang="ko-KR" altLang="en-US"/>
              <a:t>검증 세트를 테어내어 평가하는 과정을 여러번 반복</a:t>
            </a:r>
            <a:endParaRPr lang="en-US" altLang="ko-KR"/>
          </a:p>
          <a:p>
            <a:pPr lvl="1"/>
            <a:r>
              <a:rPr lang="ko-KR" altLang="en-US"/>
              <a:t>이 과정들의 평균으로 검증점수를 얻음</a:t>
            </a:r>
            <a:endParaRPr lang="en-US" altLang="ko-KR"/>
          </a:p>
          <a:p>
            <a:r>
              <a:rPr lang="ko-KR" altLang="en-US"/>
              <a:t>하이퍼파라미터 튜닝</a:t>
            </a:r>
            <a:r>
              <a:rPr lang="en-US" altLang="ko-KR"/>
              <a:t>(Hyper-parameter Tuning)</a:t>
            </a:r>
          </a:p>
          <a:p>
            <a:pPr lvl="1"/>
            <a:r>
              <a:rPr lang="ko-KR" altLang="en-US"/>
              <a:t>하이퍼파라미터</a:t>
            </a:r>
            <a:r>
              <a:rPr lang="en-US" altLang="ko-KR"/>
              <a:t>: </a:t>
            </a:r>
            <a:r>
              <a:rPr lang="ko-KR" altLang="en-US"/>
              <a:t>모델이 학습할 수 없어 사용자가 직접 지정하는 파라미터</a:t>
            </a:r>
            <a:endParaRPr lang="en-US" altLang="ko-KR"/>
          </a:p>
          <a:p>
            <a:pPr lvl="1"/>
            <a:r>
              <a:rPr lang="ko-KR" altLang="en-US"/>
              <a:t>그리드 서치</a:t>
            </a:r>
            <a:r>
              <a:rPr lang="en-US" altLang="ko-KR"/>
              <a:t>(Grid Search): </a:t>
            </a:r>
            <a:r>
              <a:rPr lang="ko-KR" altLang="en-US"/>
              <a:t>각 파라미터의 모든 변화를 다 고려하여 최적 찾음</a:t>
            </a:r>
            <a:endParaRPr lang="en-US" altLang="ko-KR"/>
          </a:p>
          <a:p>
            <a:pPr lvl="1"/>
            <a:r>
              <a:rPr lang="ko-KR" altLang="en-US"/>
              <a:t>랜덤 서치</a:t>
            </a:r>
            <a:r>
              <a:rPr lang="en-US" altLang="ko-KR"/>
              <a:t>(Random Search): </a:t>
            </a:r>
            <a:r>
              <a:rPr lang="ko-KR" altLang="en-US"/>
              <a:t>탐색 값을 직접 나열하지 않고</a:t>
            </a:r>
            <a:r>
              <a:rPr lang="en-US" altLang="ko-KR"/>
              <a:t>, </a:t>
            </a:r>
            <a:r>
              <a:rPr lang="ko-KR" altLang="en-US"/>
              <a:t>샘플링 할 수 있는 확률 분포 객체를 전달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C460A6-4DBA-442D-B1A5-54053CCF9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  <p:pic>
        <p:nvPicPr>
          <p:cNvPr id="5" name="Picture 2" descr="Machine Learning에서 validation set을 사용하는 이유 :: Deep Play">
            <a:extLst>
              <a:ext uri="{FF2B5EF4-FFF2-40B4-BE49-F238E27FC236}">
                <a16:creationId xmlns:a16="http://schemas.microsoft.com/office/drawing/2014/main" id="{B072C149-31EF-41BF-86FE-37ECEE695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412776"/>
            <a:ext cx="2609171" cy="807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K-Fold Cross Validation for Machine Learning Models | by Eugenia Anello |  Towards AI">
            <a:extLst>
              <a:ext uri="{FF2B5EF4-FFF2-40B4-BE49-F238E27FC236}">
                <a16:creationId xmlns:a16="http://schemas.microsoft.com/office/drawing/2014/main" id="{DC84A081-1DA5-4B11-BC0C-F9C51C92A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591" y="2420888"/>
            <a:ext cx="2950355" cy="157301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An Intro to Hyper-parameter Optimization using Grid Search and Random Search  | by Elyse Lee | Medium">
            <a:extLst>
              <a:ext uri="{FF2B5EF4-FFF2-40B4-BE49-F238E27FC236}">
                <a16:creationId xmlns:a16="http://schemas.microsoft.com/office/drawing/2014/main" id="{3F93C5C2-6F36-4FA6-B9DA-BBB83C016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747" y="4505814"/>
            <a:ext cx="3109709" cy="15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5283161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E6938-5846-4440-B5F2-782388FE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학습목표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1E4D7-BB54-4FF2-8452-113620F71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시간이 </a:t>
            </a:r>
            <a:r>
              <a:rPr lang="ko-KR" altLang="en-US"/>
              <a:t>종료되면 학생들은</a:t>
            </a:r>
            <a:endParaRPr lang="en-US" altLang="ko-KR"/>
          </a:p>
          <a:p>
            <a:pPr lvl="1"/>
            <a:r>
              <a:rPr lang="ko-KR" altLang="en-US"/>
              <a:t>앙상블 학습의 개념을 설명할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랜덤 포레스트 알고리즘을 적용하여 문제를 풀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엑스트라 트리 알고리즘을 적용하여 문제를 풀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그레이디언트 부스팅 알고리즘을 적용하여 문제를 풀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히스토그램 기반 그레이디언트 부스팅 알고리즘을 적용하여 문제를 풀 수 있다</a:t>
            </a:r>
            <a:r>
              <a:rPr lang="en-US" altLang="ko-KR"/>
              <a:t>.</a:t>
            </a:r>
          </a:p>
          <a:p>
            <a:pPr lvl="1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06078B-3071-4128-9A58-72556F263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4191978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84D091-43DD-4645-9A07-30D0CE37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정형 데이터와 비정형 데이터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FA71E1-0455-4B37-B0BC-B878A374C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정형 데이터</a:t>
            </a:r>
            <a:r>
              <a:rPr lang="en-US" altLang="ko-KR"/>
              <a:t>(Structured Data)</a:t>
            </a:r>
          </a:p>
          <a:p>
            <a:pPr lvl="1"/>
            <a:r>
              <a:rPr lang="ko-KR" altLang="en-US"/>
              <a:t>구조화된 데이터</a:t>
            </a:r>
            <a:endParaRPr lang="en-US" altLang="ko-KR"/>
          </a:p>
          <a:p>
            <a:pPr lvl="1"/>
            <a:r>
              <a:rPr lang="en-US" altLang="ko-KR"/>
              <a:t>CSV, </a:t>
            </a:r>
            <a:r>
              <a:rPr lang="ko-KR" altLang="en-US"/>
              <a:t>데이터베이스</a:t>
            </a:r>
            <a:r>
              <a:rPr lang="en-US" altLang="ko-KR"/>
              <a:t>, Excel </a:t>
            </a:r>
            <a:r>
              <a:rPr lang="ko-KR" altLang="en-US"/>
              <a:t>등으로 표현</a:t>
            </a:r>
            <a:endParaRPr lang="en-US" altLang="ko-KR"/>
          </a:p>
          <a:p>
            <a:pPr lvl="1"/>
            <a:r>
              <a:rPr lang="ko-KR" altLang="en-US"/>
              <a:t>머신러닝 알고리즘으로 잘 해결됨</a:t>
            </a:r>
            <a:endParaRPr lang="en-US" altLang="ko-KR"/>
          </a:p>
          <a:p>
            <a:pPr lvl="1"/>
            <a:r>
              <a:rPr lang="ko-KR" altLang="en-US"/>
              <a:t>앙상블 학습</a:t>
            </a:r>
            <a:r>
              <a:rPr lang="en-US" altLang="ko-KR"/>
              <a:t>(Ensemble Learning)</a:t>
            </a:r>
            <a:r>
              <a:rPr lang="ko-KR" altLang="en-US"/>
              <a:t>이 가장 뛰어난 성과를 냄 </a:t>
            </a:r>
            <a:endParaRPr lang="en-US" altLang="ko-KR"/>
          </a:p>
          <a:p>
            <a:r>
              <a:rPr lang="ko-KR" altLang="en-US"/>
              <a:t>비정형 데이터</a:t>
            </a:r>
            <a:r>
              <a:rPr lang="en-US" altLang="ko-KR"/>
              <a:t>(Unstructured Data)</a:t>
            </a:r>
          </a:p>
          <a:p>
            <a:pPr lvl="1"/>
            <a:r>
              <a:rPr lang="ko-KR" altLang="en-US"/>
              <a:t>정형 데이터가 아닌 것</a:t>
            </a:r>
            <a:r>
              <a:rPr lang="en-US" altLang="ko-KR"/>
              <a:t>. CSV, </a:t>
            </a:r>
            <a:r>
              <a:rPr lang="ko-KR" altLang="en-US"/>
              <a:t>데이터베이스</a:t>
            </a:r>
            <a:r>
              <a:rPr lang="en-US" altLang="ko-KR"/>
              <a:t>, Excel </a:t>
            </a:r>
            <a:r>
              <a:rPr lang="ko-KR" altLang="en-US"/>
              <a:t>등으로 표현하기 어려움</a:t>
            </a:r>
            <a:endParaRPr lang="en-US" altLang="ko-KR"/>
          </a:p>
          <a:p>
            <a:pPr lvl="1"/>
            <a:r>
              <a:rPr lang="ko-KR" altLang="en-US"/>
              <a:t>텍스트 데이터</a:t>
            </a:r>
            <a:r>
              <a:rPr lang="en-US" altLang="ko-KR"/>
              <a:t>, </a:t>
            </a:r>
            <a:r>
              <a:rPr lang="ko-KR" altLang="en-US"/>
              <a:t>디지털카메라로 찍은 사진</a:t>
            </a:r>
            <a:r>
              <a:rPr lang="en-US" altLang="ko-KR"/>
              <a:t>, </a:t>
            </a:r>
            <a:r>
              <a:rPr lang="ko-KR" altLang="en-US"/>
              <a:t>디지털 음악 등</a:t>
            </a:r>
            <a:endParaRPr lang="en-US" altLang="ko-KR"/>
          </a:p>
          <a:p>
            <a:pPr lvl="1"/>
            <a:r>
              <a:rPr lang="ko-KR" altLang="en-US"/>
              <a:t>규칙성을 찾기 어려워 머신러닝 방법으로는 모델을 만들기 까다로움</a:t>
            </a:r>
            <a:endParaRPr lang="en-US" altLang="ko-KR"/>
          </a:p>
          <a:p>
            <a:pPr lvl="1"/>
            <a:r>
              <a:rPr lang="ko-KR" altLang="en-US"/>
              <a:t>신경망 알고리즘을 이용하여 해결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6031F7-A2A9-4FAE-B088-398936C9D8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8219561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58FFD-C183-4530-99AF-AF7ACBB4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랜덤 포레스트</a:t>
            </a:r>
            <a:r>
              <a:rPr lang="en-US" altLang="ko-KR"/>
              <a:t>(Random Forest) 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6AD8A1-F330-40B9-B03D-EC29A9D31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랜덤 포레스트 알고리즘</a:t>
            </a:r>
            <a:endParaRPr lang="en-US" altLang="ko-KR"/>
          </a:p>
          <a:p>
            <a:pPr lvl="1"/>
            <a:r>
              <a:rPr lang="ko-KR" altLang="en-US"/>
              <a:t>앙상블 학습의 대표 주자 중 하나</a:t>
            </a:r>
            <a:endParaRPr lang="en-US" altLang="ko-KR"/>
          </a:p>
          <a:p>
            <a:pPr lvl="1"/>
            <a:r>
              <a:rPr lang="ko-KR" altLang="en-US"/>
              <a:t>결정트리를 랜덤하게 만들고</a:t>
            </a:r>
            <a:r>
              <a:rPr lang="en-US" altLang="ko-KR"/>
              <a:t>, </a:t>
            </a:r>
            <a:r>
              <a:rPr lang="ko-KR" altLang="en-US"/>
              <a:t>각 결정트리의 예측을 사용하여 최종 예측</a:t>
            </a:r>
            <a:endParaRPr lang="en-US" altLang="ko-KR"/>
          </a:p>
          <a:p>
            <a:pPr lvl="2"/>
            <a:r>
              <a:rPr lang="ko-KR" altLang="en-US"/>
              <a:t>각 결정트리의 특성은 전체 특성 중 일부 특성을 무작위로 선택</a:t>
            </a:r>
            <a:r>
              <a:rPr lang="en-US" altLang="ko-KR"/>
              <a:t>, </a:t>
            </a:r>
            <a:r>
              <a:rPr lang="ko-KR" altLang="en-US"/>
              <a:t>이 중 최선의 분할을 찾음</a:t>
            </a:r>
            <a:endParaRPr lang="en-US" altLang="ko-KR"/>
          </a:p>
          <a:p>
            <a:pPr lvl="2"/>
            <a:r>
              <a:rPr lang="en-US" altLang="ko-KR"/>
              <a:t>RandomForestClassifier</a:t>
            </a:r>
            <a:r>
              <a:rPr lang="ko-KR" altLang="en-US"/>
              <a:t>는 기본적으로 전체 특성의 제곱근 개수를 선택</a:t>
            </a:r>
            <a:endParaRPr lang="en-US" altLang="ko-KR"/>
          </a:p>
          <a:p>
            <a:pPr lvl="2"/>
            <a:r>
              <a:rPr lang="en-US" altLang="ko-KR"/>
              <a:t>RandomForestRegressor</a:t>
            </a:r>
            <a:r>
              <a:rPr lang="ko-KR" altLang="en-US"/>
              <a:t>는 전체 특성을 모두 사용 </a:t>
            </a:r>
            <a:endParaRPr lang="en-US" altLang="ko-KR"/>
          </a:p>
          <a:p>
            <a:pPr lvl="2"/>
            <a:r>
              <a:rPr lang="ko-KR" altLang="en-US"/>
              <a:t>기본적으로 </a:t>
            </a:r>
            <a:r>
              <a:rPr lang="en-US" altLang="ko-KR"/>
              <a:t>100</a:t>
            </a:r>
            <a:r>
              <a:rPr lang="ko-KR" altLang="en-US"/>
              <a:t>개의 결정트리 훈련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marL="779400" lvl="2" indent="0">
              <a:buNone/>
            </a:pPr>
            <a:r>
              <a:rPr lang="en-US" altLang="ko-KR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92354-D07F-4A09-AE21-282816D5C9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A946CD-39CA-4263-BCE6-34EC199C9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4221088"/>
            <a:ext cx="4320480" cy="203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389085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58FFD-C183-4530-99AF-AF7ACBB4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랜덤 포레스트</a:t>
            </a:r>
            <a:r>
              <a:rPr lang="en-US" altLang="ko-KR"/>
              <a:t>(Random Forest) (2)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6AD8A1-F330-40B9-B03D-EC29A9D31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ko-KR" altLang="en-US"/>
              <a:t>각 트리를 훈련하기 위한 데이터</a:t>
            </a:r>
            <a:r>
              <a:rPr lang="en-US" altLang="ko-KR"/>
              <a:t>: n</a:t>
            </a:r>
            <a:r>
              <a:rPr lang="ko-KR" altLang="en-US"/>
              <a:t>개의 </a:t>
            </a:r>
            <a:r>
              <a:rPr lang="en-US" altLang="ko-KR"/>
              <a:t>random subsets</a:t>
            </a:r>
            <a:r>
              <a:rPr lang="ko-KR" altLang="en-US"/>
              <a:t> 생성</a:t>
            </a:r>
            <a:br>
              <a:rPr lang="en-US" altLang="ko-KR"/>
            </a:br>
            <a:r>
              <a:rPr lang="en-US" altLang="ko-KR">
                <a:sym typeface="Wingdings" panose="05000000000000000000" pitchFamily="2" charset="2"/>
              </a:rPr>
              <a:t></a:t>
            </a:r>
            <a:r>
              <a:rPr lang="en-US" altLang="ko-KR"/>
              <a:t> Bootstrap samples</a:t>
            </a:r>
          </a:p>
          <a:p>
            <a:pPr lvl="2"/>
            <a:r>
              <a:rPr lang="ko-KR" altLang="en-US"/>
              <a:t>훈련데이터에서 하나의 샘플을 랜덤하게 선택</a:t>
            </a:r>
            <a:endParaRPr lang="en-US" altLang="ko-KR"/>
          </a:p>
          <a:p>
            <a:pPr lvl="2"/>
            <a:r>
              <a:rPr lang="ko-KR" altLang="en-US"/>
              <a:t>훈련데이터는 뽑힌 샘플을 포함한 것 함</a:t>
            </a:r>
            <a:endParaRPr lang="en-US" altLang="ko-KR"/>
          </a:p>
          <a:p>
            <a:pPr lvl="2"/>
            <a:r>
              <a:rPr lang="ko-KR" altLang="en-US"/>
              <a:t>부트스트랩 샘플의 크기가 훈련데이터 크기와 같을 때까지 이 과정을 반복</a:t>
            </a:r>
            <a:endParaRPr lang="en-US" altLang="ko-KR"/>
          </a:p>
          <a:p>
            <a:pPr marL="432000" lvl="1" indent="0">
              <a:buNone/>
            </a:pPr>
            <a:r>
              <a:rPr lang="en-US" altLang="ko-KR"/>
              <a:t> 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동일한 샘플이 여러번 선택될 수도 있음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92354-D07F-4A09-AE21-282816D5C9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ECC4A8-B397-4A23-99D1-9875CF469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724" y="3429000"/>
            <a:ext cx="4968552" cy="295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127991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58FFD-C183-4530-99AF-AF7ACBB4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랜덤 포레스트</a:t>
            </a:r>
            <a:r>
              <a:rPr lang="en-US" altLang="ko-KR"/>
              <a:t>(Random Forest) (3)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6AD8A1-F330-40B9-B03D-EC29A9D31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ko-KR" altLang="en-US"/>
              <a:t>각 트리 훈련 후 최종 예측은</a:t>
            </a:r>
            <a:endParaRPr lang="en-US" altLang="ko-KR"/>
          </a:p>
          <a:p>
            <a:pPr lvl="2"/>
            <a:r>
              <a:rPr lang="ko-KR" altLang="en-US"/>
              <a:t>분류</a:t>
            </a:r>
            <a:r>
              <a:rPr lang="en-US" altLang="ko-KR"/>
              <a:t>(Classification)</a:t>
            </a:r>
            <a:r>
              <a:rPr lang="ko-KR" altLang="en-US"/>
              <a:t>는 각 트리의 클래스별 확률을 평균하여 가장 높은 확률을 갖는 클래스로 예측</a:t>
            </a:r>
            <a:endParaRPr lang="en-US" altLang="ko-KR"/>
          </a:p>
          <a:p>
            <a:pPr lvl="2"/>
            <a:r>
              <a:rPr lang="ko-KR" altLang="en-US"/>
              <a:t>회귀</a:t>
            </a:r>
            <a:r>
              <a:rPr lang="en-US" altLang="ko-KR"/>
              <a:t>(Regression)</a:t>
            </a:r>
            <a:r>
              <a:rPr lang="ko-KR" altLang="en-US"/>
              <a:t>는 단순히 각 트리의 예측을 평균</a:t>
            </a:r>
            <a:endParaRPr lang="en-US" altLang="ko-KR"/>
          </a:p>
          <a:p>
            <a:pPr lvl="1"/>
            <a:r>
              <a:rPr lang="ko-KR" altLang="en-US"/>
              <a:t>랜덤하게 선택한 샘플과 특성을 사용하므로</a:t>
            </a:r>
            <a:r>
              <a:rPr lang="en-US" altLang="ko-KR"/>
              <a:t>, </a:t>
            </a:r>
            <a:r>
              <a:rPr lang="ko-KR" altLang="en-US"/>
              <a:t>훈련세트에 과대적합되는 것을 막고</a:t>
            </a:r>
            <a:r>
              <a:rPr lang="en-US" altLang="ko-KR"/>
              <a:t>, </a:t>
            </a:r>
            <a:r>
              <a:rPr lang="ko-KR" altLang="en-US"/>
              <a:t>검증세트와 테스트세트에서 안정적 성능을 얻을 수 있음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92354-D07F-4A09-AE21-282816D5C9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60569236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58FFD-C183-4530-99AF-AF7ACBB4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랜덤 포레스트</a:t>
            </a:r>
            <a:r>
              <a:rPr lang="en-US" altLang="ko-KR"/>
              <a:t>(Random Forest) (4)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92354-D07F-4A09-AE21-282816D5C9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F69D02-DCBE-474F-86CF-1BC076DC7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0214"/>
            <a:ext cx="9144000" cy="4517571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2A9C55-4FE2-423F-970F-73ED8BA53AF3}"/>
              </a:ext>
            </a:extLst>
          </p:cNvPr>
          <p:cNvSpPr txBox="1"/>
          <p:nvPr/>
        </p:nvSpPr>
        <p:spPr>
          <a:xfrm>
            <a:off x="2586224" y="5825757"/>
            <a:ext cx="3971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https://miro.medium.com/&gt;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543036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58FFD-C183-4530-99AF-AF7ACBB4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랜덤 포레스트</a:t>
            </a:r>
            <a:r>
              <a:rPr lang="en-US" altLang="ko-KR"/>
              <a:t>(Random Forest) (5)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92354-D07F-4A09-AE21-282816D5C9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ED0FA5-0906-447E-A51A-7FF5EED3F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34979"/>
            <a:ext cx="8784976" cy="51903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4052780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58FFD-C183-4530-99AF-AF7ACBB4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랜덤 포레스트</a:t>
            </a:r>
            <a:r>
              <a:rPr lang="en-US" altLang="ko-KR"/>
              <a:t>(Random Forest) (6)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33BC09-98D4-4B1F-ACC0-3FD3E72A9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/>
              <a:t>RandomForestClassifier </a:t>
            </a:r>
            <a:r>
              <a:rPr lang="ko-KR" altLang="en-US"/>
              <a:t>클래스</a:t>
            </a:r>
            <a:endParaRPr lang="en-US" altLang="ko-KR"/>
          </a:p>
          <a:p>
            <a:pPr lvl="1"/>
            <a:r>
              <a:rPr lang="ko-KR" altLang="en-US"/>
              <a:t>기본적으로 </a:t>
            </a:r>
            <a:r>
              <a:rPr lang="en-US" altLang="ko-KR"/>
              <a:t>100</a:t>
            </a:r>
            <a:r>
              <a:rPr lang="ko-KR" altLang="en-US"/>
              <a:t>개의 결정트리를 사용하므로</a:t>
            </a:r>
            <a:r>
              <a:rPr lang="en-US" altLang="ko-KR"/>
              <a:t>, </a:t>
            </a:r>
            <a:r>
              <a:rPr lang="ko-KR" altLang="en-US"/>
              <a:t>생성자의 </a:t>
            </a:r>
            <a:r>
              <a:rPr lang="en-US" altLang="ko-KR"/>
              <a:t>n_jobs </a:t>
            </a:r>
            <a:r>
              <a:rPr lang="ko-KR" altLang="en-US"/>
              <a:t>매개변수를 </a:t>
            </a:r>
            <a:r>
              <a:rPr lang="en-US" altLang="ko-KR"/>
              <a:t>-1</a:t>
            </a:r>
            <a:r>
              <a:rPr lang="ko-KR" altLang="en-US"/>
              <a:t>로 설정 </a:t>
            </a:r>
            <a:r>
              <a:rPr lang="en-US" altLang="ko-KR">
                <a:sym typeface="Wingdings" panose="05000000000000000000" pitchFamily="2" charset="2"/>
              </a:rPr>
              <a:t></a:t>
            </a:r>
            <a:r>
              <a:rPr lang="en-US" altLang="ko-KR"/>
              <a:t> </a:t>
            </a:r>
            <a:r>
              <a:rPr lang="ko-KR" altLang="en-US"/>
              <a:t>모든 </a:t>
            </a:r>
            <a:r>
              <a:rPr lang="en-US" altLang="ko-KR"/>
              <a:t>CPU </a:t>
            </a:r>
            <a:r>
              <a:rPr lang="ko-KR" altLang="en-US"/>
              <a:t>사용</a:t>
            </a:r>
            <a:endParaRPr lang="en-US" altLang="ko-KR"/>
          </a:p>
          <a:p>
            <a:r>
              <a:rPr lang="en-US" altLang="ko-KR"/>
              <a:t>cross_validator()</a:t>
            </a:r>
            <a:r>
              <a:rPr lang="ko-KR" altLang="en-US"/>
              <a:t>로 교차검증</a:t>
            </a:r>
            <a:endParaRPr lang="en-US" altLang="ko-KR"/>
          </a:p>
          <a:p>
            <a:pPr lvl="1"/>
            <a:r>
              <a:rPr lang="ko-KR" altLang="en-US"/>
              <a:t>모델은 </a:t>
            </a:r>
            <a:r>
              <a:rPr lang="en-US" altLang="ko-KR"/>
              <a:t>RandomForestClassifier </a:t>
            </a:r>
            <a:r>
              <a:rPr lang="ko-KR" altLang="en-US"/>
              <a:t>객체 </a:t>
            </a:r>
            <a:r>
              <a:rPr lang="en-US" altLang="ko-KR"/>
              <a:t>(rf)</a:t>
            </a:r>
          </a:p>
          <a:p>
            <a:pPr lvl="1"/>
            <a:r>
              <a:rPr lang="en-US" altLang="ko-KR"/>
              <a:t>return_train_score </a:t>
            </a:r>
            <a:r>
              <a:rPr lang="ko-KR" altLang="en-US"/>
              <a:t>매개변수를 </a:t>
            </a:r>
            <a:r>
              <a:rPr lang="en-US" altLang="ko-KR"/>
              <a:t>True</a:t>
            </a:r>
            <a:r>
              <a:rPr lang="ko-KR" altLang="en-US"/>
              <a:t>로 설정 </a:t>
            </a:r>
            <a:r>
              <a:rPr lang="en-US" altLang="ko-KR">
                <a:sym typeface="Wingdings" panose="05000000000000000000" pitchFamily="2" charset="2"/>
              </a:rPr>
              <a:t></a:t>
            </a:r>
            <a:r>
              <a:rPr lang="en-US" altLang="ko-KR"/>
              <a:t> </a:t>
            </a:r>
            <a:r>
              <a:rPr lang="ko-KR" altLang="en-US"/>
              <a:t>검증점수 및 테스트세트에 대한 점수도 같이 반환 </a:t>
            </a:r>
            <a:r>
              <a:rPr lang="en-US" altLang="ko-KR"/>
              <a:t>(default</a:t>
            </a:r>
            <a:r>
              <a:rPr lang="ko-KR" altLang="en-US"/>
              <a:t>는 </a:t>
            </a:r>
            <a:r>
              <a:rPr lang="en-US" altLang="ko-KR"/>
              <a:t>False)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marL="432000" lvl="1" indent="0">
              <a:buNone/>
            </a:pP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92354-D07F-4A09-AE21-282816D5C9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C3F15B-F268-488D-95C1-BE1F80174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95" y="3733294"/>
            <a:ext cx="8978834" cy="24345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297823F-1361-476F-87C3-1CBAE710F412}"/>
              </a:ext>
            </a:extLst>
          </p:cNvPr>
          <p:cNvSpPr/>
          <p:nvPr/>
        </p:nvSpPr>
        <p:spPr>
          <a:xfrm>
            <a:off x="1907704" y="6245707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0F0D446-D34D-413D-9E30-881E0BC13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6190961"/>
            <a:ext cx="4128492" cy="28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55160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58FFD-C183-4530-99AF-AF7ACBB4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랜덤 포레스트</a:t>
            </a:r>
            <a:r>
              <a:rPr lang="en-US" altLang="ko-KR"/>
              <a:t>(Random Forest) (7)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33BC09-98D4-4B1F-ACC0-3FD3E72A9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특성의 중요도 확인</a:t>
            </a:r>
            <a:endParaRPr lang="en-US" altLang="ko-KR"/>
          </a:p>
          <a:p>
            <a:pPr lvl="1"/>
            <a:r>
              <a:rPr lang="ko-KR" altLang="en-US"/>
              <a:t>랜덤</a:t>
            </a:r>
            <a:r>
              <a:rPr lang="en-US" altLang="ko-KR"/>
              <a:t> </a:t>
            </a:r>
            <a:r>
              <a:rPr lang="ko-KR" altLang="en-US"/>
              <a:t>포레스트 모델</a:t>
            </a:r>
            <a:endParaRPr lang="en-US" altLang="ko-KR"/>
          </a:p>
          <a:p>
            <a:pPr lvl="2"/>
            <a:r>
              <a:rPr lang="ko-KR" altLang="en-US"/>
              <a:t>특성의 일부를 랜덤하게 선택하여 결정트리 훈련하므로</a:t>
            </a:r>
            <a:r>
              <a:rPr lang="en-US" altLang="ko-KR"/>
              <a:t>, </a:t>
            </a:r>
            <a:r>
              <a:rPr lang="ko-KR" altLang="en-US"/>
              <a:t>하나의 특성에 과하게 집중하지 않고</a:t>
            </a:r>
            <a:r>
              <a:rPr lang="en-US" altLang="ko-KR"/>
              <a:t>, </a:t>
            </a:r>
            <a:r>
              <a:rPr lang="ko-KR" altLang="en-US"/>
              <a:t>더 많은 특성이 훈련에 기여할 기회를 얻음</a:t>
            </a:r>
            <a:endParaRPr lang="en-US" altLang="ko-KR"/>
          </a:p>
          <a:p>
            <a:pPr lvl="2"/>
            <a:r>
              <a:rPr lang="ko-KR" altLang="en-US"/>
              <a:t>과대적합을 줄이고</a:t>
            </a:r>
            <a:r>
              <a:rPr lang="en-US" altLang="ko-KR"/>
              <a:t>, </a:t>
            </a:r>
            <a:r>
              <a:rPr lang="ko-KR" altLang="en-US"/>
              <a:t>일반화 성능을 높일 수 있음</a:t>
            </a:r>
            <a:endParaRPr lang="en-US" altLang="ko-KR"/>
          </a:p>
          <a:p>
            <a:pPr lvl="2"/>
            <a:r>
              <a:rPr lang="ko-KR" altLang="en-US"/>
              <a:t>모델객체의</a:t>
            </a:r>
            <a:r>
              <a:rPr lang="en-US" altLang="ko-KR"/>
              <a:t> feature_importances_</a:t>
            </a:r>
            <a:r>
              <a:rPr lang="ko-KR" altLang="en-US"/>
              <a:t>는 특성의 중요도를 가지고 있음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marL="432000" lvl="1" indent="0">
              <a:buNone/>
            </a:pP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92354-D07F-4A09-AE21-282816D5C9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297823F-1361-476F-87C3-1CBAE710F412}"/>
              </a:ext>
            </a:extLst>
          </p:cNvPr>
          <p:cNvSpPr/>
          <p:nvPr/>
        </p:nvSpPr>
        <p:spPr>
          <a:xfrm>
            <a:off x="2195736" y="6136487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39F230A-C73B-4763-8123-59E8F4847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535" y="3473243"/>
            <a:ext cx="5668925" cy="24036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F769060-DF82-4E22-8C6F-6B998746D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596" y="5971871"/>
            <a:ext cx="3520802" cy="54525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708BB08-F6F7-4A44-BEEE-B9DA2586B9D9}"/>
              </a:ext>
            </a:extLst>
          </p:cNvPr>
          <p:cNvSpPr/>
          <p:nvPr/>
        </p:nvSpPr>
        <p:spPr>
          <a:xfrm>
            <a:off x="6516216" y="6086074"/>
            <a:ext cx="1946176" cy="31684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</a:rPr>
              <a:t>[</a:t>
            </a:r>
            <a:r>
              <a:rPr lang="ko-KR" altLang="en-US" sz="1200">
                <a:solidFill>
                  <a:srgbClr val="FF0000"/>
                </a:solidFill>
              </a:rPr>
              <a:t>알코올 도수</a:t>
            </a:r>
            <a:r>
              <a:rPr lang="en-US" altLang="ko-KR" sz="1200">
                <a:solidFill>
                  <a:srgbClr val="FF0000"/>
                </a:solidFill>
              </a:rPr>
              <a:t>, </a:t>
            </a:r>
            <a:r>
              <a:rPr lang="ko-KR" altLang="en-US" sz="1200">
                <a:solidFill>
                  <a:srgbClr val="FF0000"/>
                </a:solidFill>
              </a:rPr>
              <a:t>당도</a:t>
            </a:r>
            <a:r>
              <a:rPr lang="en-US" altLang="ko-KR" sz="1200">
                <a:solidFill>
                  <a:srgbClr val="FF0000"/>
                </a:solidFill>
              </a:rPr>
              <a:t>, pH]</a:t>
            </a:r>
            <a:endParaRPr lang="ko-KR" altLang="en-US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492573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58FFD-C183-4530-99AF-AF7ACBB4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랜덤 포레스트</a:t>
            </a:r>
            <a:r>
              <a:rPr lang="en-US" altLang="ko-KR"/>
              <a:t>(Random Forest) (8)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33BC09-98D4-4B1F-ACC0-3FD3E72A9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OOB(Out Of Bag) </a:t>
            </a:r>
            <a:r>
              <a:rPr lang="ko-KR" altLang="en-US"/>
              <a:t>샘플</a:t>
            </a:r>
            <a:endParaRPr lang="en-US" altLang="ko-KR"/>
          </a:p>
          <a:p>
            <a:pPr lvl="1"/>
            <a:r>
              <a:rPr lang="ko-KR" altLang="en-US"/>
              <a:t>부트스트랩 샘플에 포함되지 않고 남는 샘플</a:t>
            </a:r>
            <a:endParaRPr lang="en-US" altLang="ko-KR"/>
          </a:p>
          <a:p>
            <a:pPr lvl="1"/>
            <a:r>
              <a:rPr lang="ko-KR" altLang="en-US"/>
              <a:t>검증세트의 역할을 할 수 있음</a:t>
            </a:r>
            <a:endParaRPr lang="en-US" altLang="ko-KR"/>
          </a:p>
          <a:p>
            <a:pPr lvl="2"/>
            <a:r>
              <a:rPr lang="en-US" altLang="ko-KR"/>
              <a:t>OOB</a:t>
            </a:r>
            <a:r>
              <a:rPr lang="ko-KR" altLang="en-US"/>
              <a:t>에 의한 점수를 얻으려면</a:t>
            </a:r>
            <a:r>
              <a:rPr lang="en-US" altLang="ko-KR"/>
              <a:t>, RandomForestClassifier </a:t>
            </a:r>
            <a:r>
              <a:rPr lang="ko-KR" altLang="en-US"/>
              <a:t>생성자에 </a:t>
            </a:r>
            <a:r>
              <a:rPr lang="en-US" altLang="ko-KR"/>
              <a:t>oob_score </a:t>
            </a:r>
            <a:r>
              <a:rPr lang="ko-KR" altLang="en-US"/>
              <a:t>매개변수를 </a:t>
            </a:r>
            <a:r>
              <a:rPr lang="en-US" altLang="ko-KR"/>
              <a:t>True</a:t>
            </a:r>
            <a:r>
              <a:rPr lang="ko-KR" altLang="en-US"/>
              <a:t>로 지정</a:t>
            </a:r>
            <a:endParaRPr lang="en-US" altLang="ko-KR"/>
          </a:p>
          <a:p>
            <a:pPr lvl="2"/>
            <a:r>
              <a:rPr lang="ko-KR" altLang="en-US"/>
              <a:t>이렇게 하면</a:t>
            </a:r>
            <a:r>
              <a:rPr lang="en-US" altLang="ko-KR"/>
              <a:t>, </a:t>
            </a:r>
            <a:r>
              <a:rPr lang="ko-KR" altLang="en-US"/>
              <a:t>랜덤 포레스트는 각 결정트리의 </a:t>
            </a:r>
            <a:r>
              <a:rPr lang="en-US" altLang="ko-KR"/>
              <a:t>OOB </a:t>
            </a:r>
            <a:r>
              <a:rPr lang="ko-KR" altLang="en-US"/>
              <a:t>점수를 평균하여 출력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92354-D07F-4A09-AE21-282816D5C9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532F18-0E07-465C-8913-C80B57102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88" y="3740944"/>
            <a:ext cx="7632848" cy="11951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6568225E-6FFC-4068-AAE6-FF4EF240B948}"/>
              </a:ext>
            </a:extLst>
          </p:cNvPr>
          <p:cNvSpPr/>
          <p:nvPr/>
        </p:nvSpPr>
        <p:spPr>
          <a:xfrm>
            <a:off x="1979712" y="5448502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0DD364-A3CF-4C94-9266-20E4B66DC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5394589"/>
            <a:ext cx="2419350" cy="32385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29C2B3-C511-4354-ADB8-0A2C4944DAE8}"/>
              </a:ext>
            </a:extLst>
          </p:cNvPr>
          <p:cNvSpPr/>
          <p:nvPr/>
        </p:nvSpPr>
        <p:spPr>
          <a:xfrm>
            <a:off x="5508104" y="5157192"/>
            <a:ext cx="2088232" cy="7669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FF0000"/>
                </a:solidFill>
              </a:rPr>
              <a:t>교차검증에서 얻은 점수</a:t>
            </a:r>
            <a:endParaRPr lang="en-US" altLang="ko-KR" sz="1200">
              <a:solidFill>
                <a:srgbClr val="FF0000"/>
              </a:solidFill>
            </a:endParaRPr>
          </a:p>
          <a:p>
            <a:pPr algn="ctr"/>
            <a:r>
              <a:rPr lang="en-US" altLang="ko-KR" sz="1200">
                <a:solidFill>
                  <a:srgbClr val="FF0000"/>
                </a:solidFill>
              </a:rPr>
              <a:t>0.8905151032797809</a:t>
            </a:r>
            <a:r>
              <a:rPr lang="ko-KR" altLang="en-US" sz="1200">
                <a:solidFill>
                  <a:srgbClr val="FF0000"/>
                </a:solidFill>
              </a:rPr>
              <a:t>와 매우 비슷</a:t>
            </a:r>
          </a:p>
        </p:txBody>
      </p:sp>
    </p:spTree>
    <p:extLst>
      <p:ext uri="{BB962C8B-B14F-4D97-AF65-F5344CB8AC3E}">
        <p14:creationId xmlns:p14="http://schemas.microsoft.com/office/powerpoint/2010/main" val="2646918727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08144-B9AB-413A-8F3A-FB871DFFD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엑스트라 트리</a:t>
            </a:r>
            <a:r>
              <a:rPr lang="en-US" altLang="ko-KR"/>
              <a:t>(Extra Trees) 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2E9B80-A119-49DB-9065-AD532850E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엑스트라 트리 알고리즘</a:t>
            </a:r>
            <a:endParaRPr lang="en-US" altLang="ko-KR" dirty="0"/>
          </a:p>
          <a:p>
            <a:pPr lvl="1"/>
            <a:r>
              <a:rPr lang="ko-KR" altLang="en-US" dirty="0"/>
              <a:t>랜덤 </a:t>
            </a:r>
            <a:r>
              <a:rPr lang="ko-KR" altLang="en-US" dirty="0" err="1"/>
              <a:t>포레스트와</a:t>
            </a:r>
            <a:r>
              <a:rPr lang="ko-KR" altLang="en-US" dirty="0"/>
              <a:t> 매우 비슷하게 동작</a:t>
            </a:r>
            <a:endParaRPr lang="en-US" altLang="ko-KR" dirty="0"/>
          </a:p>
          <a:p>
            <a:pPr lvl="1"/>
            <a:r>
              <a:rPr lang="en-US" altLang="ko-KR" dirty="0"/>
              <a:t>Except</a:t>
            </a:r>
          </a:p>
          <a:p>
            <a:pPr lvl="2"/>
            <a:r>
              <a:rPr lang="ko-KR" altLang="en-US" dirty="0"/>
              <a:t>부트스트랩 샘플을 사용하지 않음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</a:t>
            </a:r>
            <a:r>
              <a:rPr lang="ko-KR" altLang="en-US" dirty="0" err="1"/>
              <a:t>결정트리를</a:t>
            </a:r>
            <a:r>
              <a:rPr lang="ko-KR" altLang="en-US" dirty="0"/>
              <a:t> 만들 때 전체 </a:t>
            </a:r>
            <a:r>
              <a:rPr lang="ko-KR" altLang="en-US" dirty="0" err="1"/>
              <a:t>훈련세트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2"/>
            <a:r>
              <a:rPr lang="ko-KR" altLang="en-US" dirty="0"/>
              <a:t>노드를 분할할 때 최적의 분할을 찾지 않고</a:t>
            </a:r>
            <a:r>
              <a:rPr lang="en-US" altLang="ko-KR" dirty="0"/>
              <a:t>, </a:t>
            </a:r>
            <a:r>
              <a:rPr lang="ko-KR" altLang="en-US" dirty="0"/>
              <a:t>무작위로 분할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특성을 무작위로 분할하므로 하나의 </a:t>
            </a:r>
            <a:r>
              <a:rPr lang="ko-KR" altLang="en-US" dirty="0" err="1">
                <a:sym typeface="Wingdings" panose="05000000000000000000" pitchFamily="2" charset="2"/>
              </a:rPr>
              <a:t>결정트리의</a:t>
            </a:r>
            <a:r>
              <a:rPr lang="ko-KR" altLang="en-US" dirty="0">
                <a:sym typeface="Wingdings" panose="05000000000000000000" pitchFamily="2" charset="2"/>
              </a:rPr>
              <a:t> 성능은 낮아지지만</a:t>
            </a:r>
            <a:r>
              <a:rPr lang="en-US" altLang="ko-KR" dirty="0">
                <a:sym typeface="Wingdings" panose="05000000000000000000" pitchFamily="2" charset="2"/>
              </a:rPr>
              <a:t>,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  </a:t>
            </a:r>
            <a:r>
              <a:rPr lang="ko-KR" altLang="en-US" dirty="0">
                <a:sym typeface="Wingdings" panose="05000000000000000000" pitchFamily="2" charset="2"/>
              </a:rPr>
              <a:t>많은 트리를 </a:t>
            </a:r>
            <a:r>
              <a:rPr lang="ko-KR" altLang="en-US" dirty="0" err="1">
                <a:sym typeface="Wingdings" panose="05000000000000000000" pitchFamily="2" charset="2"/>
              </a:rPr>
              <a:t>앙상블하기</a:t>
            </a:r>
            <a:r>
              <a:rPr lang="ko-KR" altLang="en-US" dirty="0">
                <a:sym typeface="Wingdings" panose="05000000000000000000" pitchFamily="2" charset="2"/>
              </a:rPr>
              <a:t> 때문에 </a:t>
            </a:r>
            <a:r>
              <a:rPr lang="ko-KR" altLang="en-US" dirty="0" err="1">
                <a:sym typeface="Wingdings" panose="05000000000000000000" pitchFamily="2" charset="2"/>
              </a:rPr>
              <a:t>과대적합을</a:t>
            </a:r>
            <a:r>
              <a:rPr lang="ko-KR" altLang="en-US" dirty="0">
                <a:sym typeface="Wingdings" panose="05000000000000000000" pitchFamily="2" charset="2"/>
              </a:rPr>
              <a:t> 막고</a:t>
            </a:r>
            <a:r>
              <a:rPr lang="en-US" altLang="ko-KR" dirty="0">
                <a:sym typeface="Wingdings" panose="05000000000000000000" pitchFamily="2" charset="2"/>
              </a:rPr>
              <a:t>,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  </a:t>
            </a:r>
            <a:r>
              <a:rPr lang="ko-KR" altLang="en-US" dirty="0" err="1">
                <a:sym typeface="Wingdings" panose="05000000000000000000" pitchFamily="2" charset="2"/>
              </a:rPr>
              <a:t>검증세트의</a:t>
            </a:r>
            <a:r>
              <a:rPr lang="ko-KR" altLang="en-US" dirty="0">
                <a:sym typeface="Wingdings" panose="05000000000000000000" pitchFamily="2" charset="2"/>
              </a:rPr>
              <a:t> 점수를 높이는 효과가 있음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745695-4497-442D-8721-CA5D00C03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4800924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08144-B9AB-413A-8F3A-FB871DFFD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엑스트라 트리</a:t>
            </a:r>
            <a:r>
              <a:rPr lang="en-US" altLang="ko-KR"/>
              <a:t>(Extra Trees) (2)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745695-4497-442D-8721-CA5D00C03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54CA02-50C1-470B-B172-DD026F7F0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12776"/>
            <a:ext cx="8640960" cy="25670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1127E7C1-5C86-43D6-A9C4-BA2E5AD33A96}"/>
              </a:ext>
            </a:extLst>
          </p:cNvPr>
          <p:cNvSpPr/>
          <p:nvPr/>
        </p:nvSpPr>
        <p:spPr>
          <a:xfrm>
            <a:off x="1907704" y="4531771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CA2B37-5AA1-4C63-9FCA-5271350C1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4383748"/>
            <a:ext cx="3821410" cy="51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200630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529B46E-FF84-45AA-94D4-94210FE2A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그레이디언트 부스팅</a:t>
            </a:r>
            <a:r>
              <a:rPr lang="en-US" altLang="ko-KR"/>
              <a:t>(</a:t>
            </a:r>
            <a:r>
              <a:rPr lang="en-US" altLang="ko-KR" sz="2800"/>
              <a:t>Gradient Boosting</a:t>
            </a:r>
            <a:r>
              <a:rPr lang="en-US" altLang="ko-KR"/>
              <a:t>) (1)</a:t>
            </a:r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3664BE6-3355-4F4C-BEA0-55A1FE167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그레이디언트 부스팅 알고리즘</a:t>
            </a:r>
            <a:endParaRPr lang="en-US" altLang="ko-KR"/>
          </a:p>
          <a:p>
            <a:pPr lvl="1"/>
            <a:r>
              <a:rPr lang="ko-KR" altLang="en-US"/>
              <a:t>깊이가 얕은 결정트리를 사용하여 이전 트리의 오차를 보전</a:t>
            </a:r>
            <a:endParaRPr lang="en-US" altLang="ko-KR"/>
          </a:p>
          <a:p>
            <a:pPr lvl="1"/>
            <a:r>
              <a:rPr lang="ko-KR" altLang="en-US"/>
              <a:t>기본적으로 깊이가 </a:t>
            </a:r>
            <a:r>
              <a:rPr lang="en-US" altLang="ko-KR"/>
              <a:t>3</a:t>
            </a:r>
            <a:r>
              <a:rPr lang="ko-KR" altLang="en-US"/>
              <a:t>인 결정트리를 </a:t>
            </a:r>
            <a:r>
              <a:rPr lang="en-US" altLang="ko-KR"/>
              <a:t>100</a:t>
            </a:r>
            <a:r>
              <a:rPr lang="ko-KR" altLang="en-US"/>
              <a:t>개 사용</a:t>
            </a:r>
            <a:endParaRPr lang="en-US" altLang="ko-KR"/>
          </a:p>
          <a:p>
            <a:pPr lvl="1"/>
            <a:r>
              <a:rPr lang="ko-KR" altLang="en-US"/>
              <a:t>깊이가 얕은 결정트리를 사용하므로 과대적합에 강하고</a:t>
            </a:r>
            <a:r>
              <a:rPr lang="en-US" altLang="ko-KR"/>
              <a:t>, </a:t>
            </a:r>
            <a:r>
              <a:rPr lang="ko-KR" altLang="en-US"/>
              <a:t>일반적으로 높은 일반화 성능을 기대할 수 있음</a:t>
            </a:r>
            <a:endParaRPr lang="en-US" altLang="ko-KR"/>
          </a:p>
          <a:p>
            <a:pPr lvl="1"/>
            <a:r>
              <a:rPr lang="ko-KR" altLang="en-US"/>
              <a:t>경사하강법을 사용하여 결정트리를 계속 추가하면서 가장 낮은 곳을 찾아 이동</a:t>
            </a:r>
            <a:r>
              <a:rPr lang="en-US" altLang="ko-KR"/>
              <a:t>(Serial)</a:t>
            </a:r>
          </a:p>
          <a:p>
            <a:pPr lvl="1"/>
            <a:r>
              <a:rPr lang="ko-KR" altLang="en-US"/>
              <a:t>손실함수</a:t>
            </a:r>
            <a:endParaRPr lang="en-US" altLang="ko-KR"/>
          </a:p>
          <a:p>
            <a:pPr lvl="2"/>
            <a:r>
              <a:rPr lang="ko-KR" altLang="en-US"/>
              <a:t>분류</a:t>
            </a:r>
            <a:r>
              <a:rPr lang="en-US" altLang="ko-KR"/>
              <a:t>: </a:t>
            </a:r>
            <a:r>
              <a:rPr lang="ko-KR" altLang="en-US"/>
              <a:t>로지스틱 손실 함수</a:t>
            </a:r>
            <a:endParaRPr lang="en-US" altLang="ko-KR"/>
          </a:p>
          <a:p>
            <a:pPr lvl="2"/>
            <a:r>
              <a:rPr lang="ko-KR" altLang="en-US"/>
              <a:t>회귀</a:t>
            </a:r>
            <a:r>
              <a:rPr lang="en-US" altLang="ko-KR"/>
              <a:t>: </a:t>
            </a:r>
            <a:r>
              <a:rPr lang="ko-KR" altLang="en-US"/>
              <a:t>평균 제곱 오차 함수</a:t>
            </a:r>
            <a:endParaRPr lang="en-US" altLang="ko-KR"/>
          </a:p>
          <a:p>
            <a:pPr lvl="1"/>
            <a:r>
              <a:rPr lang="ko-KR" altLang="en-US"/>
              <a:t>일반적으로</a:t>
            </a:r>
            <a:r>
              <a:rPr lang="en-US" altLang="ko-KR"/>
              <a:t> </a:t>
            </a:r>
            <a:r>
              <a:rPr lang="ko-KR" altLang="en-US"/>
              <a:t>랜덤 포레스트보다 조금 더 좋은 성능 기대</a:t>
            </a:r>
            <a:endParaRPr lang="en-US" altLang="ko-KR"/>
          </a:p>
          <a:p>
            <a:pPr lvl="1"/>
            <a:r>
              <a:rPr lang="ko-KR" altLang="en-US"/>
              <a:t>순서대로 결정트리를 추가하므로</a:t>
            </a:r>
            <a:r>
              <a:rPr lang="en-US" altLang="ko-KR"/>
              <a:t>(serial), CPU</a:t>
            </a:r>
            <a:r>
              <a:rPr lang="ko-KR" altLang="en-US"/>
              <a:t>를 하나밖에 쓸 수 없음 </a:t>
            </a:r>
            <a:r>
              <a:rPr lang="en-US" altLang="ko-KR">
                <a:sym typeface="Wingdings" panose="05000000000000000000" pitchFamily="2" charset="2"/>
              </a:rPr>
              <a:t> n_jobs </a:t>
            </a:r>
            <a:r>
              <a:rPr lang="ko-KR" altLang="en-US">
                <a:sym typeface="Wingdings" panose="05000000000000000000" pitchFamily="2" charset="2"/>
              </a:rPr>
              <a:t>매개변수가 없음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훈련속도가 늦음 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CA556F8-120F-489B-92F8-5DE8FC945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3551528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529B46E-FF84-45AA-94D4-94210FE2A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그레이디언트 부스팅</a:t>
            </a:r>
            <a:r>
              <a:rPr lang="en-US" altLang="ko-KR"/>
              <a:t>(</a:t>
            </a:r>
            <a:r>
              <a:rPr lang="en-US" altLang="ko-KR" sz="2800"/>
              <a:t>Gradient Boosting</a:t>
            </a:r>
            <a:r>
              <a:rPr lang="en-US" altLang="ko-KR"/>
              <a:t>) (2)</a:t>
            </a:r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CA556F8-120F-489B-92F8-5DE8FC945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722014D-B72F-428B-9FCC-67BDDDFA4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51" y="1124744"/>
            <a:ext cx="7491098" cy="49940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0B39A8-CE11-488E-BDE3-01348B9C4346}"/>
              </a:ext>
            </a:extLst>
          </p:cNvPr>
          <p:cNvSpPr txBox="1"/>
          <p:nvPr/>
        </p:nvSpPr>
        <p:spPr>
          <a:xfrm>
            <a:off x="2267744" y="6112622"/>
            <a:ext cx="4608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https://www.researchgate.net/&gt;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818748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529B46E-FF84-45AA-94D4-94210FE2A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그레이디언트 부스팅</a:t>
            </a:r>
            <a:r>
              <a:rPr lang="en-US" altLang="ko-KR"/>
              <a:t>(</a:t>
            </a:r>
            <a:r>
              <a:rPr lang="en-US" altLang="ko-KR" sz="2800"/>
              <a:t>Gradient Boosting</a:t>
            </a:r>
            <a:r>
              <a:rPr lang="en-US" altLang="ko-KR"/>
              <a:t>) (3)</a:t>
            </a:r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CA556F8-120F-489B-92F8-5DE8FC945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63A7E6-EBF3-4B09-8A71-15F53C1CB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052736"/>
            <a:ext cx="8928100" cy="45150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A67511FC-5B1C-41C6-BD40-F5D547D91393}"/>
              </a:ext>
            </a:extLst>
          </p:cNvPr>
          <p:cNvSpPr/>
          <p:nvPr/>
        </p:nvSpPr>
        <p:spPr>
          <a:xfrm>
            <a:off x="1331640" y="5866565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5687A0-5B12-43AA-84D8-6B8977242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5667466"/>
            <a:ext cx="3802360" cy="75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23755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2BEE0-C804-41C9-B18A-192DBC9C2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히스토그램 기반 그레이디언트 부스팅 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E3888F-A1F1-4214-82B7-003C77291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/>
              <a:t>히스토그램 기반 그레이디언트 부스팅</a:t>
            </a:r>
            <a:r>
              <a:rPr lang="en-US" altLang="ko-KR"/>
              <a:t>(Histogram-based Gradient Boosting) </a:t>
            </a:r>
            <a:r>
              <a:rPr lang="ko-KR" altLang="en-US"/>
              <a:t>알고리즘</a:t>
            </a:r>
            <a:endParaRPr lang="en-US" altLang="ko-KR"/>
          </a:p>
          <a:p>
            <a:pPr lvl="1"/>
            <a:r>
              <a:rPr lang="ko-KR" altLang="en-US"/>
              <a:t>정형</a:t>
            </a:r>
            <a:r>
              <a:rPr lang="en-US" altLang="ko-KR"/>
              <a:t> </a:t>
            </a:r>
            <a:r>
              <a:rPr lang="ko-KR" altLang="en-US"/>
              <a:t>데이터를 다루는 머신러닝 알고리즘 중 가장 인기 높음</a:t>
            </a:r>
            <a:endParaRPr lang="en-US" altLang="ko-KR"/>
          </a:p>
          <a:p>
            <a:pPr marL="779400" lvl="2" indent="0">
              <a:buNone/>
            </a:pPr>
            <a:r>
              <a:rPr lang="en-US" altLang="ko-KR"/>
              <a:t>cf) Histogram: </a:t>
            </a:r>
            <a:r>
              <a:rPr lang="ko-KR" altLang="en-US"/>
              <a:t>표로 되어 있는 도수 분포를 정보 그림으로 나타낸 것 </a:t>
            </a:r>
            <a:r>
              <a:rPr lang="en-US" altLang="ko-KR"/>
              <a:t>(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≠</a:t>
            </a:r>
            <a:r>
              <a:rPr lang="ko-KR" altLang="en-US"/>
              <a:t> 막대그래프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  <a:p>
            <a:pPr lvl="1"/>
            <a:r>
              <a:rPr lang="ko-KR" altLang="en-US"/>
              <a:t>먼저 입력 특성을 </a:t>
            </a:r>
            <a:r>
              <a:rPr lang="en-US" altLang="ko-KR"/>
              <a:t>256</a:t>
            </a:r>
            <a:r>
              <a:rPr lang="ko-KR" altLang="en-US"/>
              <a:t>구간으로 나눔</a:t>
            </a:r>
            <a:br>
              <a:rPr lang="en-US" altLang="ko-KR"/>
            </a:b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노드를 분할할 때 최적의 분할을 빠르게 찾음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2"/>
            <a:endParaRPr lang="en-US" altLang="ko-KR">
              <a:sym typeface="Wingdings" panose="05000000000000000000" pitchFamily="2" charset="2"/>
            </a:endParaRPr>
          </a:p>
          <a:p>
            <a:pPr lvl="2"/>
            <a:endParaRPr lang="en-US" altLang="ko-KR">
              <a:sym typeface="Wingdings" panose="05000000000000000000" pitchFamily="2" charset="2"/>
            </a:endParaRPr>
          </a:p>
          <a:p>
            <a:pPr lvl="2"/>
            <a:endParaRPr lang="en-US" altLang="ko-KR">
              <a:sym typeface="Wingdings" panose="05000000000000000000" pitchFamily="2" charset="2"/>
            </a:endParaRPr>
          </a:p>
          <a:p>
            <a:pPr lvl="2"/>
            <a:endParaRPr lang="en-US" altLang="ko-KR">
              <a:sym typeface="Wingdings" panose="05000000000000000000" pitchFamily="2" charset="2"/>
            </a:endParaRPr>
          </a:p>
          <a:p>
            <a:pPr lvl="2"/>
            <a:endParaRPr lang="en-US" altLang="ko-KR">
              <a:sym typeface="Wingdings" panose="05000000000000000000" pitchFamily="2" charset="2"/>
            </a:endParaRPr>
          </a:p>
          <a:p>
            <a:pPr lvl="2"/>
            <a:endParaRPr lang="en-US" altLang="ko-KR">
              <a:sym typeface="Wingdings" panose="05000000000000000000" pitchFamily="2" charset="2"/>
            </a:endParaRPr>
          </a:p>
          <a:p>
            <a:pPr marL="779400" lvl="2" indent="0">
              <a:buNone/>
            </a:pPr>
            <a:r>
              <a:rPr lang="ko-KR" altLang="en-US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68C35B-41DF-46CE-AE3E-1FA8C70AC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5AA8CA-32B0-4ABF-A538-AFD996B44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64" y="3138923"/>
            <a:ext cx="8064896" cy="21903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B59D454D-F9D8-47DD-9738-17E0FC8404ED}"/>
              </a:ext>
            </a:extLst>
          </p:cNvPr>
          <p:cNvSpPr/>
          <p:nvPr/>
        </p:nvSpPr>
        <p:spPr>
          <a:xfrm>
            <a:off x="1331640" y="5534816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2EE3CD-A167-45C2-8614-2F3AAD8A4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5506717"/>
            <a:ext cx="4253458" cy="27222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CE0D8C6-358E-44DE-8A35-4A2267496447}"/>
              </a:ext>
            </a:extLst>
          </p:cNvPr>
          <p:cNvSpPr/>
          <p:nvPr/>
        </p:nvSpPr>
        <p:spPr>
          <a:xfrm>
            <a:off x="1763688" y="5896562"/>
            <a:ext cx="5256584" cy="34075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FF0000"/>
                </a:solidFill>
              </a:rPr>
              <a:t>과대적합을 잘 억제하면서 그레이디언트 부스팅보다 조금 더 높은 성능</a:t>
            </a:r>
          </a:p>
        </p:txBody>
      </p:sp>
    </p:spTree>
    <p:extLst>
      <p:ext uri="{BB962C8B-B14F-4D97-AF65-F5344CB8AC3E}">
        <p14:creationId xmlns:p14="http://schemas.microsoft.com/office/powerpoint/2010/main" val="1180644046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2BEE0-C804-41C9-B18A-192DBC9C2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히스토그램 기반 그레이디언트 부스팅 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E3888F-A1F1-4214-82B7-003C77291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>
                <a:sym typeface="Wingdings" panose="05000000000000000000" pitchFamily="2" charset="2"/>
              </a:rPr>
              <a:t>sklearn </a:t>
            </a:r>
            <a:r>
              <a:rPr lang="ko-KR" altLang="en-US">
                <a:sym typeface="Wingdings" panose="05000000000000000000" pitchFamily="2" charset="2"/>
              </a:rPr>
              <a:t>이외의 라이브러리를 이용한 </a:t>
            </a:r>
            <a:r>
              <a:rPr lang="en-US" altLang="ko-KR">
                <a:sym typeface="Wingdings" panose="05000000000000000000" pitchFamily="2" charset="2"/>
              </a:rPr>
              <a:t>HBGB</a:t>
            </a:r>
          </a:p>
          <a:p>
            <a:pPr lvl="2"/>
            <a:endParaRPr lang="en-US" altLang="ko-KR">
              <a:sym typeface="Wingdings" panose="05000000000000000000" pitchFamily="2" charset="2"/>
            </a:endParaRPr>
          </a:p>
          <a:p>
            <a:pPr lvl="2"/>
            <a:endParaRPr lang="en-US" altLang="ko-KR">
              <a:sym typeface="Wingdings" panose="05000000000000000000" pitchFamily="2" charset="2"/>
            </a:endParaRPr>
          </a:p>
          <a:p>
            <a:pPr lvl="2"/>
            <a:endParaRPr lang="en-US" altLang="ko-KR">
              <a:sym typeface="Wingdings" panose="05000000000000000000" pitchFamily="2" charset="2"/>
            </a:endParaRPr>
          </a:p>
          <a:p>
            <a:pPr marL="779400" lvl="2" indent="0">
              <a:buNone/>
            </a:pPr>
            <a:r>
              <a:rPr lang="ko-KR" altLang="en-US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68C35B-41DF-46CE-AE3E-1FA8C70AC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B59D454D-F9D8-47DD-9738-17E0FC8404ED}"/>
              </a:ext>
            </a:extLst>
          </p:cNvPr>
          <p:cNvSpPr/>
          <p:nvPr/>
        </p:nvSpPr>
        <p:spPr>
          <a:xfrm>
            <a:off x="1547664" y="3539090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5291788-AABB-4A3E-BE4F-C2DF9AE6E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56" y="1484784"/>
            <a:ext cx="8208912" cy="18930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48CAA72-F275-4DE1-A17D-73051A81B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56" y="4008321"/>
            <a:ext cx="8231136" cy="18620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BEA43419-1519-4875-8684-F17A8F82459A}"/>
              </a:ext>
            </a:extLst>
          </p:cNvPr>
          <p:cNvSpPr/>
          <p:nvPr/>
        </p:nvSpPr>
        <p:spPr>
          <a:xfrm>
            <a:off x="1547664" y="6077561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1A33E50-D89A-4F6D-9924-3AFF0470A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463" y="3501008"/>
            <a:ext cx="4128716" cy="2872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48E7960-A564-48F1-8E3A-DC9845FFB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463" y="6045414"/>
            <a:ext cx="4128716" cy="26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049321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3210-38D6-43CE-B004-622EA64C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</a:t>
            </a:r>
            <a:r>
              <a:rPr lang="ko-KR" altLang="en-US"/>
              <a:t>요약</a:t>
            </a:r>
            <a:r>
              <a:rPr lang="en-US" altLang="ko-KR"/>
              <a:t> 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8EA3D-4374-4DAC-9300-F51D6A775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Key words</a:t>
            </a:r>
          </a:p>
          <a:p>
            <a:pPr lvl="1"/>
            <a:r>
              <a:rPr lang="en-US" altLang="ko-KR"/>
              <a:t>Ensemble Learning:</a:t>
            </a:r>
            <a:r>
              <a:rPr lang="ko-KR" altLang="en-US"/>
              <a:t> 더 좋은 예측 결과를 내기 위해 여러 개의 모델을 훈련하는 머신러닝 알고리즘</a:t>
            </a:r>
            <a:endParaRPr lang="en-US" altLang="ko-KR"/>
          </a:p>
          <a:p>
            <a:pPr lvl="1"/>
            <a:r>
              <a:rPr lang="en-US" altLang="ko-KR"/>
              <a:t>Random</a:t>
            </a:r>
            <a:r>
              <a:rPr lang="ko-KR" altLang="en-US"/>
              <a:t> </a:t>
            </a:r>
            <a:r>
              <a:rPr lang="en-US" altLang="ko-KR"/>
              <a:t>Forest: </a:t>
            </a:r>
            <a:r>
              <a:rPr lang="ko-KR" altLang="en-US"/>
              <a:t>부트스트랩 샘플을 사용하고</a:t>
            </a:r>
            <a:r>
              <a:rPr lang="en-US" altLang="ko-KR"/>
              <a:t>, </a:t>
            </a:r>
            <a:r>
              <a:rPr lang="ko-KR" altLang="en-US"/>
              <a:t>랜덤하게 일부 특성을 선택하여 트리를 구성</a:t>
            </a:r>
            <a:r>
              <a:rPr lang="en-US" altLang="ko-KR"/>
              <a:t>. </a:t>
            </a:r>
            <a:r>
              <a:rPr lang="ko-KR" altLang="en-US"/>
              <a:t>최적으로 노드 분할</a:t>
            </a:r>
            <a:endParaRPr lang="en-US" altLang="ko-KR"/>
          </a:p>
          <a:p>
            <a:pPr lvl="1"/>
            <a:r>
              <a:rPr lang="en-US" altLang="ko-KR"/>
              <a:t>Extra Trees: </a:t>
            </a:r>
            <a:r>
              <a:rPr lang="ko-KR" altLang="en-US"/>
              <a:t>랜덤 포레스트 모델과 유사하지만</a:t>
            </a:r>
            <a:r>
              <a:rPr lang="en-US" altLang="ko-KR"/>
              <a:t>, </a:t>
            </a:r>
            <a:r>
              <a:rPr lang="ko-KR" altLang="en-US"/>
              <a:t>부트스트랩 샘플을 사용하지 않음</a:t>
            </a:r>
            <a:r>
              <a:rPr lang="en-US" altLang="ko-KR"/>
              <a:t>. </a:t>
            </a:r>
            <a:r>
              <a:rPr lang="ko-KR" altLang="en-US"/>
              <a:t>랜덤하게 노드를 분할하여</a:t>
            </a:r>
            <a:r>
              <a:rPr lang="en-US" altLang="ko-KR"/>
              <a:t>, </a:t>
            </a:r>
            <a:r>
              <a:rPr lang="ko-KR" altLang="en-US"/>
              <a:t>과대적합 감소</a:t>
            </a:r>
            <a:endParaRPr lang="en-US" altLang="ko-KR"/>
          </a:p>
          <a:p>
            <a:pPr lvl="1"/>
            <a:r>
              <a:rPr lang="en-US" altLang="ko-KR"/>
              <a:t>Gradient Boosting: </a:t>
            </a:r>
            <a:r>
              <a:rPr lang="ko-KR" altLang="en-US"/>
              <a:t>결정트리를 연속적으로 추가하여 손실함수를 최소화</a:t>
            </a:r>
            <a:r>
              <a:rPr lang="en-US" altLang="ko-KR"/>
              <a:t>. </a:t>
            </a:r>
            <a:r>
              <a:rPr lang="ko-KR" altLang="en-US"/>
              <a:t>각 트리를 병렬로 처리할 수 없어 훈련 속도가 느림</a:t>
            </a:r>
            <a:r>
              <a:rPr lang="en-US" altLang="ko-KR"/>
              <a:t>. </a:t>
            </a:r>
            <a:r>
              <a:rPr lang="ko-KR" altLang="en-US"/>
              <a:t>좋은 성능을 기대할 수 있음</a:t>
            </a:r>
            <a:endParaRPr lang="en-US" altLang="ko-KR"/>
          </a:p>
          <a:p>
            <a:pPr lvl="1"/>
            <a:r>
              <a:rPr lang="en-US" altLang="ko-KR"/>
              <a:t>Histogram-based Gradient Boosting: </a:t>
            </a:r>
            <a:r>
              <a:rPr lang="ko-KR" altLang="en-US"/>
              <a:t>그레이디언트 부스팅의 속도를 개선</a:t>
            </a:r>
            <a:r>
              <a:rPr lang="en-US" altLang="ko-KR"/>
              <a:t>. </a:t>
            </a:r>
            <a:r>
              <a:rPr lang="ko-KR" altLang="en-US"/>
              <a:t>안정적 결과와 높은 성능 보여줌</a:t>
            </a:r>
            <a:r>
              <a:rPr lang="en-US" altLang="ko-KR"/>
              <a:t>. </a:t>
            </a:r>
            <a:r>
              <a:rPr lang="ko-KR" altLang="en-US"/>
              <a:t>인기 알고리즘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53D893-8F8F-414A-A449-4F40C004A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6638301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3210-38D6-43CE-B004-622EA64C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</a:t>
            </a:r>
            <a:r>
              <a:rPr lang="ko-KR" altLang="en-US"/>
              <a:t>요약</a:t>
            </a:r>
            <a:r>
              <a:rPr lang="en-US" altLang="ko-KR"/>
              <a:t> 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8EA3D-4374-4DAC-9300-F51D6A775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ko-KR"/>
              <a:t>sklearn </a:t>
            </a:r>
            <a:r>
              <a:rPr lang="ko-KR" altLang="en-US"/>
              <a:t>패키지</a:t>
            </a:r>
            <a:endParaRPr lang="en-US" altLang="ko-KR"/>
          </a:p>
          <a:p>
            <a:pPr lvl="1"/>
            <a:r>
              <a:rPr lang="en-US" altLang="ko-KR"/>
              <a:t>RandomForestClassifier </a:t>
            </a:r>
            <a:r>
              <a:rPr lang="ko-KR" altLang="en-US"/>
              <a:t>클래스</a:t>
            </a:r>
            <a:endParaRPr lang="en-US" altLang="ko-KR"/>
          </a:p>
          <a:p>
            <a:pPr lvl="2"/>
            <a:r>
              <a:rPr lang="en-US" altLang="ko-KR"/>
              <a:t>n_estimators</a:t>
            </a:r>
            <a:r>
              <a:rPr lang="ko-KR" altLang="en-US"/>
              <a:t> 매개변수</a:t>
            </a:r>
            <a:r>
              <a:rPr lang="en-US" altLang="ko-KR"/>
              <a:t>:</a:t>
            </a:r>
            <a:r>
              <a:rPr lang="ko-KR" altLang="en-US"/>
              <a:t> 앙상블을 구성할 트리의 개수 지정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100</a:t>
            </a:r>
          </a:p>
          <a:p>
            <a:pPr lvl="2"/>
            <a:r>
              <a:rPr lang="en-US" altLang="ko-KR"/>
              <a:t>criterion </a:t>
            </a:r>
            <a:r>
              <a:rPr lang="ko-KR" altLang="en-US"/>
              <a:t>매개변수</a:t>
            </a:r>
            <a:r>
              <a:rPr lang="en-US" altLang="ko-KR"/>
              <a:t>: </a:t>
            </a:r>
            <a:r>
              <a:rPr lang="ko-KR" altLang="en-US"/>
              <a:t>불순도 지정</a:t>
            </a:r>
            <a:r>
              <a:rPr lang="en-US" altLang="ko-KR"/>
              <a:t>. defalut</a:t>
            </a:r>
            <a:r>
              <a:rPr lang="ko-KR" altLang="en-US"/>
              <a:t>는 </a:t>
            </a:r>
            <a:r>
              <a:rPr lang="en-US" altLang="ko-KR"/>
              <a:t>‘gini’</a:t>
            </a:r>
          </a:p>
          <a:p>
            <a:pPr lvl="2"/>
            <a:r>
              <a:rPr lang="en-US" altLang="ko-KR"/>
              <a:t>max_depth </a:t>
            </a:r>
            <a:r>
              <a:rPr lang="ko-KR" altLang="en-US"/>
              <a:t>매개변수</a:t>
            </a:r>
            <a:r>
              <a:rPr lang="en-US" altLang="ko-KR"/>
              <a:t>: </a:t>
            </a:r>
            <a:r>
              <a:rPr lang="ko-KR" altLang="en-US"/>
              <a:t>트리가 성장할 최대 깊이 지정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None(</a:t>
            </a:r>
            <a:r>
              <a:rPr lang="ko-KR" altLang="en-US"/>
              <a:t>리프노드가 </a:t>
            </a:r>
            <a:r>
              <a:rPr lang="en-US" altLang="ko-KR"/>
              <a:t>pure</a:t>
            </a:r>
            <a:r>
              <a:rPr lang="ko-KR" altLang="en-US"/>
              <a:t>하거나</a:t>
            </a:r>
            <a:r>
              <a:rPr lang="en-US" altLang="ko-KR"/>
              <a:t>, min_samples_split</a:t>
            </a:r>
            <a:r>
              <a:rPr lang="ko-KR" altLang="en-US"/>
              <a:t>보다 샘플 수가 적을 때까지 성장</a:t>
            </a:r>
            <a:r>
              <a:rPr lang="en-US" altLang="ko-KR"/>
              <a:t>)</a:t>
            </a:r>
          </a:p>
          <a:p>
            <a:pPr lvl="2"/>
            <a:r>
              <a:rPr lang="en-US" altLang="ko-KR"/>
              <a:t>min_samples_split </a:t>
            </a:r>
            <a:r>
              <a:rPr lang="ko-KR" altLang="en-US"/>
              <a:t>매개변수</a:t>
            </a:r>
            <a:r>
              <a:rPr lang="en-US" altLang="ko-KR"/>
              <a:t>: </a:t>
            </a:r>
            <a:r>
              <a:rPr lang="ko-KR" altLang="en-US"/>
              <a:t>노드를 나누기 위한 최소 샘플 개수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2</a:t>
            </a:r>
          </a:p>
          <a:p>
            <a:pPr lvl="2"/>
            <a:r>
              <a:rPr lang="en-US" altLang="ko-KR"/>
              <a:t>max_features </a:t>
            </a:r>
            <a:r>
              <a:rPr lang="ko-KR" altLang="en-US"/>
              <a:t>매개변수</a:t>
            </a:r>
            <a:r>
              <a:rPr lang="en-US" altLang="ko-KR"/>
              <a:t>: </a:t>
            </a:r>
            <a:r>
              <a:rPr lang="ko-KR" altLang="en-US"/>
              <a:t>최적의 분할을 위해 탐색할 특성의 개수</a:t>
            </a:r>
            <a:r>
              <a:rPr lang="en-US" altLang="ko-KR"/>
              <a:t>. default</a:t>
            </a:r>
            <a:r>
              <a:rPr lang="ko-KR" altLang="en-US"/>
              <a:t>는 특성 개수의 제곱근</a:t>
            </a:r>
            <a:endParaRPr lang="en-US" altLang="ko-KR"/>
          </a:p>
          <a:p>
            <a:pPr lvl="2"/>
            <a:r>
              <a:rPr lang="en-US" altLang="ko-KR"/>
              <a:t>bootstrap</a:t>
            </a:r>
            <a:r>
              <a:rPr lang="ko-KR" altLang="en-US"/>
              <a:t> 매개변수</a:t>
            </a:r>
            <a:r>
              <a:rPr lang="en-US" altLang="ko-KR"/>
              <a:t>: </a:t>
            </a:r>
            <a:r>
              <a:rPr lang="ko-KR" altLang="en-US"/>
              <a:t>부트스트랩 샘플을 사용할 지 지정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True</a:t>
            </a:r>
          </a:p>
          <a:p>
            <a:pPr lvl="2"/>
            <a:r>
              <a:rPr lang="en-US" altLang="ko-KR"/>
              <a:t>oob_score</a:t>
            </a:r>
            <a:r>
              <a:rPr lang="ko-KR" altLang="en-US"/>
              <a:t> 매개변수</a:t>
            </a:r>
            <a:r>
              <a:rPr lang="en-US" altLang="ko-KR"/>
              <a:t>: OOB </a:t>
            </a:r>
            <a:r>
              <a:rPr lang="ko-KR" altLang="en-US"/>
              <a:t>샘플을 사용하여 훈련한 모델을 평가할지 지정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False</a:t>
            </a:r>
          </a:p>
          <a:p>
            <a:pPr lvl="2"/>
            <a:r>
              <a:rPr lang="en-US" altLang="ko-KR"/>
              <a:t>n_jobs </a:t>
            </a:r>
            <a:r>
              <a:rPr lang="ko-KR" altLang="en-US"/>
              <a:t>매개변수</a:t>
            </a:r>
            <a:r>
              <a:rPr lang="en-US" altLang="ko-KR"/>
              <a:t>: </a:t>
            </a:r>
            <a:r>
              <a:rPr lang="ko-KR" altLang="en-US"/>
              <a:t>병렬 실행에 사용할 </a:t>
            </a:r>
            <a:r>
              <a:rPr lang="en-US" altLang="ko-KR"/>
              <a:t>CPU </a:t>
            </a:r>
            <a:r>
              <a:rPr lang="ko-KR" altLang="en-US"/>
              <a:t>코어</a:t>
            </a:r>
            <a:r>
              <a:rPr lang="en-US" altLang="ko-KR"/>
              <a:t> </a:t>
            </a:r>
            <a:r>
              <a:rPr lang="ko-KR" altLang="en-US"/>
              <a:t>수 지정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1. -1</a:t>
            </a:r>
            <a:r>
              <a:rPr lang="ko-KR" altLang="en-US"/>
              <a:t>로 지정하면 모든 코어 사용</a:t>
            </a:r>
            <a:r>
              <a:rPr lang="en-US" altLang="ko-KR"/>
              <a:t> </a:t>
            </a:r>
          </a:p>
          <a:p>
            <a:pPr lvl="1"/>
            <a:r>
              <a:rPr lang="en-US" altLang="ko-KR"/>
              <a:t>ExtraTreesClassifier </a:t>
            </a:r>
            <a:r>
              <a:rPr lang="ko-KR" altLang="en-US"/>
              <a:t>클래스</a:t>
            </a:r>
            <a:endParaRPr lang="en-US" altLang="ko-KR"/>
          </a:p>
          <a:p>
            <a:pPr lvl="2"/>
            <a:r>
              <a:rPr lang="en-US" altLang="ko-KR"/>
              <a:t>n_estimators, criterion, max_depth, min_samples_split, max_features, oob_score, n_jobs </a:t>
            </a:r>
            <a:r>
              <a:rPr lang="ko-KR" altLang="en-US"/>
              <a:t>매개변수는</a:t>
            </a:r>
            <a:r>
              <a:rPr lang="en-US" altLang="ko-KR"/>
              <a:t> </a:t>
            </a:r>
            <a:r>
              <a:rPr lang="ko-KR" altLang="en-US"/>
              <a:t>랜덤 포레스트와 동일</a:t>
            </a:r>
            <a:endParaRPr lang="en-US" altLang="ko-KR"/>
          </a:p>
          <a:p>
            <a:pPr lvl="2"/>
            <a:r>
              <a:rPr lang="en-US" altLang="ko-KR"/>
              <a:t>bootstrap</a:t>
            </a:r>
            <a:r>
              <a:rPr lang="ko-KR" altLang="en-US"/>
              <a:t> 매개변수</a:t>
            </a:r>
            <a:r>
              <a:rPr lang="en-US" altLang="ko-KR"/>
              <a:t>: </a:t>
            </a:r>
            <a:r>
              <a:rPr lang="ko-KR" altLang="en-US"/>
              <a:t>부트스트랩 샘플을 사용할 지 지정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False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53D893-8F8F-414A-A449-4F40C004A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9297896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3210-38D6-43CE-B004-622EA64C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</a:t>
            </a:r>
            <a:r>
              <a:rPr lang="ko-KR" altLang="en-US"/>
              <a:t>요약</a:t>
            </a:r>
            <a:r>
              <a:rPr lang="en-US" altLang="ko-KR"/>
              <a:t> 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8EA3D-4374-4DAC-9300-F51D6A775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/>
              <a:t>sklearn </a:t>
            </a:r>
            <a:r>
              <a:rPr lang="ko-KR" altLang="en-US"/>
              <a:t>패키지</a:t>
            </a:r>
            <a:endParaRPr lang="en-US" altLang="ko-KR"/>
          </a:p>
          <a:p>
            <a:pPr lvl="1"/>
            <a:r>
              <a:rPr lang="en-US" altLang="ko-KR"/>
              <a:t>GradientBoostingClassifier </a:t>
            </a:r>
            <a:r>
              <a:rPr lang="ko-KR" altLang="en-US"/>
              <a:t>클래스</a:t>
            </a:r>
            <a:endParaRPr lang="en-US" altLang="ko-KR"/>
          </a:p>
          <a:p>
            <a:pPr lvl="2"/>
            <a:r>
              <a:rPr lang="en-US" altLang="ko-KR"/>
              <a:t>loss </a:t>
            </a:r>
            <a:r>
              <a:rPr lang="ko-KR" altLang="en-US"/>
              <a:t>매개변수</a:t>
            </a:r>
            <a:r>
              <a:rPr lang="en-US" altLang="ko-KR"/>
              <a:t>: </a:t>
            </a:r>
            <a:r>
              <a:rPr lang="ko-KR" altLang="en-US"/>
              <a:t>손실함수 지정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‘deviance’ (</a:t>
            </a:r>
            <a:r>
              <a:rPr lang="ko-KR" altLang="en-US"/>
              <a:t>로지스틱 손실 함수</a:t>
            </a:r>
            <a:r>
              <a:rPr lang="en-US" altLang="ko-KR"/>
              <a:t>)</a:t>
            </a:r>
          </a:p>
          <a:p>
            <a:pPr lvl="2"/>
            <a:r>
              <a:rPr lang="en-US" altLang="ko-KR"/>
              <a:t>learning_rate </a:t>
            </a:r>
            <a:r>
              <a:rPr lang="ko-KR" altLang="en-US"/>
              <a:t>매개변수</a:t>
            </a:r>
            <a:r>
              <a:rPr lang="en-US" altLang="ko-KR"/>
              <a:t>: </a:t>
            </a:r>
            <a:r>
              <a:rPr lang="ko-KR" altLang="en-US"/>
              <a:t>트리가 앙상블에 기여하는 정도 조절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0.1</a:t>
            </a:r>
          </a:p>
          <a:p>
            <a:pPr lvl="2"/>
            <a:r>
              <a:rPr lang="en-US" altLang="ko-KR"/>
              <a:t>n_estimators </a:t>
            </a:r>
            <a:r>
              <a:rPr lang="ko-KR" altLang="en-US"/>
              <a:t>매개변수</a:t>
            </a:r>
            <a:r>
              <a:rPr lang="en-US" altLang="ko-KR"/>
              <a:t>: </a:t>
            </a:r>
            <a:r>
              <a:rPr lang="ko-KR" altLang="en-US"/>
              <a:t>부스팅 단계를 수행하는 트리의 개수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100</a:t>
            </a:r>
          </a:p>
          <a:p>
            <a:pPr lvl="2"/>
            <a:r>
              <a:rPr lang="en-US" altLang="ko-KR"/>
              <a:t>subsamples </a:t>
            </a:r>
            <a:r>
              <a:rPr lang="ko-KR" altLang="en-US"/>
              <a:t>매개변수</a:t>
            </a:r>
            <a:r>
              <a:rPr lang="en-US" altLang="ko-KR"/>
              <a:t>: </a:t>
            </a:r>
            <a:r>
              <a:rPr lang="ko-KR" altLang="en-US"/>
              <a:t>사용할 훈련세트의 샘플 비율을 지정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1.0</a:t>
            </a:r>
          </a:p>
          <a:p>
            <a:pPr lvl="2"/>
            <a:r>
              <a:rPr lang="en-US" altLang="ko-KR"/>
              <a:t>max_depth </a:t>
            </a:r>
            <a:r>
              <a:rPr lang="ko-KR" altLang="en-US"/>
              <a:t>매개변수</a:t>
            </a:r>
            <a:r>
              <a:rPr lang="en-US" altLang="ko-KR"/>
              <a:t>: </a:t>
            </a:r>
            <a:r>
              <a:rPr lang="ko-KR" altLang="en-US"/>
              <a:t>개별 회귀 트리의 최대 깊이</a:t>
            </a:r>
            <a:r>
              <a:rPr lang="en-US" altLang="ko-KR"/>
              <a:t>. defaul</a:t>
            </a:r>
            <a:r>
              <a:rPr lang="ko-KR" altLang="en-US"/>
              <a:t>는 </a:t>
            </a:r>
            <a:r>
              <a:rPr lang="en-US" altLang="ko-KR"/>
              <a:t>3</a:t>
            </a:r>
          </a:p>
          <a:p>
            <a:pPr lvl="1"/>
            <a:r>
              <a:rPr lang="en-US" altLang="ko-KR"/>
              <a:t>HistGradientBoostingClassifier </a:t>
            </a:r>
            <a:r>
              <a:rPr lang="ko-KR" altLang="en-US"/>
              <a:t>클래스</a:t>
            </a:r>
            <a:endParaRPr lang="en-US" altLang="ko-KR"/>
          </a:p>
          <a:p>
            <a:pPr lvl="2"/>
            <a:r>
              <a:rPr lang="en-US" altLang="ko-KR"/>
              <a:t>learning_rate </a:t>
            </a:r>
            <a:r>
              <a:rPr lang="ko-KR" altLang="en-US"/>
              <a:t>매개변수</a:t>
            </a:r>
            <a:r>
              <a:rPr lang="en-US" altLang="ko-KR"/>
              <a:t>: </a:t>
            </a:r>
            <a:r>
              <a:rPr lang="ko-KR" altLang="en-US"/>
              <a:t>학습률 또는</a:t>
            </a:r>
            <a:r>
              <a:rPr lang="en-US" altLang="ko-KR"/>
              <a:t> </a:t>
            </a:r>
            <a:r>
              <a:rPr lang="ko-KR" altLang="en-US"/>
              <a:t>감쇠율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0.1. 1.0</a:t>
            </a:r>
            <a:r>
              <a:rPr lang="ko-KR" altLang="en-US"/>
              <a:t>이면 감쇠가 전혀 없음</a:t>
            </a:r>
            <a:endParaRPr lang="en-US" altLang="ko-KR"/>
          </a:p>
          <a:p>
            <a:pPr lvl="2"/>
            <a:r>
              <a:rPr lang="en-US" altLang="ko-KR"/>
              <a:t>max_iter </a:t>
            </a:r>
            <a:r>
              <a:rPr lang="ko-KR" altLang="en-US"/>
              <a:t>매개변수</a:t>
            </a:r>
            <a:r>
              <a:rPr lang="en-US" altLang="ko-KR"/>
              <a:t>: </a:t>
            </a:r>
            <a:r>
              <a:rPr lang="ko-KR" altLang="en-US"/>
              <a:t>부스팅 단계를 수행하는 트리의 개수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100</a:t>
            </a:r>
          </a:p>
          <a:p>
            <a:pPr lvl="2"/>
            <a:r>
              <a:rPr lang="en-US" altLang="ko-KR"/>
              <a:t>max_bins </a:t>
            </a:r>
            <a:r>
              <a:rPr lang="ko-KR" altLang="en-US"/>
              <a:t>매개변수</a:t>
            </a:r>
            <a:r>
              <a:rPr lang="en-US" altLang="ko-KR"/>
              <a:t>: </a:t>
            </a:r>
            <a:r>
              <a:rPr lang="ko-KR" altLang="en-US"/>
              <a:t>입력</a:t>
            </a:r>
            <a:r>
              <a:rPr lang="en-US" altLang="ko-KR"/>
              <a:t> </a:t>
            </a:r>
            <a:r>
              <a:rPr lang="ko-KR" altLang="en-US"/>
              <a:t>데이터를 나눌 구간의 개수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255. </a:t>
            </a:r>
            <a:r>
              <a:rPr lang="ko-KR" altLang="en-US"/>
              <a:t>값은 </a:t>
            </a:r>
            <a:r>
              <a:rPr lang="en-US" altLang="ko-KR"/>
              <a:t>255</a:t>
            </a:r>
            <a:r>
              <a:rPr lang="ko-KR" altLang="en-US"/>
              <a:t>보다 작아야 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53D893-8F8F-414A-A449-4F40C004A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909919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37979</TotalTime>
  <Words>1397</Words>
  <Application>Microsoft Office PowerPoint</Application>
  <PresentationFormat>화면 슬라이드 쇼(4:3)</PresentationFormat>
  <Paragraphs>205</Paragraphs>
  <Slides>23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HY견고딕</vt:lpstr>
      <vt:lpstr>굴림</vt:lpstr>
      <vt:lpstr>맑은 고딕</vt:lpstr>
      <vt:lpstr>휴먼엑스포</vt:lpstr>
      <vt:lpstr>Times New Roman</vt:lpstr>
      <vt:lpstr>Wingdings</vt:lpstr>
      <vt:lpstr>기본 디자인</vt:lpstr>
      <vt:lpstr>Ensemble Learning</vt:lpstr>
      <vt:lpstr>지난 시간 복습</vt:lpstr>
      <vt:lpstr>학습목표</vt:lpstr>
      <vt:lpstr>정형 데이터와 비정형 데이터</vt:lpstr>
      <vt:lpstr>랜덤 포레스트(Random Forest) (1)</vt:lpstr>
      <vt:lpstr>랜덤 포레스트(Random Forest) (2)</vt:lpstr>
      <vt:lpstr>랜덤 포레스트(Random Forest) (3)</vt:lpstr>
      <vt:lpstr>랜덤 포레스트(Random Forest) (4)</vt:lpstr>
      <vt:lpstr>랜덤 포레스트(Random Forest) (5)</vt:lpstr>
      <vt:lpstr>랜덤 포레스트(Random Forest) (6)</vt:lpstr>
      <vt:lpstr>랜덤 포레스트(Random Forest) (7)</vt:lpstr>
      <vt:lpstr>랜덤 포레스트(Random Forest) (8)</vt:lpstr>
      <vt:lpstr>엑스트라 트리(Extra Trees) (1)</vt:lpstr>
      <vt:lpstr>엑스트라 트리(Extra Trees) (2)</vt:lpstr>
      <vt:lpstr>그레이디언트 부스팅(Gradient Boosting) (1)</vt:lpstr>
      <vt:lpstr>그레이디언트 부스팅(Gradient Boosting) (2)</vt:lpstr>
      <vt:lpstr>그레이디언트 부스팅(Gradient Boosting) (3)</vt:lpstr>
      <vt:lpstr>히스토그램 기반 그레이디언트 부스팅 (1)</vt:lpstr>
      <vt:lpstr>히스토그램 기반 그레이디언트 부스팅 (2)</vt:lpstr>
      <vt:lpstr>학습 요약 (1)</vt:lpstr>
      <vt:lpstr>학습 요약 (2)</vt:lpstr>
      <vt:lpstr>학습 요약 (3)</vt:lpstr>
      <vt:lpstr>질의 응답</vt:lpstr>
    </vt:vector>
  </TitlesOfParts>
  <Company>두원공과대학 컴퓨터공학과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김영우</dc:creator>
  <cp:lastModifiedBy>김영우</cp:lastModifiedBy>
  <cp:revision>840</cp:revision>
  <dcterms:created xsi:type="dcterms:W3CDTF">2003-05-07T20:17:23Z</dcterms:created>
  <dcterms:modified xsi:type="dcterms:W3CDTF">2025-10-13T00:19:04Z</dcterms:modified>
</cp:coreProperties>
</file>