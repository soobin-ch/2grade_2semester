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632" r:id="rId2"/>
    <p:sldId id="704" r:id="rId3"/>
    <p:sldId id="706" r:id="rId4"/>
    <p:sldId id="707" r:id="rId5"/>
    <p:sldId id="708" r:id="rId6"/>
    <p:sldId id="709" r:id="rId7"/>
    <p:sldId id="710" r:id="rId8"/>
    <p:sldId id="711" r:id="rId9"/>
    <p:sldId id="712" r:id="rId10"/>
    <p:sldId id="713" r:id="rId11"/>
    <p:sldId id="714" r:id="rId12"/>
    <p:sldId id="715" r:id="rId13"/>
    <p:sldId id="716" r:id="rId14"/>
    <p:sldId id="717" r:id="rId15"/>
    <p:sldId id="718" r:id="rId16"/>
    <p:sldId id="719" r:id="rId17"/>
    <p:sldId id="705" r:id="rId18"/>
    <p:sldId id="703" r:id="rId19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61" autoAdjust="0"/>
    <p:restoredTop sz="94148" autoAdjust="0"/>
  </p:normalViewPr>
  <p:slideViewPr>
    <p:cSldViewPr>
      <p:cViewPr varScale="1">
        <p:scale>
          <a:sx n="153" d="100"/>
          <a:sy n="153" d="100"/>
        </p:scale>
        <p:origin x="27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2305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6"/>
            <a:ext cx="7514232" cy="1669197"/>
          </a:xfrm>
        </p:spPr>
        <p:txBody>
          <a:bodyPr/>
          <a:lstStyle/>
          <a:p>
            <a:pPr algn="ctr">
              <a:defRPr/>
            </a:pPr>
            <a:r>
              <a:rPr lang="ko-KR" altLang="en-US" sz="4000" dirty="0"/>
              <a:t>비지도학습</a:t>
            </a:r>
            <a:br>
              <a:rPr lang="en-US" altLang="ko-KR" sz="4000" dirty="0"/>
            </a:br>
            <a:r>
              <a:rPr lang="en-US" altLang="ko-KR" sz="4000" dirty="0"/>
              <a:t>- </a:t>
            </a:r>
            <a:r>
              <a:rPr lang="ko-KR" altLang="en-US" sz="4000" dirty="0"/>
              <a:t>군집 알고리즘 </a:t>
            </a:r>
            <a:r>
              <a:rPr lang="en-US" altLang="ko-KR" sz="4000" dirty="0"/>
              <a:t>-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013176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: https://developers.google.com/&gt;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2" descr="Clustering Algorithms | Machine Learning | Google Developers">
            <a:extLst>
              <a:ext uri="{FF2B5EF4-FFF2-40B4-BE49-F238E27FC236}">
                <a16:creationId xmlns:a16="http://schemas.microsoft.com/office/drawing/2014/main" id="{D8C7A5CE-4020-4068-8F4C-047308F17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756381"/>
            <a:ext cx="22764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5075C-F797-492D-A896-60920627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BF857-BAF2-4D11-BBC2-8464701F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종료되면 학생들은</a:t>
            </a:r>
            <a:endParaRPr lang="en-US" altLang="ko-KR" dirty="0"/>
          </a:p>
          <a:p>
            <a:pPr lvl="1"/>
            <a:r>
              <a:rPr lang="ko-KR" altLang="en-US" dirty="0"/>
              <a:t>이미지의 </a:t>
            </a:r>
            <a:r>
              <a:rPr lang="en-US" altLang="ko-KR" dirty="0"/>
              <a:t>cluster</a:t>
            </a:r>
            <a:r>
              <a:rPr lang="ko-KR" altLang="en-US" dirty="0"/>
              <a:t>가 어떠한 특징을 가지는지 설명할 수 있다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D9F08A-6004-4B00-90F4-DBEA1CCB6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2886384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99C21-3E84-4E67-8FB5-E8B3C989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비지도학습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BB5F5-DCF3-4DD3-8ED7-3C511C773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지도학습</a:t>
            </a:r>
            <a:r>
              <a:rPr lang="en-US" altLang="ko-KR" dirty="0"/>
              <a:t>(</a:t>
            </a:r>
            <a:r>
              <a:rPr lang="en-US" altLang="ko-KR" dirty="0" err="1"/>
              <a:t>Supervisd</a:t>
            </a:r>
            <a:r>
              <a:rPr lang="en-US" altLang="ko-KR" dirty="0"/>
              <a:t> Learning)</a:t>
            </a:r>
            <a:r>
              <a:rPr lang="ko-KR" altLang="en-US" dirty="0"/>
              <a:t>과 비지도학습</a:t>
            </a:r>
            <a:r>
              <a:rPr lang="en-US" altLang="ko-KR" dirty="0"/>
              <a:t>(Unsupervised Learning)</a:t>
            </a:r>
          </a:p>
          <a:p>
            <a:pPr lvl="1"/>
            <a:r>
              <a:rPr lang="ko-KR" altLang="en-US" dirty="0"/>
              <a:t>지도학습</a:t>
            </a:r>
            <a:endParaRPr lang="en-US" altLang="ko-KR" dirty="0"/>
          </a:p>
          <a:p>
            <a:pPr lvl="2"/>
            <a:r>
              <a:rPr lang="en-US" altLang="ko-KR" dirty="0"/>
              <a:t>Labeled</a:t>
            </a:r>
            <a:r>
              <a:rPr lang="ko-KR" altLang="en-US" dirty="0"/>
              <a:t> </a:t>
            </a:r>
            <a:r>
              <a:rPr lang="en-US" altLang="ko-KR" dirty="0"/>
              <a:t>data(</a:t>
            </a:r>
            <a:r>
              <a:rPr lang="ko-KR" altLang="en-US" dirty="0"/>
              <a:t>분류된 </a:t>
            </a:r>
            <a:r>
              <a:rPr lang="en-US" altLang="ko-KR" dirty="0"/>
              <a:t>data) </a:t>
            </a:r>
            <a:r>
              <a:rPr lang="ko-KR" altLang="en-US" dirty="0"/>
              <a:t>이용 학습</a:t>
            </a:r>
            <a:r>
              <a:rPr lang="en-US" altLang="ko-KR" dirty="0"/>
              <a:t>: </a:t>
            </a:r>
            <a:r>
              <a:rPr lang="ko-KR" altLang="en-US" dirty="0"/>
              <a:t>훈련 데이터 셋</a:t>
            </a:r>
            <a:r>
              <a:rPr lang="en-US" altLang="ko-KR" dirty="0"/>
              <a:t>(Training data set)</a:t>
            </a:r>
          </a:p>
          <a:p>
            <a:pPr lvl="3"/>
            <a:r>
              <a:rPr lang="ko-KR" altLang="en-US" dirty="0"/>
              <a:t>예</a:t>
            </a:r>
            <a:r>
              <a:rPr lang="en-US" altLang="ko-KR" dirty="0"/>
              <a:t>: Image Labeling, Email Spam Filter, AlphaGo Lee, ...</a:t>
            </a:r>
          </a:p>
          <a:p>
            <a:pPr lvl="2"/>
            <a:r>
              <a:rPr lang="ko-KR" altLang="en-US" dirty="0"/>
              <a:t>예측에 사용</a:t>
            </a:r>
            <a:endParaRPr lang="en-US" altLang="ko-KR" dirty="0"/>
          </a:p>
          <a:p>
            <a:pPr lvl="2"/>
            <a:r>
              <a:rPr lang="ko-KR" altLang="en-US" dirty="0"/>
              <a:t>분류</a:t>
            </a:r>
            <a:r>
              <a:rPr lang="en-US" altLang="ko-KR" dirty="0"/>
              <a:t>(classification)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회기분석</a:t>
            </a:r>
            <a:r>
              <a:rPr lang="en-US" altLang="ko-KR" dirty="0"/>
              <a:t>(regression)</a:t>
            </a:r>
            <a:r>
              <a:rPr lang="ko-KR" altLang="en-US" dirty="0"/>
              <a:t>으로 </a:t>
            </a:r>
            <a:r>
              <a:rPr lang="ko-KR" altLang="en-US" dirty="0" err="1"/>
              <a:t>나뉩</a:t>
            </a:r>
            <a:endParaRPr lang="en-US" altLang="ko-KR" dirty="0"/>
          </a:p>
          <a:p>
            <a:pPr lvl="1"/>
            <a:r>
              <a:rPr lang="ko-KR" altLang="en-US" dirty="0"/>
              <a:t>비지도학습</a:t>
            </a:r>
            <a:endParaRPr lang="en-US" altLang="ko-KR" dirty="0"/>
          </a:p>
          <a:p>
            <a:pPr lvl="2"/>
            <a:r>
              <a:rPr lang="en-US" altLang="ko-KR" dirty="0"/>
              <a:t>Unlabeled data(</a:t>
            </a:r>
            <a:r>
              <a:rPr lang="ko-KR" altLang="en-US" dirty="0"/>
              <a:t>분류되지 않은 </a:t>
            </a:r>
            <a:r>
              <a:rPr lang="en-US" altLang="ko-KR" dirty="0"/>
              <a:t>data) </a:t>
            </a:r>
            <a:r>
              <a:rPr lang="ko-KR" altLang="en-US" dirty="0"/>
              <a:t>이용 학습</a:t>
            </a:r>
            <a:endParaRPr lang="en-US" altLang="ko-KR" dirty="0"/>
          </a:p>
          <a:p>
            <a:pPr lvl="2"/>
            <a:r>
              <a:rPr lang="ko-KR" altLang="en-US" dirty="0"/>
              <a:t>분석에 사용</a:t>
            </a:r>
            <a:endParaRPr lang="en-US" altLang="ko-KR" dirty="0"/>
          </a:p>
          <a:p>
            <a:pPr lvl="2"/>
            <a:r>
              <a:rPr lang="ko-KR" altLang="en-US" dirty="0"/>
              <a:t>군집</a:t>
            </a:r>
            <a:r>
              <a:rPr lang="en-US" altLang="ko-KR" dirty="0"/>
              <a:t>(clustering)</a:t>
            </a:r>
            <a:r>
              <a:rPr lang="ko-KR" altLang="en-US" dirty="0"/>
              <a:t>과 차원축소</a:t>
            </a:r>
            <a:r>
              <a:rPr lang="en-US" altLang="ko-KR" dirty="0"/>
              <a:t>(</a:t>
            </a:r>
            <a:r>
              <a:rPr lang="en-US" altLang="ko-KR" dirty="0" err="1"/>
              <a:t>Dimensionallity</a:t>
            </a:r>
            <a:r>
              <a:rPr lang="en-US" altLang="ko-KR" dirty="0"/>
              <a:t> Reduction)</a:t>
            </a:r>
            <a:r>
              <a:rPr lang="ko-KR" altLang="en-US" dirty="0"/>
              <a:t>으로 </a:t>
            </a:r>
            <a:r>
              <a:rPr lang="ko-KR" altLang="en-US" dirty="0" err="1"/>
              <a:t>나뉩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B3AF8-F56F-446E-8405-C8E02237F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0865357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B10E6-91CE-463F-90C6-311D4993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비지도학습에서 다룰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DC465-2F0D-4F1C-A2CB-2227EF308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군집 알고리즘</a:t>
            </a:r>
            <a:endParaRPr lang="en-US" altLang="ko-KR" dirty="0"/>
          </a:p>
          <a:p>
            <a:pPr lvl="1"/>
            <a:r>
              <a:rPr lang="ko-KR" altLang="en-US" dirty="0"/>
              <a:t>어떻게 비슷한 샘플끼리 모을 것인가</a:t>
            </a:r>
            <a:r>
              <a:rPr lang="en-US" altLang="ko-KR" dirty="0"/>
              <a:t>? </a:t>
            </a:r>
            <a:r>
              <a:rPr lang="en-US" altLang="ko-KR" dirty="0">
                <a:sym typeface="Wingdings" panose="05000000000000000000" pitchFamily="2" charset="2"/>
              </a:rPr>
              <a:t> Clustering (</a:t>
            </a:r>
            <a:r>
              <a:rPr lang="ko-KR" altLang="en-US" dirty="0">
                <a:sym typeface="Wingdings" panose="05000000000000000000" pitchFamily="2" charset="2"/>
              </a:rPr>
              <a:t>群集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일단 타겟 값을 아는 상태에서</a:t>
            </a:r>
            <a:r>
              <a:rPr lang="en-US" altLang="ko-KR" dirty="0">
                <a:sym typeface="Wingdings" panose="05000000000000000000" pitchFamily="2" charset="2"/>
              </a:rPr>
              <a:t>…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K-</a:t>
            </a:r>
            <a:r>
              <a:rPr lang="ko-KR" altLang="en-US" dirty="0">
                <a:sym typeface="Wingdings" panose="05000000000000000000" pitchFamily="2" charset="2"/>
              </a:rPr>
              <a:t>평균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타겟 값이 없는 상태에서는 어떻게 </a:t>
            </a:r>
            <a:r>
              <a:rPr lang="en-US" altLang="ko-KR" dirty="0">
                <a:sym typeface="Wingdings" panose="05000000000000000000" pitchFamily="2" charset="2"/>
              </a:rPr>
              <a:t>clustering</a:t>
            </a:r>
            <a:r>
              <a:rPr lang="ko-KR" altLang="en-US" dirty="0">
                <a:sym typeface="Wingdings" panose="05000000000000000000" pitchFamily="2" charset="2"/>
              </a:rPr>
              <a:t>을 할까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K-Means</a:t>
            </a:r>
            <a:r>
              <a:rPr lang="en-US" altLang="ko-KR" dirty="0">
                <a:sym typeface="Wingdings" panose="05000000000000000000" pitchFamily="2" charset="2"/>
              </a:rPr>
              <a:t>, K-</a:t>
            </a:r>
            <a:r>
              <a:rPr lang="en-US" altLang="ko-KR" dirty="0" err="1">
                <a:sym typeface="Wingdings" panose="05000000000000000000" pitchFamily="2" charset="2"/>
              </a:rPr>
              <a:t>Medioid</a:t>
            </a:r>
            <a:r>
              <a:rPr lang="en-US" altLang="ko-KR" dirty="0">
                <a:sym typeface="Wingdings" panose="05000000000000000000" pitchFamily="2" charset="2"/>
              </a:rPr>
              <a:t>, Spectral Clustering, Hierarchical Clustering, Graph Theoretic Clustering, EM, EMG, ……</a:t>
            </a:r>
            <a:endParaRPr lang="en-US" altLang="ko-KR" dirty="0"/>
          </a:p>
          <a:p>
            <a:r>
              <a:rPr lang="ko-KR" altLang="en-US" dirty="0"/>
              <a:t>차원 축소</a:t>
            </a:r>
            <a:endParaRPr lang="en-US" altLang="ko-KR" dirty="0"/>
          </a:p>
          <a:p>
            <a:pPr lvl="1"/>
            <a:r>
              <a:rPr lang="ko-KR" altLang="en-US" dirty="0"/>
              <a:t>특성이 많을수록 좋은 것인가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일부 특성이 다른 특성에 비해 구별에 훨씬 큰 영향을 줄 수 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일부 특성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주성분</a:t>
            </a:r>
            <a:r>
              <a:rPr lang="en-US" altLang="ko-KR" dirty="0">
                <a:sym typeface="Wingdings" panose="05000000000000000000" pitchFamily="2" charset="2"/>
              </a:rPr>
              <a:t>, Principal Component)</a:t>
            </a:r>
            <a:r>
              <a:rPr lang="ko-KR" altLang="en-US" dirty="0">
                <a:sym typeface="Wingdings" panose="05000000000000000000" pitchFamily="2" charset="2"/>
              </a:rPr>
              <a:t>만 사용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주성분 분석</a:t>
            </a:r>
            <a:r>
              <a:rPr lang="en-US" altLang="ko-KR" dirty="0"/>
              <a:t>(PCA, PC Analysis)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DBD31-6B92-44AA-A54C-D51A1362B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503939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6CFB1-6C86-4781-88D3-FACD150F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섹션에서는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8D25F-52B2-4B17-80F6-F675C5895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300</a:t>
            </a:r>
            <a:r>
              <a:rPr lang="ko-KR" altLang="en-US" dirty="0"/>
              <a:t>개의 과일사진 불러오기</a:t>
            </a:r>
            <a:endParaRPr lang="en-US" altLang="ko-KR" dirty="0"/>
          </a:p>
          <a:p>
            <a:pPr lvl="1"/>
            <a:r>
              <a:rPr lang="ko-KR" altLang="en-US" dirty="0"/>
              <a:t>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 각 </a:t>
            </a:r>
            <a:r>
              <a:rPr lang="en-US" altLang="ko-KR" dirty="0"/>
              <a:t>100</a:t>
            </a:r>
            <a:r>
              <a:rPr lang="ko-KR" altLang="en-US" dirty="0"/>
              <a:t>개</a:t>
            </a:r>
            <a:endParaRPr lang="en-US" altLang="ko-KR" dirty="0"/>
          </a:p>
          <a:p>
            <a:pPr lvl="1"/>
            <a:r>
              <a:rPr lang="en-US" altLang="ko-KR" dirty="0"/>
              <a:t>100x100 pixel</a:t>
            </a:r>
            <a:r>
              <a:rPr lang="ko-KR" altLang="en-US" dirty="0"/>
              <a:t>의 </a:t>
            </a:r>
            <a:r>
              <a:rPr lang="en-US" altLang="ko-KR" dirty="0"/>
              <a:t>bitmap </a:t>
            </a:r>
            <a:r>
              <a:rPr lang="ko-KR" altLang="en-US" dirty="0"/>
              <a:t>이미지 </a:t>
            </a:r>
            <a:r>
              <a:rPr lang="en-US" altLang="ko-KR" dirty="0"/>
              <a:t>(256 gray level)</a:t>
            </a:r>
          </a:p>
          <a:p>
            <a:r>
              <a:rPr lang="ko-KR" altLang="en-US" dirty="0"/>
              <a:t>픽셀 값 분석</a:t>
            </a:r>
            <a:endParaRPr lang="en-US" altLang="ko-KR" dirty="0"/>
          </a:p>
          <a:p>
            <a:pPr lvl="1"/>
            <a:r>
              <a:rPr lang="ko-KR" altLang="en-US" dirty="0"/>
              <a:t>각 위치의 </a:t>
            </a:r>
            <a:r>
              <a:rPr lang="en-US" altLang="ko-KR" dirty="0"/>
              <a:t>pixel</a:t>
            </a:r>
            <a:r>
              <a:rPr lang="ko-KR" altLang="en-US" dirty="0"/>
              <a:t> 값 분포 비교</a:t>
            </a:r>
            <a:endParaRPr lang="en-US" altLang="ko-KR" dirty="0"/>
          </a:p>
          <a:p>
            <a:r>
              <a:rPr lang="ko-KR" altLang="en-US" dirty="0"/>
              <a:t>평균 값과 가까운 사진으로 군집하기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BA787-835F-4E91-AB2F-E766DCC67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6823797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2D24-C87C-4D13-A26D-F661B948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과일 사진 불러오기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916E0-614E-4940-859B-E4D670DE9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바나나의 흑백 사진</a:t>
            </a:r>
            <a:r>
              <a:rPr lang="en-US" altLang="ko-KR" dirty="0"/>
              <a:t>(100x100)</a:t>
            </a:r>
            <a:r>
              <a:rPr lang="ko-KR" altLang="en-US" dirty="0"/>
              <a:t>을 읽어 </a:t>
            </a:r>
            <a:r>
              <a:rPr lang="en-US" altLang="ko-KR" dirty="0"/>
              <a:t>fruits_300.npy </a:t>
            </a:r>
            <a:r>
              <a:rPr lang="ko-KR" altLang="en-US" dirty="0"/>
              <a:t>파일에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C33C2-01C9-4831-9FD3-1B23664BB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C4CD37-6A79-48CB-8AA9-ABB693CE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03" y="1988840"/>
            <a:ext cx="5672920" cy="5040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C033E70-B118-4A34-82E6-9903B821F281}"/>
              </a:ext>
            </a:extLst>
          </p:cNvPr>
          <p:cNvSpPr/>
          <p:nvPr/>
        </p:nvSpPr>
        <p:spPr>
          <a:xfrm>
            <a:off x="605402" y="2636913"/>
            <a:ext cx="8359086" cy="115212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!</a:t>
            </a:r>
            <a:r>
              <a:rPr lang="ko-KR" altLang="en-US" dirty="0">
                <a:solidFill>
                  <a:schemeClr val="tx1"/>
                </a:solidFill>
              </a:rPr>
              <a:t>로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시작하면 </a:t>
            </a:r>
            <a:r>
              <a:rPr lang="en-US" altLang="ko-KR" dirty="0" err="1">
                <a:solidFill>
                  <a:schemeClr val="tx1"/>
                </a:solidFill>
              </a:rPr>
              <a:t>Rinux</a:t>
            </a:r>
            <a:r>
              <a:rPr lang="en-US" altLang="ko-KR" dirty="0">
                <a:solidFill>
                  <a:schemeClr val="tx1"/>
                </a:solidFill>
              </a:rPr>
              <a:t> shell </a:t>
            </a:r>
            <a:r>
              <a:rPr lang="ko-KR" altLang="en-US" dirty="0">
                <a:solidFill>
                  <a:schemeClr val="tx1"/>
                </a:solidFill>
              </a:rPr>
              <a:t>명령으로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인식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wget</a:t>
            </a:r>
            <a:r>
              <a:rPr lang="ko-KR" altLang="en-US" dirty="0">
                <a:solidFill>
                  <a:schemeClr val="tx1"/>
                </a:solidFill>
              </a:rPr>
              <a:t>은 원격주소에서 데이터를 다운로드하여 저장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-O </a:t>
            </a:r>
            <a:r>
              <a:rPr lang="ko-KR" altLang="en-US" dirty="0">
                <a:solidFill>
                  <a:schemeClr val="tx1"/>
                </a:solidFill>
              </a:rPr>
              <a:t>옵션은 저장할 파일명 지정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이 명령은 원격지의 </a:t>
            </a:r>
            <a:r>
              <a:rPr lang="en-US" altLang="ko-KR" dirty="0">
                <a:solidFill>
                  <a:schemeClr val="tx1"/>
                </a:solidFill>
              </a:rPr>
              <a:t>fruits_300_data</a:t>
            </a:r>
            <a:r>
              <a:rPr lang="ko-KR" altLang="en-US" dirty="0">
                <a:solidFill>
                  <a:schemeClr val="tx1"/>
                </a:solidFill>
              </a:rPr>
              <a:t>를 읽어 내 장소에 </a:t>
            </a:r>
            <a:r>
              <a:rPr lang="en-US" altLang="ko-KR" dirty="0">
                <a:solidFill>
                  <a:schemeClr val="tx1"/>
                </a:solidFill>
              </a:rPr>
              <a:t>fruits_300.npy </a:t>
            </a:r>
            <a:r>
              <a:rPr lang="ko-KR" altLang="en-US" dirty="0">
                <a:solidFill>
                  <a:schemeClr val="tx1"/>
                </a:solidFill>
              </a:rPr>
              <a:t>파일로 저장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17DA38-7351-49D3-A556-D72065EA2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148734"/>
            <a:ext cx="3143412" cy="18733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44075848-755B-46C7-ABF9-4066C531318C}"/>
              </a:ext>
            </a:extLst>
          </p:cNvPr>
          <p:cNvSpPr/>
          <p:nvPr/>
        </p:nvSpPr>
        <p:spPr>
          <a:xfrm>
            <a:off x="605402" y="5445224"/>
            <a:ext cx="51021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A4ED9A2-216C-4827-8D16-BA79233DCE5A}"/>
              </a:ext>
            </a:extLst>
          </p:cNvPr>
          <p:cNvSpPr/>
          <p:nvPr/>
        </p:nvSpPr>
        <p:spPr>
          <a:xfrm>
            <a:off x="1171138" y="5418710"/>
            <a:ext cx="1374756" cy="2887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823203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2D24-C87C-4D13-A26D-F661B948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과일 사진 불러오기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916E0-614E-4940-859B-E4D670DE9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fruits_300.npy </a:t>
            </a:r>
            <a:r>
              <a:rPr lang="ko-KR" altLang="en-US" dirty="0"/>
              <a:t>파일의 과일을 읽어 </a:t>
            </a:r>
            <a:r>
              <a:rPr lang="ko-KR" altLang="en-US" dirty="0" err="1"/>
              <a:t>넘파이배열</a:t>
            </a:r>
            <a:r>
              <a:rPr lang="ko-KR" altLang="en-US" dirty="0"/>
              <a:t> </a:t>
            </a:r>
            <a:r>
              <a:rPr lang="en-US" altLang="ko-KR" dirty="0"/>
              <a:t>fruits</a:t>
            </a:r>
            <a:r>
              <a:rPr lang="ko-KR" altLang="en-US" dirty="0"/>
              <a:t>에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C33C2-01C9-4831-9FD3-1B23664BB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0629F9-09DE-4691-84FD-B7B8DF1A4FD6}"/>
              </a:ext>
            </a:extLst>
          </p:cNvPr>
          <p:cNvSpPr/>
          <p:nvPr/>
        </p:nvSpPr>
        <p:spPr>
          <a:xfrm>
            <a:off x="507051" y="5805263"/>
            <a:ext cx="8359086" cy="81365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tx1"/>
                </a:solidFill>
              </a:rPr>
              <a:t>맷플롯립의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imshow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r>
              <a:rPr lang="ko-KR" altLang="en-US" dirty="0">
                <a:solidFill>
                  <a:schemeClr val="tx1"/>
                </a:solidFill>
              </a:rPr>
              <a:t>로 </a:t>
            </a:r>
            <a:r>
              <a:rPr lang="ko-KR" altLang="en-US" dirty="0" err="1">
                <a:solidFill>
                  <a:schemeClr val="tx1"/>
                </a:solidFill>
              </a:rPr>
              <a:t>넘파이</a:t>
            </a:r>
            <a:r>
              <a:rPr lang="ko-KR" altLang="en-US" dirty="0">
                <a:solidFill>
                  <a:schemeClr val="tx1"/>
                </a:solidFill>
              </a:rPr>
              <a:t> 배열로 저장된 이미지 그림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cmap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매개변수 </a:t>
            </a:r>
            <a:r>
              <a:rPr lang="en-US" altLang="ko-KR" dirty="0">
                <a:solidFill>
                  <a:schemeClr val="tx1"/>
                </a:solidFill>
              </a:rPr>
              <a:t>‘gray’</a:t>
            </a:r>
            <a:r>
              <a:rPr lang="ko-KR" altLang="en-US" dirty="0">
                <a:solidFill>
                  <a:schemeClr val="tx1"/>
                </a:solidFill>
              </a:rPr>
              <a:t>는 원본 그대로</a:t>
            </a:r>
            <a:r>
              <a:rPr lang="en-US" altLang="ko-KR" dirty="0">
                <a:solidFill>
                  <a:schemeClr val="tx1"/>
                </a:solidFill>
              </a:rPr>
              <a:t>, ‘</a:t>
            </a:r>
            <a:r>
              <a:rPr lang="en-US" altLang="ko-KR" dirty="0" err="1">
                <a:solidFill>
                  <a:schemeClr val="tx1"/>
                </a:solidFill>
              </a:rPr>
              <a:t>gray_r</a:t>
            </a:r>
            <a:r>
              <a:rPr lang="en-US" altLang="ko-KR" dirty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은 반전 이미지로 출력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원본 이미지가 필름 이미지인 이유는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여백을 </a:t>
            </a:r>
            <a:r>
              <a:rPr lang="en-US" altLang="ko-KR" dirty="0">
                <a:solidFill>
                  <a:schemeClr val="tx1"/>
                </a:solidFill>
              </a:rPr>
              <a:t>0</a:t>
            </a:r>
            <a:r>
              <a:rPr lang="ko-KR" altLang="en-US" dirty="0">
                <a:solidFill>
                  <a:schemeClr val="tx1"/>
                </a:solidFill>
              </a:rPr>
              <a:t>값으로 표현하기 위해서</a:t>
            </a:r>
            <a:r>
              <a:rPr lang="en-US" altLang="ko-KR" dirty="0">
                <a:solidFill>
                  <a:schemeClr val="tx1"/>
                </a:solidFill>
              </a:rPr>
              <a:t>…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D53495C-71B3-4D15-8C05-6D84B07F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98" y="1504803"/>
            <a:ext cx="3786202" cy="3292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9711A7B-4E29-4B14-AE7D-8DFCC94B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519" y="1457647"/>
            <a:ext cx="3645652" cy="4308908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D62D9BC-FC55-4707-8533-DC350D2D6195}"/>
              </a:ext>
            </a:extLst>
          </p:cNvPr>
          <p:cNvSpPr/>
          <p:nvPr/>
        </p:nvSpPr>
        <p:spPr>
          <a:xfrm rot="19785552">
            <a:off x="3461314" y="1988022"/>
            <a:ext cx="1803067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3BDB722-4F4D-4E1F-9C50-19E97B54AD47}"/>
              </a:ext>
            </a:extLst>
          </p:cNvPr>
          <p:cNvSpPr/>
          <p:nvPr/>
        </p:nvSpPr>
        <p:spPr>
          <a:xfrm rot="19892614">
            <a:off x="3513648" y="2483342"/>
            <a:ext cx="1723978" cy="19564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E40C799-B7B8-4533-A5AD-7B6CA969632E}"/>
              </a:ext>
            </a:extLst>
          </p:cNvPr>
          <p:cNvSpPr/>
          <p:nvPr/>
        </p:nvSpPr>
        <p:spPr>
          <a:xfrm rot="20287207">
            <a:off x="3818338" y="3508220"/>
            <a:ext cx="1306459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80CFC67-C80E-45CF-9DFB-DE79B83BA471}"/>
              </a:ext>
            </a:extLst>
          </p:cNvPr>
          <p:cNvSpPr/>
          <p:nvPr/>
        </p:nvSpPr>
        <p:spPr>
          <a:xfrm rot="1104141">
            <a:off x="3999115" y="4496687"/>
            <a:ext cx="1151419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890998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2D24-C87C-4D13-A26D-F661B948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과일 사진 불러오기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916E0-614E-4940-859B-E4D670DE9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 그림 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C33C2-01C9-4831-9FD3-1B23664BB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0629F9-09DE-4691-84FD-B7B8DF1A4FD6}"/>
              </a:ext>
            </a:extLst>
          </p:cNvPr>
          <p:cNvSpPr/>
          <p:nvPr/>
        </p:nvSpPr>
        <p:spPr>
          <a:xfrm>
            <a:off x="507051" y="4110965"/>
            <a:ext cx="8359086" cy="17659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tx1"/>
                </a:solidFill>
              </a:rPr>
              <a:t>맷플롯립의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subplot()</a:t>
            </a:r>
            <a:r>
              <a:rPr lang="ko-KR" altLang="en-US" dirty="0">
                <a:solidFill>
                  <a:schemeClr val="tx1"/>
                </a:solidFill>
              </a:rPr>
              <a:t>은 여러 개의 그래프를 배열로 출력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subplot(1,2)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행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열의 배열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fig</a:t>
            </a:r>
            <a:r>
              <a:rPr lang="ko-KR" altLang="en-US" dirty="0">
                <a:solidFill>
                  <a:schemeClr val="tx1"/>
                </a:solidFill>
              </a:rPr>
              <a:t>는 전체 그림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axs</a:t>
            </a:r>
            <a:r>
              <a:rPr lang="ko-KR" altLang="en-US" dirty="0">
                <a:solidFill>
                  <a:schemeClr val="tx1"/>
                </a:solidFill>
              </a:rPr>
              <a:t>는 각각의 그림</a:t>
            </a:r>
            <a:r>
              <a:rPr lang="en-US" altLang="ko-KR" dirty="0">
                <a:solidFill>
                  <a:schemeClr val="tx1"/>
                </a:solidFill>
              </a:rPr>
              <a:t>, 2x2 </a:t>
            </a:r>
            <a:r>
              <a:rPr lang="ko-KR" altLang="en-US" dirty="0">
                <a:solidFill>
                  <a:schemeClr val="tx1"/>
                </a:solidFill>
              </a:rPr>
              <a:t>배열이라면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solidFill>
                  <a:schemeClr val="tx1"/>
                </a:solidFill>
              </a:rPr>
              <a:t>axs</a:t>
            </a:r>
            <a:r>
              <a:rPr lang="en-US" altLang="ko-KR" dirty="0">
                <a:solidFill>
                  <a:schemeClr val="tx1"/>
                </a:solidFill>
              </a:rPr>
              <a:t>[0,0]~</a:t>
            </a:r>
            <a:r>
              <a:rPr lang="en-US" altLang="ko-KR" dirty="0" err="1">
                <a:solidFill>
                  <a:schemeClr val="tx1"/>
                </a:solidFill>
              </a:rPr>
              <a:t>axs</a:t>
            </a:r>
            <a:r>
              <a:rPr lang="en-US" altLang="ko-KR" dirty="0">
                <a:solidFill>
                  <a:schemeClr val="tx1"/>
                </a:solidFill>
              </a:rPr>
              <a:t>[1,1]</a:t>
            </a:r>
            <a:r>
              <a:rPr lang="ko-KR" altLang="en-US" dirty="0">
                <a:solidFill>
                  <a:schemeClr val="tx1"/>
                </a:solidFill>
              </a:rPr>
              <a:t>까지 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  <a:r>
              <a:rPr lang="ko-KR" altLang="en-US" dirty="0">
                <a:solidFill>
                  <a:schemeClr val="tx1"/>
                </a:solidFill>
              </a:rPr>
              <a:t>개의 요소가 있음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suptitle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r>
              <a:rPr lang="ko-KR" altLang="en-US" dirty="0">
                <a:solidFill>
                  <a:schemeClr val="tx1"/>
                </a:solidFill>
              </a:rPr>
              <a:t>은 전체 그림의 제목 설정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set_title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r>
              <a:rPr lang="ko-KR" altLang="en-US" dirty="0">
                <a:solidFill>
                  <a:schemeClr val="tx1"/>
                </a:solidFill>
              </a:rPr>
              <a:t>은 요소 그림의 제목 설정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DDE225-E181-4613-A808-803DDFE9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51" y="1484784"/>
            <a:ext cx="4390468" cy="2016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CF5024-3083-4D04-AB0D-239577FDE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371209"/>
            <a:ext cx="3530781" cy="2349621"/>
          </a:xfrm>
          <a:prstGeom prst="rect">
            <a:avLst/>
          </a:prstGeom>
        </p:spPr>
      </p:pic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C40F32A-7039-40AB-B539-E4F07CF152EF}"/>
              </a:ext>
            </a:extLst>
          </p:cNvPr>
          <p:cNvSpPr/>
          <p:nvPr/>
        </p:nvSpPr>
        <p:spPr>
          <a:xfrm>
            <a:off x="5004048" y="2650627"/>
            <a:ext cx="356861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480580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45756-22C9-4B7B-8E65-0E12C1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픽셀 값 분석하기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4E43DE-843C-486D-A907-287B4702A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계산의 편리성을 위해 </a:t>
            </a:r>
            <a:r>
              <a:rPr lang="en-US" altLang="ko-KR" dirty="0"/>
              <a:t>2</a:t>
            </a:r>
            <a:r>
              <a:rPr lang="ko-KR" altLang="en-US" dirty="0"/>
              <a:t>차원 이미지를 </a:t>
            </a:r>
            <a:r>
              <a:rPr lang="en-US" altLang="ko-KR" dirty="0"/>
              <a:t>1</a:t>
            </a:r>
            <a:r>
              <a:rPr lang="ko-KR" altLang="en-US" dirty="0"/>
              <a:t>차원으로 재구성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apple</a:t>
            </a:r>
            <a:r>
              <a:rPr lang="ko-KR" altLang="en-US" dirty="0"/>
              <a:t>의 각 개체에 대한 평균값 구하기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6CBB6D-58B2-419D-AA75-1E947EB65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31D859-136F-4076-A8AF-37FDE55EA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556792"/>
            <a:ext cx="5311503" cy="11521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85DAED7-3C61-4DB0-90E9-115F288E8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296" y="1988840"/>
            <a:ext cx="990651" cy="254013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BB392F5-4780-4FCE-B376-332EA837C45F}"/>
              </a:ext>
            </a:extLst>
          </p:cNvPr>
          <p:cNvSpPr/>
          <p:nvPr/>
        </p:nvSpPr>
        <p:spPr>
          <a:xfrm>
            <a:off x="6327550" y="2036448"/>
            <a:ext cx="356861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47920-7D05-4112-968E-FC4E2A049FCE}"/>
              </a:ext>
            </a:extLst>
          </p:cNvPr>
          <p:cNvSpPr/>
          <p:nvPr/>
        </p:nvSpPr>
        <p:spPr>
          <a:xfrm>
            <a:off x="467544" y="2780928"/>
            <a:ext cx="8359086" cy="115212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reshape()</a:t>
            </a:r>
            <a:r>
              <a:rPr lang="ko-KR" altLang="en-US" dirty="0">
                <a:solidFill>
                  <a:schemeClr val="tx1"/>
                </a:solidFill>
              </a:rPr>
              <a:t>를 이용하여 </a:t>
            </a:r>
            <a:r>
              <a:rPr lang="en-US" altLang="ko-KR" dirty="0">
                <a:solidFill>
                  <a:schemeClr val="tx1"/>
                </a:solidFill>
              </a:rPr>
              <a:t>100x100</a:t>
            </a:r>
            <a:r>
              <a:rPr lang="ko-KR" altLang="en-US" dirty="0">
                <a:solidFill>
                  <a:schemeClr val="tx1"/>
                </a:solidFill>
              </a:rPr>
              <a:t>개의 배열요소를 갖는 배열로 변환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reshape()</a:t>
            </a:r>
            <a:r>
              <a:rPr lang="ko-KR" altLang="en-US" dirty="0">
                <a:solidFill>
                  <a:schemeClr val="tx1"/>
                </a:solidFill>
              </a:rPr>
              <a:t>의 첫 번째 차원 </a:t>
            </a:r>
            <a:r>
              <a:rPr lang="en-US" altLang="ko-KR" dirty="0">
                <a:solidFill>
                  <a:schemeClr val="tx1"/>
                </a:solidFill>
              </a:rPr>
              <a:t>-1</a:t>
            </a:r>
            <a:r>
              <a:rPr lang="ko-KR" altLang="en-US" dirty="0">
                <a:solidFill>
                  <a:schemeClr val="tx1"/>
                </a:solidFill>
              </a:rPr>
              <a:t>은 남은 차원 할당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사과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파인애플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바나나는 각각 </a:t>
            </a:r>
            <a:r>
              <a:rPr lang="en-US" altLang="ko-KR" dirty="0">
                <a:solidFill>
                  <a:schemeClr val="tx1"/>
                </a:solidFill>
              </a:rPr>
              <a:t>10,000</a:t>
            </a:r>
            <a:r>
              <a:rPr lang="ko-KR" altLang="en-US" dirty="0">
                <a:solidFill>
                  <a:schemeClr val="tx1"/>
                </a:solidFill>
              </a:rPr>
              <a:t>개의 배열요소를 갖는 </a:t>
            </a:r>
            <a:r>
              <a:rPr lang="en-US" altLang="ko-KR" dirty="0">
                <a:solidFill>
                  <a:schemeClr val="tx1"/>
                </a:solidFill>
              </a:rPr>
              <a:t>100</a:t>
            </a:r>
            <a:r>
              <a:rPr lang="ko-KR" altLang="en-US" dirty="0">
                <a:solidFill>
                  <a:schemeClr val="tx1"/>
                </a:solidFill>
              </a:rPr>
              <a:t>개의 배열</a:t>
            </a:r>
            <a:r>
              <a:rPr lang="en-US" altLang="ko-KR" dirty="0">
                <a:solidFill>
                  <a:schemeClr val="tx1"/>
                </a:solidFill>
              </a:rPr>
              <a:t>, 2</a:t>
            </a:r>
            <a:r>
              <a:rPr lang="ko-KR" altLang="en-US" dirty="0">
                <a:solidFill>
                  <a:schemeClr val="tx1"/>
                </a:solidFill>
              </a:rPr>
              <a:t>차원 배열이 됨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altLang="ko-KR" dirty="0" err="1">
                <a:solidFill>
                  <a:schemeClr val="tx1"/>
                </a:solidFill>
                <a:sym typeface="Wingdings" panose="05000000000000000000" pitchFamily="2" charset="2"/>
              </a:rPr>
              <a:t>apple.shape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 = (100, 10000)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8EEB75-6F2B-40A2-818A-C6A719D79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4581128"/>
            <a:ext cx="2648038" cy="2880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AE751F-14FD-4E46-8974-C9D50BB67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7767" y="4508773"/>
            <a:ext cx="4068175" cy="1854684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55391EE-DE4C-4515-966A-08DDBA128B32}"/>
              </a:ext>
            </a:extLst>
          </p:cNvPr>
          <p:cNvSpPr/>
          <p:nvPr/>
        </p:nvSpPr>
        <p:spPr>
          <a:xfrm>
            <a:off x="3643214" y="4628736"/>
            <a:ext cx="356861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FD6277-EC09-48AE-A99B-0355A673982A}"/>
              </a:ext>
            </a:extLst>
          </p:cNvPr>
          <p:cNvSpPr/>
          <p:nvPr/>
        </p:nvSpPr>
        <p:spPr>
          <a:xfrm>
            <a:off x="467544" y="5142250"/>
            <a:ext cx="3960440" cy="115212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apple[0] ~ apple[99]</a:t>
            </a:r>
            <a:r>
              <a:rPr lang="ko-KR" altLang="en-US" dirty="0">
                <a:solidFill>
                  <a:schemeClr val="tx1"/>
                </a:solidFill>
              </a:rPr>
              <a:t>의 평균값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axis=1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차원 배열의 열 방향 계산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 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altLang="ko-KR" sz="1200" dirty="0">
                <a:solidFill>
                  <a:schemeClr val="tx1"/>
                </a:solidFill>
                <a:sym typeface="Wingdings" panose="05000000000000000000" pitchFamily="2" charset="2"/>
              </a:rPr>
              <a:t>apple[0].mean(), apple[1].mean(), …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axis=0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차원 배열의 행 방향 계산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9933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45756-22C9-4B7B-8E65-0E12C1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픽셀 값 분석하기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4E43DE-843C-486D-A907-287B4702A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과일의 평균값의 히스토그램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6CBB6D-58B2-419D-AA75-1E947EB65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BF147E7-0783-4635-94F4-301E9C9D7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4728693" cy="1296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543600-9268-4895-9110-DBEDD9FCB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123" y="1340768"/>
            <a:ext cx="2744927" cy="1821587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43A92409-915D-47D7-B2D1-17456A9DE205}"/>
              </a:ext>
            </a:extLst>
          </p:cNvPr>
          <p:cNvSpPr/>
          <p:nvPr/>
        </p:nvSpPr>
        <p:spPr>
          <a:xfrm>
            <a:off x="5601253" y="2036448"/>
            <a:ext cx="356861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DBF9B-210D-48F1-A81D-04694ECA1EF6}"/>
              </a:ext>
            </a:extLst>
          </p:cNvPr>
          <p:cNvSpPr/>
          <p:nvPr/>
        </p:nvSpPr>
        <p:spPr>
          <a:xfrm>
            <a:off x="539552" y="3294104"/>
            <a:ext cx="8359086" cy="164706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hist()</a:t>
            </a:r>
            <a:r>
              <a:rPr lang="ko-KR" altLang="en-US" dirty="0">
                <a:solidFill>
                  <a:schemeClr val="tx1"/>
                </a:solidFill>
              </a:rPr>
              <a:t>를 이용하여 히스토그램 표시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legend()</a:t>
            </a:r>
            <a:r>
              <a:rPr lang="ko-KR" altLang="en-US" dirty="0">
                <a:solidFill>
                  <a:schemeClr val="tx1"/>
                </a:solidFill>
              </a:rPr>
              <a:t>를 이용하여 범례 표시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각 과일 개체 중 과일 이미지가 차지하는 범위가 클 수록 높은 값에 많은 도수가 몰려 있음 </a:t>
            </a:r>
            <a:r>
              <a:rPr lang="en-US" altLang="ko-KR" dirty="0">
                <a:solidFill>
                  <a:schemeClr val="tx1"/>
                </a:solidFill>
              </a:rPr>
              <a:t>(banana &lt; apple &lt; pineapple)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사과와 파인애플은 형태가 동그랗고 사진에서 차지하는 크기도 유사하기 때문에 많이 겹쳐 있음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47492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45756-22C9-4B7B-8E65-0E12C1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픽셀 값 분석하기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4E43DE-843C-486D-A907-287B4702A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픽셀의 평균값의 히스토그램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6CBB6D-58B2-419D-AA75-1E947EB65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DBF9B-210D-48F1-A81D-04694ECA1EF6}"/>
              </a:ext>
            </a:extLst>
          </p:cNvPr>
          <p:cNvSpPr/>
          <p:nvPr/>
        </p:nvSpPr>
        <p:spPr>
          <a:xfrm>
            <a:off x="540583" y="5496482"/>
            <a:ext cx="8359086" cy="98358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개의 그래프에서 값이 높은 구간이 다름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파인애플은 차지 면적이 넓으므로 전반적으로 퍼짐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바나나는 중앙에 집중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사과는 중간 정도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45DD4A-26D4-4E99-8CB5-C6D7CCEB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3" y="1484784"/>
            <a:ext cx="5211579" cy="1296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3C70FF-70C5-4A95-BDDF-5456B43D4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190553"/>
            <a:ext cx="8449320" cy="2208407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7EFC333-CE4E-4CB0-A1AE-88A1426FB612}"/>
              </a:ext>
            </a:extLst>
          </p:cNvPr>
          <p:cNvSpPr/>
          <p:nvPr/>
        </p:nvSpPr>
        <p:spPr>
          <a:xfrm rot="5400000">
            <a:off x="2932329" y="2917456"/>
            <a:ext cx="235269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55634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45756-22C9-4B7B-8E65-0E12C1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픽셀 값 분석하기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4E43DE-843C-486D-A907-287B4702A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픽셀의 평균값을 이미지로 출력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6CBB6D-58B2-419D-AA75-1E947EB65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DBF9B-210D-48F1-A81D-04694ECA1EF6}"/>
              </a:ext>
            </a:extLst>
          </p:cNvPr>
          <p:cNvSpPr/>
          <p:nvPr/>
        </p:nvSpPr>
        <p:spPr>
          <a:xfrm>
            <a:off x="540583" y="6128895"/>
            <a:ext cx="8359086" cy="35116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각 </a:t>
            </a:r>
            <a:r>
              <a:rPr lang="en-US" altLang="ko-KR" dirty="0">
                <a:solidFill>
                  <a:schemeClr val="tx1"/>
                </a:solidFill>
              </a:rPr>
              <a:t>100</a:t>
            </a:r>
            <a:r>
              <a:rPr lang="ko-KR" altLang="en-US" dirty="0">
                <a:solidFill>
                  <a:schemeClr val="tx1"/>
                </a:solidFill>
              </a:rPr>
              <a:t>개의 이미지에 대한 평균의 이미지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7EFC333-CE4E-4CB0-A1AE-88A1426FB612}"/>
              </a:ext>
            </a:extLst>
          </p:cNvPr>
          <p:cNvSpPr/>
          <p:nvPr/>
        </p:nvSpPr>
        <p:spPr>
          <a:xfrm rot="5400000">
            <a:off x="3083863" y="3712353"/>
            <a:ext cx="235269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86DF9B-49E2-4866-A854-1FF990224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17" y="1459040"/>
            <a:ext cx="5631763" cy="21139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6361FB-760D-4F9C-AA50-F6DC7225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4050981"/>
            <a:ext cx="7380312" cy="204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98739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5ACE7-3CFC-446E-A9C1-DD7F7A02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평균에 가까운 사진 고르기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DE34F7-A038-407B-BC01-8460CA5C0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샘플에서 </a:t>
            </a:r>
            <a:r>
              <a:rPr lang="en-US" altLang="ko-KR" dirty="0" err="1"/>
              <a:t>apple_mean</a:t>
            </a:r>
            <a:r>
              <a:rPr lang="ko-KR" altLang="en-US" dirty="0"/>
              <a:t>을 뺀 절대값의 평균을 계산하여 가장 적은 </a:t>
            </a:r>
            <a:r>
              <a:rPr lang="en-US" altLang="ko-KR" dirty="0"/>
              <a:t>100</a:t>
            </a:r>
            <a:r>
              <a:rPr lang="ko-KR" altLang="en-US" dirty="0"/>
              <a:t>개를 골라내면</a:t>
            </a:r>
            <a:r>
              <a:rPr lang="en-US" altLang="ko-KR" dirty="0"/>
              <a:t>…</a:t>
            </a:r>
          </a:p>
          <a:p>
            <a:pPr lvl="1"/>
            <a:r>
              <a:rPr lang="ko-KR" altLang="en-US" dirty="0"/>
              <a:t>차이의 평균값 구하기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값이 작은 </a:t>
            </a:r>
            <a:r>
              <a:rPr lang="en-US" altLang="ko-KR" dirty="0"/>
              <a:t>100</a:t>
            </a:r>
            <a:r>
              <a:rPr lang="ko-KR" altLang="en-US" dirty="0"/>
              <a:t>개를 골라 그리기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DBA4B-2C71-4D6D-AA07-BD735AAB2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0B4B48-6AD3-44C2-B22E-C1CE5DDEF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3" y="2420888"/>
            <a:ext cx="4221361" cy="792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3C815B5-1DB5-44AE-A9F1-9250B64AC549}"/>
              </a:ext>
            </a:extLst>
          </p:cNvPr>
          <p:cNvSpPr/>
          <p:nvPr/>
        </p:nvSpPr>
        <p:spPr>
          <a:xfrm>
            <a:off x="5292080" y="2720524"/>
            <a:ext cx="356861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78DF6F-3095-4983-A153-BFB3A64C9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2687202"/>
            <a:ext cx="457223" cy="23496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E09058E-C30F-4AE8-A38E-67D005015968}"/>
              </a:ext>
            </a:extLst>
          </p:cNvPr>
          <p:cNvSpPr/>
          <p:nvPr/>
        </p:nvSpPr>
        <p:spPr>
          <a:xfrm>
            <a:off x="819482" y="3331086"/>
            <a:ext cx="5408702" cy="35116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각 과일 </a:t>
            </a:r>
            <a:r>
              <a:rPr lang="en-US" altLang="ko-KR" dirty="0">
                <a:solidFill>
                  <a:schemeClr val="tx1"/>
                </a:solidFill>
              </a:rPr>
              <a:t>300</a:t>
            </a:r>
            <a:r>
              <a:rPr lang="ko-KR" altLang="en-US" dirty="0">
                <a:solidFill>
                  <a:schemeClr val="tx1"/>
                </a:solidFill>
              </a:rPr>
              <a:t>개의 </a:t>
            </a:r>
            <a:r>
              <a:rPr lang="en-US" altLang="ko-KR" dirty="0" err="1">
                <a:solidFill>
                  <a:schemeClr val="tx1"/>
                </a:solidFill>
              </a:rPr>
              <a:t>apple_mean</a:t>
            </a:r>
            <a:r>
              <a:rPr lang="ko-KR" altLang="en-US" dirty="0">
                <a:solidFill>
                  <a:schemeClr val="tx1"/>
                </a:solidFill>
              </a:rPr>
              <a:t>과의 차의 평균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1998A79-BD39-4D2D-B6F8-3CC088036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82" y="4320327"/>
            <a:ext cx="7112366" cy="18860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A26F91-BEA7-4FBD-ADB4-AAFCC50A23A7}"/>
              </a:ext>
            </a:extLst>
          </p:cNvPr>
          <p:cNvSpPr/>
          <p:nvPr/>
        </p:nvSpPr>
        <p:spPr>
          <a:xfrm>
            <a:off x="6430178" y="1517974"/>
            <a:ext cx="2588663" cy="257341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axis=0</a:t>
            </a:r>
            <a:r>
              <a:rPr lang="ko-KR" altLang="en-US" sz="1200" dirty="0">
                <a:solidFill>
                  <a:schemeClr val="tx1"/>
                </a:solidFill>
              </a:rPr>
              <a:t>이면 첫번째 괄호가 사라지고</a:t>
            </a:r>
            <a:r>
              <a:rPr lang="en-US" altLang="ko-KR" sz="1200" dirty="0">
                <a:solidFill>
                  <a:schemeClr val="tx1"/>
                </a:solidFill>
              </a:rPr>
              <a:t>, 300</a:t>
            </a:r>
            <a:r>
              <a:rPr lang="ko-KR" altLang="en-US" sz="1200" dirty="0">
                <a:solidFill>
                  <a:schemeClr val="tx1"/>
                </a:solidFill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차원 원소</a:t>
            </a:r>
            <a:r>
              <a:rPr lang="en-US" altLang="ko-KR" sz="1200" dirty="0">
                <a:solidFill>
                  <a:schemeClr val="tx1"/>
                </a:solidFill>
              </a:rPr>
              <a:t>(100,100)</a:t>
            </a:r>
            <a:r>
              <a:rPr lang="ko-KR" altLang="en-US" sz="1200" dirty="0">
                <a:solidFill>
                  <a:schemeClr val="tx1"/>
                </a:solidFill>
              </a:rPr>
              <a:t> 모두 계산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axis=1</a:t>
            </a:r>
            <a:r>
              <a:rPr lang="ko-KR" altLang="en-US" sz="1200" dirty="0">
                <a:solidFill>
                  <a:schemeClr val="tx1"/>
                </a:solidFill>
              </a:rPr>
              <a:t>이면 두번째 괄호가 사라지고</a:t>
            </a:r>
            <a:r>
              <a:rPr lang="en-US" altLang="ko-KR" sz="1200" dirty="0">
                <a:solidFill>
                  <a:schemeClr val="tx1"/>
                </a:solidFill>
              </a:rPr>
              <a:t>, 100</a:t>
            </a:r>
            <a:r>
              <a:rPr lang="ko-KR" altLang="en-US" sz="1200" dirty="0">
                <a:solidFill>
                  <a:schemeClr val="tx1"/>
                </a:solidFill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좌표의 </a:t>
            </a:r>
            <a:r>
              <a:rPr lang="en-US" altLang="ko-KR" sz="1200" dirty="0">
                <a:solidFill>
                  <a:schemeClr val="tx1"/>
                </a:solidFill>
              </a:rPr>
              <a:t>300</a:t>
            </a:r>
            <a:r>
              <a:rPr lang="ko-KR" altLang="en-US" sz="1200" dirty="0">
                <a:solidFill>
                  <a:schemeClr val="tx1"/>
                </a:solidFill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</a:rPr>
              <a:t>y</a:t>
            </a:r>
            <a:r>
              <a:rPr lang="ko-KR" altLang="en-US" sz="1200" dirty="0">
                <a:solidFill>
                  <a:schemeClr val="tx1"/>
                </a:solidFill>
              </a:rPr>
              <a:t>값</a:t>
            </a:r>
            <a:r>
              <a:rPr lang="en-US" altLang="ko-KR" sz="1200" dirty="0">
                <a:solidFill>
                  <a:schemeClr val="tx1"/>
                </a:solidFill>
              </a:rPr>
              <a:t>(300,100) </a:t>
            </a:r>
            <a:r>
              <a:rPr lang="ko-KR" altLang="en-US" sz="1200" dirty="0">
                <a:solidFill>
                  <a:schemeClr val="tx1"/>
                </a:solidFill>
              </a:rPr>
              <a:t>계산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axis=2</a:t>
            </a:r>
            <a:r>
              <a:rPr lang="ko-KR" altLang="en-US" sz="1200" dirty="0">
                <a:solidFill>
                  <a:schemeClr val="tx1"/>
                </a:solidFill>
              </a:rPr>
              <a:t>면 세번째 괄호가 사라지고</a:t>
            </a:r>
            <a:r>
              <a:rPr lang="en-US" altLang="ko-KR" sz="1200" dirty="0">
                <a:solidFill>
                  <a:schemeClr val="tx1"/>
                </a:solidFill>
              </a:rPr>
              <a:t>, 100</a:t>
            </a:r>
            <a:r>
              <a:rPr lang="ko-KR" altLang="en-US" sz="1200" dirty="0">
                <a:solidFill>
                  <a:schemeClr val="tx1"/>
                </a:solidFill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</a:rPr>
              <a:t>y</a:t>
            </a:r>
            <a:r>
              <a:rPr lang="ko-KR" altLang="en-US" sz="1200" dirty="0">
                <a:solidFill>
                  <a:schemeClr val="tx1"/>
                </a:solidFill>
              </a:rPr>
              <a:t>좌표의 </a:t>
            </a:r>
            <a:r>
              <a:rPr lang="en-US" altLang="ko-KR" sz="1200" dirty="0">
                <a:solidFill>
                  <a:schemeClr val="tx1"/>
                </a:solidFill>
              </a:rPr>
              <a:t>300</a:t>
            </a:r>
            <a:r>
              <a:rPr lang="ko-KR" altLang="en-US" sz="1200" dirty="0">
                <a:solidFill>
                  <a:schemeClr val="tx1"/>
                </a:solidFill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값</a:t>
            </a:r>
            <a:r>
              <a:rPr lang="en-US" altLang="ko-KR" sz="1200" dirty="0">
                <a:solidFill>
                  <a:schemeClr val="tx1"/>
                </a:solidFill>
              </a:rPr>
              <a:t>(300,100) </a:t>
            </a:r>
            <a:r>
              <a:rPr lang="ko-KR" altLang="en-US" sz="1200" dirty="0">
                <a:solidFill>
                  <a:schemeClr val="tx1"/>
                </a:solidFill>
              </a:rPr>
              <a:t>계산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axis=(1,2)</a:t>
            </a:r>
            <a:r>
              <a:rPr lang="ko-KR" altLang="en-US" sz="1200" dirty="0">
                <a:solidFill>
                  <a:schemeClr val="tx1"/>
                </a:solidFill>
              </a:rPr>
              <a:t>면 두번째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세번째 괄호가 사라지고 모든 </a:t>
            </a:r>
            <a:r>
              <a:rPr lang="en-US" altLang="ko-KR" sz="1200" dirty="0">
                <a:solidFill>
                  <a:schemeClr val="tx1"/>
                </a:solidFill>
              </a:rPr>
              <a:t>(100*100)</a:t>
            </a:r>
            <a:r>
              <a:rPr lang="ko-KR" altLang="en-US" sz="1200" dirty="0">
                <a:solidFill>
                  <a:schemeClr val="tx1"/>
                </a:solidFill>
              </a:rPr>
              <a:t>값이 계산되어 </a:t>
            </a:r>
            <a:r>
              <a:rPr lang="en-US" altLang="ko-KR" sz="1200" dirty="0">
                <a:solidFill>
                  <a:schemeClr val="tx1"/>
                </a:solidFill>
              </a:rPr>
              <a:t>(300,)</a:t>
            </a:r>
            <a:r>
              <a:rPr lang="ko-KR" altLang="en-US" sz="1200" dirty="0">
                <a:solidFill>
                  <a:schemeClr val="tx1"/>
                </a:solidFill>
              </a:rPr>
              <a:t>이 남음 </a:t>
            </a:r>
          </a:p>
        </p:txBody>
      </p:sp>
    </p:spTree>
    <p:extLst>
      <p:ext uri="{BB962C8B-B14F-4D97-AF65-F5344CB8AC3E}">
        <p14:creationId xmlns:p14="http://schemas.microsoft.com/office/powerpoint/2010/main" val="456045327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5ACE7-3CFC-446E-A9C1-DD7F7A02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평균에 가까운 사진 고르기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DE34F7-A038-407B-BC01-8460CA5C0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DBA4B-2C71-4D6D-AA07-BD735AAB2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3C815B5-1DB5-44AE-A9F1-9250B64AC549}"/>
              </a:ext>
            </a:extLst>
          </p:cNvPr>
          <p:cNvSpPr/>
          <p:nvPr/>
        </p:nvSpPr>
        <p:spPr>
          <a:xfrm>
            <a:off x="1464089" y="3644535"/>
            <a:ext cx="356861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25D6785-B470-4909-8DC5-EF1EB641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217142"/>
            <a:ext cx="5266796" cy="504760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69B36B-8D0E-4228-8AD9-9DE1B5407A91}"/>
              </a:ext>
            </a:extLst>
          </p:cNvPr>
          <p:cNvSpPr/>
          <p:nvPr/>
        </p:nvSpPr>
        <p:spPr>
          <a:xfrm>
            <a:off x="7679911" y="3565358"/>
            <a:ext cx="1232238" cy="35116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Perfect!!</a:t>
            </a:r>
          </a:p>
        </p:txBody>
      </p:sp>
    </p:spTree>
    <p:extLst>
      <p:ext uri="{BB962C8B-B14F-4D97-AF65-F5344CB8AC3E}">
        <p14:creationId xmlns:p14="http://schemas.microsoft.com/office/powerpoint/2010/main" val="3616508821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731E2-4ED2-46D3-BAF5-40BA007C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평균에 가까운 사진 고르기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073BDF-6135-4A0A-8381-4BF08AAE9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이번 </a:t>
            </a:r>
            <a:r>
              <a:rPr lang="en-US" altLang="ko-KR" dirty="0"/>
              <a:t>clustering</a:t>
            </a:r>
            <a:r>
              <a:rPr lang="ko-KR" altLang="en-US" dirty="0"/>
              <a:t>의 문제점</a:t>
            </a:r>
            <a:endParaRPr lang="en-US" altLang="ko-KR" dirty="0"/>
          </a:p>
          <a:p>
            <a:pPr lvl="1"/>
            <a:r>
              <a:rPr lang="ko-KR" altLang="en-US" dirty="0"/>
              <a:t>처음부터 어느 것이 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바나나인지 알고 있었음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Target </a:t>
            </a:r>
            <a:r>
              <a:rPr lang="ko-KR" altLang="en-US" dirty="0">
                <a:sym typeface="Wingdings" panose="05000000000000000000" pitchFamily="2" charset="2"/>
              </a:rPr>
              <a:t>값이 주어졌음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ko-KR" altLang="en-US" dirty="0">
                <a:sym typeface="Wingdings" panose="05000000000000000000" pitchFamily="2" charset="2"/>
              </a:rPr>
              <a:t> 지도학습임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다음 번에는 </a:t>
            </a:r>
            <a:r>
              <a:rPr lang="en-US" altLang="ko-KR" dirty="0">
                <a:sym typeface="Wingdings" panose="05000000000000000000" pitchFamily="2" charset="2"/>
              </a:rPr>
              <a:t>target </a:t>
            </a:r>
            <a:r>
              <a:rPr lang="ko-KR" altLang="en-US" dirty="0">
                <a:sym typeface="Wingdings" panose="05000000000000000000" pitchFamily="2" charset="2"/>
              </a:rPr>
              <a:t>값을 주지 않은 상태에서 </a:t>
            </a:r>
            <a:r>
              <a:rPr lang="en-US" altLang="ko-KR" dirty="0">
                <a:sym typeface="Wingdings" panose="05000000000000000000" pitchFamily="2" charset="2"/>
              </a:rPr>
              <a:t>cluster</a:t>
            </a:r>
            <a:r>
              <a:rPr lang="ko-KR" altLang="en-US" dirty="0">
                <a:sym typeface="Wingdings" panose="05000000000000000000" pitchFamily="2" charset="2"/>
              </a:rPr>
              <a:t>를 찾는 방안에 대하여 고려함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57C10-B182-445E-B242-C81131C74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7152854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E2856-06E1-404C-9BC7-932C3245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확인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026C2C-2A04-41B4-B8CD-C1F326E1A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본문에서 했던 것처럼 바나나 사진의 평균 </a:t>
            </a:r>
            <a:r>
              <a:rPr lang="en-US" altLang="ko-KR" dirty="0" err="1"/>
              <a:t>banana_mean</a:t>
            </a:r>
            <a:r>
              <a:rPr lang="ko-KR" altLang="en-US" dirty="0"/>
              <a:t>과 비슷한 사진 </a:t>
            </a:r>
            <a:r>
              <a:rPr lang="en-US" altLang="ko-KR" dirty="0"/>
              <a:t>100</a:t>
            </a:r>
            <a:r>
              <a:rPr lang="ko-KR" altLang="en-US" dirty="0"/>
              <a:t>장을 찾아 출력해보라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651BD1-8F9A-4E66-9111-05438AD00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9708405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03BBB-6EA2-470F-9DB5-E6158CC9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5A0DB-F3AF-426E-8E83-173C11A7C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words</a:t>
            </a:r>
          </a:p>
          <a:p>
            <a:pPr lvl="1"/>
            <a:r>
              <a:rPr lang="ko-KR" altLang="en-US" dirty="0"/>
              <a:t>비지도학습</a:t>
            </a:r>
            <a:r>
              <a:rPr lang="en-US" altLang="ko-KR" dirty="0"/>
              <a:t>: </a:t>
            </a:r>
            <a:r>
              <a:rPr lang="ko-KR" altLang="en-US" dirty="0"/>
              <a:t>훈련데이터에 타깃이 없는 학습</a:t>
            </a:r>
            <a:endParaRPr lang="en-US" altLang="ko-KR" dirty="0"/>
          </a:p>
          <a:p>
            <a:pPr lvl="1"/>
            <a:r>
              <a:rPr lang="ko-KR" altLang="en-US" dirty="0"/>
              <a:t>히스토그램</a:t>
            </a:r>
            <a:r>
              <a:rPr lang="en-US" altLang="ko-KR" dirty="0"/>
              <a:t>: </a:t>
            </a:r>
            <a:r>
              <a:rPr lang="ko-KR" altLang="en-US" dirty="0"/>
              <a:t>구간별로 값이 발생한 빈도를 그래프로 표시한 것</a:t>
            </a:r>
            <a:endParaRPr lang="en-US" altLang="ko-KR" dirty="0"/>
          </a:p>
          <a:p>
            <a:pPr lvl="2"/>
            <a:r>
              <a:rPr lang="ko-KR" altLang="en-US" dirty="0"/>
              <a:t>일반적으로 </a:t>
            </a:r>
            <a:r>
              <a:rPr lang="en-US" altLang="ko-KR" dirty="0"/>
              <a:t>x</a:t>
            </a:r>
            <a:r>
              <a:rPr lang="ko-KR" altLang="en-US" dirty="0"/>
              <a:t>축은 값의 구간</a:t>
            </a:r>
            <a:endParaRPr lang="en-US" altLang="ko-KR" dirty="0"/>
          </a:p>
          <a:p>
            <a:pPr lvl="2"/>
            <a:r>
              <a:rPr lang="en-US" altLang="ko-KR" dirty="0"/>
              <a:t>y</a:t>
            </a:r>
            <a:r>
              <a:rPr lang="ko-KR" altLang="en-US" dirty="0"/>
              <a:t>축은 값의 발생 빈도</a:t>
            </a:r>
            <a:r>
              <a:rPr lang="en-US" altLang="ko-KR" dirty="0"/>
              <a:t>(</a:t>
            </a:r>
            <a:r>
              <a:rPr lang="ko-KR" altLang="en-US" dirty="0"/>
              <a:t>도수</a:t>
            </a:r>
            <a:r>
              <a:rPr lang="en-US" altLang="ko-KR" dirty="0"/>
              <a:t>)</a:t>
            </a:r>
            <a:r>
              <a:rPr lang="ko-KR" altLang="en-US" dirty="0"/>
              <a:t>를 나타냄</a:t>
            </a:r>
            <a:endParaRPr lang="en-US" altLang="ko-KR" dirty="0"/>
          </a:p>
          <a:p>
            <a:pPr lvl="1"/>
            <a:r>
              <a:rPr lang="ko-KR" altLang="en-US" dirty="0"/>
              <a:t>군집</a:t>
            </a:r>
            <a:r>
              <a:rPr lang="en-US" altLang="ko-KR" dirty="0"/>
              <a:t>(Clustering): </a:t>
            </a:r>
            <a:r>
              <a:rPr lang="ko-KR" altLang="en-US" dirty="0"/>
              <a:t>비슷한 샘플끼리 하나의 그룹으로 모으는 대표적 비지도학습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83B9CB-FD73-414B-A2F3-C88E2FDB6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363519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32944</TotalTime>
  <Words>952</Words>
  <Application>Microsoft Office PowerPoint</Application>
  <PresentationFormat>화면 슬라이드 쇼(4:3)</PresentationFormat>
  <Paragraphs>144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HY견고딕</vt:lpstr>
      <vt:lpstr>굴림</vt:lpstr>
      <vt:lpstr>맑은 고딕</vt:lpstr>
      <vt:lpstr>휴먼엑스포</vt:lpstr>
      <vt:lpstr>Arial</vt:lpstr>
      <vt:lpstr>Times New Roman</vt:lpstr>
      <vt:lpstr>Wingdings</vt:lpstr>
      <vt:lpstr>기본 디자인</vt:lpstr>
      <vt:lpstr>비지도학습 - 군집 알고리즘 -</vt:lpstr>
      <vt:lpstr>학습목표</vt:lpstr>
      <vt:lpstr>비지도학습</vt:lpstr>
      <vt:lpstr>비지도학습에서 다룰 내용</vt:lpstr>
      <vt:lpstr>이번 섹션에서는</vt:lpstr>
      <vt:lpstr>과일 사진 불러오기 (1)</vt:lpstr>
      <vt:lpstr>과일 사진 불러오기 (2)</vt:lpstr>
      <vt:lpstr>과일 사진 불러오기 (3)</vt:lpstr>
      <vt:lpstr>픽셀 값 분석하기 (1)</vt:lpstr>
      <vt:lpstr>픽셀 값 분석하기 (2)</vt:lpstr>
      <vt:lpstr>픽셀 값 분석하기 (3)</vt:lpstr>
      <vt:lpstr>픽셀 값 분석하기 (4)</vt:lpstr>
      <vt:lpstr>평균에 가까운 사진 고르기 (1)</vt:lpstr>
      <vt:lpstr>평균에 가까운 사진 고르기 (2)</vt:lpstr>
      <vt:lpstr>평균에 가까운 사진 고르기 (3)</vt:lpstr>
      <vt:lpstr>확인 문제</vt:lpstr>
      <vt:lpstr>학습 요약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598</cp:revision>
  <dcterms:created xsi:type="dcterms:W3CDTF">2003-05-07T20:17:23Z</dcterms:created>
  <dcterms:modified xsi:type="dcterms:W3CDTF">2025-10-13T00:19:46Z</dcterms:modified>
</cp:coreProperties>
</file>