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632" r:id="rId2"/>
    <p:sldId id="704" r:id="rId3"/>
    <p:sldId id="707" r:id="rId4"/>
    <p:sldId id="708" r:id="rId5"/>
    <p:sldId id="720" r:id="rId6"/>
    <p:sldId id="722" r:id="rId7"/>
    <p:sldId id="709" r:id="rId8"/>
    <p:sldId id="725" r:id="rId9"/>
    <p:sldId id="726" r:id="rId10"/>
    <p:sldId id="727" r:id="rId11"/>
    <p:sldId id="723" r:id="rId12"/>
    <p:sldId id="728" r:id="rId13"/>
    <p:sldId id="729" r:id="rId14"/>
    <p:sldId id="730" r:id="rId15"/>
    <p:sldId id="705" r:id="rId16"/>
    <p:sldId id="703" r:id="rId17"/>
  </p:sldIdLst>
  <p:sldSz cx="9144000" cy="6858000" type="screen4x3"/>
  <p:notesSz cx="6669088" cy="992822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5pPr>
    <a:lvl6pPr marL="22860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6pPr>
    <a:lvl7pPr marL="27432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7pPr>
    <a:lvl8pPr marL="32004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8pPr>
    <a:lvl9pPr marL="36576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CCFF"/>
    <a:srgbClr val="CCECFF"/>
    <a:srgbClr val="6699FF"/>
    <a:srgbClr val="FF6699"/>
    <a:srgbClr val="0070C0"/>
    <a:srgbClr val="FFCC66"/>
    <a:srgbClr val="5599BF"/>
    <a:srgbClr val="C5DBDD"/>
    <a:srgbClr val="FDF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79" autoAdjust="0"/>
    <p:restoredTop sz="94148" autoAdjust="0"/>
  </p:normalViewPr>
  <p:slideViewPr>
    <p:cSldViewPr>
      <p:cViewPr varScale="1">
        <p:scale>
          <a:sx n="163" d="100"/>
          <a:sy n="163" d="100"/>
        </p:scale>
        <p:origin x="1636" y="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A8C382E9-E5ED-4CED-B6BC-23B4AA5643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493218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5663" y="746125"/>
            <a:ext cx="4959350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3C7CC32-617A-4543-9F16-0492C8AD01F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32989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C7CC32-617A-4543-9F16-0492C8AD01FA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02305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C7CC32-617A-4543-9F16-0492C8AD01FA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6894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4C1E9-341E-47A5-AC3A-D9E2B75F852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6">
                  <a:lumMod val="50000"/>
                </a:schemeClr>
              </a:buClr>
              <a:defRPr b="1">
                <a:latin typeface="맑은 고딕" pitchFamily="50" charset="-127"/>
                <a:ea typeface="맑은 고딕" pitchFamily="50" charset="-127"/>
              </a:defRPr>
            </a:lvl1pPr>
            <a:lvl2pPr marL="648000" indent="-216000">
              <a:buClr>
                <a:schemeClr val="accent6">
                  <a:lumMod val="50000"/>
                </a:schemeClr>
              </a:buClr>
              <a:defRPr sz="2200" b="1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008000"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>
              <a:defRPr sz="1800" b="1">
                <a:latin typeface="맑은 고딕" pitchFamily="50" charset="-127"/>
                <a:ea typeface="맑은 고딕" pitchFamily="50" charset="-127"/>
              </a:defRPr>
            </a:lvl4pPr>
            <a:lvl5pPr>
              <a:defRPr sz="1800" b="1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7C9E6-AAC5-4CE3-AEB9-B27125AB2F7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ACB472-C4C4-477E-8AC0-53956F98114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481EA1-F96D-428B-BAD9-77C664AB889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581765-32A9-43A2-A13B-73A4EFC8A23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534400" y="6597352"/>
            <a:ext cx="533400" cy="235185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8C69D1-562B-4BA3-B970-F557F717323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A63119-A075-4A06-B8B9-191AF54DF5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1034A6-DBBC-48F1-A09B-6AF30E1274A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C30B49-4FB7-4305-BEBF-6D643FD0662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BB478B-1B83-4F62-9152-5F83492182B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88913"/>
            <a:ext cx="2236787" cy="637381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07950" y="188913"/>
            <a:ext cx="6561138" cy="637381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C8E164-0165-4B37-AF99-AD7B6ECE173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제목, 텍스트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950" y="188913"/>
            <a:ext cx="8928100" cy="5461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차트 개체 틀 3"/>
          <p:cNvSpPr>
            <a:spLocks noGrp="1"/>
          </p:cNvSpPr>
          <p:nvPr>
            <p:ph type="chart"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B23F4B-D0D5-4898-8A05-343EBDC5E87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175" y="6500813"/>
            <a:ext cx="723265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14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9144000" cy="105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55672"/>
            <a:ext cx="8928100" cy="807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981075"/>
            <a:ext cx="8950325" cy="551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4400" y="6534150"/>
            <a:ext cx="533400" cy="282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accent6">
                    <a:lumMod val="75000"/>
                  </a:schemeClr>
                </a:solidFill>
                <a:latin typeface="휴먼엑스포" pitchFamily="18" charset="-127"/>
                <a:ea typeface="휴먼엑스포" pitchFamily="18" charset="-127"/>
              </a:defRPr>
            </a:lvl1pPr>
          </a:lstStyle>
          <a:p>
            <a:pPr>
              <a:defRPr/>
            </a:pPr>
            <a:fld id="{C0C53A76-8A71-4B64-A76C-1B97F54C0D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12359"/>
            <a:ext cx="2267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꿈     은 이루어진다</a:t>
            </a:r>
            <a:endParaRPr lang="ko-KR" altLang="en-US" dirty="0">
              <a:solidFill>
                <a:srgbClr val="CC33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포인트가 5개인 별 9"/>
          <p:cNvSpPr/>
          <p:nvPr userDrawn="1"/>
        </p:nvSpPr>
        <p:spPr>
          <a:xfrm>
            <a:off x="286457" y="6453336"/>
            <a:ext cx="360040" cy="380578"/>
          </a:xfrm>
          <a:prstGeom prst="star5">
            <a:avLst/>
          </a:prstGeom>
          <a:solidFill>
            <a:srgbClr val="FF0000"/>
          </a:solidFill>
          <a:ln w="3175">
            <a:solidFill>
              <a:srgbClr val="FFF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6534222"/>
            <a:ext cx="1296144" cy="2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zo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3366"/>
        </a:buClr>
        <a:buFont typeface="Wingdings" pitchFamily="2" charset="2"/>
        <a:buChar char="v"/>
        <a:defRPr kumimoji="1" sz="24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742950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Font typeface="Wingdings" pitchFamily="2" charset="2"/>
        <a:buChar char="§"/>
        <a:defRPr kumimoji="1" sz="2000" b="1">
          <a:solidFill>
            <a:srgbClr val="0070C0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000" b="1">
          <a:solidFill>
            <a:srgbClr val="404040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5pPr>
      <a:lvl6pPr marL="25146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6pPr>
      <a:lvl7pPr marL="29718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7pPr>
      <a:lvl8pPr marL="34290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8pPr>
      <a:lvl9pPr marL="38862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2051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1BE838-21C4-44E0-A59C-8FA45DC8143D}" type="slidenum">
              <a:rPr lang="en-US" altLang="ko-KR" smtClean="0"/>
              <a:pPr/>
              <a:t>1</a:t>
            </a:fld>
            <a:endParaRPr lang="en-US" altLang="ko-KR" dirty="0"/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60488" y="6113998"/>
            <a:ext cx="6400800" cy="555362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두원공과대학교</a:t>
            </a:r>
            <a:endParaRPr lang="en-US" altLang="ko-KR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제목 9"/>
          <p:cNvSpPr>
            <a:spLocks noGrp="1"/>
          </p:cNvSpPr>
          <p:nvPr>
            <p:ph type="ctrTitle"/>
          </p:nvPr>
        </p:nvSpPr>
        <p:spPr>
          <a:xfrm>
            <a:off x="803772" y="1005116"/>
            <a:ext cx="7514232" cy="1669197"/>
          </a:xfrm>
        </p:spPr>
        <p:txBody>
          <a:bodyPr/>
          <a:lstStyle/>
          <a:p>
            <a:pPr algn="ctr">
              <a:defRPr/>
            </a:pPr>
            <a:r>
              <a:rPr lang="ko-KR" altLang="en-US" sz="4000" dirty="0"/>
              <a:t>비지도학습</a:t>
            </a:r>
            <a:br>
              <a:rPr lang="en-US" altLang="ko-KR" sz="4000" dirty="0"/>
            </a:br>
            <a:r>
              <a:rPr lang="en-US" altLang="ko-KR" sz="4000" dirty="0"/>
              <a:t>- k-</a:t>
            </a:r>
            <a:r>
              <a:rPr lang="ko-KR" altLang="en-US" sz="4000" dirty="0"/>
              <a:t>평균 </a:t>
            </a:r>
            <a:r>
              <a:rPr lang="en-US" altLang="ko-KR" sz="4000" dirty="0"/>
              <a:t>-</a:t>
            </a:r>
            <a:endParaRPr lang="ko-KR" altLang="en-US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825996" y="532162"/>
            <a:ext cx="3090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2025</a:t>
            </a:r>
            <a:r>
              <a:rPr lang="ko-KR" altLang="en-US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학년도 </a:t>
            </a:r>
            <a:r>
              <a:rPr lang="en-US" altLang="ko-KR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학기 </a:t>
            </a:r>
            <a:r>
              <a:rPr lang="ko-KR" altLang="en-US" sz="1800" b="1" dirty="0" err="1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머신러닝</a:t>
            </a:r>
            <a:endParaRPr lang="ko-KR" altLang="en-US" sz="1800" b="1" dirty="0">
              <a:solidFill>
                <a:srgbClr val="CC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A78754-65CB-43B1-8FA6-6B2AEC5BA3F2}"/>
              </a:ext>
            </a:extLst>
          </p:cNvPr>
          <p:cNvSpPr txBox="1"/>
          <p:nvPr/>
        </p:nvSpPr>
        <p:spPr>
          <a:xfrm>
            <a:off x="1968600" y="5013176"/>
            <a:ext cx="51845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&lt;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출처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: https://media.geeksforgeeks.org/&gt;</a:t>
            </a:r>
            <a:endParaRPr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454C08C1-1D4C-42C4-BA6A-B984E2CC6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2717343"/>
            <a:ext cx="3236579" cy="2279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ghtbox">
            <a:extLst>
              <a:ext uri="{FF2B5EF4-FFF2-40B4-BE49-F238E27FC236}">
                <a16:creationId xmlns:a16="http://schemas.microsoft.com/office/drawing/2014/main" id="{F82362FC-103C-4367-90B0-F3CC87963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717343"/>
            <a:ext cx="3236579" cy="2279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Tm="36370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E5075C-F797-492D-A896-60920627D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3BF857-BAF2-4D11-BBC2-8464701FB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 시간이 종료되면 학생들은</a:t>
            </a:r>
            <a:endParaRPr lang="en-US" altLang="ko-KR" dirty="0"/>
          </a:p>
          <a:p>
            <a:pPr lvl="1"/>
            <a:r>
              <a:rPr lang="en-US" altLang="ko-KR" dirty="0"/>
              <a:t>k-</a:t>
            </a:r>
            <a:r>
              <a:rPr lang="ko-KR" altLang="en-US" dirty="0"/>
              <a:t>평균을 설명할 수 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k-</a:t>
            </a:r>
            <a:r>
              <a:rPr lang="ko-KR" altLang="en-US" dirty="0"/>
              <a:t>평균 알고리즘을 이해하고</a:t>
            </a:r>
            <a:r>
              <a:rPr lang="en-US" altLang="ko-KR" dirty="0"/>
              <a:t>, </a:t>
            </a:r>
            <a:r>
              <a:rPr lang="ko-KR" altLang="en-US" dirty="0"/>
              <a:t>활용할 수 있다</a:t>
            </a:r>
            <a:r>
              <a:rPr lang="en-US" altLang="ko-KR" dirty="0"/>
              <a:t>.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D9F08A-6004-4B00-90F4-DBEA1CCB6A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12886384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5B10E6-91CE-463F-90C6-311D4993F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비지도학습에서 다룰 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BDC465-2F0D-4F1C-A2CB-2227EF308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>
                <a:solidFill>
                  <a:schemeClr val="bg1">
                    <a:lumMod val="75000"/>
                  </a:schemeClr>
                </a:solidFill>
              </a:rPr>
              <a:t>군집 알고리즘</a:t>
            </a:r>
            <a:endParaRPr lang="en-US" altLang="ko-KR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ko-KR" altLang="en-US" dirty="0">
                <a:solidFill>
                  <a:schemeClr val="bg1">
                    <a:lumMod val="75000"/>
                  </a:schemeClr>
                </a:solidFill>
              </a:rPr>
              <a:t>어떻게 비슷한 샘플끼리 모을 것인가</a:t>
            </a:r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>? </a:t>
            </a:r>
            <a:r>
              <a:rPr lang="en-US" altLang="ko-KR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 Clustering (</a:t>
            </a:r>
            <a:r>
              <a:rPr lang="ko-KR" altLang="en-US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群集</a:t>
            </a:r>
            <a:r>
              <a:rPr lang="en-US" altLang="ko-KR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ko-KR" altLang="en-US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일단 타겟 값을 아는 상태에서</a:t>
            </a:r>
            <a:r>
              <a:rPr lang="en-US" altLang="ko-KR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…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K-</a:t>
            </a:r>
            <a:r>
              <a:rPr lang="ko-KR" altLang="en-US" dirty="0">
                <a:sym typeface="Wingdings" panose="05000000000000000000" pitchFamily="2" charset="2"/>
              </a:rPr>
              <a:t>평균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타겟 값이 없는 상태에서는 어떻게 </a:t>
            </a:r>
            <a:r>
              <a:rPr lang="en-US" altLang="ko-KR" dirty="0">
                <a:sym typeface="Wingdings" panose="05000000000000000000" pitchFamily="2" charset="2"/>
              </a:rPr>
              <a:t>clustering</a:t>
            </a:r>
            <a:r>
              <a:rPr lang="ko-KR" altLang="en-US" dirty="0">
                <a:sym typeface="Wingdings" panose="05000000000000000000" pitchFamily="2" charset="2"/>
              </a:rPr>
              <a:t>을 할까</a:t>
            </a:r>
            <a:r>
              <a:rPr lang="en-US" altLang="ko-KR" dirty="0">
                <a:sym typeface="Wingdings" panose="05000000000000000000" pitchFamily="2" charset="2"/>
              </a:rPr>
              <a:t>?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K-Means</a:t>
            </a:r>
            <a:r>
              <a:rPr lang="en-US" altLang="ko-KR" dirty="0">
                <a:sym typeface="Wingdings" panose="05000000000000000000" pitchFamily="2" charset="2"/>
              </a:rPr>
              <a:t>, K-</a:t>
            </a:r>
            <a:r>
              <a:rPr lang="en-US" altLang="ko-KR" dirty="0" err="1">
                <a:sym typeface="Wingdings" panose="05000000000000000000" pitchFamily="2" charset="2"/>
              </a:rPr>
              <a:t>Medioid</a:t>
            </a:r>
            <a:r>
              <a:rPr lang="en-US" altLang="ko-KR" dirty="0">
                <a:sym typeface="Wingdings" panose="05000000000000000000" pitchFamily="2" charset="2"/>
              </a:rPr>
              <a:t>, Spectral Clustering, Hierarchical Clustering, Graph Theoretic Clustering, EM, EMG, ……</a:t>
            </a:r>
            <a:endParaRPr lang="en-US" altLang="ko-KR" dirty="0"/>
          </a:p>
          <a:p>
            <a:r>
              <a:rPr lang="ko-KR" altLang="en-US" dirty="0">
                <a:solidFill>
                  <a:schemeClr val="bg1">
                    <a:lumMod val="75000"/>
                  </a:schemeClr>
                </a:solidFill>
              </a:rPr>
              <a:t>차원 축소</a:t>
            </a:r>
            <a:endParaRPr lang="en-US" altLang="ko-KR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ko-KR" altLang="en-US" dirty="0">
                <a:solidFill>
                  <a:schemeClr val="bg1">
                    <a:lumMod val="75000"/>
                  </a:schemeClr>
                </a:solidFill>
              </a:rPr>
              <a:t>특성이 많을수록 좋은 것인가</a:t>
            </a:r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>?</a:t>
            </a:r>
            <a:br>
              <a:rPr lang="en-US" altLang="ko-KR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altLang="ko-KR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 </a:t>
            </a:r>
            <a:r>
              <a:rPr lang="ko-KR" altLang="en-US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일부 특성이 다른 특성에 비해 구별에 훨씬 큰 영향을 줄 수 있다</a:t>
            </a:r>
            <a:r>
              <a:rPr lang="en-US" altLang="ko-KR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. </a:t>
            </a:r>
            <a:br>
              <a:rPr lang="en-US" altLang="ko-KR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</a:br>
            <a:r>
              <a:rPr lang="en-US" altLang="ko-KR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 </a:t>
            </a:r>
            <a:r>
              <a:rPr lang="ko-KR" altLang="en-US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일부 특성</a:t>
            </a:r>
            <a:r>
              <a:rPr lang="en-US" altLang="ko-KR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(</a:t>
            </a:r>
            <a:r>
              <a:rPr lang="ko-KR" altLang="en-US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주성분</a:t>
            </a:r>
            <a:r>
              <a:rPr lang="en-US" altLang="ko-KR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, Principal Component)</a:t>
            </a:r>
            <a:r>
              <a:rPr lang="ko-KR" altLang="en-US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만 사용 </a:t>
            </a:r>
            <a:br>
              <a:rPr lang="en-US" altLang="ko-KR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</a:br>
            <a:r>
              <a:rPr lang="en-US" altLang="ko-KR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 </a:t>
            </a:r>
            <a:r>
              <a:rPr lang="ko-KR" altLang="en-US" dirty="0">
                <a:solidFill>
                  <a:schemeClr val="bg1">
                    <a:lumMod val="75000"/>
                  </a:schemeClr>
                </a:solidFill>
              </a:rPr>
              <a:t>주성분 분석</a:t>
            </a:r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>(PCA, PC Analysis)</a:t>
            </a:r>
            <a:endParaRPr lang="ko-KR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BDBD31-6B92-44AA-A54C-D51A1362B3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25039391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36CFB1-6C86-4781-88D3-FACD150FB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이번 섹션에서는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98D25F-52B2-4B17-80F6-F675C5895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300</a:t>
            </a:r>
            <a:r>
              <a:rPr lang="ko-KR" altLang="en-US" dirty="0"/>
              <a:t>개의 과일사진 불러오기</a:t>
            </a:r>
            <a:endParaRPr lang="en-US" altLang="ko-KR" dirty="0"/>
          </a:p>
          <a:p>
            <a:pPr lvl="1"/>
            <a:r>
              <a:rPr lang="ko-KR" altLang="en-US" dirty="0"/>
              <a:t>사과</a:t>
            </a:r>
            <a:r>
              <a:rPr lang="en-US" altLang="ko-KR" dirty="0"/>
              <a:t>, </a:t>
            </a:r>
            <a:r>
              <a:rPr lang="ko-KR" altLang="en-US" dirty="0"/>
              <a:t>파인애플</a:t>
            </a:r>
            <a:r>
              <a:rPr lang="en-US" altLang="ko-KR" dirty="0"/>
              <a:t>, </a:t>
            </a:r>
            <a:r>
              <a:rPr lang="ko-KR" altLang="en-US" dirty="0"/>
              <a:t>바나나 각 </a:t>
            </a:r>
            <a:r>
              <a:rPr lang="en-US" altLang="ko-KR" dirty="0"/>
              <a:t>100</a:t>
            </a:r>
            <a:r>
              <a:rPr lang="ko-KR" altLang="en-US" dirty="0"/>
              <a:t>개</a:t>
            </a:r>
            <a:endParaRPr lang="en-US" altLang="ko-KR" dirty="0"/>
          </a:p>
          <a:p>
            <a:pPr lvl="1"/>
            <a:r>
              <a:rPr lang="en-US" altLang="ko-KR" dirty="0"/>
              <a:t>100x100 pixel</a:t>
            </a:r>
            <a:r>
              <a:rPr lang="ko-KR" altLang="en-US" dirty="0"/>
              <a:t>의 </a:t>
            </a:r>
            <a:r>
              <a:rPr lang="en-US" altLang="ko-KR" dirty="0"/>
              <a:t>bitmap </a:t>
            </a:r>
            <a:r>
              <a:rPr lang="ko-KR" altLang="en-US" dirty="0"/>
              <a:t>이미지 </a:t>
            </a:r>
            <a:r>
              <a:rPr lang="en-US" altLang="ko-KR" dirty="0"/>
              <a:t>(256 gray level)</a:t>
            </a:r>
          </a:p>
          <a:p>
            <a:r>
              <a:rPr lang="en-US" altLang="ko-KR" dirty="0"/>
              <a:t>k-</a:t>
            </a:r>
            <a:r>
              <a:rPr lang="ko-KR" altLang="en-US" dirty="0"/>
              <a:t>평균 알고리즘</a:t>
            </a:r>
            <a:endParaRPr lang="en-US" altLang="ko-KR" dirty="0"/>
          </a:p>
          <a:p>
            <a:pPr lvl="1"/>
            <a:r>
              <a:rPr lang="en-US" altLang="ko-KR" dirty="0"/>
              <a:t>k-</a:t>
            </a:r>
            <a:r>
              <a:rPr lang="ko-KR" altLang="en-US" dirty="0"/>
              <a:t>평균</a:t>
            </a:r>
            <a:r>
              <a:rPr lang="en-US" altLang="ko-KR" dirty="0"/>
              <a:t>(k-means)?</a:t>
            </a:r>
          </a:p>
          <a:p>
            <a:pPr lvl="1"/>
            <a:r>
              <a:rPr lang="en-US" altLang="ko-KR" dirty="0"/>
              <a:t>k-</a:t>
            </a:r>
            <a:r>
              <a:rPr lang="ko-KR" altLang="en-US" dirty="0"/>
              <a:t>평균 알고리즘</a:t>
            </a:r>
            <a:endParaRPr lang="en-US" altLang="ko-KR" dirty="0"/>
          </a:p>
          <a:p>
            <a:pPr lvl="1"/>
            <a:r>
              <a:rPr lang="en-US" altLang="ko-KR" dirty="0"/>
              <a:t>Cluster Center(=k-mean)</a:t>
            </a:r>
          </a:p>
          <a:p>
            <a:r>
              <a:rPr lang="ko-KR" altLang="en-US" dirty="0"/>
              <a:t>최적의 </a:t>
            </a:r>
            <a:r>
              <a:rPr lang="en-US" altLang="ko-KR" dirty="0"/>
              <a:t>k </a:t>
            </a:r>
            <a:r>
              <a:rPr lang="ko-KR" altLang="en-US" dirty="0"/>
              <a:t>찾기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CBA787-835F-4E91-AB2F-E766DCC677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16823797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E322E7-2A41-4DAD-BF8A-FBD003389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k-</a:t>
            </a:r>
            <a:r>
              <a:rPr lang="ko-KR" altLang="en-US" dirty="0"/>
              <a:t>평균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B55212-B96B-444C-B68A-900C80771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절에서는</a:t>
            </a:r>
            <a:endParaRPr lang="en-US" altLang="ko-KR" dirty="0"/>
          </a:p>
          <a:p>
            <a:pPr lvl="1"/>
            <a:r>
              <a:rPr lang="ko-KR" altLang="en-US" dirty="0"/>
              <a:t>각 사진이 사과</a:t>
            </a:r>
            <a:r>
              <a:rPr lang="en-US" altLang="ko-KR" dirty="0"/>
              <a:t>, </a:t>
            </a:r>
            <a:r>
              <a:rPr lang="ko-KR" altLang="en-US" dirty="0"/>
              <a:t>파인애플</a:t>
            </a:r>
            <a:r>
              <a:rPr lang="en-US" altLang="ko-KR" dirty="0"/>
              <a:t>, </a:t>
            </a:r>
            <a:r>
              <a:rPr lang="ko-KR" altLang="en-US" dirty="0"/>
              <a:t>바나나임을 미리 알고 있었음</a:t>
            </a:r>
            <a:endParaRPr lang="en-US" altLang="ko-KR" dirty="0"/>
          </a:p>
          <a:p>
            <a:pPr lvl="1"/>
            <a:r>
              <a:rPr lang="ko-KR" altLang="en-US" dirty="0"/>
              <a:t>그러므로 각 과일의 평균을 명확하게 구할 수 있음</a:t>
            </a:r>
            <a:endParaRPr lang="en-US" altLang="ko-KR" dirty="0"/>
          </a:p>
          <a:p>
            <a:r>
              <a:rPr lang="ko-KR" altLang="en-US" dirty="0"/>
              <a:t>이번 절에서는</a:t>
            </a:r>
            <a:endParaRPr lang="en-US" altLang="ko-KR" dirty="0"/>
          </a:p>
          <a:p>
            <a:pPr lvl="1"/>
            <a:r>
              <a:rPr lang="ko-KR" altLang="en-US" dirty="0"/>
              <a:t>각 사진이 어떤 과일인지 알지 못함</a:t>
            </a:r>
            <a:endParaRPr lang="en-US" altLang="ko-KR" dirty="0"/>
          </a:p>
          <a:p>
            <a:pPr lvl="1"/>
            <a:r>
              <a:rPr lang="ko-KR" altLang="en-US" dirty="0"/>
              <a:t>이 경우의 각 과일</a:t>
            </a:r>
            <a:r>
              <a:rPr lang="en-US" altLang="ko-KR" dirty="0"/>
              <a:t>(cluster)</a:t>
            </a:r>
            <a:r>
              <a:rPr lang="ko-KR" altLang="en-US" dirty="0"/>
              <a:t>의 평균을 어떻게 구할 것인가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 k-</a:t>
            </a:r>
            <a:r>
              <a:rPr lang="ko-KR" altLang="en-US" dirty="0">
                <a:sym typeface="Wingdings" panose="05000000000000000000" pitchFamily="2" charset="2"/>
              </a:rPr>
              <a:t>평균 군집 알고리즘</a:t>
            </a:r>
            <a:r>
              <a:rPr lang="en-US" altLang="ko-KR" dirty="0">
                <a:sym typeface="Wingdings" panose="05000000000000000000" pitchFamily="2" charset="2"/>
              </a:rPr>
              <a:t>(k-means clustering algorithm)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각 군집의 평균값 </a:t>
            </a:r>
            <a:r>
              <a:rPr lang="en-US" altLang="ko-KR" dirty="0">
                <a:sym typeface="Wingdings" panose="05000000000000000000" pitchFamily="2" charset="2"/>
              </a:rPr>
              <a:t>	= </a:t>
            </a:r>
            <a:r>
              <a:rPr lang="ko-KR" altLang="en-US" dirty="0">
                <a:sym typeface="Wingdings" panose="05000000000000000000" pitchFamily="2" charset="2"/>
              </a:rPr>
              <a:t>클러스터 중심</a:t>
            </a:r>
            <a:r>
              <a:rPr lang="en-US" altLang="ko-KR" dirty="0">
                <a:sym typeface="Wingdings" panose="05000000000000000000" pitchFamily="2" charset="2"/>
              </a:rPr>
              <a:t>(cluster center)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			  	= </a:t>
            </a:r>
            <a:r>
              <a:rPr lang="ko-KR" altLang="en-US" dirty="0" err="1">
                <a:sym typeface="Wingdings" panose="05000000000000000000" pitchFamily="2" charset="2"/>
              </a:rPr>
              <a:t>센트로이드</a:t>
            </a:r>
            <a:r>
              <a:rPr lang="en-US" altLang="ko-KR" dirty="0">
                <a:sym typeface="Wingdings" panose="05000000000000000000" pitchFamily="2" charset="2"/>
              </a:rPr>
              <a:t>(centroid)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089F81-5F01-4CA9-ABC2-B6761B8A2F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83600739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82F39F-2902-4BAC-938D-9EE7A368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k-</a:t>
            </a:r>
            <a:r>
              <a:rPr lang="ko-KR" altLang="en-US" dirty="0"/>
              <a:t>평균 알고리즘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31E0FE-840C-426B-BDF3-0288C80C8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작동 방식</a:t>
            </a:r>
            <a:endParaRPr lang="en-US" altLang="ko-KR" dirty="0"/>
          </a:p>
          <a:p>
            <a:pPr lvl="1"/>
            <a:r>
              <a:rPr lang="ko-KR" altLang="en-US" dirty="0"/>
              <a:t>무작위로 </a:t>
            </a:r>
            <a:r>
              <a:rPr lang="en-US" altLang="ko-KR" dirty="0"/>
              <a:t>k</a:t>
            </a:r>
            <a:r>
              <a:rPr lang="ko-KR" altLang="en-US" dirty="0"/>
              <a:t>개의 </a:t>
            </a:r>
            <a:r>
              <a:rPr lang="en-US" altLang="ko-KR" dirty="0"/>
              <a:t>cluster centers</a:t>
            </a:r>
            <a:r>
              <a:rPr lang="ko-KR" altLang="en-US" dirty="0"/>
              <a:t>를 정함</a:t>
            </a:r>
            <a:endParaRPr lang="en-US" altLang="ko-KR" dirty="0"/>
          </a:p>
          <a:p>
            <a:pPr lvl="1"/>
            <a:r>
              <a:rPr lang="ko-KR" altLang="en-US" dirty="0"/>
              <a:t>각 샘플에서 가장 가까운 클러스터 중심을 찾아 해당 클러스터의 샘플로 지정</a:t>
            </a:r>
            <a:endParaRPr lang="en-US" altLang="ko-KR" dirty="0"/>
          </a:p>
          <a:p>
            <a:pPr lvl="1"/>
            <a:r>
              <a:rPr lang="ko-KR" altLang="en-US" dirty="0"/>
              <a:t>클러스터에 속한 샘플의 평균값으로 클러스터의 중심을 변경</a:t>
            </a:r>
            <a:endParaRPr lang="en-US" altLang="ko-KR" dirty="0"/>
          </a:p>
          <a:p>
            <a:pPr lvl="1"/>
            <a:r>
              <a:rPr lang="ko-KR" altLang="en-US" dirty="0"/>
              <a:t>클러스터의 중심에 변화가 없을 때까지 </a:t>
            </a:r>
            <a:r>
              <a:rPr lang="en-US" altLang="ko-KR" dirty="0"/>
              <a:t>2</a:t>
            </a:r>
            <a:r>
              <a:rPr lang="ko-KR" altLang="en-US" dirty="0"/>
              <a:t>번으로 돌아가 반복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0A5AF6-EC8F-41EA-BFCB-A7090271CA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61E8B08-4723-44CA-9991-4D68ABEB8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3740944"/>
            <a:ext cx="3744416" cy="25081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B29AD3-49F0-44B8-B9C9-858EE2EE9680}"/>
              </a:ext>
            </a:extLst>
          </p:cNvPr>
          <p:cNvSpPr txBox="1"/>
          <p:nvPr/>
        </p:nvSpPr>
        <p:spPr>
          <a:xfrm>
            <a:off x="1691680" y="6245718"/>
            <a:ext cx="51845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&lt;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출처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: https://stanford.edu/&gt;</a:t>
            </a:r>
            <a:endParaRPr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0453210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2C2D24-C87C-4D13-A26D-F661B948D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과일 사진 불러오기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2916E0-614E-4940-859B-E4D670DE9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사과</a:t>
            </a:r>
            <a:r>
              <a:rPr lang="en-US" altLang="ko-KR" dirty="0"/>
              <a:t>, </a:t>
            </a:r>
            <a:r>
              <a:rPr lang="ko-KR" altLang="en-US" dirty="0"/>
              <a:t>파인애플</a:t>
            </a:r>
            <a:r>
              <a:rPr lang="en-US" altLang="ko-KR" dirty="0"/>
              <a:t>, </a:t>
            </a:r>
            <a:r>
              <a:rPr lang="ko-KR" altLang="en-US" dirty="0"/>
              <a:t>바나나의 흑백 사진</a:t>
            </a:r>
            <a:r>
              <a:rPr lang="en-US" altLang="ko-KR" dirty="0"/>
              <a:t>(100x100)</a:t>
            </a:r>
            <a:r>
              <a:rPr lang="ko-KR" altLang="en-US" dirty="0"/>
              <a:t>을 읽어 </a:t>
            </a:r>
            <a:r>
              <a:rPr lang="en-US" altLang="ko-KR" dirty="0"/>
              <a:t>fruits_300.npy </a:t>
            </a:r>
            <a:r>
              <a:rPr lang="ko-KR" altLang="en-US" dirty="0"/>
              <a:t>파일에 저장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넘파이</a:t>
            </a:r>
            <a:r>
              <a:rPr lang="ko-KR" altLang="en-US" dirty="0"/>
              <a:t> 배열 준비</a:t>
            </a:r>
            <a:endParaRPr lang="en-US" altLang="ko-KR" dirty="0"/>
          </a:p>
          <a:p>
            <a:pPr lvl="1"/>
            <a:r>
              <a:rPr lang="ko-KR" altLang="en-US" dirty="0"/>
              <a:t>훈련을 위해 </a:t>
            </a:r>
            <a:r>
              <a:rPr lang="en-US" altLang="ko-KR" dirty="0"/>
              <a:t>2</a:t>
            </a:r>
            <a:r>
              <a:rPr lang="ko-KR" altLang="en-US" dirty="0"/>
              <a:t>차원 배열</a:t>
            </a:r>
            <a:r>
              <a:rPr lang="en-US" altLang="ko-KR" dirty="0"/>
              <a:t>(</a:t>
            </a:r>
            <a:r>
              <a:rPr lang="ko-KR" altLang="en-US" dirty="0"/>
              <a:t>샘플 개수</a:t>
            </a:r>
            <a:r>
              <a:rPr lang="en-US" altLang="ko-KR" dirty="0"/>
              <a:t>, </a:t>
            </a:r>
            <a:r>
              <a:rPr lang="ko-KR" altLang="en-US" dirty="0"/>
              <a:t>너비</a:t>
            </a:r>
            <a:r>
              <a:rPr lang="en-US" altLang="ko-KR" dirty="0"/>
              <a:t>x</a:t>
            </a:r>
            <a:r>
              <a:rPr lang="ko-KR" altLang="en-US" dirty="0"/>
              <a:t>높이</a:t>
            </a:r>
            <a:r>
              <a:rPr lang="en-US" altLang="ko-KR" dirty="0"/>
              <a:t>)</a:t>
            </a:r>
            <a:r>
              <a:rPr lang="ko-KR" altLang="en-US" dirty="0"/>
              <a:t>로 변환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BC33C2-01C9-4831-9FD3-1B23664BB9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CC4CD37-6A79-48CB-8AA9-ABB693CEC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403" y="1988840"/>
            <a:ext cx="5672920" cy="5040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5D69608-3654-4C36-9CFE-929A95312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403" y="4005064"/>
            <a:ext cx="4659243" cy="93610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15823203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520557-F226-4D05-AD3C-0F28AC7F2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k-means </a:t>
            </a:r>
            <a:r>
              <a:rPr lang="ko-KR" altLang="en-US" dirty="0"/>
              <a:t>알고리즘 적용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948BA0-AAD9-4F81-A06A-E1CB41AE9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sklearn.cluster</a:t>
            </a:r>
            <a:r>
              <a:rPr lang="en-US" altLang="ko-KR" dirty="0"/>
              <a:t> </a:t>
            </a:r>
            <a:r>
              <a:rPr lang="ko-KR" altLang="en-US" dirty="0"/>
              <a:t>모듈의 </a:t>
            </a:r>
            <a:r>
              <a:rPr lang="en-US" altLang="ko-KR" dirty="0" err="1"/>
              <a:t>KMeans</a:t>
            </a:r>
            <a:r>
              <a:rPr lang="en-US" altLang="ko-KR" dirty="0"/>
              <a:t> </a:t>
            </a:r>
            <a:r>
              <a:rPr lang="ko-KR" altLang="en-US" dirty="0"/>
              <a:t>클래스 활용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각 과일이 어떤 </a:t>
            </a:r>
            <a:r>
              <a:rPr lang="en-US" altLang="ko-KR" dirty="0"/>
              <a:t>cluster</a:t>
            </a:r>
            <a:r>
              <a:rPr lang="ko-KR" altLang="en-US" dirty="0"/>
              <a:t>로 지정되었는지</a:t>
            </a:r>
            <a:r>
              <a:rPr lang="en-US" altLang="ko-KR" dirty="0"/>
              <a:t>, </a:t>
            </a:r>
            <a:r>
              <a:rPr lang="ko-KR" altLang="en-US" dirty="0"/>
              <a:t>각 군집이 모은 샘플의 개수가 </a:t>
            </a:r>
            <a:r>
              <a:rPr lang="ko-KR" altLang="en-US" dirty="0" err="1"/>
              <a:t>어떤지</a:t>
            </a:r>
            <a:r>
              <a:rPr lang="ko-KR" altLang="en-US" dirty="0"/>
              <a:t> 확인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1712CE-64E1-4B9A-950D-28B9003A5B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8BA8CF1-1081-4BAB-91DF-958F07836CEC}"/>
              </a:ext>
            </a:extLst>
          </p:cNvPr>
          <p:cNvSpPr/>
          <p:nvPr/>
        </p:nvSpPr>
        <p:spPr>
          <a:xfrm>
            <a:off x="507051" y="2382217"/>
            <a:ext cx="8359086" cy="601970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n-clusters: </a:t>
            </a:r>
            <a:r>
              <a:rPr lang="ko-KR" altLang="en-US" dirty="0">
                <a:solidFill>
                  <a:schemeClr val="tx1"/>
                </a:solidFill>
              </a:rPr>
              <a:t>클러스터 개수를 지정하는 매개변수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여기서는 </a:t>
            </a:r>
            <a:r>
              <a:rPr lang="en-US" altLang="ko-KR" dirty="0">
                <a:solidFill>
                  <a:schemeClr val="tx1"/>
                </a:solidFill>
              </a:rPr>
              <a:t>3</a:t>
            </a:r>
            <a:r>
              <a:rPr lang="ko-KR" altLang="en-US" dirty="0">
                <a:solidFill>
                  <a:schemeClr val="tx1"/>
                </a:solidFill>
              </a:rPr>
              <a:t>으로 지정</a:t>
            </a:r>
            <a:r>
              <a:rPr lang="en-US" altLang="ko-KR" dirty="0">
                <a:solidFill>
                  <a:srgbClr val="FF0000"/>
                </a:solidFill>
              </a:rPr>
              <a:t>(?)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비지도 학습이므로 </a:t>
            </a:r>
            <a:r>
              <a:rPr lang="en-US" altLang="ko-KR" dirty="0">
                <a:solidFill>
                  <a:schemeClr val="tx1"/>
                </a:solidFill>
              </a:rPr>
              <a:t>fit()</a:t>
            </a:r>
            <a:r>
              <a:rPr lang="ko-KR" altLang="en-US" dirty="0">
                <a:solidFill>
                  <a:schemeClr val="tx1"/>
                </a:solidFill>
              </a:rPr>
              <a:t>에 타깃 데이터를 사용하지 않음</a:t>
            </a:r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1B2273C-CC83-4B08-A3D6-1AF89EBC3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51" y="1484784"/>
            <a:ext cx="4502903" cy="8640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1A683A93-A06A-462E-B262-EA1F3A38FED5}"/>
              </a:ext>
            </a:extLst>
          </p:cNvPr>
          <p:cNvSpPr/>
          <p:nvPr/>
        </p:nvSpPr>
        <p:spPr>
          <a:xfrm>
            <a:off x="507051" y="4509120"/>
            <a:ext cx="8359086" cy="432048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labels_ </a:t>
            </a:r>
            <a:r>
              <a:rPr lang="ko-KR" altLang="en-US" dirty="0">
                <a:solidFill>
                  <a:schemeClr val="tx1"/>
                </a:solidFill>
              </a:rPr>
              <a:t>속성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 err="1">
                <a:solidFill>
                  <a:schemeClr val="tx1"/>
                </a:solidFill>
              </a:rPr>
              <a:t>군집된</a:t>
            </a:r>
            <a:r>
              <a:rPr lang="ko-KR" altLang="en-US" dirty="0">
                <a:solidFill>
                  <a:schemeClr val="tx1"/>
                </a:solidFill>
              </a:rPr>
              <a:t> 결과를 저장</a:t>
            </a:r>
            <a:r>
              <a:rPr lang="en-US" altLang="ko-KR" dirty="0">
                <a:solidFill>
                  <a:schemeClr val="tx1"/>
                </a:solidFill>
              </a:rPr>
              <a:t>. </a:t>
            </a:r>
            <a:r>
              <a:rPr lang="ko-KR" altLang="en-US" dirty="0">
                <a:solidFill>
                  <a:schemeClr val="tx1"/>
                </a:solidFill>
              </a:rPr>
              <a:t>샘플 개수를 길이로 하는 배열</a:t>
            </a:r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8207E6D-9838-4A28-9DED-04810ABAD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778" y="3945821"/>
            <a:ext cx="4977326" cy="5097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DE99E75-671C-45E2-ACB3-25CC995C31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4994468"/>
            <a:ext cx="4347702" cy="1523013"/>
          </a:xfrm>
          <a:prstGeom prst="rect">
            <a:avLst/>
          </a:prstGeom>
        </p:spPr>
      </p:pic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72BA23AA-8638-4AFE-9CC8-631E7B04AD1D}"/>
              </a:ext>
            </a:extLst>
          </p:cNvPr>
          <p:cNvSpPr/>
          <p:nvPr/>
        </p:nvSpPr>
        <p:spPr>
          <a:xfrm rot="2329508">
            <a:off x="2443732" y="5368416"/>
            <a:ext cx="1151419" cy="192816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9813811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E53FD0-F727-4EE2-9B1D-BA6441090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클러스터별 이미지 보기 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F4F6D4EB-090E-4D0D-A270-3895D9B615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9512" y="1124744"/>
            <a:ext cx="8781627" cy="43204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E029D2-89A4-4CB7-921D-9E1812AFEB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DD9635B-530F-463D-BFB8-E5BFE6351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12" y="5517232"/>
            <a:ext cx="3929578" cy="93610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27EB3641-698E-4DF5-A56C-77141124983A}"/>
              </a:ext>
            </a:extLst>
          </p:cNvPr>
          <p:cNvSpPr/>
          <p:nvPr/>
        </p:nvSpPr>
        <p:spPr>
          <a:xfrm>
            <a:off x="4378970" y="5510108"/>
            <a:ext cx="4582169" cy="1008112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Boolean Indexing</a:t>
            </a: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 (in</a:t>
            </a:r>
            <a:r>
              <a:rPr lang="ko-KR" altLang="en-US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Chapter 4)</a:t>
            </a:r>
          </a:p>
          <a:p>
            <a:r>
              <a:rPr lang="en-US" altLang="ko-KR" dirty="0" err="1">
                <a:solidFill>
                  <a:schemeClr val="tx1"/>
                </a:solidFill>
                <a:sym typeface="Wingdings" panose="05000000000000000000" pitchFamily="2" charset="2"/>
              </a:rPr>
              <a:t>km.lab</a:t>
            </a:r>
            <a:r>
              <a:rPr lang="en-US" altLang="ko-KR" dirty="0" err="1">
                <a:solidFill>
                  <a:schemeClr val="tx1"/>
                </a:solidFill>
              </a:rPr>
              <a:t>els</a:t>
            </a:r>
            <a:r>
              <a:rPr lang="en-US" altLang="ko-KR" dirty="0">
                <a:solidFill>
                  <a:schemeClr val="tx1"/>
                </a:solidFill>
              </a:rPr>
              <a:t>_==0</a:t>
            </a:r>
            <a:r>
              <a:rPr lang="ko-KR" altLang="en-US" dirty="0">
                <a:solidFill>
                  <a:schemeClr val="tx1"/>
                </a:solidFill>
              </a:rPr>
              <a:t>과 같이 쓰면 </a:t>
            </a:r>
            <a:r>
              <a:rPr lang="en-US" altLang="ko-KR" dirty="0" err="1">
                <a:solidFill>
                  <a:schemeClr val="tx1"/>
                </a:solidFill>
              </a:rPr>
              <a:t>km.labels</a:t>
            </a:r>
            <a:r>
              <a:rPr lang="en-US" altLang="ko-KR" dirty="0">
                <a:solidFill>
                  <a:schemeClr val="tx1"/>
                </a:solidFill>
              </a:rPr>
              <a:t>_ </a:t>
            </a:r>
            <a:r>
              <a:rPr lang="ko-KR" altLang="en-US" dirty="0">
                <a:solidFill>
                  <a:schemeClr val="tx1"/>
                </a:solidFill>
              </a:rPr>
              <a:t>배열에서 값이 </a:t>
            </a:r>
            <a:r>
              <a:rPr lang="en-US" altLang="ko-KR" dirty="0">
                <a:solidFill>
                  <a:schemeClr val="tx1"/>
                </a:solidFill>
              </a:rPr>
              <a:t>0</a:t>
            </a:r>
            <a:r>
              <a:rPr lang="ko-KR" altLang="en-US" dirty="0">
                <a:solidFill>
                  <a:schemeClr val="tx1"/>
                </a:solidFill>
              </a:rPr>
              <a:t>인 위치는 </a:t>
            </a:r>
            <a:r>
              <a:rPr lang="en-US" altLang="ko-KR" dirty="0">
                <a:solidFill>
                  <a:schemeClr val="tx1"/>
                </a:solidFill>
              </a:rPr>
              <a:t>True, </a:t>
            </a:r>
            <a:r>
              <a:rPr lang="ko-KR" altLang="en-US" dirty="0">
                <a:solidFill>
                  <a:schemeClr val="tx1"/>
                </a:solidFill>
              </a:rPr>
              <a:t>그 외는 </a:t>
            </a:r>
            <a:r>
              <a:rPr lang="en-US" altLang="ko-KR" dirty="0">
                <a:solidFill>
                  <a:schemeClr val="tx1"/>
                </a:solidFill>
              </a:rPr>
              <a:t>False. </a:t>
            </a:r>
            <a:r>
              <a:rPr lang="ko-KR" altLang="en-US" dirty="0">
                <a:solidFill>
                  <a:schemeClr val="tx1"/>
                </a:solidFill>
              </a:rPr>
              <a:t>이를 이용하여 원소 선택 </a:t>
            </a:r>
            <a:endParaRPr lang="en-US" altLang="ko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852297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E53FD0-F727-4EE2-9B1D-BA6441090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클러스터별 이미지 보기 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E029D2-89A4-4CB7-921D-9E1812AFEB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B5A11CC1-F0F4-4451-9233-0DED4B9B5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군집의 결과</a:t>
            </a:r>
            <a:r>
              <a:rPr lang="en-US" altLang="ko-KR" dirty="0"/>
              <a:t>: 111, 98, 91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EE0F831-8EE0-4C20-9E20-3F6AB3E51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11" y="2601596"/>
            <a:ext cx="2737421" cy="313166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EB091E5-8444-44CD-B3DC-872CB600E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6443" y="2602897"/>
            <a:ext cx="2711114" cy="25922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6EA613F-82A7-4112-BA0E-4EBF95C9E1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0525" y="2601596"/>
            <a:ext cx="2657564" cy="2583053"/>
          </a:xfrm>
          <a:prstGeom prst="rect">
            <a:avLst/>
          </a:prstGeom>
        </p:spPr>
      </p:pic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DABDCA22-C44B-4EB8-AE3F-673008CCFFDC}"/>
              </a:ext>
            </a:extLst>
          </p:cNvPr>
          <p:cNvSpPr/>
          <p:nvPr/>
        </p:nvSpPr>
        <p:spPr>
          <a:xfrm rot="7803921">
            <a:off x="1632964" y="1870600"/>
            <a:ext cx="1128877" cy="192360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3EC15836-27F3-450D-836D-64A59049C936}"/>
              </a:ext>
            </a:extLst>
          </p:cNvPr>
          <p:cNvSpPr/>
          <p:nvPr/>
        </p:nvSpPr>
        <p:spPr>
          <a:xfrm rot="3100170">
            <a:off x="3068343" y="1866234"/>
            <a:ext cx="1147702" cy="178088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95AA0527-9F7B-4419-BCB3-52BE11600F60}"/>
              </a:ext>
            </a:extLst>
          </p:cNvPr>
          <p:cNvSpPr/>
          <p:nvPr/>
        </p:nvSpPr>
        <p:spPr>
          <a:xfrm rot="1155178">
            <a:off x="3873563" y="1875981"/>
            <a:ext cx="2871723" cy="181597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9542568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7409A7-E24F-4024-A61E-0AFF21676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Cluster Center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89F9B1-7580-4974-931F-2051662D7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클러스터 중심 그림 그리기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278B9B-0A22-4977-8E9F-02390FD0CE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CF17A22-6E20-4B9F-94F4-E02F391A0467}"/>
              </a:ext>
            </a:extLst>
          </p:cNvPr>
          <p:cNvSpPr/>
          <p:nvPr/>
        </p:nvSpPr>
        <p:spPr>
          <a:xfrm>
            <a:off x="539552" y="2164969"/>
            <a:ext cx="6192688" cy="529962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ratio</a:t>
            </a:r>
            <a:r>
              <a:rPr lang="ko-KR" altLang="en-US" dirty="0">
                <a:solidFill>
                  <a:schemeClr val="tx1"/>
                </a:solidFill>
              </a:rPr>
              <a:t>는 그림의 크기 배율 지정</a:t>
            </a:r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chemeClr val="tx1"/>
                </a:solidFill>
              </a:rPr>
              <a:t>cluster_centers</a:t>
            </a:r>
            <a:r>
              <a:rPr lang="en-US" altLang="ko-KR" dirty="0">
                <a:solidFill>
                  <a:schemeClr val="tx1"/>
                </a:solidFill>
              </a:rPr>
              <a:t>_ </a:t>
            </a:r>
            <a:r>
              <a:rPr lang="ko-KR" altLang="en-US" dirty="0">
                <a:solidFill>
                  <a:schemeClr val="tx1"/>
                </a:solidFill>
              </a:rPr>
              <a:t>속성은 </a:t>
            </a:r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센터 수</a:t>
            </a:r>
            <a:r>
              <a:rPr lang="en-US" altLang="ko-KR" dirty="0">
                <a:solidFill>
                  <a:schemeClr val="tx1"/>
                </a:solidFill>
              </a:rPr>
              <a:t>, 100x100</a:t>
            </a:r>
            <a:r>
              <a:rPr lang="ko-KR" altLang="en-US" dirty="0">
                <a:solidFill>
                  <a:schemeClr val="tx1"/>
                </a:solidFill>
              </a:rPr>
              <a:t>의 배열</a:t>
            </a:r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AED0A41-DE23-4BFC-9DC2-AEDF01277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484784"/>
            <a:ext cx="7044143" cy="57606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DBA66046-49CE-48DD-B797-5AA20C9989AC}"/>
              </a:ext>
            </a:extLst>
          </p:cNvPr>
          <p:cNvSpPr/>
          <p:nvPr/>
        </p:nvSpPr>
        <p:spPr>
          <a:xfrm rot="3225212">
            <a:off x="1111068" y="3053398"/>
            <a:ext cx="672613" cy="151039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05AC8AE-BE0C-447A-93CA-9C274B99E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2924944"/>
            <a:ext cx="4940554" cy="172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425311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A96DC3-6C57-4744-A7C6-3F93294ED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클러스터 중심까지의 거리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041EEC-9709-4795-A5CA-C6990AC70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100</a:t>
            </a:r>
            <a:r>
              <a:rPr lang="ko-KR" altLang="en-US" dirty="0"/>
              <a:t>번째 샘플에 대한 클러스터 중심들까지의 거리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알고리즘 반복 회수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7609C3-6084-40FB-B182-5208773A1E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30118A7-DB6E-46EF-B269-46829CFD7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484784"/>
            <a:ext cx="8116443" cy="93610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8F6FF16-A162-4E51-B6A5-6E776BE2BF45}"/>
              </a:ext>
            </a:extLst>
          </p:cNvPr>
          <p:cNvSpPr/>
          <p:nvPr/>
        </p:nvSpPr>
        <p:spPr>
          <a:xfrm>
            <a:off x="539552" y="2538998"/>
            <a:ext cx="8116442" cy="529962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chemeClr val="tx1"/>
                </a:solidFill>
              </a:rPr>
              <a:t>km.transform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en-US" altLang="ko-KR" i="1" dirty="0">
                <a:solidFill>
                  <a:schemeClr val="tx1"/>
                </a:solidFill>
              </a:rPr>
              <a:t>sample</a:t>
            </a:r>
            <a:r>
              <a:rPr lang="en-US" altLang="ko-KR" dirty="0">
                <a:solidFill>
                  <a:schemeClr val="tx1"/>
                </a:solidFill>
              </a:rPr>
              <a:t>): sample</a:t>
            </a:r>
            <a:r>
              <a:rPr lang="ko-KR" altLang="en-US" dirty="0">
                <a:solidFill>
                  <a:schemeClr val="tx1"/>
                </a:solidFill>
              </a:rPr>
              <a:t>로부터 </a:t>
            </a:r>
            <a:r>
              <a:rPr lang="en-US" altLang="ko-KR" dirty="0" err="1">
                <a:solidFill>
                  <a:schemeClr val="tx1"/>
                </a:solidFill>
              </a:rPr>
              <a:t>cluster_centers</a:t>
            </a:r>
            <a:r>
              <a:rPr lang="en-US" altLang="ko-KR" dirty="0">
                <a:solidFill>
                  <a:schemeClr val="tx1"/>
                </a:solidFill>
              </a:rPr>
              <a:t>_</a:t>
            </a:r>
            <a:r>
              <a:rPr lang="ko-KR" altLang="en-US" dirty="0">
                <a:solidFill>
                  <a:schemeClr val="tx1"/>
                </a:solidFill>
              </a:rPr>
              <a:t>까지의 거리로 변환 </a:t>
            </a:r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predict(</a:t>
            </a:r>
            <a:r>
              <a:rPr lang="en-US" altLang="ko-KR" i="1" dirty="0">
                <a:solidFill>
                  <a:schemeClr val="tx1"/>
                </a:solidFill>
              </a:rPr>
              <a:t>sample</a:t>
            </a:r>
            <a:r>
              <a:rPr lang="en-US" altLang="ko-KR" dirty="0">
                <a:solidFill>
                  <a:schemeClr val="tx1"/>
                </a:solidFill>
              </a:rPr>
              <a:t>): sample</a:t>
            </a:r>
            <a:r>
              <a:rPr lang="ko-KR" altLang="en-US" dirty="0">
                <a:solidFill>
                  <a:schemeClr val="tx1"/>
                </a:solidFill>
              </a:rPr>
              <a:t>의 </a:t>
            </a:r>
            <a:r>
              <a:rPr lang="en-US" altLang="ko-KR" dirty="0">
                <a:solidFill>
                  <a:schemeClr val="tx1"/>
                </a:solidFill>
              </a:rPr>
              <a:t>cluster </a:t>
            </a:r>
            <a:r>
              <a:rPr lang="ko-KR" altLang="en-US" dirty="0">
                <a:solidFill>
                  <a:schemeClr val="tx1"/>
                </a:solidFill>
              </a:rPr>
              <a:t>예측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F19261A8-508D-4F8A-BEDC-4875B81934BC}"/>
              </a:ext>
            </a:extLst>
          </p:cNvPr>
          <p:cNvSpPr/>
          <p:nvPr/>
        </p:nvSpPr>
        <p:spPr>
          <a:xfrm rot="3225212">
            <a:off x="1111067" y="3464419"/>
            <a:ext cx="672613" cy="151039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A553BD7-C505-462B-91A3-2EDF0B1BA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649" y="3796745"/>
            <a:ext cx="3866463" cy="123233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201F8FB-8602-493D-BC35-5D803A73E3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5647466"/>
            <a:ext cx="4677815" cy="3738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6B28EAF0-8C46-4441-B59D-6B87E145BD80}"/>
              </a:ext>
            </a:extLst>
          </p:cNvPr>
          <p:cNvSpPr/>
          <p:nvPr/>
        </p:nvSpPr>
        <p:spPr>
          <a:xfrm>
            <a:off x="5571563" y="5734670"/>
            <a:ext cx="364589" cy="178319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B8E8B17-ED90-40CF-A71F-5BBB576B3F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1443" y="5680065"/>
            <a:ext cx="242765" cy="26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939616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F5965D-77A1-4059-97D8-B8F635D48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최적의 </a:t>
            </a:r>
            <a:r>
              <a:rPr lang="en-US" altLang="ko-KR" dirty="0"/>
              <a:t>k </a:t>
            </a:r>
            <a:r>
              <a:rPr lang="ko-KR" altLang="en-US" dirty="0"/>
              <a:t>찾기 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512410-51AB-48F4-84FC-10F5818E4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/>
              <a:t>지금까지 </a:t>
            </a:r>
            <a:r>
              <a:rPr lang="en-US" altLang="ko-KR" dirty="0"/>
              <a:t>k</a:t>
            </a:r>
            <a:r>
              <a:rPr lang="ko-KR" altLang="en-US" dirty="0"/>
              <a:t>의 값</a:t>
            </a:r>
            <a:r>
              <a:rPr lang="en-US" altLang="ko-KR" dirty="0"/>
              <a:t>(cluster</a:t>
            </a:r>
            <a:r>
              <a:rPr lang="ko-KR" altLang="en-US" dirty="0"/>
              <a:t> 개수</a:t>
            </a:r>
            <a:r>
              <a:rPr lang="en-US" altLang="ko-KR" dirty="0"/>
              <a:t>)</a:t>
            </a:r>
            <a:r>
              <a:rPr lang="ko-KR" altLang="en-US" dirty="0"/>
              <a:t>를 지정했음</a:t>
            </a:r>
            <a:r>
              <a:rPr lang="en-US" altLang="ko-KR" dirty="0"/>
              <a:t>(</a:t>
            </a:r>
            <a:r>
              <a:rPr lang="ko-KR" altLang="en-US" dirty="0"/>
              <a:t>여기서는 </a:t>
            </a:r>
            <a:r>
              <a:rPr lang="en-US" altLang="ko-KR" dirty="0"/>
              <a:t>3)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</a:t>
            </a:r>
            <a:r>
              <a:rPr lang="ko-KR" altLang="en-US" dirty="0">
                <a:sym typeface="Wingdings" panose="05000000000000000000" pitchFamily="2" charset="2"/>
              </a:rPr>
              <a:t> 실제로는 몇 개의 클러스터가 있는지 알 수 없음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/>
              <a:t>클러스터가 몇 개 있는지 알 수 있는 완벽한 방법은 없음</a:t>
            </a:r>
            <a:endParaRPr lang="en-US" altLang="ko-KR" dirty="0"/>
          </a:p>
          <a:p>
            <a:pPr lvl="1"/>
            <a:r>
              <a:rPr lang="ko-KR" altLang="en-US" dirty="0"/>
              <a:t>몇가지 도구가 있으나 서로 장단점이 있음</a:t>
            </a:r>
            <a:endParaRPr lang="en-US" altLang="ko-KR" dirty="0"/>
          </a:p>
          <a:p>
            <a:r>
              <a:rPr lang="en-US" altLang="ko-KR" dirty="0"/>
              <a:t>Elbow </a:t>
            </a:r>
            <a:r>
              <a:rPr lang="ko-KR" altLang="en-US" dirty="0"/>
              <a:t>방법</a:t>
            </a:r>
            <a:endParaRPr lang="en-US" altLang="ko-KR" dirty="0"/>
          </a:p>
          <a:p>
            <a:pPr lvl="1"/>
            <a:r>
              <a:rPr lang="ko-KR" altLang="en-US" dirty="0" err="1"/>
              <a:t>이너셔</a:t>
            </a:r>
            <a:r>
              <a:rPr lang="en-US" altLang="ko-KR" dirty="0"/>
              <a:t>(Inertia)</a:t>
            </a:r>
          </a:p>
          <a:p>
            <a:pPr lvl="2"/>
            <a:r>
              <a:rPr lang="ko-KR" altLang="en-US" dirty="0"/>
              <a:t>클러스터 중심과 클러스터에 속한 샘플 사이의 거리의 제곱의 합</a:t>
            </a:r>
            <a:endParaRPr lang="en-US" altLang="ko-KR" dirty="0"/>
          </a:p>
          <a:p>
            <a:pPr lvl="2"/>
            <a:r>
              <a:rPr lang="ko-KR" altLang="en-US" dirty="0" err="1"/>
              <a:t>이너셔의</a:t>
            </a:r>
            <a:r>
              <a:rPr lang="ko-KR" altLang="en-US" dirty="0"/>
              <a:t> 값이 적을수록 클러스터에 속한 샘플이 더 가깝게 모여 있음</a:t>
            </a:r>
            <a:endParaRPr lang="en-US" altLang="ko-KR" dirty="0"/>
          </a:p>
          <a:p>
            <a:pPr lvl="2"/>
            <a:r>
              <a:rPr lang="ko-KR" altLang="en-US" dirty="0"/>
              <a:t>당연히 </a:t>
            </a:r>
            <a:r>
              <a:rPr lang="en-US" altLang="ko-KR" dirty="0"/>
              <a:t>cluster </a:t>
            </a:r>
            <a:r>
              <a:rPr lang="ko-KR" altLang="en-US" dirty="0"/>
              <a:t>개수를 늘이면 </a:t>
            </a:r>
            <a:r>
              <a:rPr lang="ko-KR" altLang="en-US" dirty="0" err="1"/>
              <a:t>이너셔는</a:t>
            </a:r>
            <a:r>
              <a:rPr lang="ko-KR" altLang="en-US" dirty="0"/>
              <a:t> 감소함</a:t>
            </a:r>
            <a:endParaRPr lang="en-US" altLang="ko-KR" dirty="0"/>
          </a:p>
          <a:p>
            <a:pPr lvl="1"/>
            <a:r>
              <a:rPr lang="ko-KR" altLang="en-US" dirty="0" err="1"/>
              <a:t>엘보우</a:t>
            </a:r>
            <a:r>
              <a:rPr lang="en-US" altLang="ko-KR" dirty="0"/>
              <a:t>(Elbow) </a:t>
            </a:r>
            <a:r>
              <a:rPr lang="ko-KR" altLang="en-US" dirty="0"/>
              <a:t>방법</a:t>
            </a:r>
            <a:endParaRPr lang="en-US" altLang="ko-KR" dirty="0"/>
          </a:p>
          <a:p>
            <a:pPr lvl="2"/>
            <a:r>
              <a:rPr lang="ko-KR" altLang="en-US" dirty="0"/>
              <a:t>클러스터를 늘이면서 </a:t>
            </a:r>
            <a:r>
              <a:rPr lang="ko-KR" altLang="en-US" dirty="0" err="1"/>
              <a:t>이너셔</a:t>
            </a:r>
            <a:r>
              <a:rPr lang="ko-KR" altLang="en-US" dirty="0"/>
              <a:t> 감소가 급격히 줄어드는 시점을 찾음</a:t>
            </a:r>
            <a:endParaRPr lang="en-US" altLang="ko-KR" dirty="0"/>
          </a:p>
          <a:p>
            <a:pPr lvl="2"/>
            <a:r>
              <a:rPr lang="ko-KR" altLang="en-US" dirty="0"/>
              <a:t>이 지점 이후에는 클러스터 수를 늘여도 </a:t>
            </a:r>
            <a:r>
              <a:rPr lang="ko-KR" altLang="en-US" dirty="0" err="1"/>
              <a:t>이너셔가</a:t>
            </a:r>
            <a:r>
              <a:rPr lang="ko-KR" altLang="en-US" dirty="0"/>
              <a:t> 급격히 감소하지 않음</a:t>
            </a:r>
            <a:endParaRPr lang="en-US" altLang="ko-KR" dirty="0"/>
          </a:p>
          <a:p>
            <a:pPr lvl="2"/>
            <a:r>
              <a:rPr lang="ko-KR" altLang="en-US" dirty="0"/>
              <a:t>이 지점을 </a:t>
            </a:r>
            <a:r>
              <a:rPr lang="en-US" altLang="ko-KR" dirty="0"/>
              <a:t>elbow</a:t>
            </a:r>
            <a:r>
              <a:rPr lang="ko-KR" altLang="en-US" dirty="0"/>
              <a:t>라 하며</a:t>
            </a:r>
            <a:r>
              <a:rPr lang="en-US" altLang="ko-KR" dirty="0"/>
              <a:t>, </a:t>
            </a:r>
            <a:r>
              <a:rPr lang="ko-KR" altLang="en-US" dirty="0"/>
              <a:t>이 지점의 클러스터 수를 최적으로 보는 방법임</a:t>
            </a:r>
            <a:endParaRPr lang="en-US" altLang="ko-KR" dirty="0"/>
          </a:p>
          <a:p>
            <a:pPr lvl="2"/>
            <a:r>
              <a:rPr lang="ko-KR" altLang="en-US" dirty="0"/>
              <a:t>많은 경우 </a:t>
            </a:r>
            <a:r>
              <a:rPr lang="ko-KR" altLang="en-US" dirty="0" err="1"/>
              <a:t>엘보우가</a:t>
            </a:r>
            <a:r>
              <a:rPr lang="ko-KR" altLang="en-US" dirty="0"/>
              <a:t> 잘 보이지 않음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C10684-1277-4991-8D9B-63D5693283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37297248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F5965D-77A1-4059-97D8-B8F635D48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최적의 </a:t>
            </a:r>
            <a:r>
              <a:rPr lang="en-US" altLang="ko-KR" dirty="0"/>
              <a:t>k </a:t>
            </a:r>
            <a:r>
              <a:rPr lang="ko-KR" altLang="en-US" dirty="0"/>
              <a:t>찾기 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F12F0026-3377-4209-B2D0-5BEB11B6AD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536" y="1029858"/>
            <a:ext cx="7917235" cy="30963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C10684-1277-4991-8D9B-63D5693283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488B772F-B3E0-44A1-A90A-2D886CB4C4C7}"/>
              </a:ext>
            </a:extLst>
          </p:cNvPr>
          <p:cNvSpPr/>
          <p:nvPr/>
        </p:nvSpPr>
        <p:spPr>
          <a:xfrm>
            <a:off x="3203848" y="5290935"/>
            <a:ext cx="364589" cy="178319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E3D16EF-FA47-4939-BA38-C3D4F45C8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5300" y="4176039"/>
            <a:ext cx="3240360" cy="23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104987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003BBB-6EA2-470F-9DB5-E6158CC99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C5A0DB-F3AF-426E-8E83-173C11A7C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Key</a:t>
            </a:r>
            <a:r>
              <a:rPr lang="ko-KR" altLang="en-US" dirty="0"/>
              <a:t> </a:t>
            </a:r>
            <a:r>
              <a:rPr lang="en-US" altLang="ko-KR" dirty="0"/>
              <a:t>words</a:t>
            </a:r>
          </a:p>
          <a:p>
            <a:pPr lvl="1"/>
            <a:r>
              <a:rPr lang="en-US" altLang="ko-KR" dirty="0"/>
              <a:t>k-</a:t>
            </a:r>
            <a:r>
              <a:rPr lang="ko-KR" altLang="en-US" dirty="0"/>
              <a:t>평균 알고리즘</a:t>
            </a:r>
            <a:r>
              <a:rPr lang="en-US" altLang="ko-KR" dirty="0"/>
              <a:t>: </a:t>
            </a:r>
            <a:r>
              <a:rPr lang="ko-KR" altLang="en-US" dirty="0"/>
              <a:t>처음에 임의로 클러스터 중심을 정하고</a:t>
            </a:r>
            <a:r>
              <a:rPr lang="en-US" altLang="ko-KR" dirty="0"/>
              <a:t>, </a:t>
            </a:r>
            <a:r>
              <a:rPr lang="ko-KR" altLang="en-US" dirty="0"/>
              <a:t>클러스터 중심을 이동하고 다시 클러스터를 만드는 것을 반복하여 최적의 클러스터를 구성하는 알고리즘</a:t>
            </a:r>
            <a:endParaRPr lang="en-US" altLang="ko-KR" dirty="0"/>
          </a:p>
          <a:p>
            <a:pPr lvl="1"/>
            <a:r>
              <a:rPr lang="ko-KR" altLang="en-US" dirty="0"/>
              <a:t>클러스터 중심</a:t>
            </a:r>
            <a:r>
              <a:rPr lang="en-US" altLang="ko-KR" dirty="0"/>
              <a:t>: k-</a:t>
            </a:r>
            <a:r>
              <a:rPr lang="ko-KR" altLang="en-US" dirty="0"/>
              <a:t>평균 알고리즘이 만든 클러스터에 속한 샘플의 특성 평균값</a:t>
            </a:r>
            <a:r>
              <a:rPr lang="en-US" altLang="ko-KR" dirty="0"/>
              <a:t>. Centroid</a:t>
            </a:r>
            <a:r>
              <a:rPr lang="ko-KR" altLang="en-US" dirty="0"/>
              <a:t>라고도 함</a:t>
            </a:r>
            <a:endParaRPr lang="en-US" altLang="ko-KR" dirty="0"/>
          </a:p>
          <a:p>
            <a:pPr lvl="1"/>
            <a:r>
              <a:rPr lang="ko-KR" altLang="en-US" dirty="0" err="1"/>
              <a:t>엘보우</a:t>
            </a:r>
            <a:r>
              <a:rPr lang="ko-KR" altLang="en-US" dirty="0"/>
              <a:t> 방법</a:t>
            </a:r>
            <a:r>
              <a:rPr lang="en-US" altLang="ko-KR" dirty="0"/>
              <a:t>: </a:t>
            </a:r>
            <a:r>
              <a:rPr lang="ko-KR" altLang="en-US" dirty="0"/>
              <a:t>최적의 클러스터 개수를 정하는 방법</a:t>
            </a:r>
            <a:r>
              <a:rPr lang="en-US" altLang="ko-KR" dirty="0"/>
              <a:t>. </a:t>
            </a:r>
            <a:r>
              <a:rPr lang="ko-KR" altLang="en-US" dirty="0"/>
              <a:t>클러스터 중심과 샘플 사이 거리 제곱의 합인 </a:t>
            </a:r>
            <a:r>
              <a:rPr lang="ko-KR" altLang="en-US" dirty="0" err="1"/>
              <a:t>이니셔가</a:t>
            </a:r>
            <a:r>
              <a:rPr lang="ko-KR" altLang="en-US" dirty="0"/>
              <a:t> 클러스터 개수가 증가하면서</a:t>
            </a:r>
            <a:r>
              <a:rPr lang="en-US" altLang="ko-KR" dirty="0"/>
              <a:t>, </a:t>
            </a:r>
            <a:r>
              <a:rPr lang="ko-KR" altLang="en-US" dirty="0"/>
              <a:t>급격히 꺾이는 지점을 최적의 클러스터 개수로 지정하는 방법</a:t>
            </a:r>
            <a:endParaRPr lang="en-US" altLang="ko-KR" dirty="0"/>
          </a:p>
          <a:p>
            <a:r>
              <a:rPr lang="en-US" altLang="ko-KR" dirty="0" err="1"/>
              <a:t>sklearn</a:t>
            </a:r>
            <a:r>
              <a:rPr lang="en-US" altLang="ko-KR" dirty="0"/>
              <a:t> </a:t>
            </a:r>
            <a:r>
              <a:rPr lang="ko-KR" altLang="en-US" dirty="0"/>
              <a:t>패키지</a:t>
            </a:r>
            <a:r>
              <a:rPr lang="en-US" altLang="ko-KR" dirty="0"/>
              <a:t>:</a:t>
            </a:r>
          </a:p>
          <a:p>
            <a:pPr lvl="1"/>
            <a:r>
              <a:rPr lang="en-US" altLang="ko-KR" dirty="0" err="1"/>
              <a:t>KMeans</a:t>
            </a:r>
            <a:r>
              <a:rPr lang="en-US" altLang="ko-KR" dirty="0"/>
              <a:t>: k-</a:t>
            </a:r>
            <a:r>
              <a:rPr lang="ko-KR" altLang="en-US" dirty="0"/>
              <a:t>평균 알고리즘을 구현한 </a:t>
            </a:r>
            <a:r>
              <a:rPr lang="en-US" altLang="ko-KR" dirty="0"/>
              <a:t>class</a:t>
            </a:r>
          </a:p>
          <a:p>
            <a:pPr lvl="2"/>
            <a:r>
              <a:rPr lang="en-US" altLang="ko-KR" dirty="0" err="1"/>
              <a:t>n_clusters</a:t>
            </a:r>
            <a:r>
              <a:rPr lang="ko-KR" altLang="en-US" dirty="0"/>
              <a:t>에는 클러스터 개수 지정</a:t>
            </a:r>
            <a:r>
              <a:rPr lang="en-US" altLang="ko-KR" dirty="0"/>
              <a:t>. default</a:t>
            </a:r>
            <a:r>
              <a:rPr lang="ko-KR" altLang="en-US" dirty="0"/>
              <a:t>는 </a:t>
            </a:r>
            <a:r>
              <a:rPr lang="en-US" altLang="ko-KR" dirty="0"/>
              <a:t>8</a:t>
            </a:r>
          </a:p>
          <a:p>
            <a:pPr lvl="2"/>
            <a:r>
              <a:rPr lang="ko-KR" altLang="en-US" dirty="0"/>
              <a:t>처음에는 임의로 </a:t>
            </a:r>
            <a:r>
              <a:rPr lang="en-US" altLang="ko-KR" dirty="0"/>
              <a:t>centroids</a:t>
            </a:r>
            <a:r>
              <a:rPr lang="ko-KR" altLang="en-US" dirty="0"/>
              <a:t>를 지정</a:t>
            </a:r>
            <a:r>
              <a:rPr lang="en-US" altLang="ko-KR" dirty="0"/>
              <a:t>. </a:t>
            </a:r>
            <a:r>
              <a:rPr lang="ko-KR" altLang="en-US" dirty="0"/>
              <a:t>여러 번 반복하며 </a:t>
            </a:r>
            <a:r>
              <a:rPr lang="ko-KR" altLang="en-US" dirty="0" err="1"/>
              <a:t>이니셔를</a:t>
            </a:r>
            <a:r>
              <a:rPr lang="ko-KR" altLang="en-US" dirty="0"/>
              <a:t> 기준으로 가장 좋은 결과를 선택</a:t>
            </a:r>
            <a:r>
              <a:rPr lang="en-US" altLang="ko-KR" dirty="0"/>
              <a:t>. </a:t>
            </a:r>
            <a:r>
              <a:rPr lang="en-US" altLang="ko-KR" dirty="0" err="1"/>
              <a:t>n_iter</a:t>
            </a:r>
            <a:r>
              <a:rPr lang="en-US" altLang="ko-KR" dirty="0"/>
              <a:t>_</a:t>
            </a:r>
            <a:r>
              <a:rPr lang="ko-KR" altLang="en-US" dirty="0"/>
              <a:t>는 반복회수를 지정</a:t>
            </a:r>
            <a:r>
              <a:rPr lang="en-US" altLang="ko-KR" dirty="0"/>
              <a:t>. </a:t>
            </a:r>
            <a:r>
              <a:rPr lang="en-US" altLang="ko-KR" dirty="0" err="1"/>
              <a:t>defaul</a:t>
            </a:r>
            <a:r>
              <a:rPr lang="ko-KR" altLang="en-US" dirty="0"/>
              <a:t>는 </a:t>
            </a:r>
            <a:r>
              <a:rPr lang="en-US" altLang="ko-KR" dirty="0"/>
              <a:t>10</a:t>
            </a:r>
          </a:p>
          <a:p>
            <a:pPr lvl="2"/>
            <a:r>
              <a:rPr lang="en-US" altLang="ko-KR" dirty="0" err="1"/>
              <a:t>max_iter</a:t>
            </a:r>
            <a:r>
              <a:rPr lang="ko-KR" altLang="en-US" dirty="0"/>
              <a:t>는 반복의 최대회수</a:t>
            </a:r>
            <a:r>
              <a:rPr lang="en-US" altLang="ko-KR" dirty="0"/>
              <a:t>. default</a:t>
            </a:r>
            <a:r>
              <a:rPr lang="ko-KR" altLang="en-US" dirty="0"/>
              <a:t>는 </a:t>
            </a:r>
            <a:r>
              <a:rPr lang="en-US" altLang="ko-KR" dirty="0"/>
              <a:t>200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83B9CB-FD73-414B-A2F3-C88E2FDB6A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0363519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질의 응답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/>
              <a:t>No question, no learning !!!</a:t>
            </a:r>
          </a:p>
          <a:p>
            <a:pPr eaLnBrk="1" hangingPunct="1">
              <a:defRPr/>
            </a:pPr>
            <a:r>
              <a:rPr lang="en-US" altLang="ko-KR" dirty="0"/>
              <a:t>No dumb question !!!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here to be interrupted.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an interrupt-driven professor.</a:t>
            </a:r>
          </a:p>
          <a:p>
            <a:pPr eaLnBrk="1" hangingPunct="1">
              <a:defRPr/>
            </a:pPr>
            <a:r>
              <a:rPr lang="en-US" altLang="ko-KR" dirty="0"/>
              <a:t>I teach less, students learn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938" y="3714750"/>
            <a:ext cx="275272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6055139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HY견고딕"/>
        <a:ea typeface="HY견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33197</TotalTime>
  <Words>821</Words>
  <Application>Microsoft Office PowerPoint</Application>
  <PresentationFormat>화면 슬라이드 쇼(4:3)</PresentationFormat>
  <Paragraphs>125</Paragraphs>
  <Slides>16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4" baseType="lpstr">
      <vt:lpstr>HY견고딕</vt:lpstr>
      <vt:lpstr>굴림</vt:lpstr>
      <vt:lpstr>맑은 고딕</vt:lpstr>
      <vt:lpstr>휴먼엑스포</vt:lpstr>
      <vt:lpstr>Arial</vt:lpstr>
      <vt:lpstr>Times New Roman</vt:lpstr>
      <vt:lpstr>Wingdings</vt:lpstr>
      <vt:lpstr>기본 디자인</vt:lpstr>
      <vt:lpstr>비지도학습 - k-평균 -</vt:lpstr>
      <vt:lpstr>학습목표</vt:lpstr>
      <vt:lpstr>비지도학습에서 다룰 내용</vt:lpstr>
      <vt:lpstr>이번 섹션에서는</vt:lpstr>
      <vt:lpstr>k-평균</vt:lpstr>
      <vt:lpstr>k-평균 알고리즘</vt:lpstr>
      <vt:lpstr>과일 사진 불러오기</vt:lpstr>
      <vt:lpstr>k-means 알고리즘 적용</vt:lpstr>
      <vt:lpstr>클러스터별 이미지 보기 (1)</vt:lpstr>
      <vt:lpstr>클러스터별 이미지 보기 (2)</vt:lpstr>
      <vt:lpstr>Cluster Center</vt:lpstr>
      <vt:lpstr>클러스터 중심까지의 거리</vt:lpstr>
      <vt:lpstr>최적의 k 찾기 (1)</vt:lpstr>
      <vt:lpstr>최적의 k 찾기 (2)</vt:lpstr>
      <vt:lpstr>학습 요약</vt:lpstr>
      <vt:lpstr>질의 응답</vt:lpstr>
    </vt:vector>
  </TitlesOfParts>
  <Company>두원공과대학 컴퓨터공학과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김영우</dc:creator>
  <cp:lastModifiedBy>김영우</cp:lastModifiedBy>
  <cp:revision>614</cp:revision>
  <dcterms:created xsi:type="dcterms:W3CDTF">2003-05-07T20:17:23Z</dcterms:created>
  <dcterms:modified xsi:type="dcterms:W3CDTF">2025-10-13T00:20:18Z</dcterms:modified>
</cp:coreProperties>
</file>