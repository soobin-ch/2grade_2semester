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632" r:id="rId2"/>
    <p:sldId id="704" r:id="rId3"/>
    <p:sldId id="707" r:id="rId4"/>
    <p:sldId id="708" r:id="rId5"/>
    <p:sldId id="731" r:id="rId6"/>
    <p:sldId id="732" r:id="rId7"/>
    <p:sldId id="733" r:id="rId8"/>
    <p:sldId id="736" r:id="rId9"/>
    <p:sldId id="737" r:id="rId10"/>
    <p:sldId id="738" r:id="rId11"/>
    <p:sldId id="740" r:id="rId12"/>
    <p:sldId id="741" r:id="rId13"/>
    <p:sldId id="739" r:id="rId14"/>
    <p:sldId id="742" r:id="rId15"/>
    <p:sldId id="743" r:id="rId16"/>
    <p:sldId id="744" r:id="rId17"/>
    <p:sldId id="745" r:id="rId18"/>
    <p:sldId id="705" r:id="rId19"/>
    <p:sldId id="703" r:id="rId20"/>
  </p:sldIdLst>
  <p:sldSz cx="9144000" cy="6858000" type="screen4x3"/>
  <p:notesSz cx="6669088" cy="992822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5pPr>
    <a:lvl6pPr marL="22860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6pPr>
    <a:lvl7pPr marL="27432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7pPr>
    <a:lvl8pPr marL="32004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8pPr>
    <a:lvl9pPr marL="36576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FFFFCC"/>
    <a:srgbClr val="FFCCFF"/>
    <a:srgbClr val="CCECFF"/>
    <a:srgbClr val="6699FF"/>
    <a:srgbClr val="FF6699"/>
    <a:srgbClr val="FFCC66"/>
    <a:srgbClr val="5599BF"/>
    <a:srgbClr val="C5DBDD"/>
    <a:srgbClr val="FDF3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761" autoAdjust="0"/>
    <p:restoredTop sz="94148" autoAdjust="0"/>
  </p:normalViewPr>
  <p:slideViewPr>
    <p:cSldViewPr>
      <p:cViewPr varScale="1">
        <p:scale>
          <a:sx n="153" d="100"/>
          <a:sy n="153" d="100"/>
        </p:scale>
        <p:origin x="270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0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825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825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A8C382E9-E5ED-4CED-B6BC-23B4AA5643F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493218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825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86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5663" y="746125"/>
            <a:ext cx="4959350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9000" y="4714875"/>
            <a:ext cx="4891088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825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53C7CC32-617A-4543-9F16-0492C8AD01F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132989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3C7CC32-617A-4543-9F16-0492C8AD01FA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023055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3C7CC32-617A-4543-9F16-0492C8AD01FA}" type="slidenum">
              <a:rPr lang="en-US" altLang="ko-KR" smtClean="0"/>
              <a:pPr>
                <a:defRPr/>
              </a:pPr>
              <a:t>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62406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3C7CC32-617A-4543-9F16-0492C8AD01FA}" type="slidenum">
              <a:rPr lang="en-US" altLang="ko-KR" smtClean="0"/>
              <a:pPr>
                <a:defRPr/>
              </a:pPr>
              <a:t>11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39692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3C7CC32-617A-4543-9F16-0492C8AD01FA}" type="slidenum">
              <a:rPr lang="en-US" altLang="ko-KR" smtClean="0"/>
              <a:pPr>
                <a:defRPr/>
              </a:pPr>
              <a:t>17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91580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A4C1E9-341E-47A5-AC3A-D9E2B75F852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accent6">
                  <a:lumMod val="50000"/>
                </a:schemeClr>
              </a:buClr>
              <a:defRPr b="1">
                <a:latin typeface="맑은 고딕" pitchFamily="50" charset="-127"/>
                <a:ea typeface="맑은 고딕" pitchFamily="50" charset="-127"/>
              </a:defRPr>
            </a:lvl1pPr>
            <a:lvl2pPr marL="648000" indent="-216000">
              <a:buClr>
                <a:schemeClr val="accent6">
                  <a:lumMod val="50000"/>
                </a:schemeClr>
              </a:buClr>
              <a:defRPr sz="2200" b="1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008000"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3pPr>
            <a:lvl4pPr>
              <a:defRPr sz="1800" b="1">
                <a:latin typeface="맑은 고딕" pitchFamily="50" charset="-127"/>
                <a:ea typeface="맑은 고딕" pitchFamily="50" charset="-127"/>
              </a:defRPr>
            </a:lvl4pPr>
            <a:lvl5pPr>
              <a:defRPr sz="1800" b="1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77C9E6-AAC5-4CE3-AEB9-B27125AB2F7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ACB472-C4C4-477E-8AC0-53956F98114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07950" y="981075"/>
            <a:ext cx="4398963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59313" y="981075"/>
            <a:ext cx="4398962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481EA1-F96D-428B-BAD9-77C664AB889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581765-32A9-43A2-A13B-73A4EFC8A23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534400" y="6597352"/>
            <a:ext cx="533400" cy="235185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8C69D1-562B-4BA3-B970-F557F717323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A63119-A075-4A06-B8B9-191AF54DF5F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1034A6-DBBC-48F1-A09B-6AF30E1274A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C30B49-4FB7-4305-BEBF-6D643FD0662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BB478B-1B83-4F62-9152-5F83492182B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21488" y="188913"/>
            <a:ext cx="2236787" cy="637381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07950" y="188913"/>
            <a:ext cx="6561138" cy="637381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C8E164-0165-4B37-AF99-AD7B6ECE173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제목, 텍스트 및 차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7950" y="188913"/>
            <a:ext cx="8928100" cy="5461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107950" y="981075"/>
            <a:ext cx="4398963" cy="55816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차트 개체 틀 3"/>
          <p:cNvSpPr>
            <a:spLocks noGrp="1"/>
          </p:cNvSpPr>
          <p:nvPr>
            <p:ph type="chart" sz="half" idx="2"/>
          </p:nvPr>
        </p:nvSpPr>
        <p:spPr>
          <a:xfrm>
            <a:off x="4659313" y="981075"/>
            <a:ext cx="4398962" cy="5581650"/>
          </a:xfrm>
        </p:spPr>
        <p:txBody>
          <a:bodyPr/>
          <a:lstStyle/>
          <a:p>
            <a:pPr lvl="0"/>
            <a:endParaRPr lang="ko-KR" altLang="en-US" noProof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B23F4B-D0D5-4898-8A05-343EBDC5E87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3175" y="6500813"/>
            <a:ext cx="7232650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14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0"/>
            <a:ext cx="9144000" cy="105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950" y="55672"/>
            <a:ext cx="8928100" cy="8072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" y="981075"/>
            <a:ext cx="8950325" cy="551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34400" y="6534150"/>
            <a:ext cx="533400" cy="2827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accent6">
                    <a:lumMod val="75000"/>
                  </a:schemeClr>
                </a:solidFill>
                <a:latin typeface="휴먼엑스포" pitchFamily="18" charset="-127"/>
                <a:ea typeface="휴먼엑스포" pitchFamily="18" charset="-127"/>
              </a:defRPr>
            </a:lvl1pPr>
          </a:lstStyle>
          <a:p>
            <a:pPr>
              <a:defRPr/>
            </a:pPr>
            <a:fld id="{C0C53A76-8A71-4B64-A76C-1B97F54C0D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512359"/>
            <a:ext cx="22677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꿈     은 이루어진다</a:t>
            </a:r>
            <a:endParaRPr lang="ko-KR" altLang="en-US" dirty="0">
              <a:solidFill>
                <a:srgbClr val="CC33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포인트가 5개인 별 9"/>
          <p:cNvSpPr/>
          <p:nvPr userDrawn="1"/>
        </p:nvSpPr>
        <p:spPr>
          <a:xfrm>
            <a:off x="286457" y="6453336"/>
            <a:ext cx="360040" cy="380578"/>
          </a:xfrm>
          <a:prstGeom prst="star5">
            <a:avLst/>
          </a:prstGeom>
          <a:solidFill>
            <a:srgbClr val="FF0000"/>
          </a:solidFill>
          <a:ln w="3175">
            <a:solidFill>
              <a:srgbClr val="FFF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2" name="Picture 2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6534222"/>
            <a:ext cx="1296144" cy="2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zoom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3366"/>
        </a:buClr>
        <a:buFont typeface="Wingdings" pitchFamily="2" charset="2"/>
        <a:buChar char="v"/>
        <a:defRPr kumimoji="1" sz="24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742950" indent="-28575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>
            <a:lumMod val="50000"/>
          </a:schemeClr>
        </a:buClr>
        <a:buFont typeface="Wingdings" pitchFamily="2" charset="2"/>
        <a:buChar char="§"/>
        <a:defRPr kumimoji="1" sz="2000" b="1">
          <a:solidFill>
            <a:srgbClr val="0070C0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000" b="1">
          <a:solidFill>
            <a:srgbClr val="404040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rgbClr val="5F5F5F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rgbClr val="5F5F5F"/>
          </a:solidFill>
          <a:latin typeface="+mn-lt"/>
          <a:ea typeface="+mn-ea"/>
        </a:defRPr>
      </a:lvl5pPr>
      <a:lvl6pPr marL="25146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6pPr>
      <a:lvl7pPr marL="29718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7pPr>
      <a:lvl8pPr marL="34290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8pPr>
      <a:lvl9pPr marL="38862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2051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61BE838-21C4-44E0-A59C-8FA45DC8143D}" type="slidenum">
              <a:rPr lang="en-US" altLang="ko-KR" smtClean="0"/>
              <a:pPr/>
              <a:t>1</a:t>
            </a:fld>
            <a:endParaRPr lang="en-US" altLang="ko-KR" dirty="0"/>
          </a:p>
        </p:txBody>
      </p:sp>
      <p:sp>
        <p:nvSpPr>
          <p:cNvPr id="205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60488" y="6113998"/>
            <a:ext cx="6400800" cy="555362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두원공과대학교</a:t>
            </a:r>
            <a:endParaRPr lang="en-US" altLang="ko-KR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제목 9"/>
          <p:cNvSpPr>
            <a:spLocks noGrp="1"/>
          </p:cNvSpPr>
          <p:nvPr>
            <p:ph type="ctrTitle"/>
          </p:nvPr>
        </p:nvSpPr>
        <p:spPr>
          <a:xfrm>
            <a:off x="803772" y="1005116"/>
            <a:ext cx="7514232" cy="1669197"/>
          </a:xfrm>
        </p:spPr>
        <p:txBody>
          <a:bodyPr/>
          <a:lstStyle/>
          <a:p>
            <a:pPr algn="ctr">
              <a:defRPr/>
            </a:pPr>
            <a:r>
              <a:rPr lang="ko-KR" altLang="en-US" sz="4000" dirty="0"/>
              <a:t>비지도학습</a:t>
            </a:r>
            <a:br>
              <a:rPr lang="en-US" altLang="ko-KR" sz="4000" dirty="0"/>
            </a:br>
            <a:r>
              <a:rPr lang="en-US" altLang="ko-KR" sz="4000" dirty="0"/>
              <a:t>- PCA -</a:t>
            </a:r>
            <a:endParaRPr lang="ko-KR" altLang="en-US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825996" y="532162"/>
            <a:ext cx="3090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2025</a:t>
            </a:r>
            <a:r>
              <a:rPr lang="ko-KR" altLang="en-US" sz="1800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학년도 </a:t>
            </a:r>
            <a:r>
              <a:rPr lang="en-US" altLang="ko-KR" sz="1800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800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학기 </a:t>
            </a:r>
            <a:r>
              <a:rPr lang="ko-KR" altLang="en-US" sz="1800" b="1" dirty="0" err="1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머신러닝</a:t>
            </a:r>
            <a:endParaRPr lang="ko-KR" altLang="en-US" sz="1800" b="1" dirty="0">
              <a:solidFill>
                <a:srgbClr val="CC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A78754-65CB-43B1-8FA6-6B2AEC5BA3F2}"/>
              </a:ext>
            </a:extLst>
          </p:cNvPr>
          <p:cNvSpPr txBox="1"/>
          <p:nvPr/>
        </p:nvSpPr>
        <p:spPr>
          <a:xfrm>
            <a:off x="1968600" y="5013176"/>
            <a:ext cx="51845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&lt;</a:t>
            </a: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출처</a:t>
            </a:r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: https://www.scaler.com/&gt;</a:t>
            </a:r>
            <a:endParaRPr lang="ko-KR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1717349-FC6D-4178-96EA-749C55E2C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813" y="2674313"/>
            <a:ext cx="6270374" cy="2274136"/>
          </a:xfrm>
          <a:prstGeom prst="rect">
            <a:avLst/>
          </a:prstGeom>
        </p:spPr>
      </p:pic>
    </p:spTree>
  </p:cSld>
  <p:clrMapOvr>
    <a:masterClrMapping/>
  </p:clrMapOvr>
  <p:transition advTm="36370"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E5075C-F797-492D-A896-60920627D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3BF857-BAF2-4D11-BBC2-8464701FB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 시간이 종료되면 학생들은</a:t>
            </a:r>
            <a:endParaRPr lang="en-US" altLang="ko-KR" dirty="0"/>
          </a:p>
          <a:p>
            <a:pPr lvl="1"/>
            <a:r>
              <a:rPr lang="ko-KR" altLang="en-US" dirty="0"/>
              <a:t>차원 축소를 설명할 수 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주성분 분석</a:t>
            </a:r>
            <a:r>
              <a:rPr lang="en-US" altLang="ko-KR" dirty="0"/>
              <a:t>(PCA)</a:t>
            </a:r>
            <a:r>
              <a:rPr lang="ko-KR" altLang="en-US" dirty="0"/>
              <a:t>을 통해 차원을 축소하고</a:t>
            </a:r>
            <a:r>
              <a:rPr lang="en-US" altLang="ko-KR" dirty="0"/>
              <a:t>, </a:t>
            </a:r>
            <a:r>
              <a:rPr lang="ko-KR" altLang="en-US" dirty="0"/>
              <a:t>이를 복원할 수 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설명된 분산을 설명할 수 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다른 알고리즘</a:t>
            </a:r>
            <a:r>
              <a:rPr lang="en-US" altLang="ko-KR" dirty="0"/>
              <a:t>(</a:t>
            </a:r>
            <a:r>
              <a:rPr lang="ko-KR" altLang="en-US" dirty="0"/>
              <a:t>로지스틱 회귀</a:t>
            </a:r>
            <a:r>
              <a:rPr lang="en-US" altLang="ko-KR" dirty="0"/>
              <a:t>, k-</a:t>
            </a:r>
            <a:r>
              <a:rPr lang="ko-KR" altLang="en-US" dirty="0"/>
              <a:t>평균</a:t>
            </a:r>
            <a:r>
              <a:rPr lang="en-US" altLang="ko-KR" dirty="0"/>
              <a:t>)</a:t>
            </a:r>
            <a:r>
              <a:rPr lang="ko-KR" altLang="en-US" dirty="0"/>
              <a:t>과 </a:t>
            </a:r>
            <a:r>
              <a:rPr lang="en-US" altLang="ko-KR" dirty="0"/>
              <a:t>PCA</a:t>
            </a:r>
            <a:r>
              <a:rPr lang="ko-KR" altLang="en-US" dirty="0"/>
              <a:t>를 함께 사용하여 차원 축소된 데이터로 훈련한 것이 원본 데이터로 훈련한 것에 비해 성능이 떨어지지 않음을 설명할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D9F08A-6004-4B00-90F4-DBEA1CCB6A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12886384"/>
      </p:ext>
    </p:extLst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5B10E6-91CE-463F-90C6-311D4993F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비지도학습에서 다룰 내용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BDC465-2F0D-4F1C-A2CB-2227EF308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군집 알고리즘</a:t>
            </a:r>
          </a:p>
          <a:p>
            <a:pPr lvl="1"/>
            <a:r>
              <a:rPr lang="ko-KR" altLang="en-US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어떻게 비슷한 샘플끼리 모을 것인가</a:t>
            </a:r>
            <a:r>
              <a:rPr lang="en-US" altLang="ko-KR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?  Clustering (</a:t>
            </a:r>
            <a:r>
              <a:rPr lang="ko-KR" altLang="en-US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群集</a:t>
            </a:r>
            <a:r>
              <a:rPr lang="en-US" altLang="ko-KR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ko-KR" altLang="en-US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일단 타겟 값을 아는 상태에서</a:t>
            </a:r>
            <a:r>
              <a:rPr lang="en-US" altLang="ko-KR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…</a:t>
            </a:r>
          </a:p>
          <a:p>
            <a:r>
              <a:rPr lang="en-US" altLang="ko-KR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K-</a:t>
            </a:r>
            <a:r>
              <a:rPr lang="ko-KR" altLang="en-US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평균</a:t>
            </a:r>
            <a:endParaRPr lang="en-US" altLang="ko-KR" dirty="0">
              <a:solidFill>
                <a:schemeClr val="bg1">
                  <a:lumMod val="85000"/>
                </a:schemeClr>
              </a:solidFill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타겟 값이 없는 상태에서는 어떻게 </a:t>
            </a:r>
            <a:r>
              <a:rPr lang="en-US" altLang="ko-KR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clustering</a:t>
            </a:r>
            <a:r>
              <a:rPr lang="ko-KR" altLang="en-US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을 할까</a:t>
            </a:r>
            <a:r>
              <a:rPr lang="en-US" altLang="ko-KR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?</a:t>
            </a:r>
            <a:br>
              <a:rPr lang="en-US" altLang="ko-KR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</a:br>
            <a:r>
              <a:rPr lang="en-US" altLang="ko-KR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 K-Means, K-</a:t>
            </a:r>
            <a:r>
              <a:rPr lang="en-US" altLang="ko-KR" dirty="0" err="1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Medioid</a:t>
            </a:r>
            <a:r>
              <a:rPr lang="en-US" altLang="ko-KR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, Spectral Clustering, Hierarchical Clustering, Graph Theoretic Clustering, EM, EMG, ……</a:t>
            </a:r>
          </a:p>
          <a:p>
            <a:r>
              <a:rPr lang="ko-KR" altLang="en-US" dirty="0"/>
              <a:t>차원 축소</a:t>
            </a:r>
          </a:p>
          <a:p>
            <a:pPr lvl="1"/>
            <a:r>
              <a:rPr lang="ko-KR" altLang="en-US" dirty="0"/>
              <a:t>특성이 많을수록 좋은 것인가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</a:t>
            </a:r>
            <a:r>
              <a:rPr lang="en-US" altLang="ko-KR" dirty="0"/>
              <a:t> </a:t>
            </a:r>
            <a:r>
              <a:rPr lang="ko-KR" altLang="en-US" dirty="0"/>
              <a:t>일부 특성이 다른 특성에 비해 구별에 훨씬 큰 영향을 줄 수 있다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</a:t>
            </a:r>
            <a:r>
              <a:rPr lang="en-US" altLang="ko-KR" dirty="0"/>
              <a:t> </a:t>
            </a:r>
            <a:r>
              <a:rPr lang="ko-KR" altLang="en-US" dirty="0"/>
              <a:t>일부 특성</a:t>
            </a:r>
            <a:r>
              <a:rPr lang="en-US" altLang="ko-KR" dirty="0"/>
              <a:t>(</a:t>
            </a:r>
            <a:r>
              <a:rPr lang="ko-KR" altLang="en-US" dirty="0"/>
              <a:t>주성분</a:t>
            </a:r>
            <a:r>
              <a:rPr lang="en-US" altLang="ko-KR" dirty="0"/>
              <a:t>, Principal Component)</a:t>
            </a:r>
            <a:r>
              <a:rPr lang="ko-KR" altLang="en-US" dirty="0"/>
              <a:t>만 사용 </a:t>
            </a:r>
            <a:br>
              <a:rPr lang="ko-KR" altLang="en-US" dirty="0"/>
            </a:br>
            <a:r>
              <a:rPr lang="en-US" altLang="ko-KR" dirty="0">
                <a:sym typeface="Wingdings" panose="05000000000000000000" pitchFamily="2" charset="2"/>
              </a:rPr>
              <a:t></a:t>
            </a:r>
            <a:r>
              <a:rPr lang="ko-KR" altLang="en-US" dirty="0"/>
              <a:t> 주성분 분석</a:t>
            </a:r>
            <a:r>
              <a:rPr lang="en-US" altLang="ko-KR" dirty="0"/>
              <a:t>(PCA, PC Analysis)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BDBD31-6B92-44AA-A54C-D51A1362B3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25039391"/>
      </p:ext>
    </p:extLst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36CFB1-6C86-4781-88D3-FACD150FB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이번 섹션에서는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98D25F-52B2-4B17-80F6-F675C5895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300</a:t>
            </a:r>
            <a:r>
              <a:rPr lang="ko-KR" altLang="en-US" dirty="0"/>
              <a:t>개의 과일사진 불러오기</a:t>
            </a:r>
            <a:endParaRPr lang="en-US" altLang="ko-KR" dirty="0"/>
          </a:p>
          <a:p>
            <a:pPr lvl="1"/>
            <a:r>
              <a:rPr lang="ko-KR" altLang="en-US" dirty="0"/>
              <a:t>사과</a:t>
            </a:r>
            <a:r>
              <a:rPr lang="en-US" altLang="ko-KR" dirty="0"/>
              <a:t>, </a:t>
            </a:r>
            <a:r>
              <a:rPr lang="ko-KR" altLang="en-US" dirty="0"/>
              <a:t>파인애플</a:t>
            </a:r>
            <a:r>
              <a:rPr lang="en-US" altLang="ko-KR" dirty="0"/>
              <a:t>, </a:t>
            </a:r>
            <a:r>
              <a:rPr lang="ko-KR" altLang="en-US" dirty="0"/>
              <a:t>바나나 각 </a:t>
            </a:r>
            <a:r>
              <a:rPr lang="en-US" altLang="ko-KR" dirty="0"/>
              <a:t>100</a:t>
            </a:r>
            <a:r>
              <a:rPr lang="ko-KR" altLang="en-US" dirty="0"/>
              <a:t>개</a:t>
            </a:r>
            <a:endParaRPr lang="en-US" altLang="ko-KR" dirty="0"/>
          </a:p>
          <a:p>
            <a:pPr lvl="1"/>
            <a:r>
              <a:rPr lang="en-US" altLang="ko-KR" dirty="0"/>
              <a:t>100x100 pixel</a:t>
            </a:r>
            <a:r>
              <a:rPr lang="ko-KR" altLang="en-US" dirty="0"/>
              <a:t>의 </a:t>
            </a:r>
            <a:r>
              <a:rPr lang="en-US" altLang="ko-KR" dirty="0"/>
              <a:t>bitmap </a:t>
            </a:r>
            <a:r>
              <a:rPr lang="ko-KR" altLang="en-US" dirty="0"/>
              <a:t>이미지 </a:t>
            </a:r>
            <a:r>
              <a:rPr lang="en-US" altLang="ko-KR" dirty="0"/>
              <a:t>(256 gray level)</a:t>
            </a:r>
          </a:p>
          <a:p>
            <a:r>
              <a:rPr lang="en-US" altLang="ko-KR" dirty="0"/>
              <a:t>PCA </a:t>
            </a:r>
            <a:r>
              <a:rPr lang="ko-KR" altLang="en-US" dirty="0"/>
              <a:t>클래스 활용</a:t>
            </a:r>
            <a:endParaRPr lang="en-US" altLang="ko-KR" dirty="0"/>
          </a:p>
          <a:p>
            <a:pPr lvl="1"/>
            <a:r>
              <a:rPr lang="en-US" altLang="ko-KR" dirty="0"/>
              <a:t>PCA </a:t>
            </a:r>
            <a:r>
              <a:rPr lang="ko-KR" altLang="en-US" dirty="0"/>
              <a:t>클래스를 이용하여 차원 축소</a:t>
            </a:r>
            <a:endParaRPr lang="en-US" altLang="ko-KR" dirty="0"/>
          </a:p>
          <a:p>
            <a:pPr lvl="1"/>
            <a:r>
              <a:rPr lang="ko-KR" altLang="en-US" dirty="0"/>
              <a:t>원본데이터 재구성</a:t>
            </a:r>
            <a:endParaRPr lang="en-US" altLang="ko-KR" dirty="0"/>
          </a:p>
          <a:p>
            <a:pPr lvl="1"/>
            <a:r>
              <a:rPr lang="ko-KR" altLang="en-US" dirty="0"/>
              <a:t>설명된 분산 이해</a:t>
            </a:r>
            <a:endParaRPr lang="en-US" altLang="ko-KR" dirty="0"/>
          </a:p>
          <a:p>
            <a:r>
              <a:rPr lang="en-US" altLang="ko-KR" dirty="0" err="1"/>
              <a:t>LogisticRegression</a:t>
            </a:r>
            <a:r>
              <a:rPr lang="en-US" altLang="ko-KR" dirty="0"/>
              <a:t> </a:t>
            </a:r>
            <a:r>
              <a:rPr lang="ko-KR" altLang="en-US" dirty="0"/>
              <a:t>모델과 함께 적용</a:t>
            </a:r>
            <a:endParaRPr lang="en-US" altLang="ko-KR" dirty="0"/>
          </a:p>
          <a:p>
            <a:pPr lvl="1"/>
            <a:r>
              <a:rPr lang="ko-KR" altLang="en-US" dirty="0"/>
              <a:t>차원축소를 통해 더욱 명확한 구별</a:t>
            </a:r>
            <a:r>
              <a:rPr lang="en-US" altLang="ko-KR" dirty="0"/>
              <a:t>/</a:t>
            </a:r>
            <a:r>
              <a:rPr lang="ko-KR" altLang="en-US" dirty="0"/>
              <a:t>해석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CBA787-835F-4E91-AB2F-E766DCC677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16823797"/>
      </p:ext>
    </p:extLst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09873B-57A8-4F82-BCFB-393B9DFA3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과일 사진 불러오기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E3B8CA-7C2C-45F8-92A5-2AC946718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사과</a:t>
            </a:r>
            <a:r>
              <a:rPr lang="en-US" altLang="ko-KR" dirty="0"/>
              <a:t>, </a:t>
            </a:r>
            <a:r>
              <a:rPr lang="ko-KR" altLang="en-US" dirty="0"/>
              <a:t>파인애플</a:t>
            </a:r>
            <a:r>
              <a:rPr lang="en-US" altLang="ko-KR" dirty="0"/>
              <a:t>, </a:t>
            </a:r>
            <a:r>
              <a:rPr lang="ko-KR" altLang="en-US" dirty="0"/>
              <a:t>바나나의 흑백 사진</a:t>
            </a:r>
            <a:r>
              <a:rPr lang="en-US" altLang="ko-KR" dirty="0"/>
              <a:t>(100x100)</a:t>
            </a:r>
            <a:r>
              <a:rPr lang="ko-KR" altLang="en-US" dirty="0"/>
              <a:t>을 읽어</a:t>
            </a:r>
            <a:r>
              <a:rPr lang="en-US" altLang="ko-KR" dirty="0"/>
              <a:t>, fruits_2d</a:t>
            </a:r>
            <a:r>
              <a:rPr lang="ko-KR" altLang="en-US" dirty="0"/>
              <a:t>의 </a:t>
            </a:r>
            <a:r>
              <a:rPr lang="en-US" altLang="ko-KR" dirty="0"/>
              <a:t>300x10000 2</a:t>
            </a:r>
            <a:r>
              <a:rPr lang="ko-KR" altLang="en-US" dirty="0"/>
              <a:t>차원 배열로 저장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B3D1C0-7897-41D9-884A-5FA6C5F8FC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C11D965-2303-486C-8809-588259A4A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908874"/>
            <a:ext cx="6984776" cy="459545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75495105"/>
      </p:ext>
    </p:extLst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4B036A-3494-4F15-B7F4-8EADA5AE7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차원과 차원 축소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21CAE3-AAF8-407C-BDC9-1F87E67960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ko-KR" altLang="en-US" dirty="0"/>
              <a:t>차원</a:t>
            </a:r>
            <a:r>
              <a:rPr lang="en-US" altLang="ko-KR" dirty="0"/>
              <a:t>(Dimension)</a:t>
            </a:r>
          </a:p>
          <a:p>
            <a:pPr lvl="1"/>
            <a:r>
              <a:rPr lang="ko-KR" altLang="en-US" dirty="0"/>
              <a:t>특성</a:t>
            </a:r>
            <a:r>
              <a:rPr lang="en-US" altLang="ko-KR" dirty="0"/>
              <a:t>(feature)</a:t>
            </a:r>
            <a:r>
              <a:rPr lang="ko-KR" altLang="en-US" dirty="0"/>
              <a:t>의 개수</a:t>
            </a:r>
            <a:endParaRPr lang="en-US" altLang="ko-KR" dirty="0"/>
          </a:p>
          <a:p>
            <a:pPr lvl="1"/>
            <a:r>
              <a:rPr lang="ko-KR" altLang="en-US" dirty="0"/>
              <a:t>우리의 과일 사진은 </a:t>
            </a:r>
            <a:r>
              <a:rPr lang="en-US" altLang="ko-KR" dirty="0"/>
              <a:t>10,000</a:t>
            </a:r>
            <a:r>
              <a:rPr lang="ko-KR" altLang="en-US" dirty="0"/>
              <a:t>개의 특성이 있는 것 </a:t>
            </a:r>
            <a:r>
              <a:rPr lang="en-US" altLang="ko-KR" dirty="0">
                <a:sym typeface="Wingdings" panose="05000000000000000000" pitchFamily="2" charset="2"/>
              </a:rPr>
              <a:t> 10,000</a:t>
            </a:r>
            <a:r>
              <a:rPr lang="ko-KR" altLang="en-US" dirty="0">
                <a:sym typeface="Wingdings" panose="05000000000000000000" pitchFamily="2" charset="2"/>
              </a:rPr>
              <a:t>차원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/>
              <a:t>정보를 보존하면서도 차원을 축소할 수 있다면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ko-KR" altLang="en-US" dirty="0">
                <a:sym typeface="Wingdings" panose="05000000000000000000" pitchFamily="2" charset="2"/>
              </a:rPr>
              <a:t>저</a:t>
            </a:r>
            <a:r>
              <a:rPr lang="ko-KR" altLang="en-US" dirty="0"/>
              <a:t>장공간을 크게 축소할 수 있음</a:t>
            </a:r>
            <a:endParaRPr lang="en-US" altLang="ko-KR" dirty="0"/>
          </a:p>
          <a:p>
            <a:r>
              <a:rPr lang="ko-KR" altLang="en-US" dirty="0"/>
              <a:t>차원 축소</a:t>
            </a:r>
            <a:r>
              <a:rPr lang="en-US" altLang="ko-KR" dirty="0"/>
              <a:t>(Dimensionality Reduction)</a:t>
            </a:r>
          </a:p>
          <a:p>
            <a:pPr lvl="1"/>
            <a:r>
              <a:rPr lang="ko-KR" altLang="en-US" dirty="0"/>
              <a:t>특성이 많아지면</a:t>
            </a:r>
            <a:r>
              <a:rPr lang="en-US" altLang="ko-KR" dirty="0"/>
              <a:t>, </a:t>
            </a:r>
            <a:r>
              <a:rPr lang="ko-KR" altLang="en-US" dirty="0"/>
              <a:t>선형모델의 성능이 높아지고</a:t>
            </a:r>
            <a:r>
              <a:rPr lang="en-US" altLang="ko-KR" dirty="0"/>
              <a:t>, </a:t>
            </a:r>
            <a:r>
              <a:rPr lang="ko-KR" altLang="en-US" dirty="0"/>
              <a:t>훈련데이터에 과대적합</a:t>
            </a:r>
            <a:endParaRPr lang="en-US" altLang="ko-KR" dirty="0"/>
          </a:p>
          <a:p>
            <a:pPr lvl="1"/>
            <a:r>
              <a:rPr lang="ko-KR" altLang="en-US" dirty="0"/>
              <a:t>데이터를 가장 잘 나타내는 일부 특성을 선택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ko-KR" altLang="en-US" dirty="0"/>
              <a:t>데이터 크기를 줄이고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ko-KR" altLang="en-US" dirty="0">
                <a:sym typeface="Wingdings" panose="05000000000000000000" pitchFamily="2" charset="2"/>
              </a:rPr>
              <a:t>지도학습 모델의 성능을 향상</a:t>
            </a:r>
            <a:r>
              <a:rPr lang="ko-KR" altLang="en-US" dirty="0"/>
              <a:t> </a:t>
            </a:r>
            <a:endParaRPr lang="en-US" altLang="ko-KR" dirty="0"/>
          </a:p>
          <a:p>
            <a:pPr lvl="1"/>
            <a:r>
              <a:rPr lang="ko-KR" altLang="en-US" dirty="0"/>
              <a:t>차원 축소된 것으로부터 원본 차원으로 손실을 최소화하며 복원 가능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ko-KR" altLang="en-US" dirty="0">
                <a:sym typeface="Wingdings" panose="05000000000000000000" pitchFamily="2" charset="2"/>
              </a:rPr>
              <a:t>대표적 차원 축소 알고리즘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    </a:t>
            </a:r>
            <a:r>
              <a:rPr lang="ko-KR" altLang="en-US" dirty="0">
                <a:sym typeface="Wingdings" panose="05000000000000000000" pitchFamily="2" charset="2"/>
              </a:rPr>
              <a:t>주성분 분석</a:t>
            </a:r>
            <a:r>
              <a:rPr lang="en-US" altLang="ko-KR" dirty="0">
                <a:sym typeface="Wingdings" panose="05000000000000000000" pitchFamily="2" charset="2"/>
              </a:rPr>
              <a:t>(Principal Component Analysis; PCA)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CD4C1E-9969-4C24-B8B4-63F4FC141B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83362469"/>
      </p:ext>
    </p:extLst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18FC77-1217-4FC3-9417-8A7A85609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PCA(</a:t>
            </a:r>
            <a:r>
              <a:rPr lang="ko-KR" altLang="en-US" dirty="0"/>
              <a:t>주성분 분석</a:t>
            </a:r>
            <a:r>
              <a:rPr lang="en-US" altLang="ko-KR" dirty="0"/>
              <a:t>) (1)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DE3E38-DF85-469A-A91E-7C312518C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475" y="954482"/>
            <a:ext cx="8950325" cy="5519738"/>
          </a:xfrm>
        </p:spPr>
        <p:txBody>
          <a:bodyPr>
            <a:normAutofit fontScale="85000" lnSpcReduction="20000"/>
          </a:bodyPr>
          <a:lstStyle/>
          <a:p>
            <a:r>
              <a:rPr lang="en-US" altLang="ko-KR" dirty="0"/>
              <a:t>PCA</a:t>
            </a:r>
          </a:p>
          <a:p>
            <a:pPr lvl="1"/>
            <a:r>
              <a:rPr lang="ko-KR" altLang="en-US" dirty="0"/>
              <a:t>주성분</a:t>
            </a:r>
            <a:r>
              <a:rPr lang="en-US" altLang="ko-KR" dirty="0"/>
              <a:t>: </a:t>
            </a:r>
            <a:r>
              <a:rPr lang="ko-KR" altLang="en-US" dirty="0"/>
              <a:t>데이터에서 분산</a:t>
            </a:r>
            <a:r>
              <a:rPr lang="en-US" altLang="ko-KR" dirty="0"/>
              <a:t>(Variance: </a:t>
            </a:r>
            <a:r>
              <a:rPr lang="ko-KR" altLang="en-US" dirty="0"/>
              <a:t>데이터가 널리 퍼져 있는 정도</a:t>
            </a:r>
            <a:r>
              <a:rPr lang="en-US" altLang="ko-KR" dirty="0"/>
              <a:t>)</a:t>
            </a:r>
            <a:r>
              <a:rPr lang="ko-KR" altLang="en-US" dirty="0"/>
              <a:t>이 큰 방향 </a:t>
            </a:r>
            <a:r>
              <a:rPr lang="en-US" altLang="ko-KR" dirty="0"/>
              <a:t>(</a:t>
            </a:r>
            <a:r>
              <a:rPr lang="ko-KR" altLang="en-US" dirty="0"/>
              <a:t>벡터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주성분 분석</a:t>
            </a:r>
            <a:r>
              <a:rPr lang="en-US" altLang="ko-KR" dirty="0"/>
              <a:t>: </a:t>
            </a:r>
            <a:r>
              <a:rPr lang="ko-KR" altLang="en-US" dirty="0"/>
              <a:t>주성분을 찾는 것</a:t>
            </a:r>
            <a:endParaRPr lang="en-US" altLang="ko-KR" dirty="0"/>
          </a:p>
          <a:p>
            <a:r>
              <a:rPr lang="ko-KR" altLang="en-US" dirty="0"/>
              <a:t>예를 들어 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2CFCF9-B2B4-4596-B00E-80C9440AF1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7</a:t>
            </a:fld>
            <a:endParaRPr lang="en-US" altLang="ko-KR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12EA31A5-D873-4878-ABBE-8B9D8811ECFF}"/>
              </a:ext>
            </a:extLst>
          </p:cNvPr>
          <p:cNvGrpSpPr/>
          <p:nvPr/>
        </p:nvGrpSpPr>
        <p:grpSpPr>
          <a:xfrm>
            <a:off x="550821" y="3178318"/>
            <a:ext cx="2376264" cy="1546826"/>
            <a:chOff x="899592" y="2336802"/>
            <a:chExt cx="2376264" cy="1546826"/>
          </a:xfrm>
        </p:grpSpPr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F6AE1833-B809-4C83-944D-CB353D537CE4}"/>
                </a:ext>
              </a:extLst>
            </p:cNvPr>
            <p:cNvCxnSpPr/>
            <p:nvPr/>
          </p:nvCxnSpPr>
          <p:spPr>
            <a:xfrm>
              <a:off x="899592" y="3573016"/>
              <a:ext cx="237626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BA4C7B1-CBFB-4FFE-B5FE-EAEB9D3A6185}"/>
                </a:ext>
              </a:extLst>
            </p:cNvPr>
            <p:cNvCxnSpPr>
              <a:cxnSpLocks/>
            </p:cNvCxnSpPr>
            <p:nvPr/>
          </p:nvCxnSpPr>
          <p:spPr>
            <a:xfrm>
              <a:off x="1403648" y="2492896"/>
              <a:ext cx="0" cy="136815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13D607D5-FA6F-45FA-AFB0-2286CA5FC9C0}"/>
                </a:ext>
              </a:extLst>
            </p:cNvPr>
            <p:cNvSpPr/>
            <p:nvPr/>
          </p:nvSpPr>
          <p:spPr>
            <a:xfrm>
              <a:off x="1691680" y="3248980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70F3BB44-797D-4B26-9A65-D5B67A48F946}"/>
                </a:ext>
              </a:extLst>
            </p:cNvPr>
            <p:cNvSpPr/>
            <p:nvPr/>
          </p:nvSpPr>
          <p:spPr>
            <a:xfrm>
              <a:off x="1806745" y="3099666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F43E1828-EDFD-4199-8B0A-3A427A3FD667}"/>
                </a:ext>
              </a:extLst>
            </p:cNvPr>
            <p:cNvSpPr/>
            <p:nvPr/>
          </p:nvSpPr>
          <p:spPr>
            <a:xfrm>
              <a:off x="1844497" y="3226120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EC897EF4-4D6E-4C38-9756-8E1DFC671FDA}"/>
                </a:ext>
              </a:extLst>
            </p:cNvPr>
            <p:cNvSpPr/>
            <p:nvPr/>
          </p:nvSpPr>
          <p:spPr>
            <a:xfrm>
              <a:off x="1974454" y="3182160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57AF6571-23D1-4110-8BFD-54343A4BE160}"/>
                </a:ext>
              </a:extLst>
            </p:cNvPr>
            <p:cNvSpPr/>
            <p:nvPr/>
          </p:nvSpPr>
          <p:spPr>
            <a:xfrm>
              <a:off x="1928735" y="3014594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34B76EF3-D378-4377-B007-43EFB6B369C7}"/>
                </a:ext>
              </a:extLst>
            </p:cNvPr>
            <p:cNvSpPr/>
            <p:nvPr/>
          </p:nvSpPr>
          <p:spPr>
            <a:xfrm>
              <a:off x="2042005" y="3071205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16F4AD3-53AB-47D6-8B43-E04430C917C9}"/>
                </a:ext>
              </a:extLst>
            </p:cNvPr>
            <p:cNvSpPr/>
            <p:nvPr/>
          </p:nvSpPr>
          <p:spPr>
            <a:xfrm>
              <a:off x="2087724" y="2951818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FC429EB6-8482-4091-AB7E-D250E11633E2}"/>
                </a:ext>
              </a:extLst>
            </p:cNvPr>
            <p:cNvSpPr/>
            <p:nvPr/>
          </p:nvSpPr>
          <p:spPr>
            <a:xfrm>
              <a:off x="2133443" y="3145385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7AE7AF69-0299-453E-89DD-414CFC0CFAD3}"/>
                </a:ext>
              </a:extLst>
            </p:cNvPr>
            <p:cNvSpPr/>
            <p:nvPr/>
          </p:nvSpPr>
          <p:spPr>
            <a:xfrm>
              <a:off x="2294033" y="3082105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BBC1FD4B-965A-43A9-BBF9-3FE636FBEC96}"/>
                </a:ext>
              </a:extLst>
            </p:cNvPr>
            <p:cNvSpPr/>
            <p:nvPr/>
          </p:nvSpPr>
          <p:spPr>
            <a:xfrm>
              <a:off x="2179162" y="3014593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959AADDB-CF1D-4B4F-9BDF-FD51DD972A44}"/>
                </a:ext>
              </a:extLst>
            </p:cNvPr>
            <p:cNvSpPr/>
            <p:nvPr/>
          </p:nvSpPr>
          <p:spPr>
            <a:xfrm>
              <a:off x="2178555" y="2841145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48C35733-4575-4633-B6BD-407B4F566622}"/>
                </a:ext>
              </a:extLst>
            </p:cNvPr>
            <p:cNvSpPr/>
            <p:nvPr/>
          </p:nvSpPr>
          <p:spPr>
            <a:xfrm>
              <a:off x="2315291" y="2967728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7EB0716C-A14F-4BC8-99AF-7F56120F925A}"/>
                </a:ext>
              </a:extLst>
            </p:cNvPr>
            <p:cNvSpPr/>
            <p:nvPr/>
          </p:nvSpPr>
          <p:spPr>
            <a:xfrm>
              <a:off x="2361010" y="2876812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285D25AE-FA92-4635-8C25-6BFB7A063F67}"/>
                </a:ext>
              </a:extLst>
            </p:cNvPr>
            <p:cNvSpPr/>
            <p:nvPr/>
          </p:nvSpPr>
          <p:spPr>
            <a:xfrm>
              <a:off x="2483618" y="2959072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9609A6B2-CCF1-4F63-A380-D56655CDE612}"/>
                </a:ext>
              </a:extLst>
            </p:cNvPr>
            <p:cNvSpPr/>
            <p:nvPr/>
          </p:nvSpPr>
          <p:spPr>
            <a:xfrm>
              <a:off x="2502305" y="2840650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E53F3BF0-A44F-47E4-833A-E96ABC796576}"/>
                </a:ext>
              </a:extLst>
            </p:cNvPr>
            <p:cNvSpPr/>
            <p:nvPr/>
          </p:nvSpPr>
          <p:spPr>
            <a:xfrm>
              <a:off x="2315073" y="2771163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B11F04A6-AC78-466A-A531-DC92F267053C}"/>
                </a:ext>
              </a:extLst>
            </p:cNvPr>
            <p:cNvSpPr/>
            <p:nvPr/>
          </p:nvSpPr>
          <p:spPr>
            <a:xfrm>
              <a:off x="2643600" y="2873347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32F28298-DF32-4761-8180-F8E4D502CD3D}"/>
                </a:ext>
              </a:extLst>
            </p:cNvPr>
            <p:cNvSpPr/>
            <p:nvPr/>
          </p:nvSpPr>
          <p:spPr>
            <a:xfrm>
              <a:off x="2479445" y="2735001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EAC5A7A6-7303-4A5A-AC11-2F508CB10CD4}"/>
                </a:ext>
              </a:extLst>
            </p:cNvPr>
            <p:cNvSpPr/>
            <p:nvPr/>
          </p:nvSpPr>
          <p:spPr>
            <a:xfrm>
              <a:off x="2640799" y="2750006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8FBA8B8F-D541-48A8-8CBB-F47F0D7A2DB8}"/>
                </a:ext>
              </a:extLst>
            </p:cNvPr>
            <p:cNvSpPr/>
            <p:nvPr/>
          </p:nvSpPr>
          <p:spPr>
            <a:xfrm>
              <a:off x="2663658" y="2630953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754FFC86-5E01-4D65-A6F1-E27DEC9CAA22}"/>
                </a:ext>
              </a:extLst>
            </p:cNvPr>
            <p:cNvSpPr/>
            <p:nvPr/>
          </p:nvSpPr>
          <p:spPr>
            <a:xfrm>
              <a:off x="2794186" y="2758146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C5A4D7E6-EEA8-456E-A9D1-9A479480F445}"/>
                </a:ext>
              </a:extLst>
            </p:cNvPr>
            <p:cNvSpPr/>
            <p:nvPr/>
          </p:nvSpPr>
          <p:spPr>
            <a:xfrm>
              <a:off x="2799134" y="2652497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487123D-6B1D-4CCC-B87F-FCF873FFD329}"/>
                </a:ext>
              </a:extLst>
            </p:cNvPr>
            <p:cNvSpPr txBox="1"/>
            <p:nvPr/>
          </p:nvSpPr>
          <p:spPr>
            <a:xfrm>
              <a:off x="2877259" y="3545074"/>
              <a:ext cx="32659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x</a:t>
              </a:r>
              <a:endParaRPr lang="ko-KR" altLang="en-US" baseline="-25000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09CD26E-7531-41E0-9EFC-CFA03226E321}"/>
                </a:ext>
              </a:extLst>
            </p:cNvPr>
            <p:cNvSpPr txBox="1"/>
            <p:nvPr/>
          </p:nvSpPr>
          <p:spPr>
            <a:xfrm>
              <a:off x="1088488" y="2336802"/>
              <a:ext cx="27028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y</a:t>
              </a:r>
              <a:endParaRPr lang="ko-KR" altLang="en-US" baseline="-25000" dirty="0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77313B2C-A192-4D24-81FC-0E7AD7AB1F30}"/>
              </a:ext>
            </a:extLst>
          </p:cNvPr>
          <p:cNvSpPr txBox="1"/>
          <p:nvPr/>
        </p:nvSpPr>
        <p:spPr>
          <a:xfrm>
            <a:off x="553766" y="2716653"/>
            <a:ext cx="3032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0070C0"/>
                </a:solidFill>
              </a:rPr>
              <a:t>x, y</a:t>
            </a:r>
            <a:r>
              <a:rPr lang="ko-KR" altLang="en-US" sz="1200" dirty="0">
                <a:solidFill>
                  <a:srgbClr val="0070C0"/>
                </a:solidFill>
              </a:rPr>
              <a:t>의 </a:t>
            </a:r>
            <a:r>
              <a:rPr lang="en-US" altLang="ko-KR" sz="1200" dirty="0">
                <a:solidFill>
                  <a:srgbClr val="0070C0"/>
                </a:solidFill>
              </a:rPr>
              <a:t>2</a:t>
            </a:r>
            <a:r>
              <a:rPr lang="ko-KR" altLang="en-US" sz="1200" dirty="0">
                <a:solidFill>
                  <a:srgbClr val="0070C0"/>
                </a:solidFill>
              </a:rPr>
              <a:t>개 특성을 가진</a:t>
            </a:r>
            <a:r>
              <a:rPr lang="en-US" altLang="ko-KR" sz="1200" dirty="0">
                <a:solidFill>
                  <a:srgbClr val="0070C0"/>
                </a:solidFill>
              </a:rPr>
              <a:t>(2</a:t>
            </a:r>
            <a:r>
              <a:rPr lang="ko-KR" altLang="en-US" sz="1200" dirty="0">
                <a:solidFill>
                  <a:srgbClr val="0070C0"/>
                </a:solidFill>
              </a:rPr>
              <a:t>차원</a:t>
            </a:r>
            <a:r>
              <a:rPr lang="en-US" altLang="ko-KR" sz="1200" dirty="0">
                <a:solidFill>
                  <a:srgbClr val="0070C0"/>
                </a:solidFill>
              </a:rPr>
              <a:t>)</a:t>
            </a:r>
            <a:r>
              <a:rPr lang="ko-KR" altLang="en-US" sz="1200" dirty="0">
                <a:solidFill>
                  <a:srgbClr val="0070C0"/>
                </a:solidFill>
              </a:rPr>
              <a:t> 데이터가 아래와 같은 분포를 가진다면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AE628E5-32B7-43D1-A2BA-2DB34760A0EA}"/>
              </a:ext>
            </a:extLst>
          </p:cNvPr>
          <p:cNvSpPr txBox="1"/>
          <p:nvPr/>
        </p:nvSpPr>
        <p:spPr>
          <a:xfrm>
            <a:off x="3635896" y="2808985"/>
            <a:ext cx="2492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0070C0"/>
                </a:solidFill>
              </a:rPr>
              <a:t>가장 분산이 큰 방향은</a:t>
            </a:r>
            <a:r>
              <a:rPr lang="en-US" altLang="ko-KR" sz="1200" dirty="0">
                <a:solidFill>
                  <a:srgbClr val="0070C0"/>
                </a:solidFill>
              </a:rPr>
              <a:t>?</a:t>
            </a:r>
            <a:endParaRPr lang="ko-KR" altLang="en-US" sz="1200" dirty="0">
              <a:solidFill>
                <a:srgbClr val="0070C0"/>
              </a:solidFill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9C9F9047-5E53-4BE1-BABF-3A895F2A611D}"/>
              </a:ext>
            </a:extLst>
          </p:cNvPr>
          <p:cNvGrpSpPr/>
          <p:nvPr/>
        </p:nvGrpSpPr>
        <p:grpSpPr>
          <a:xfrm>
            <a:off x="3309146" y="3160323"/>
            <a:ext cx="2376264" cy="1546826"/>
            <a:chOff x="899592" y="2336802"/>
            <a:chExt cx="2376264" cy="1546826"/>
          </a:xfrm>
        </p:grpSpPr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B17E0BA0-A2F5-4F83-9272-DED1778FC954}"/>
                </a:ext>
              </a:extLst>
            </p:cNvPr>
            <p:cNvCxnSpPr/>
            <p:nvPr/>
          </p:nvCxnSpPr>
          <p:spPr>
            <a:xfrm>
              <a:off x="899592" y="3573016"/>
              <a:ext cx="237626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6B3121F9-9CD6-4445-BDF0-5BB6E4EA98CD}"/>
                </a:ext>
              </a:extLst>
            </p:cNvPr>
            <p:cNvCxnSpPr>
              <a:cxnSpLocks/>
            </p:cNvCxnSpPr>
            <p:nvPr/>
          </p:nvCxnSpPr>
          <p:spPr>
            <a:xfrm>
              <a:off x="1403648" y="2492896"/>
              <a:ext cx="0" cy="136815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39D7A85D-5092-475D-ACF8-834AF830A9CD}"/>
                </a:ext>
              </a:extLst>
            </p:cNvPr>
            <p:cNvSpPr/>
            <p:nvPr/>
          </p:nvSpPr>
          <p:spPr>
            <a:xfrm>
              <a:off x="1691680" y="3248980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176D3271-E7DC-4338-84E9-81B458A8FE09}"/>
                </a:ext>
              </a:extLst>
            </p:cNvPr>
            <p:cNvSpPr/>
            <p:nvPr/>
          </p:nvSpPr>
          <p:spPr>
            <a:xfrm>
              <a:off x="1806745" y="3099666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34BBB1F3-EFFC-484E-B717-E05B66E9991C}"/>
                </a:ext>
              </a:extLst>
            </p:cNvPr>
            <p:cNvSpPr/>
            <p:nvPr/>
          </p:nvSpPr>
          <p:spPr>
            <a:xfrm>
              <a:off x="1844497" y="3226120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004B556D-A3A9-4F4C-BEA9-9C5096C6B909}"/>
                </a:ext>
              </a:extLst>
            </p:cNvPr>
            <p:cNvSpPr/>
            <p:nvPr/>
          </p:nvSpPr>
          <p:spPr>
            <a:xfrm>
              <a:off x="1974454" y="3182160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9809187F-55AE-4A16-A3F5-1711E0227CF1}"/>
                </a:ext>
              </a:extLst>
            </p:cNvPr>
            <p:cNvSpPr/>
            <p:nvPr/>
          </p:nvSpPr>
          <p:spPr>
            <a:xfrm>
              <a:off x="1928735" y="3014594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80D312E3-A501-47B7-A4BE-7FC311B5DC25}"/>
                </a:ext>
              </a:extLst>
            </p:cNvPr>
            <p:cNvSpPr/>
            <p:nvPr/>
          </p:nvSpPr>
          <p:spPr>
            <a:xfrm>
              <a:off x="2042005" y="3071205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EACC0EC0-518C-468B-B34C-2A4A5B91937C}"/>
                </a:ext>
              </a:extLst>
            </p:cNvPr>
            <p:cNvSpPr/>
            <p:nvPr/>
          </p:nvSpPr>
          <p:spPr>
            <a:xfrm>
              <a:off x="2087724" y="2951818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C8EAF830-1099-4DCE-BCB1-A81D7D633329}"/>
                </a:ext>
              </a:extLst>
            </p:cNvPr>
            <p:cNvSpPr/>
            <p:nvPr/>
          </p:nvSpPr>
          <p:spPr>
            <a:xfrm>
              <a:off x="2133443" y="3145385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DA29B228-29DB-408E-8D83-3D2A37E1959B}"/>
                </a:ext>
              </a:extLst>
            </p:cNvPr>
            <p:cNvSpPr/>
            <p:nvPr/>
          </p:nvSpPr>
          <p:spPr>
            <a:xfrm>
              <a:off x="2294033" y="3082105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EB6B7AB7-8ACE-4733-A0D3-526D27E656F7}"/>
                </a:ext>
              </a:extLst>
            </p:cNvPr>
            <p:cNvSpPr/>
            <p:nvPr/>
          </p:nvSpPr>
          <p:spPr>
            <a:xfrm>
              <a:off x="2179162" y="3014593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353AF0DB-DB3A-4708-8054-23054BC7E2D7}"/>
                </a:ext>
              </a:extLst>
            </p:cNvPr>
            <p:cNvSpPr/>
            <p:nvPr/>
          </p:nvSpPr>
          <p:spPr>
            <a:xfrm>
              <a:off x="2178555" y="2841145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9FA31843-F76E-4C8E-B65C-3F9F0D523005}"/>
                </a:ext>
              </a:extLst>
            </p:cNvPr>
            <p:cNvSpPr/>
            <p:nvPr/>
          </p:nvSpPr>
          <p:spPr>
            <a:xfrm>
              <a:off x="2315291" y="2967728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740A12F9-1996-478E-8E88-51918C93DDB5}"/>
                </a:ext>
              </a:extLst>
            </p:cNvPr>
            <p:cNvSpPr/>
            <p:nvPr/>
          </p:nvSpPr>
          <p:spPr>
            <a:xfrm>
              <a:off x="2361010" y="2876812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타원 54">
              <a:extLst>
                <a:ext uri="{FF2B5EF4-FFF2-40B4-BE49-F238E27FC236}">
                  <a16:creationId xmlns:a16="http://schemas.microsoft.com/office/drawing/2014/main" id="{9AD6EFF5-78F1-4793-AC0E-7DF71E7E70CB}"/>
                </a:ext>
              </a:extLst>
            </p:cNvPr>
            <p:cNvSpPr/>
            <p:nvPr/>
          </p:nvSpPr>
          <p:spPr>
            <a:xfrm>
              <a:off x="2483618" y="2959072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7F8B3071-10B0-443E-8C86-8D3FE598C430}"/>
                </a:ext>
              </a:extLst>
            </p:cNvPr>
            <p:cNvSpPr/>
            <p:nvPr/>
          </p:nvSpPr>
          <p:spPr>
            <a:xfrm>
              <a:off x="2502305" y="2840650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6CC75AED-04F3-4082-8DE9-14272851AA98}"/>
                </a:ext>
              </a:extLst>
            </p:cNvPr>
            <p:cNvSpPr/>
            <p:nvPr/>
          </p:nvSpPr>
          <p:spPr>
            <a:xfrm>
              <a:off x="2315073" y="2771163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8AD00607-9411-4E79-8A00-B7F6EB2D2F6B}"/>
                </a:ext>
              </a:extLst>
            </p:cNvPr>
            <p:cNvSpPr/>
            <p:nvPr/>
          </p:nvSpPr>
          <p:spPr>
            <a:xfrm>
              <a:off x="2643600" y="2873347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FA91F526-E429-45B1-9770-6A5EA8C08851}"/>
                </a:ext>
              </a:extLst>
            </p:cNvPr>
            <p:cNvSpPr/>
            <p:nvPr/>
          </p:nvSpPr>
          <p:spPr>
            <a:xfrm>
              <a:off x="2479445" y="2735001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A0AD48AD-7991-4AFA-A740-B78004C2CE7F}"/>
                </a:ext>
              </a:extLst>
            </p:cNvPr>
            <p:cNvSpPr/>
            <p:nvPr/>
          </p:nvSpPr>
          <p:spPr>
            <a:xfrm>
              <a:off x="2640799" y="2750006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EC833DAA-E90C-4A5F-AFBD-A624DBD31B8D}"/>
                </a:ext>
              </a:extLst>
            </p:cNvPr>
            <p:cNvSpPr/>
            <p:nvPr/>
          </p:nvSpPr>
          <p:spPr>
            <a:xfrm>
              <a:off x="2663658" y="2630953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타원 61">
              <a:extLst>
                <a:ext uri="{FF2B5EF4-FFF2-40B4-BE49-F238E27FC236}">
                  <a16:creationId xmlns:a16="http://schemas.microsoft.com/office/drawing/2014/main" id="{5081C616-716E-43ED-9E06-973395AC4E4E}"/>
                </a:ext>
              </a:extLst>
            </p:cNvPr>
            <p:cNvSpPr/>
            <p:nvPr/>
          </p:nvSpPr>
          <p:spPr>
            <a:xfrm>
              <a:off x="2794186" y="2758146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86C3E310-5159-45C3-8446-2F204F6F6A32}"/>
                </a:ext>
              </a:extLst>
            </p:cNvPr>
            <p:cNvSpPr/>
            <p:nvPr/>
          </p:nvSpPr>
          <p:spPr>
            <a:xfrm>
              <a:off x="2799134" y="2652497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A486606-E743-4031-A01E-FC4506877A45}"/>
                </a:ext>
              </a:extLst>
            </p:cNvPr>
            <p:cNvSpPr txBox="1"/>
            <p:nvPr/>
          </p:nvSpPr>
          <p:spPr>
            <a:xfrm>
              <a:off x="2877259" y="3545074"/>
              <a:ext cx="32659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x</a:t>
              </a:r>
              <a:endParaRPr lang="ko-KR" altLang="en-US" baseline="-25000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E40EB622-975E-45A1-A20E-CE5759322371}"/>
                </a:ext>
              </a:extLst>
            </p:cNvPr>
            <p:cNvSpPr txBox="1"/>
            <p:nvPr/>
          </p:nvSpPr>
          <p:spPr>
            <a:xfrm>
              <a:off x="1088488" y="2336802"/>
              <a:ext cx="27028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y</a:t>
              </a:r>
              <a:endParaRPr lang="ko-KR" altLang="en-US" baseline="-25000" dirty="0"/>
            </a:p>
          </p:txBody>
        </p:sp>
      </p:grp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CC66F902-51A5-4336-9D33-F35954F9AE09}"/>
              </a:ext>
            </a:extLst>
          </p:cNvPr>
          <p:cNvCxnSpPr/>
          <p:nvPr/>
        </p:nvCxnSpPr>
        <p:spPr>
          <a:xfrm flipV="1">
            <a:off x="3995371" y="3422005"/>
            <a:ext cx="1378954" cy="7713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화살표: 오른쪽 67">
            <a:extLst>
              <a:ext uri="{FF2B5EF4-FFF2-40B4-BE49-F238E27FC236}">
                <a16:creationId xmlns:a16="http://schemas.microsoft.com/office/drawing/2014/main" id="{8383C347-E7F1-495C-945F-4AFBCA563918}"/>
              </a:ext>
            </a:extLst>
          </p:cNvPr>
          <p:cNvSpPr/>
          <p:nvPr/>
        </p:nvSpPr>
        <p:spPr>
          <a:xfrm>
            <a:off x="5940152" y="3581381"/>
            <a:ext cx="297625" cy="193958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0C638A3-888C-48B5-B89A-439DFE472517}"/>
              </a:ext>
            </a:extLst>
          </p:cNvPr>
          <p:cNvSpPr txBox="1"/>
          <p:nvPr/>
        </p:nvSpPr>
        <p:spPr>
          <a:xfrm>
            <a:off x="6428048" y="2805927"/>
            <a:ext cx="249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0070C0"/>
                </a:solidFill>
              </a:rPr>
              <a:t>원점을 중심으로</a:t>
            </a:r>
            <a:r>
              <a:rPr lang="en-US" altLang="ko-KR" sz="1200" dirty="0">
                <a:solidFill>
                  <a:srgbClr val="0070C0"/>
                </a:solidFill>
              </a:rPr>
              <a:t>… (</a:t>
            </a:r>
            <a:r>
              <a:rPr lang="ko-KR" altLang="en-US" sz="1200" dirty="0">
                <a:solidFill>
                  <a:srgbClr val="0070C0"/>
                </a:solidFill>
              </a:rPr>
              <a:t>방향이 중요</a:t>
            </a:r>
            <a:r>
              <a:rPr lang="en-US" altLang="ko-KR" sz="1200" dirty="0">
                <a:solidFill>
                  <a:srgbClr val="0070C0"/>
                </a:solidFill>
              </a:rPr>
              <a:t>)</a:t>
            </a:r>
            <a:br>
              <a:rPr lang="en-US" altLang="ko-KR" sz="1200" dirty="0">
                <a:solidFill>
                  <a:srgbClr val="0070C0"/>
                </a:solidFill>
              </a:rPr>
            </a:br>
            <a:r>
              <a:rPr lang="en-US" altLang="ko-KR" sz="1200" dirty="0">
                <a:solidFill>
                  <a:srgbClr val="0070C0"/>
                </a:solidFill>
                <a:sym typeface="Wingdings" panose="05000000000000000000" pitchFamily="2" charset="2"/>
              </a:rPr>
              <a:t> </a:t>
            </a:r>
            <a:r>
              <a:rPr lang="ko-KR" altLang="en-US" sz="1200" dirty="0">
                <a:solidFill>
                  <a:srgbClr val="FF0000"/>
                </a:solidFill>
                <a:sym typeface="Wingdings" panose="05000000000000000000" pitchFamily="2" charset="2"/>
              </a:rPr>
              <a:t>주성분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A6FEA91E-A47E-46A0-BACC-BEFB699B3620}"/>
              </a:ext>
            </a:extLst>
          </p:cNvPr>
          <p:cNvGrpSpPr/>
          <p:nvPr/>
        </p:nvGrpSpPr>
        <p:grpSpPr>
          <a:xfrm>
            <a:off x="6783572" y="3437517"/>
            <a:ext cx="1952174" cy="1136327"/>
            <a:chOff x="6783572" y="3156480"/>
            <a:chExt cx="1952174" cy="1136327"/>
          </a:xfrm>
        </p:grpSpPr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620E0B97-2AEB-45C1-B7ED-18B60D05C815}"/>
                </a:ext>
              </a:extLst>
            </p:cNvPr>
            <p:cNvCxnSpPr>
              <a:cxnSpLocks/>
            </p:cNvCxnSpPr>
            <p:nvPr/>
          </p:nvCxnSpPr>
          <p:spPr>
            <a:xfrm>
              <a:off x="6783572" y="3815950"/>
              <a:ext cx="195217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0AC7C2C3-AEC5-411E-B561-F20A12B31965}"/>
                </a:ext>
              </a:extLst>
            </p:cNvPr>
            <p:cNvCxnSpPr>
              <a:cxnSpLocks/>
            </p:cNvCxnSpPr>
            <p:nvPr/>
          </p:nvCxnSpPr>
          <p:spPr>
            <a:xfrm>
              <a:off x="7718916" y="3312574"/>
              <a:ext cx="0" cy="98023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FE8F2D4F-3D99-4373-9D73-B8B0B6810CE6}"/>
                </a:ext>
              </a:extLst>
            </p:cNvPr>
            <p:cNvSpPr/>
            <p:nvPr/>
          </p:nvSpPr>
          <p:spPr>
            <a:xfrm>
              <a:off x="7151570" y="4068658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1D4FD283-88EC-4AA4-829A-BB1CAFDDF2ED}"/>
                </a:ext>
              </a:extLst>
            </p:cNvPr>
            <p:cNvSpPr/>
            <p:nvPr/>
          </p:nvSpPr>
          <p:spPr>
            <a:xfrm>
              <a:off x="7266635" y="3919344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E9C00AB8-47BA-4874-9D09-B301E6E0DF11}"/>
                </a:ext>
              </a:extLst>
            </p:cNvPr>
            <p:cNvSpPr/>
            <p:nvPr/>
          </p:nvSpPr>
          <p:spPr>
            <a:xfrm>
              <a:off x="7304387" y="4045798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CBA6CE5F-8D44-49E9-87A4-33B1F5B07061}"/>
                </a:ext>
              </a:extLst>
            </p:cNvPr>
            <p:cNvSpPr/>
            <p:nvPr/>
          </p:nvSpPr>
          <p:spPr>
            <a:xfrm>
              <a:off x="7434344" y="4001838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타원 76">
              <a:extLst>
                <a:ext uri="{FF2B5EF4-FFF2-40B4-BE49-F238E27FC236}">
                  <a16:creationId xmlns:a16="http://schemas.microsoft.com/office/drawing/2014/main" id="{AD6780CD-90AA-4E76-9446-788F2F4F37DC}"/>
                </a:ext>
              </a:extLst>
            </p:cNvPr>
            <p:cNvSpPr/>
            <p:nvPr/>
          </p:nvSpPr>
          <p:spPr>
            <a:xfrm>
              <a:off x="7388625" y="3834272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225DB6D7-D8E1-4AB7-96A6-D615A9819B46}"/>
                </a:ext>
              </a:extLst>
            </p:cNvPr>
            <p:cNvSpPr/>
            <p:nvPr/>
          </p:nvSpPr>
          <p:spPr>
            <a:xfrm>
              <a:off x="7501895" y="3890883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9C66274D-4D42-45AB-8DDA-26B50E04BBBE}"/>
                </a:ext>
              </a:extLst>
            </p:cNvPr>
            <p:cNvSpPr/>
            <p:nvPr/>
          </p:nvSpPr>
          <p:spPr>
            <a:xfrm>
              <a:off x="7547614" y="3771496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572E681C-15F7-4C70-8DB2-52FE28357E64}"/>
                </a:ext>
              </a:extLst>
            </p:cNvPr>
            <p:cNvSpPr/>
            <p:nvPr/>
          </p:nvSpPr>
          <p:spPr>
            <a:xfrm>
              <a:off x="7593333" y="3965063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2517CACF-05B0-40C3-B843-5B1EDE79C663}"/>
                </a:ext>
              </a:extLst>
            </p:cNvPr>
            <p:cNvSpPr/>
            <p:nvPr/>
          </p:nvSpPr>
          <p:spPr>
            <a:xfrm>
              <a:off x="7753923" y="3901783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타원 81">
              <a:extLst>
                <a:ext uri="{FF2B5EF4-FFF2-40B4-BE49-F238E27FC236}">
                  <a16:creationId xmlns:a16="http://schemas.microsoft.com/office/drawing/2014/main" id="{7A43A482-0030-451D-B0C2-015A09FB9F50}"/>
                </a:ext>
              </a:extLst>
            </p:cNvPr>
            <p:cNvSpPr/>
            <p:nvPr/>
          </p:nvSpPr>
          <p:spPr>
            <a:xfrm>
              <a:off x="7639052" y="3834271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B655F676-9361-46AE-A28E-59E374B2EAFF}"/>
                </a:ext>
              </a:extLst>
            </p:cNvPr>
            <p:cNvSpPr/>
            <p:nvPr/>
          </p:nvSpPr>
          <p:spPr>
            <a:xfrm>
              <a:off x="7638445" y="3660823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EEAC7701-2AD3-4FDC-B39E-ED90EE330F8D}"/>
                </a:ext>
              </a:extLst>
            </p:cNvPr>
            <p:cNvSpPr/>
            <p:nvPr/>
          </p:nvSpPr>
          <p:spPr>
            <a:xfrm>
              <a:off x="7775181" y="3787406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B4D4A9E9-63ED-4D6B-82A4-8C74241E74B2}"/>
                </a:ext>
              </a:extLst>
            </p:cNvPr>
            <p:cNvSpPr/>
            <p:nvPr/>
          </p:nvSpPr>
          <p:spPr>
            <a:xfrm>
              <a:off x="7820900" y="3696490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타원 85">
              <a:extLst>
                <a:ext uri="{FF2B5EF4-FFF2-40B4-BE49-F238E27FC236}">
                  <a16:creationId xmlns:a16="http://schemas.microsoft.com/office/drawing/2014/main" id="{0C8C138D-A39A-4F0B-87BD-6C66DFDDC9E4}"/>
                </a:ext>
              </a:extLst>
            </p:cNvPr>
            <p:cNvSpPr/>
            <p:nvPr/>
          </p:nvSpPr>
          <p:spPr>
            <a:xfrm>
              <a:off x="7943508" y="3778750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F3B83F87-1858-4DFB-A29F-BCCB63A780AD}"/>
                </a:ext>
              </a:extLst>
            </p:cNvPr>
            <p:cNvSpPr/>
            <p:nvPr/>
          </p:nvSpPr>
          <p:spPr>
            <a:xfrm>
              <a:off x="7962195" y="3660328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타원 87">
              <a:extLst>
                <a:ext uri="{FF2B5EF4-FFF2-40B4-BE49-F238E27FC236}">
                  <a16:creationId xmlns:a16="http://schemas.microsoft.com/office/drawing/2014/main" id="{B8C3599C-BFF4-4AC8-92C7-782D6770B803}"/>
                </a:ext>
              </a:extLst>
            </p:cNvPr>
            <p:cNvSpPr/>
            <p:nvPr/>
          </p:nvSpPr>
          <p:spPr>
            <a:xfrm>
              <a:off x="7774963" y="3590841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타원 88">
              <a:extLst>
                <a:ext uri="{FF2B5EF4-FFF2-40B4-BE49-F238E27FC236}">
                  <a16:creationId xmlns:a16="http://schemas.microsoft.com/office/drawing/2014/main" id="{D0879EF7-62D6-4619-A2DE-1258DD57077F}"/>
                </a:ext>
              </a:extLst>
            </p:cNvPr>
            <p:cNvSpPr/>
            <p:nvPr/>
          </p:nvSpPr>
          <p:spPr>
            <a:xfrm>
              <a:off x="8103490" y="3693025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타원 89">
              <a:extLst>
                <a:ext uri="{FF2B5EF4-FFF2-40B4-BE49-F238E27FC236}">
                  <a16:creationId xmlns:a16="http://schemas.microsoft.com/office/drawing/2014/main" id="{B2657DAC-1652-4DE9-A487-BE0C4B1ECA85}"/>
                </a:ext>
              </a:extLst>
            </p:cNvPr>
            <p:cNvSpPr/>
            <p:nvPr/>
          </p:nvSpPr>
          <p:spPr>
            <a:xfrm>
              <a:off x="7939335" y="3554679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타원 90">
              <a:extLst>
                <a:ext uri="{FF2B5EF4-FFF2-40B4-BE49-F238E27FC236}">
                  <a16:creationId xmlns:a16="http://schemas.microsoft.com/office/drawing/2014/main" id="{360F07A6-0C02-41FC-BD47-7864ADA8B0DD}"/>
                </a:ext>
              </a:extLst>
            </p:cNvPr>
            <p:cNvSpPr/>
            <p:nvPr/>
          </p:nvSpPr>
          <p:spPr>
            <a:xfrm>
              <a:off x="8100689" y="3569684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" name="타원 91">
              <a:extLst>
                <a:ext uri="{FF2B5EF4-FFF2-40B4-BE49-F238E27FC236}">
                  <a16:creationId xmlns:a16="http://schemas.microsoft.com/office/drawing/2014/main" id="{230E336A-8DB1-4742-B0E2-3B71CD45BDDB}"/>
                </a:ext>
              </a:extLst>
            </p:cNvPr>
            <p:cNvSpPr/>
            <p:nvPr/>
          </p:nvSpPr>
          <p:spPr>
            <a:xfrm>
              <a:off x="8123548" y="3450631"/>
              <a:ext cx="45719" cy="45719"/>
            </a:xfrm>
            <a:prstGeom prst="ellips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" name="타원 92">
              <a:extLst>
                <a:ext uri="{FF2B5EF4-FFF2-40B4-BE49-F238E27FC236}">
                  <a16:creationId xmlns:a16="http://schemas.microsoft.com/office/drawing/2014/main" id="{616E4DEC-0664-4F76-980C-032D1BA0145A}"/>
                </a:ext>
              </a:extLst>
            </p:cNvPr>
            <p:cNvSpPr/>
            <p:nvPr/>
          </p:nvSpPr>
          <p:spPr>
            <a:xfrm>
              <a:off x="8254076" y="3577824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" name="타원 93">
              <a:extLst>
                <a:ext uri="{FF2B5EF4-FFF2-40B4-BE49-F238E27FC236}">
                  <a16:creationId xmlns:a16="http://schemas.microsoft.com/office/drawing/2014/main" id="{B31A915B-A7C6-4F4C-9580-AFC57E3F2A74}"/>
                </a:ext>
              </a:extLst>
            </p:cNvPr>
            <p:cNvSpPr/>
            <p:nvPr/>
          </p:nvSpPr>
          <p:spPr>
            <a:xfrm>
              <a:off x="8259024" y="3472175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E1B4CCDD-AB7A-4334-862E-4DF5DE312A53}"/>
                </a:ext>
              </a:extLst>
            </p:cNvPr>
            <p:cNvSpPr txBox="1"/>
            <p:nvPr/>
          </p:nvSpPr>
          <p:spPr>
            <a:xfrm>
              <a:off x="8337149" y="3788008"/>
              <a:ext cx="32659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x</a:t>
              </a:r>
              <a:endParaRPr lang="ko-KR" altLang="en-US" baseline="-25000" dirty="0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50029D22-13E1-47E0-9E10-5B5FD34252D8}"/>
                </a:ext>
              </a:extLst>
            </p:cNvPr>
            <p:cNvSpPr txBox="1"/>
            <p:nvPr/>
          </p:nvSpPr>
          <p:spPr>
            <a:xfrm>
              <a:off x="7403756" y="3156480"/>
              <a:ext cx="27028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y</a:t>
              </a:r>
              <a:endParaRPr lang="ko-KR" altLang="en-US" baseline="-25000" dirty="0"/>
            </a:p>
          </p:txBody>
        </p:sp>
        <p:cxnSp>
          <p:nvCxnSpPr>
            <p:cNvPr id="97" name="직선 화살표 연결선 96">
              <a:extLst>
                <a:ext uri="{FF2B5EF4-FFF2-40B4-BE49-F238E27FC236}">
                  <a16:creationId xmlns:a16="http://schemas.microsoft.com/office/drawing/2014/main" id="{57D244C7-EC1A-4B54-8703-07E691492C74}"/>
                </a:ext>
              </a:extLst>
            </p:cNvPr>
            <p:cNvCxnSpPr/>
            <p:nvPr/>
          </p:nvCxnSpPr>
          <p:spPr>
            <a:xfrm flipV="1">
              <a:off x="7045707" y="3418162"/>
              <a:ext cx="1378954" cy="77136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D2E760D0-345A-4DB9-B4A4-B4E7B931C293}"/>
              </a:ext>
            </a:extLst>
          </p:cNvPr>
          <p:cNvSpPr txBox="1"/>
          <p:nvPr/>
        </p:nvSpPr>
        <p:spPr>
          <a:xfrm>
            <a:off x="3387544" y="4727580"/>
            <a:ext cx="2492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0070C0"/>
                </a:solidFill>
              </a:rPr>
              <a:t>붉은 점 데이터는 주성분 벡터에 투영하면 </a:t>
            </a:r>
            <a:r>
              <a:rPr lang="en-US" altLang="ko-KR" sz="1200" dirty="0">
                <a:solidFill>
                  <a:srgbClr val="0070C0"/>
                </a:solidFill>
              </a:rPr>
              <a:t>p(0.7)</a:t>
            </a:r>
            <a:r>
              <a:rPr lang="ko-KR" altLang="en-US" sz="1200" dirty="0">
                <a:solidFill>
                  <a:srgbClr val="0070C0"/>
                </a:solidFill>
              </a:rPr>
              <a:t>과 같이 주성분 벡터에서의 길이로 차원이 줄어듦</a:t>
            </a:r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BEBCC84F-71B7-4EB8-8D29-B2B93CC8F7F7}"/>
              </a:ext>
            </a:extLst>
          </p:cNvPr>
          <p:cNvGrpSpPr/>
          <p:nvPr/>
        </p:nvGrpSpPr>
        <p:grpSpPr>
          <a:xfrm>
            <a:off x="3743068" y="5359170"/>
            <a:ext cx="1952174" cy="1136327"/>
            <a:chOff x="6783572" y="3156480"/>
            <a:chExt cx="1952174" cy="1136327"/>
          </a:xfrm>
        </p:grpSpPr>
        <p:cxnSp>
          <p:nvCxnSpPr>
            <p:cNvPr id="104" name="직선 연결선 103">
              <a:extLst>
                <a:ext uri="{FF2B5EF4-FFF2-40B4-BE49-F238E27FC236}">
                  <a16:creationId xmlns:a16="http://schemas.microsoft.com/office/drawing/2014/main" id="{78CE22C7-BDC7-4488-989E-D45F11DF8113}"/>
                </a:ext>
              </a:extLst>
            </p:cNvPr>
            <p:cNvCxnSpPr>
              <a:cxnSpLocks/>
            </p:cNvCxnSpPr>
            <p:nvPr/>
          </p:nvCxnSpPr>
          <p:spPr>
            <a:xfrm>
              <a:off x="6783572" y="3815950"/>
              <a:ext cx="195217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DECE933B-04B9-41EE-B724-D1258AEC845B}"/>
                </a:ext>
              </a:extLst>
            </p:cNvPr>
            <p:cNvCxnSpPr>
              <a:cxnSpLocks/>
            </p:cNvCxnSpPr>
            <p:nvPr/>
          </p:nvCxnSpPr>
          <p:spPr>
            <a:xfrm>
              <a:off x="7718916" y="3312574"/>
              <a:ext cx="0" cy="98023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타원 105">
              <a:extLst>
                <a:ext uri="{FF2B5EF4-FFF2-40B4-BE49-F238E27FC236}">
                  <a16:creationId xmlns:a16="http://schemas.microsoft.com/office/drawing/2014/main" id="{ADD98800-773C-47CB-92FE-8362B914B3A6}"/>
                </a:ext>
              </a:extLst>
            </p:cNvPr>
            <p:cNvSpPr/>
            <p:nvPr/>
          </p:nvSpPr>
          <p:spPr>
            <a:xfrm>
              <a:off x="7151570" y="4068658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" name="타원 106">
              <a:extLst>
                <a:ext uri="{FF2B5EF4-FFF2-40B4-BE49-F238E27FC236}">
                  <a16:creationId xmlns:a16="http://schemas.microsoft.com/office/drawing/2014/main" id="{B5B71533-ABE3-4675-BFB5-EF87816ECF48}"/>
                </a:ext>
              </a:extLst>
            </p:cNvPr>
            <p:cNvSpPr/>
            <p:nvPr/>
          </p:nvSpPr>
          <p:spPr>
            <a:xfrm>
              <a:off x="7266635" y="3919344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" name="타원 107">
              <a:extLst>
                <a:ext uri="{FF2B5EF4-FFF2-40B4-BE49-F238E27FC236}">
                  <a16:creationId xmlns:a16="http://schemas.microsoft.com/office/drawing/2014/main" id="{81EEC06C-DDEF-479C-8479-2BF3F9CFA11C}"/>
                </a:ext>
              </a:extLst>
            </p:cNvPr>
            <p:cNvSpPr/>
            <p:nvPr/>
          </p:nvSpPr>
          <p:spPr>
            <a:xfrm>
              <a:off x="7304387" y="4045798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타원 108">
              <a:extLst>
                <a:ext uri="{FF2B5EF4-FFF2-40B4-BE49-F238E27FC236}">
                  <a16:creationId xmlns:a16="http://schemas.microsoft.com/office/drawing/2014/main" id="{51BA6727-2596-4889-99CE-71084D6DA0BD}"/>
                </a:ext>
              </a:extLst>
            </p:cNvPr>
            <p:cNvSpPr/>
            <p:nvPr/>
          </p:nvSpPr>
          <p:spPr>
            <a:xfrm>
              <a:off x="7434344" y="4001838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" name="타원 109">
              <a:extLst>
                <a:ext uri="{FF2B5EF4-FFF2-40B4-BE49-F238E27FC236}">
                  <a16:creationId xmlns:a16="http://schemas.microsoft.com/office/drawing/2014/main" id="{CEAD60CA-A3A7-4800-A3B2-E1C92B39639C}"/>
                </a:ext>
              </a:extLst>
            </p:cNvPr>
            <p:cNvSpPr/>
            <p:nvPr/>
          </p:nvSpPr>
          <p:spPr>
            <a:xfrm>
              <a:off x="7388625" y="3834272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" name="타원 110">
              <a:extLst>
                <a:ext uri="{FF2B5EF4-FFF2-40B4-BE49-F238E27FC236}">
                  <a16:creationId xmlns:a16="http://schemas.microsoft.com/office/drawing/2014/main" id="{5163BAAB-3703-4683-829F-B85DEF83AACF}"/>
                </a:ext>
              </a:extLst>
            </p:cNvPr>
            <p:cNvSpPr/>
            <p:nvPr/>
          </p:nvSpPr>
          <p:spPr>
            <a:xfrm>
              <a:off x="7501895" y="3890883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" name="타원 111">
              <a:extLst>
                <a:ext uri="{FF2B5EF4-FFF2-40B4-BE49-F238E27FC236}">
                  <a16:creationId xmlns:a16="http://schemas.microsoft.com/office/drawing/2014/main" id="{6E33A91A-431A-4390-BE83-B59149238945}"/>
                </a:ext>
              </a:extLst>
            </p:cNvPr>
            <p:cNvSpPr/>
            <p:nvPr/>
          </p:nvSpPr>
          <p:spPr>
            <a:xfrm>
              <a:off x="7547614" y="3771496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" name="타원 112">
              <a:extLst>
                <a:ext uri="{FF2B5EF4-FFF2-40B4-BE49-F238E27FC236}">
                  <a16:creationId xmlns:a16="http://schemas.microsoft.com/office/drawing/2014/main" id="{063752DB-E06F-4409-801E-AFAEBF70A885}"/>
                </a:ext>
              </a:extLst>
            </p:cNvPr>
            <p:cNvSpPr/>
            <p:nvPr/>
          </p:nvSpPr>
          <p:spPr>
            <a:xfrm>
              <a:off x="7593333" y="3965063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3A66F459-F87E-4FF7-BFA6-5BFEDAF04375}"/>
                </a:ext>
              </a:extLst>
            </p:cNvPr>
            <p:cNvSpPr/>
            <p:nvPr/>
          </p:nvSpPr>
          <p:spPr>
            <a:xfrm>
              <a:off x="7753923" y="3901783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" name="타원 114">
              <a:extLst>
                <a:ext uri="{FF2B5EF4-FFF2-40B4-BE49-F238E27FC236}">
                  <a16:creationId xmlns:a16="http://schemas.microsoft.com/office/drawing/2014/main" id="{4968C45B-20B7-4EBF-8AAA-72A1B1BFB4F1}"/>
                </a:ext>
              </a:extLst>
            </p:cNvPr>
            <p:cNvSpPr/>
            <p:nvPr/>
          </p:nvSpPr>
          <p:spPr>
            <a:xfrm>
              <a:off x="7639052" y="3834271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" name="타원 115">
              <a:extLst>
                <a:ext uri="{FF2B5EF4-FFF2-40B4-BE49-F238E27FC236}">
                  <a16:creationId xmlns:a16="http://schemas.microsoft.com/office/drawing/2014/main" id="{FCB7481F-F261-4341-A848-F351AF9F4C48}"/>
                </a:ext>
              </a:extLst>
            </p:cNvPr>
            <p:cNvSpPr/>
            <p:nvPr/>
          </p:nvSpPr>
          <p:spPr>
            <a:xfrm>
              <a:off x="7638445" y="3660823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" name="타원 116">
              <a:extLst>
                <a:ext uri="{FF2B5EF4-FFF2-40B4-BE49-F238E27FC236}">
                  <a16:creationId xmlns:a16="http://schemas.microsoft.com/office/drawing/2014/main" id="{AA6A0E52-BC28-4A47-88FA-53EB2EB0CE46}"/>
                </a:ext>
              </a:extLst>
            </p:cNvPr>
            <p:cNvSpPr/>
            <p:nvPr/>
          </p:nvSpPr>
          <p:spPr>
            <a:xfrm>
              <a:off x="7775181" y="3787406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" name="타원 117">
              <a:extLst>
                <a:ext uri="{FF2B5EF4-FFF2-40B4-BE49-F238E27FC236}">
                  <a16:creationId xmlns:a16="http://schemas.microsoft.com/office/drawing/2014/main" id="{F5B0B1FB-D4ED-4E98-8ED8-2CEDB953D0D2}"/>
                </a:ext>
              </a:extLst>
            </p:cNvPr>
            <p:cNvSpPr/>
            <p:nvPr/>
          </p:nvSpPr>
          <p:spPr>
            <a:xfrm>
              <a:off x="7820900" y="3696490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" name="타원 118">
              <a:extLst>
                <a:ext uri="{FF2B5EF4-FFF2-40B4-BE49-F238E27FC236}">
                  <a16:creationId xmlns:a16="http://schemas.microsoft.com/office/drawing/2014/main" id="{356293E5-26CC-46FE-ADDF-A019F29DF68A}"/>
                </a:ext>
              </a:extLst>
            </p:cNvPr>
            <p:cNvSpPr/>
            <p:nvPr/>
          </p:nvSpPr>
          <p:spPr>
            <a:xfrm>
              <a:off x="7943508" y="3778750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" name="타원 119">
              <a:extLst>
                <a:ext uri="{FF2B5EF4-FFF2-40B4-BE49-F238E27FC236}">
                  <a16:creationId xmlns:a16="http://schemas.microsoft.com/office/drawing/2014/main" id="{46718418-4261-4E4A-B64D-3B4B23E4F9C5}"/>
                </a:ext>
              </a:extLst>
            </p:cNvPr>
            <p:cNvSpPr/>
            <p:nvPr/>
          </p:nvSpPr>
          <p:spPr>
            <a:xfrm>
              <a:off x="7962195" y="3660328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" name="타원 120">
              <a:extLst>
                <a:ext uri="{FF2B5EF4-FFF2-40B4-BE49-F238E27FC236}">
                  <a16:creationId xmlns:a16="http://schemas.microsoft.com/office/drawing/2014/main" id="{D7881118-9585-4E00-B01F-B67DE2E6ADC4}"/>
                </a:ext>
              </a:extLst>
            </p:cNvPr>
            <p:cNvSpPr/>
            <p:nvPr/>
          </p:nvSpPr>
          <p:spPr>
            <a:xfrm>
              <a:off x="7774963" y="3590841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" name="타원 121">
              <a:extLst>
                <a:ext uri="{FF2B5EF4-FFF2-40B4-BE49-F238E27FC236}">
                  <a16:creationId xmlns:a16="http://schemas.microsoft.com/office/drawing/2014/main" id="{300F52ED-01CF-425F-BC27-9682DAC7FEB1}"/>
                </a:ext>
              </a:extLst>
            </p:cNvPr>
            <p:cNvSpPr/>
            <p:nvPr/>
          </p:nvSpPr>
          <p:spPr>
            <a:xfrm>
              <a:off x="8103490" y="3693025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" name="타원 122">
              <a:extLst>
                <a:ext uri="{FF2B5EF4-FFF2-40B4-BE49-F238E27FC236}">
                  <a16:creationId xmlns:a16="http://schemas.microsoft.com/office/drawing/2014/main" id="{D398D6ED-4952-45E9-9008-6C695C33CF8D}"/>
                </a:ext>
              </a:extLst>
            </p:cNvPr>
            <p:cNvSpPr/>
            <p:nvPr/>
          </p:nvSpPr>
          <p:spPr>
            <a:xfrm>
              <a:off x="7939335" y="3554679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" name="타원 123">
              <a:extLst>
                <a:ext uri="{FF2B5EF4-FFF2-40B4-BE49-F238E27FC236}">
                  <a16:creationId xmlns:a16="http://schemas.microsoft.com/office/drawing/2014/main" id="{7B2E9AF4-79DD-433C-8C06-325128767199}"/>
                </a:ext>
              </a:extLst>
            </p:cNvPr>
            <p:cNvSpPr/>
            <p:nvPr/>
          </p:nvSpPr>
          <p:spPr>
            <a:xfrm>
              <a:off x="8100689" y="3569684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" name="타원 124">
              <a:extLst>
                <a:ext uri="{FF2B5EF4-FFF2-40B4-BE49-F238E27FC236}">
                  <a16:creationId xmlns:a16="http://schemas.microsoft.com/office/drawing/2014/main" id="{B18A3CCE-1261-429E-BA50-7EEC73FF38CB}"/>
                </a:ext>
              </a:extLst>
            </p:cNvPr>
            <p:cNvSpPr/>
            <p:nvPr/>
          </p:nvSpPr>
          <p:spPr>
            <a:xfrm>
              <a:off x="8123548" y="3450631"/>
              <a:ext cx="45719" cy="45719"/>
            </a:xfrm>
            <a:prstGeom prst="ellips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" name="타원 125">
              <a:extLst>
                <a:ext uri="{FF2B5EF4-FFF2-40B4-BE49-F238E27FC236}">
                  <a16:creationId xmlns:a16="http://schemas.microsoft.com/office/drawing/2014/main" id="{E9C9D602-F796-45B0-9359-569E877328BC}"/>
                </a:ext>
              </a:extLst>
            </p:cNvPr>
            <p:cNvSpPr/>
            <p:nvPr/>
          </p:nvSpPr>
          <p:spPr>
            <a:xfrm>
              <a:off x="8254076" y="3577824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" name="타원 126">
              <a:extLst>
                <a:ext uri="{FF2B5EF4-FFF2-40B4-BE49-F238E27FC236}">
                  <a16:creationId xmlns:a16="http://schemas.microsoft.com/office/drawing/2014/main" id="{847747E2-E459-499F-A906-DF7E32785727}"/>
                </a:ext>
              </a:extLst>
            </p:cNvPr>
            <p:cNvSpPr/>
            <p:nvPr/>
          </p:nvSpPr>
          <p:spPr>
            <a:xfrm>
              <a:off x="8259024" y="3472175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E637C7F7-5610-4B7B-865F-E3D4DE40B07C}"/>
                </a:ext>
              </a:extLst>
            </p:cNvPr>
            <p:cNvSpPr txBox="1"/>
            <p:nvPr/>
          </p:nvSpPr>
          <p:spPr>
            <a:xfrm>
              <a:off x="8337149" y="3788008"/>
              <a:ext cx="32659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x</a:t>
              </a:r>
              <a:endParaRPr lang="ko-KR" altLang="en-US" baseline="-25000" dirty="0"/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3C2D24C8-5153-4D3A-87FF-82EA4A85FAC7}"/>
                </a:ext>
              </a:extLst>
            </p:cNvPr>
            <p:cNvSpPr txBox="1"/>
            <p:nvPr/>
          </p:nvSpPr>
          <p:spPr>
            <a:xfrm>
              <a:off x="7403756" y="3156480"/>
              <a:ext cx="27028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y</a:t>
              </a:r>
              <a:endParaRPr lang="ko-KR" altLang="en-US" baseline="-25000" dirty="0"/>
            </a:p>
          </p:txBody>
        </p:sp>
        <p:cxnSp>
          <p:nvCxnSpPr>
            <p:cNvPr id="130" name="직선 화살표 연결선 129">
              <a:extLst>
                <a:ext uri="{FF2B5EF4-FFF2-40B4-BE49-F238E27FC236}">
                  <a16:creationId xmlns:a16="http://schemas.microsoft.com/office/drawing/2014/main" id="{8F890B4F-5DBC-4F5D-B820-F29F7464CBFC}"/>
                </a:ext>
              </a:extLst>
            </p:cNvPr>
            <p:cNvCxnSpPr/>
            <p:nvPr/>
          </p:nvCxnSpPr>
          <p:spPr>
            <a:xfrm flipV="1">
              <a:off x="7045707" y="3418162"/>
              <a:ext cx="1378954" cy="77136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1" name="TextBox 130">
            <a:extLst>
              <a:ext uri="{FF2B5EF4-FFF2-40B4-BE49-F238E27FC236}">
                <a16:creationId xmlns:a16="http://schemas.microsoft.com/office/drawing/2014/main" id="{231E2CB9-DB05-4DF0-A43E-EBE4924F2F32}"/>
              </a:ext>
            </a:extLst>
          </p:cNvPr>
          <p:cNvSpPr txBox="1"/>
          <p:nvPr/>
        </p:nvSpPr>
        <p:spPr>
          <a:xfrm>
            <a:off x="471197" y="4725977"/>
            <a:ext cx="249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0070C0"/>
                </a:solidFill>
              </a:rPr>
              <a:t>주성분은 벡터 </a:t>
            </a:r>
            <a:r>
              <a:rPr lang="en-US" altLang="ko-KR" sz="1200" dirty="0">
                <a:solidFill>
                  <a:srgbClr val="0070C0"/>
                </a:solidFill>
              </a:rPr>
              <a:t>(2,1)</a:t>
            </a:r>
            <a:r>
              <a:rPr lang="ko-KR" altLang="en-US" sz="1200" dirty="0">
                <a:solidFill>
                  <a:srgbClr val="0070C0"/>
                </a:solidFill>
              </a:rPr>
              <a:t>처럼 원본 데이터와 같은 </a:t>
            </a:r>
            <a:r>
              <a:rPr lang="en-US" altLang="ko-KR" sz="1200" dirty="0">
                <a:solidFill>
                  <a:srgbClr val="0070C0"/>
                </a:solidFill>
              </a:rPr>
              <a:t>2</a:t>
            </a:r>
            <a:r>
              <a:rPr lang="ko-KR" altLang="en-US" sz="1200" dirty="0">
                <a:solidFill>
                  <a:srgbClr val="0070C0"/>
                </a:solidFill>
              </a:rPr>
              <a:t>차원</a:t>
            </a:r>
          </a:p>
        </p:txBody>
      </p:sp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5C8D1F14-EE1A-4B9C-8B15-49B75DBE66FB}"/>
              </a:ext>
            </a:extLst>
          </p:cNvPr>
          <p:cNvGrpSpPr/>
          <p:nvPr/>
        </p:nvGrpSpPr>
        <p:grpSpPr>
          <a:xfrm>
            <a:off x="826721" y="5357567"/>
            <a:ext cx="1952174" cy="1136327"/>
            <a:chOff x="6783572" y="3156480"/>
            <a:chExt cx="1952174" cy="1136327"/>
          </a:xfrm>
        </p:grpSpPr>
        <p:cxnSp>
          <p:nvCxnSpPr>
            <p:cNvPr id="133" name="직선 연결선 132">
              <a:extLst>
                <a:ext uri="{FF2B5EF4-FFF2-40B4-BE49-F238E27FC236}">
                  <a16:creationId xmlns:a16="http://schemas.microsoft.com/office/drawing/2014/main" id="{E64FE261-FE61-44B7-92AD-82FFB1048B03}"/>
                </a:ext>
              </a:extLst>
            </p:cNvPr>
            <p:cNvCxnSpPr>
              <a:cxnSpLocks/>
            </p:cNvCxnSpPr>
            <p:nvPr/>
          </p:nvCxnSpPr>
          <p:spPr>
            <a:xfrm>
              <a:off x="6783572" y="3815950"/>
              <a:ext cx="195217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직선 연결선 133">
              <a:extLst>
                <a:ext uri="{FF2B5EF4-FFF2-40B4-BE49-F238E27FC236}">
                  <a16:creationId xmlns:a16="http://schemas.microsoft.com/office/drawing/2014/main" id="{7B4D1ECA-07B4-4582-BD48-A2834EE59D3F}"/>
                </a:ext>
              </a:extLst>
            </p:cNvPr>
            <p:cNvCxnSpPr>
              <a:cxnSpLocks/>
            </p:cNvCxnSpPr>
            <p:nvPr/>
          </p:nvCxnSpPr>
          <p:spPr>
            <a:xfrm>
              <a:off x="7718916" y="3312574"/>
              <a:ext cx="0" cy="98023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타원 134">
              <a:extLst>
                <a:ext uri="{FF2B5EF4-FFF2-40B4-BE49-F238E27FC236}">
                  <a16:creationId xmlns:a16="http://schemas.microsoft.com/office/drawing/2014/main" id="{708A9DDB-5E1B-4C23-AA80-F6A553EDB7AD}"/>
                </a:ext>
              </a:extLst>
            </p:cNvPr>
            <p:cNvSpPr/>
            <p:nvPr/>
          </p:nvSpPr>
          <p:spPr>
            <a:xfrm>
              <a:off x="7151570" y="4068658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타원 135">
              <a:extLst>
                <a:ext uri="{FF2B5EF4-FFF2-40B4-BE49-F238E27FC236}">
                  <a16:creationId xmlns:a16="http://schemas.microsoft.com/office/drawing/2014/main" id="{CED0ECD3-9D6E-4825-9E13-5BEBC47F95AA}"/>
                </a:ext>
              </a:extLst>
            </p:cNvPr>
            <p:cNvSpPr/>
            <p:nvPr/>
          </p:nvSpPr>
          <p:spPr>
            <a:xfrm>
              <a:off x="7266635" y="3919344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" name="타원 136">
              <a:extLst>
                <a:ext uri="{FF2B5EF4-FFF2-40B4-BE49-F238E27FC236}">
                  <a16:creationId xmlns:a16="http://schemas.microsoft.com/office/drawing/2014/main" id="{370869C2-9067-4868-B58B-3ADD241D4034}"/>
                </a:ext>
              </a:extLst>
            </p:cNvPr>
            <p:cNvSpPr/>
            <p:nvPr/>
          </p:nvSpPr>
          <p:spPr>
            <a:xfrm>
              <a:off x="7304387" y="4045798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" name="타원 137">
              <a:extLst>
                <a:ext uri="{FF2B5EF4-FFF2-40B4-BE49-F238E27FC236}">
                  <a16:creationId xmlns:a16="http://schemas.microsoft.com/office/drawing/2014/main" id="{869CC31E-3783-4A13-9399-97E27BD369A6}"/>
                </a:ext>
              </a:extLst>
            </p:cNvPr>
            <p:cNvSpPr/>
            <p:nvPr/>
          </p:nvSpPr>
          <p:spPr>
            <a:xfrm>
              <a:off x="7434344" y="4001838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" name="타원 138">
              <a:extLst>
                <a:ext uri="{FF2B5EF4-FFF2-40B4-BE49-F238E27FC236}">
                  <a16:creationId xmlns:a16="http://schemas.microsoft.com/office/drawing/2014/main" id="{F1528847-AD35-4E7E-B177-59F9082B7364}"/>
                </a:ext>
              </a:extLst>
            </p:cNvPr>
            <p:cNvSpPr/>
            <p:nvPr/>
          </p:nvSpPr>
          <p:spPr>
            <a:xfrm>
              <a:off x="7388625" y="3834272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" name="타원 139">
              <a:extLst>
                <a:ext uri="{FF2B5EF4-FFF2-40B4-BE49-F238E27FC236}">
                  <a16:creationId xmlns:a16="http://schemas.microsoft.com/office/drawing/2014/main" id="{C1EFB667-7381-4857-B6E0-8C5F381DE91D}"/>
                </a:ext>
              </a:extLst>
            </p:cNvPr>
            <p:cNvSpPr/>
            <p:nvPr/>
          </p:nvSpPr>
          <p:spPr>
            <a:xfrm>
              <a:off x="7501895" y="3890883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" name="타원 140">
              <a:extLst>
                <a:ext uri="{FF2B5EF4-FFF2-40B4-BE49-F238E27FC236}">
                  <a16:creationId xmlns:a16="http://schemas.microsoft.com/office/drawing/2014/main" id="{DE6FEFD4-62C2-4695-9B16-620F78F3CCDA}"/>
                </a:ext>
              </a:extLst>
            </p:cNvPr>
            <p:cNvSpPr/>
            <p:nvPr/>
          </p:nvSpPr>
          <p:spPr>
            <a:xfrm>
              <a:off x="7547614" y="3771496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" name="타원 141">
              <a:extLst>
                <a:ext uri="{FF2B5EF4-FFF2-40B4-BE49-F238E27FC236}">
                  <a16:creationId xmlns:a16="http://schemas.microsoft.com/office/drawing/2014/main" id="{88C9B031-AE36-4841-ACB5-43EFF9281FB8}"/>
                </a:ext>
              </a:extLst>
            </p:cNvPr>
            <p:cNvSpPr/>
            <p:nvPr/>
          </p:nvSpPr>
          <p:spPr>
            <a:xfrm>
              <a:off x="7593333" y="3965063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" name="타원 142">
              <a:extLst>
                <a:ext uri="{FF2B5EF4-FFF2-40B4-BE49-F238E27FC236}">
                  <a16:creationId xmlns:a16="http://schemas.microsoft.com/office/drawing/2014/main" id="{447D7344-8B0F-4021-89A4-C4BA8F8CD8DE}"/>
                </a:ext>
              </a:extLst>
            </p:cNvPr>
            <p:cNvSpPr/>
            <p:nvPr/>
          </p:nvSpPr>
          <p:spPr>
            <a:xfrm>
              <a:off x="7753923" y="3901783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" name="타원 143">
              <a:extLst>
                <a:ext uri="{FF2B5EF4-FFF2-40B4-BE49-F238E27FC236}">
                  <a16:creationId xmlns:a16="http://schemas.microsoft.com/office/drawing/2014/main" id="{22EB3457-35C6-4A43-A078-BBDD8C9C6BA8}"/>
                </a:ext>
              </a:extLst>
            </p:cNvPr>
            <p:cNvSpPr/>
            <p:nvPr/>
          </p:nvSpPr>
          <p:spPr>
            <a:xfrm>
              <a:off x="7639052" y="3834271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" name="타원 144">
              <a:extLst>
                <a:ext uri="{FF2B5EF4-FFF2-40B4-BE49-F238E27FC236}">
                  <a16:creationId xmlns:a16="http://schemas.microsoft.com/office/drawing/2014/main" id="{010C95F9-B6CE-4247-93BB-AF20E1D87C7B}"/>
                </a:ext>
              </a:extLst>
            </p:cNvPr>
            <p:cNvSpPr/>
            <p:nvPr/>
          </p:nvSpPr>
          <p:spPr>
            <a:xfrm>
              <a:off x="7638445" y="3660823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" name="타원 145">
              <a:extLst>
                <a:ext uri="{FF2B5EF4-FFF2-40B4-BE49-F238E27FC236}">
                  <a16:creationId xmlns:a16="http://schemas.microsoft.com/office/drawing/2014/main" id="{15226D20-DEB6-4580-9204-C51B95BEC568}"/>
                </a:ext>
              </a:extLst>
            </p:cNvPr>
            <p:cNvSpPr/>
            <p:nvPr/>
          </p:nvSpPr>
          <p:spPr>
            <a:xfrm>
              <a:off x="7775181" y="3787406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" name="타원 146">
              <a:extLst>
                <a:ext uri="{FF2B5EF4-FFF2-40B4-BE49-F238E27FC236}">
                  <a16:creationId xmlns:a16="http://schemas.microsoft.com/office/drawing/2014/main" id="{98B9767F-C8CA-42FC-ADD3-F1C9A88F1857}"/>
                </a:ext>
              </a:extLst>
            </p:cNvPr>
            <p:cNvSpPr/>
            <p:nvPr/>
          </p:nvSpPr>
          <p:spPr>
            <a:xfrm>
              <a:off x="7820900" y="3696490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" name="타원 147">
              <a:extLst>
                <a:ext uri="{FF2B5EF4-FFF2-40B4-BE49-F238E27FC236}">
                  <a16:creationId xmlns:a16="http://schemas.microsoft.com/office/drawing/2014/main" id="{98F4675E-4FA5-42D4-B1CD-A85043C1A44F}"/>
                </a:ext>
              </a:extLst>
            </p:cNvPr>
            <p:cNvSpPr/>
            <p:nvPr/>
          </p:nvSpPr>
          <p:spPr>
            <a:xfrm>
              <a:off x="7943508" y="3778750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" name="타원 148">
              <a:extLst>
                <a:ext uri="{FF2B5EF4-FFF2-40B4-BE49-F238E27FC236}">
                  <a16:creationId xmlns:a16="http://schemas.microsoft.com/office/drawing/2014/main" id="{FAAD9A00-DF78-491C-A105-9C6C954AE538}"/>
                </a:ext>
              </a:extLst>
            </p:cNvPr>
            <p:cNvSpPr/>
            <p:nvPr/>
          </p:nvSpPr>
          <p:spPr>
            <a:xfrm>
              <a:off x="7962195" y="3660328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" name="타원 149">
              <a:extLst>
                <a:ext uri="{FF2B5EF4-FFF2-40B4-BE49-F238E27FC236}">
                  <a16:creationId xmlns:a16="http://schemas.microsoft.com/office/drawing/2014/main" id="{7FDC7EBE-C4BF-4E46-838C-8BAE975A8E66}"/>
                </a:ext>
              </a:extLst>
            </p:cNvPr>
            <p:cNvSpPr/>
            <p:nvPr/>
          </p:nvSpPr>
          <p:spPr>
            <a:xfrm>
              <a:off x="7774963" y="3590841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" name="타원 150">
              <a:extLst>
                <a:ext uri="{FF2B5EF4-FFF2-40B4-BE49-F238E27FC236}">
                  <a16:creationId xmlns:a16="http://schemas.microsoft.com/office/drawing/2014/main" id="{51D2FF3B-8C5A-476B-981D-40FD91141DF5}"/>
                </a:ext>
              </a:extLst>
            </p:cNvPr>
            <p:cNvSpPr/>
            <p:nvPr/>
          </p:nvSpPr>
          <p:spPr>
            <a:xfrm>
              <a:off x="8103490" y="3693025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" name="타원 151">
              <a:extLst>
                <a:ext uri="{FF2B5EF4-FFF2-40B4-BE49-F238E27FC236}">
                  <a16:creationId xmlns:a16="http://schemas.microsoft.com/office/drawing/2014/main" id="{72CDCB4C-EECD-4946-A20A-2EFB8EDF2EFD}"/>
                </a:ext>
              </a:extLst>
            </p:cNvPr>
            <p:cNvSpPr/>
            <p:nvPr/>
          </p:nvSpPr>
          <p:spPr>
            <a:xfrm>
              <a:off x="7939335" y="3554679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" name="타원 152">
              <a:extLst>
                <a:ext uri="{FF2B5EF4-FFF2-40B4-BE49-F238E27FC236}">
                  <a16:creationId xmlns:a16="http://schemas.microsoft.com/office/drawing/2014/main" id="{7E060557-F48E-4C61-BA0D-F732AE536006}"/>
                </a:ext>
              </a:extLst>
            </p:cNvPr>
            <p:cNvSpPr/>
            <p:nvPr/>
          </p:nvSpPr>
          <p:spPr>
            <a:xfrm>
              <a:off x="8100689" y="3569684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" name="타원 153">
              <a:extLst>
                <a:ext uri="{FF2B5EF4-FFF2-40B4-BE49-F238E27FC236}">
                  <a16:creationId xmlns:a16="http://schemas.microsoft.com/office/drawing/2014/main" id="{CEC4AD60-4079-436F-9815-1AED796B6756}"/>
                </a:ext>
              </a:extLst>
            </p:cNvPr>
            <p:cNvSpPr/>
            <p:nvPr/>
          </p:nvSpPr>
          <p:spPr>
            <a:xfrm>
              <a:off x="8123548" y="3450631"/>
              <a:ext cx="45719" cy="45719"/>
            </a:xfrm>
            <a:prstGeom prst="ellips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" name="타원 154">
              <a:extLst>
                <a:ext uri="{FF2B5EF4-FFF2-40B4-BE49-F238E27FC236}">
                  <a16:creationId xmlns:a16="http://schemas.microsoft.com/office/drawing/2014/main" id="{E33FEFE5-75E0-4F02-9F80-C6E6A0F268E0}"/>
                </a:ext>
              </a:extLst>
            </p:cNvPr>
            <p:cNvSpPr/>
            <p:nvPr/>
          </p:nvSpPr>
          <p:spPr>
            <a:xfrm>
              <a:off x="8254076" y="3577824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" name="타원 155">
              <a:extLst>
                <a:ext uri="{FF2B5EF4-FFF2-40B4-BE49-F238E27FC236}">
                  <a16:creationId xmlns:a16="http://schemas.microsoft.com/office/drawing/2014/main" id="{418A6D40-1C6C-4D99-ABE4-9A9C243F74D4}"/>
                </a:ext>
              </a:extLst>
            </p:cNvPr>
            <p:cNvSpPr/>
            <p:nvPr/>
          </p:nvSpPr>
          <p:spPr>
            <a:xfrm>
              <a:off x="8259024" y="3472175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EBD1CB99-521B-40E3-917F-326DFEFE6E76}"/>
                </a:ext>
              </a:extLst>
            </p:cNvPr>
            <p:cNvSpPr txBox="1"/>
            <p:nvPr/>
          </p:nvSpPr>
          <p:spPr>
            <a:xfrm>
              <a:off x="8337149" y="3788008"/>
              <a:ext cx="32659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x</a:t>
              </a:r>
              <a:endParaRPr lang="ko-KR" altLang="en-US" baseline="-25000" dirty="0"/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4B78B9F0-5F9E-4C7E-B5CC-E0F9E3F48B9F}"/>
                </a:ext>
              </a:extLst>
            </p:cNvPr>
            <p:cNvSpPr txBox="1"/>
            <p:nvPr/>
          </p:nvSpPr>
          <p:spPr>
            <a:xfrm>
              <a:off x="7403756" y="3156480"/>
              <a:ext cx="27028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y</a:t>
              </a:r>
              <a:endParaRPr lang="ko-KR" altLang="en-US" baseline="-25000" dirty="0"/>
            </a:p>
          </p:txBody>
        </p:sp>
        <p:cxnSp>
          <p:nvCxnSpPr>
            <p:cNvPr id="159" name="직선 화살표 연결선 158">
              <a:extLst>
                <a:ext uri="{FF2B5EF4-FFF2-40B4-BE49-F238E27FC236}">
                  <a16:creationId xmlns:a16="http://schemas.microsoft.com/office/drawing/2014/main" id="{F110EF37-CA51-4EF2-AEF8-E7C6D32166B5}"/>
                </a:ext>
              </a:extLst>
            </p:cNvPr>
            <p:cNvCxnSpPr/>
            <p:nvPr/>
          </p:nvCxnSpPr>
          <p:spPr>
            <a:xfrm flipV="1">
              <a:off x="7045707" y="3418162"/>
              <a:ext cx="1378954" cy="77136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305F1BDB-64A4-43FF-9562-CDCBDF678FF1}"/>
              </a:ext>
            </a:extLst>
          </p:cNvPr>
          <p:cNvCxnSpPr>
            <a:cxnSpLocks/>
          </p:cNvCxnSpPr>
          <p:nvPr/>
        </p:nvCxnSpPr>
        <p:spPr>
          <a:xfrm>
            <a:off x="5104316" y="5670789"/>
            <a:ext cx="42160" cy="79935"/>
          </a:xfrm>
          <a:prstGeom prst="line">
            <a:avLst/>
          </a:prstGeom>
          <a:ln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화살표: 오른쪽 163">
            <a:extLst>
              <a:ext uri="{FF2B5EF4-FFF2-40B4-BE49-F238E27FC236}">
                <a16:creationId xmlns:a16="http://schemas.microsoft.com/office/drawing/2014/main" id="{BEFA1A74-226A-4300-9879-9265007A7493}"/>
              </a:ext>
            </a:extLst>
          </p:cNvPr>
          <p:cNvSpPr/>
          <p:nvPr/>
        </p:nvSpPr>
        <p:spPr>
          <a:xfrm>
            <a:off x="5979651" y="5522270"/>
            <a:ext cx="297625" cy="193958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6DA0E9BF-AF7E-4BE1-A950-AD55F6DD0D44}"/>
              </a:ext>
            </a:extLst>
          </p:cNvPr>
          <p:cNvSpPr txBox="1"/>
          <p:nvPr/>
        </p:nvSpPr>
        <p:spPr>
          <a:xfrm>
            <a:off x="6454532" y="5387768"/>
            <a:ext cx="249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0070C0"/>
                </a:solidFill>
              </a:rPr>
              <a:t>주성분은 원본 차원과 같고</a:t>
            </a:r>
            <a:r>
              <a:rPr lang="en-US" altLang="ko-KR" sz="1200" dirty="0">
                <a:solidFill>
                  <a:srgbClr val="0070C0"/>
                </a:solidFill>
              </a:rPr>
              <a:t>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0070C0"/>
                </a:solidFill>
              </a:rPr>
              <a:t>바꾼 데이터는 차원이 줄어듦</a:t>
            </a:r>
          </a:p>
        </p:txBody>
      </p:sp>
    </p:spTree>
    <p:extLst>
      <p:ext uri="{BB962C8B-B14F-4D97-AF65-F5344CB8AC3E}">
        <p14:creationId xmlns:p14="http://schemas.microsoft.com/office/powerpoint/2010/main" val="2033668592"/>
      </p:ext>
    </p:extLst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18FC77-1217-4FC3-9417-8A7A85609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PCA(</a:t>
            </a:r>
            <a:r>
              <a:rPr lang="ko-KR" altLang="en-US" dirty="0"/>
              <a:t>주성분 분석</a:t>
            </a:r>
            <a:r>
              <a:rPr lang="en-US" altLang="ko-KR" dirty="0"/>
              <a:t>) (2)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DE3E38-DF85-469A-A91E-7C312518C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475" y="954482"/>
            <a:ext cx="8950325" cy="5519738"/>
          </a:xfrm>
        </p:spPr>
        <p:txBody>
          <a:bodyPr>
            <a:normAutofit lnSpcReduction="10000"/>
          </a:bodyPr>
          <a:lstStyle/>
          <a:p>
            <a:r>
              <a:rPr lang="ko-KR" altLang="en-US" dirty="0"/>
              <a:t>두번째 주성분</a:t>
            </a:r>
            <a:endParaRPr lang="en-US" altLang="ko-KR" dirty="0"/>
          </a:p>
          <a:p>
            <a:pPr lvl="1"/>
            <a:r>
              <a:rPr lang="ko-KR" altLang="en-US" dirty="0"/>
              <a:t>첫번째 주성분 벡터에 수직이고 분산이 가장 큰 다음 방향</a:t>
            </a:r>
            <a:endParaRPr lang="en-US" altLang="ko-KR" dirty="0"/>
          </a:p>
          <a:p>
            <a:pPr lvl="1"/>
            <a:r>
              <a:rPr lang="ko-KR" altLang="en-US" dirty="0"/>
              <a:t>예제의 경우는 </a:t>
            </a:r>
            <a:r>
              <a:rPr lang="en-US" altLang="ko-KR" dirty="0"/>
              <a:t>2</a:t>
            </a:r>
            <a:r>
              <a:rPr lang="ko-KR" altLang="en-US" dirty="0"/>
              <a:t>차원이므로 아래 파란색 벡터와 같이 하나뿐임 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주성분은 원본 특성의 개수만큼 찾을 수 있음</a:t>
            </a:r>
            <a:endParaRPr lang="en-US" altLang="ko-KR" dirty="0"/>
          </a:p>
          <a:p>
            <a:pPr lvl="1"/>
            <a:r>
              <a:rPr lang="ko-KR" altLang="en-US" dirty="0"/>
              <a:t>우리 예제의 경우에는 </a:t>
            </a:r>
            <a:r>
              <a:rPr lang="en-US" altLang="ko-KR" dirty="0"/>
              <a:t>10,000</a:t>
            </a:r>
            <a:r>
              <a:rPr lang="ko-KR" altLang="en-US" dirty="0"/>
              <a:t>개의 주성분을 찾을 수 있음</a:t>
            </a:r>
            <a:endParaRPr lang="en-US" altLang="ko-KR" dirty="0"/>
          </a:p>
          <a:p>
            <a:pPr lvl="1"/>
            <a:r>
              <a:rPr lang="en-US" altLang="ko-KR" dirty="0"/>
              <a:t>10,000</a:t>
            </a:r>
            <a:r>
              <a:rPr lang="ko-KR" altLang="en-US" dirty="0"/>
              <a:t>개의 주성분 중 뒤로 갈 수록 데이터의 분산 방향과 거리가 멀어지므로</a:t>
            </a:r>
            <a:r>
              <a:rPr lang="en-US" altLang="ko-KR" dirty="0"/>
              <a:t>…</a:t>
            </a:r>
          </a:p>
          <a:p>
            <a:pPr lvl="1"/>
            <a:r>
              <a:rPr lang="ko-KR" altLang="en-US" dirty="0"/>
              <a:t>우리는 앞의 </a:t>
            </a:r>
            <a:r>
              <a:rPr lang="en-US" altLang="ko-KR" dirty="0"/>
              <a:t>n</a:t>
            </a:r>
            <a:r>
              <a:rPr lang="ko-KR" altLang="en-US" dirty="0"/>
              <a:t>개의 주성분만을 취하여 사용함</a:t>
            </a:r>
            <a:endParaRPr lang="en-US" altLang="ko-KR" dirty="0"/>
          </a:p>
          <a:p>
            <a:pPr marL="432000" lvl="1" indent="0">
              <a:buNone/>
            </a:pPr>
            <a:r>
              <a:rPr lang="en-US" altLang="ko-KR" dirty="0"/>
              <a:t>  </a:t>
            </a:r>
            <a:r>
              <a:rPr lang="en-US" altLang="ko-KR" dirty="0">
                <a:sym typeface="Wingdings" panose="05000000000000000000" pitchFamily="2" charset="2"/>
              </a:rPr>
              <a:t></a:t>
            </a:r>
            <a:r>
              <a:rPr lang="en-US" altLang="ko-KR" dirty="0"/>
              <a:t> PCA </a:t>
            </a:r>
            <a:r>
              <a:rPr lang="ko-KR" altLang="en-US" dirty="0"/>
              <a:t>클래스의 </a:t>
            </a:r>
            <a:r>
              <a:rPr lang="en-US" altLang="ko-KR" dirty="0" err="1"/>
              <a:t>n_components</a:t>
            </a:r>
            <a:r>
              <a:rPr lang="en-US" altLang="ko-KR" dirty="0"/>
              <a:t> </a:t>
            </a:r>
            <a:r>
              <a:rPr lang="ko-KR" altLang="en-US" dirty="0"/>
              <a:t>매개변수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2CFCF9-B2B4-4596-B00E-80C9440AF1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8</a:t>
            </a:fld>
            <a:endParaRPr lang="en-US" altLang="ko-KR"/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BEBCC84F-71B7-4EB8-8D29-B2B93CC8F7F7}"/>
              </a:ext>
            </a:extLst>
          </p:cNvPr>
          <p:cNvGrpSpPr/>
          <p:nvPr/>
        </p:nvGrpSpPr>
        <p:grpSpPr>
          <a:xfrm>
            <a:off x="1183108" y="2302628"/>
            <a:ext cx="1952174" cy="1136327"/>
            <a:chOff x="6783572" y="3156480"/>
            <a:chExt cx="1952174" cy="1136327"/>
          </a:xfrm>
        </p:grpSpPr>
        <p:cxnSp>
          <p:nvCxnSpPr>
            <p:cNvPr id="104" name="직선 연결선 103">
              <a:extLst>
                <a:ext uri="{FF2B5EF4-FFF2-40B4-BE49-F238E27FC236}">
                  <a16:creationId xmlns:a16="http://schemas.microsoft.com/office/drawing/2014/main" id="{78CE22C7-BDC7-4488-989E-D45F11DF8113}"/>
                </a:ext>
              </a:extLst>
            </p:cNvPr>
            <p:cNvCxnSpPr>
              <a:cxnSpLocks/>
            </p:cNvCxnSpPr>
            <p:nvPr/>
          </p:nvCxnSpPr>
          <p:spPr>
            <a:xfrm>
              <a:off x="6783572" y="3815950"/>
              <a:ext cx="195217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DECE933B-04B9-41EE-B724-D1258AEC845B}"/>
                </a:ext>
              </a:extLst>
            </p:cNvPr>
            <p:cNvCxnSpPr>
              <a:cxnSpLocks/>
            </p:cNvCxnSpPr>
            <p:nvPr/>
          </p:nvCxnSpPr>
          <p:spPr>
            <a:xfrm>
              <a:off x="7718916" y="3312574"/>
              <a:ext cx="0" cy="98023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타원 105">
              <a:extLst>
                <a:ext uri="{FF2B5EF4-FFF2-40B4-BE49-F238E27FC236}">
                  <a16:creationId xmlns:a16="http://schemas.microsoft.com/office/drawing/2014/main" id="{ADD98800-773C-47CB-92FE-8362B914B3A6}"/>
                </a:ext>
              </a:extLst>
            </p:cNvPr>
            <p:cNvSpPr/>
            <p:nvPr/>
          </p:nvSpPr>
          <p:spPr>
            <a:xfrm>
              <a:off x="7151570" y="4068658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" name="타원 106">
              <a:extLst>
                <a:ext uri="{FF2B5EF4-FFF2-40B4-BE49-F238E27FC236}">
                  <a16:creationId xmlns:a16="http://schemas.microsoft.com/office/drawing/2014/main" id="{B5B71533-ABE3-4675-BFB5-EF87816ECF48}"/>
                </a:ext>
              </a:extLst>
            </p:cNvPr>
            <p:cNvSpPr/>
            <p:nvPr/>
          </p:nvSpPr>
          <p:spPr>
            <a:xfrm>
              <a:off x="7266635" y="3919344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" name="타원 107">
              <a:extLst>
                <a:ext uri="{FF2B5EF4-FFF2-40B4-BE49-F238E27FC236}">
                  <a16:creationId xmlns:a16="http://schemas.microsoft.com/office/drawing/2014/main" id="{81EEC06C-DDEF-479C-8479-2BF3F9CFA11C}"/>
                </a:ext>
              </a:extLst>
            </p:cNvPr>
            <p:cNvSpPr/>
            <p:nvPr/>
          </p:nvSpPr>
          <p:spPr>
            <a:xfrm>
              <a:off x="7304387" y="4045798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타원 108">
              <a:extLst>
                <a:ext uri="{FF2B5EF4-FFF2-40B4-BE49-F238E27FC236}">
                  <a16:creationId xmlns:a16="http://schemas.microsoft.com/office/drawing/2014/main" id="{51BA6727-2596-4889-99CE-71084D6DA0BD}"/>
                </a:ext>
              </a:extLst>
            </p:cNvPr>
            <p:cNvSpPr/>
            <p:nvPr/>
          </p:nvSpPr>
          <p:spPr>
            <a:xfrm>
              <a:off x="7434344" y="4001838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" name="타원 109">
              <a:extLst>
                <a:ext uri="{FF2B5EF4-FFF2-40B4-BE49-F238E27FC236}">
                  <a16:creationId xmlns:a16="http://schemas.microsoft.com/office/drawing/2014/main" id="{CEAD60CA-A3A7-4800-A3B2-E1C92B39639C}"/>
                </a:ext>
              </a:extLst>
            </p:cNvPr>
            <p:cNvSpPr/>
            <p:nvPr/>
          </p:nvSpPr>
          <p:spPr>
            <a:xfrm>
              <a:off x="7388625" y="3834272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" name="타원 110">
              <a:extLst>
                <a:ext uri="{FF2B5EF4-FFF2-40B4-BE49-F238E27FC236}">
                  <a16:creationId xmlns:a16="http://schemas.microsoft.com/office/drawing/2014/main" id="{5163BAAB-3703-4683-829F-B85DEF83AACF}"/>
                </a:ext>
              </a:extLst>
            </p:cNvPr>
            <p:cNvSpPr/>
            <p:nvPr/>
          </p:nvSpPr>
          <p:spPr>
            <a:xfrm>
              <a:off x="7501895" y="3890883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" name="타원 111">
              <a:extLst>
                <a:ext uri="{FF2B5EF4-FFF2-40B4-BE49-F238E27FC236}">
                  <a16:creationId xmlns:a16="http://schemas.microsoft.com/office/drawing/2014/main" id="{6E33A91A-431A-4390-BE83-B59149238945}"/>
                </a:ext>
              </a:extLst>
            </p:cNvPr>
            <p:cNvSpPr/>
            <p:nvPr/>
          </p:nvSpPr>
          <p:spPr>
            <a:xfrm>
              <a:off x="7547614" y="3771496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" name="타원 112">
              <a:extLst>
                <a:ext uri="{FF2B5EF4-FFF2-40B4-BE49-F238E27FC236}">
                  <a16:creationId xmlns:a16="http://schemas.microsoft.com/office/drawing/2014/main" id="{063752DB-E06F-4409-801E-AFAEBF70A885}"/>
                </a:ext>
              </a:extLst>
            </p:cNvPr>
            <p:cNvSpPr/>
            <p:nvPr/>
          </p:nvSpPr>
          <p:spPr>
            <a:xfrm>
              <a:off x="7593333" y="3965063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3A66F459-F87E-4FF7-BFA6-5BFEDAF04375}"/>
                </a:ext>
              </a:extLst>
            </p:cNvPr>
            <p:cNvSpPr/>
            <p:nvPr/>
          </p:nvSpPr>
          <p:spPr>
            <a:xfrm>
              <a:off x="7753923" y="3901783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" name="타원 114">
              <a:extLst>
                <a:ext uri="{FF2B5EF4-FFF2-40B4-BE49-F238E27FC236}">
                  <a16:creationId xmlns:a16="http://schemas.microsoft.com/office/drawing/2014/main" id="{4968C45B-20B7-4EBF-8AAA-72A1B1BFB4F1}"/>
                </a:ext>
              </a:extLst>
            </p:cNvPr>
            <p:cNvSpPr/>
            <p:nvPr/>
          </p:nvSpPr>
          <p:spPr>
            <a:xfrm>
              <a:off x="7639052" y="3834271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" name="타원 115">
              <a:extLst>
                <a:ext uri="{FF2B5EF4-FFF2-40B4-BE49-F238E27FC236}">
                  <a16:creationId xmlns:a16="http://schemas.microsoft.com/office/drawing/2014/main" id="{FCB7481F-F261-4341-A848-F351AF9F4C48}"/>
                </a:ext>
              </a:extLst>
            </p:cNvPr>
            <p:cNvSpPr/>
            <p:nvPr/>
          </p:nvSpPr>
          <p:spPr>
            <a:xfrm>
              <a:off x="7638445" y="3660823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" name="타원 116">
              <a:extLst>
                <a:ext uri="{FF2B5EF4-FFF2-40B4-BE49-F238E27FC236}">
                  <a16:creationId xmlns:a16="http://schemas.microsoft.com/office/drawing/2014/main" id="{AA6A0E52-BC28-4A47-88FA-53EB2EB0CE46}"/>
                </a:ext>
              </a:extLst>
            </p:cNvPr>
            <p:cNvSpPr/>
            <p:nvPr/>
          </p:nvSpPr>
          <p:spPr>
            <a:xfrm>
              <a:off x="7775181" y="3787406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" name="타원 117">
              <a:extLst>
                <a:ext uri="{FF2B5EF4-FFF2-40B4-BE49-F238E27FC236}">
                  <a16:creationId xmlns:a16="http://schemas.microsoft.com/office/drawing/2014/main" id="{F5B0B1FB-D4ED-4E98-8ED8-2CEDB953D0D2}"/>
                </a:ext>
              </a:extLst>
            </p:cNvPr>
            <p:cNvSpPr/>
            <p:nvPr/>
          </p:nvSpPr>
          <p:spPr>
            <a:xfrm>
              <a:off x="7820900" y="3696490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" name="타원 118">
              <a:extLst>
                <a:ext uri="{FF2B5EF4-FFF2-40B4-BE49-F238E27FC236}">
                  <a16:creationId xmlns:a16="http://schemas.microsoft.com/office/drawing/2014/main" id="{356293E5-26CC-46FE-ADDF-A019F29DF68A}"/>
                </a:ext>
              </a:extLst>
            </p:cNvPr>
            <p:cNvSpPr/>
            <p:nvPr/>
          </p:nvSpPr>
          <p:spPr>
            <a:xfrm>
              <a:off x="7943508" y="3778750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" name="타원 119">
              <a:extLst>
                <a:ext uri="{FF2B5EF4-FFF2-40B4-BE49-F238E27FC236}">
                  <a16:creationId xmlns:a16="http://schemas.microsoft.com/office/drawing/2014/main" id="{46718418-4261-4E4A-B64D-3B4B23E4F9C5}"/>
                </a:ext>
              </a:extLst>
            </p:cNvPr>
            <p:cNvSpPr/>
            <p:nvPr/>
          </p:nvSpPr>
          <p:spPr>
            <a:xfrm>
              <a:off x="7962195" y="3660328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" name="타원 120">
              <a:extLst>
                <a:ext uri="{FF2B5EF4-FFF2-40B4-BE49-F238E27FC236}">
                  <a16:creationId xmlns:a16="http://schemas.microsoft.com/office/drawing/2014/main" id="{D7881118-9585-4E00-B01F-B67DE2E6ADC4}"/>
                </a:ext>
              </a:extLst>
            </p:cNvPr>
            <p:cNvSpPr/>
            <p:nvPr/>
          </p:nvSpPr>
          <p:spPr>
            <a:xfrm>
              <a:off x="7774963" y="3590841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" name="타원 121">
              <a:extLst>
                <a:ext uri="{FF2B5EF4-FFF2-40B4-BE49-F238E27FC236}">
                  <a16:creationId xmlns:a16="http://schemas.microsoft.com/office/drawing/2014/main" id="{300F52ED-01CF-425F-BC27-9682DAC7FEB1}"/>
                </a:ext>
              </a:extLst>
            </p:cNvPr>
            <p:cNvSpPr/>
            <p:nvPr/>
          </p:nvSpPr>
          <p:spPr>
            <a:xfrm>
              <a:off x="8103490" y="3693025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" name="타원 122">
              <a:extLst>
                <a:ext uri="{FF2B5EF4-FFF2-40B4-BE49-F238E27FC236}">
                  <a16:creationId xmlns:a16="http://schemas.microsoft.com/office/drawing/2014/main" id="{D398D6ED-4952-45E9-9008-6C695C33CF8D}"/>
                </a:ext>
              </a:extLst>
            </p:cNvPr>
            <p:cNvSpPr/>
            <p:nvPr/>
          </p:nvSpPr>
          <p:spPr>
            <a:xfrm>
              <a:off x="7939335" y="3554679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" name="타원 123">
              <a:extLst>
                <a:ext uri="{FF2B5EF4-FFF2-40B4-BE49-F238E27FC236}">
                  <a16:creationId xmlns:a16="http://schemas.microsoft.com/office/drawing/2014/main" id="{7B2E9AF4-79DD-433C-8C06-325128767199}"/>
                </a:ext>
              </a:extLst>
            </p:cNvPr>
            <p:cNvSpPr/>
            <p:nvPr/>
          </p:nvSpPr>
          <p:spPr>
            <a:xfrm>
              <a:off x="8100689" y="3569684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" name="타원 124">
              <a:extLst>
                <a:ext uri="{FF2B5EF4-FFF2-40B4-BE49-F238E27FC236}">
                  <a16:creationId xmlns:a16="http://schemas.microsoft.com/office/drawing/2014/main" id="{B18A3CCE-1261-429E-BA50-7EEC73FF38CB}"/>
                </a:ext>
              </a:extLst>
            </p:cNvPr>
            <p:cNvSpPr/>
            <p:nvPr/>
          </p:nvSpPr>
          <p:spPr>
            <a:xfrm>
              <a:off x="8123548" y="3450631"/>
              <a:ext cx="45719" cy="45719"/>
            </a:xfrm>
            <a:prstGeom prst="ellips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" name="타원 125">
              <a:extLst>
                <a:ext uri="{FF2B5EF4-FFF2-40B4-BE49-F238E27FC236}">
                  <a16:creationId xmlns:a16="http://schemas.microsoft.com/office/drawing/2014/main" id="{E9C9D602-F796-45B0-9359-569E877328BC}"/>
                </a:ext>
              </a:extLst>
            </p:cNvPr>
            <p:cNvSpPr/>
            <p:nvPr/>
          </p:nvSpPr>
          <p:spPr>
            <a:xfrm>
              <a:off x="8254076" y="3577824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" name="타원 126">
              <a:extLst>
                <a:ext uri="{FF2B5EF4-FFF2-40B4-BE49-F238E27FC236}">
                  <a16:creationId xmlns:a16="http://schemas.microsoft.com/office/drawing/2014/main" id="{847747E2-E459-499F-A906-DF7E32785727}"/>
                </a:ext>
              </a:extLst>
            </p:cNvPr>
            <p:cNvSpPr/>
            <p:nvPr/>
          </p:nvSpPr>
          <p:spPr>
            <a:xfrm>
              <a:off x="8259024" y="3472175"/>
              <a:ext cx="45719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E637C7F7-5610-4B7B-865F-E3D4DE40B07C}"/>
                </a:ext>
              </a:extLst>
            </p:cNvPr>
            <p:cNvSpPr txBox="1"/>
            <p:nvPr/>
          </p:nvSpPr>
          <p:spPr>
            <a:xfrm>
              <a:off x="8337149" y="3788008"/>
              <a:ext cx="32659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x</a:t>
              </a:r>
              <a:endParaRPr lang="ko-KR" altLang="en-US" baseline="-25000" dirty="0"/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3C2D24C8-5153-4D3A-87FF-82EA4A85FAC7}"/>
                </a:ext>
              </a:extLst>
            </p:cNvPr>
            <p:cNvSpPr txBox="1"/>
            <p:nvPr/>
          </p:nvSpPr>
          <p:spPr>
            <a:xfrm>
              <a:off x="7403756" y="3156480"/>
              <a:ext cx="27028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y</a:t>
              </a:r>
              <a:endParaRPr lang="ko-KR" altLang="en-US" baseline="-25000" dirty="0"/>
            </a:p>
          </p:txBody>
        </p:sp>
        <p:cxnSp>
          <p:nvCxnSpPr>
            <p:cNvPr id="130" name="직선 화살표 연결선 129">
              <a:extLst>
                <a:ext uri="{FF2B5EF4-FFF2-40B4-BE49-F238E27FC236}">
                  <a16:creationId xmlns:a16="http://schemas.microsoft.com/office/drawing/2014/main" id="{8F890B4F-5DBC-4F5D-B820-F29F7464CBFC}"/>
                </a:ext>
              </a:extLst>
            </p:cNvPr>
            <p:cNvCxnSpPr/>
            <p:nvPr/>
          </p:nvCxnSpPr>
          <p:spPr>
            <a:xfrm flipV="1">
              <a:off x="7045707" y="3418162"/>
              <a:ext cx="1378954" cy="77136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305F1BDB-64A4-43FF-9562-CDCBDF678FF1}"/>
              </a:ext>
            </a:extLst>
          </p:cNvPr>
          <p:cNvCxnSpPr>
            <a:cxnSpLocks/>
          </p:cNvCxnSpPr>
          <p:nvPr/>
        </p:nvCxnSpPr>
        <p:spPr>
          <a:xfrm>
            <a:off x="2544356" y="2614247"/>
            <a:ext cx="42160" cy="79935"/>
          </a:xfrm>
          <a:prstGeom prst="line">
            <a:avLst/>
          </a:prstGeom>
          <a:ln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직선 연결선 159">
            <a:extLst>
              <a:ext uri="{FF2B5EF4-FFF2-40B4-BE49-F238E27FC236}">
                <a16:creationId xmlns:a16="http://schemas.microsoft.com/office/drawing/2014/main" id="{6B81208E-E2DE-468A-B282-4D482F7CB485}"/>
              </a:ext>
            </a:extLst>
          </p:cNvPr>
          <p:cNvCxnSpPr>
            <a:cxnSpLocks/>
          </p:cNvCxnSpPr>
          <p:nvPr/>
        </p:nvCxnSpPr>
        <p:spPr>
          <a:xfrm>
            <a:off x="1999812" y="2739812"/>
            <a:ext cx="114388" cy="216879"/>
          </a:xfrm>
          <a:prstGeom prst="line">
            <a:avLst/>
          </a:prstGeom>
          <a:ln w="6350">
            <a:solidFill>
              <a:schemeClr val="accent2">
                <a:lumMod val="60000"/>
                <a:lumOff val="40000"/>
              </a:schemeClr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9126582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4DE1D9-1051-4E9C-854A-1CD123785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PCA(</a:t>
            </a:r>
            <a:r>
              <a:rPr lang="ko-KR" altLang="en-US" dirty="0"/>
              <a:t>주성분 분석</a:t>
            </a:r>
            <a:r>
              <a:rPr lang="en-US" altLang="ko-KR" dirty="0"/>
              <a:t>) (3)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0928A9-6445-4DE5-81E8-B49368A0D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n_components</a:t>
            </a:r>
            <a:r>
              <a:rPr lang="ko-KR" altLang="en-US" dirty="0"/>
              <a:t>를 </a:t>
            </a:r>
            <a:r>
              <a:rPr lang="en-US" altLang="ko-KR" dirty="0"/>
              <a:t>50</a:t>
            </a:r>
            <a:r>
              <a:rPr lang="ko-KR" altLang="en-US" dirty="0"/>
              <a:t>으로 하여 </a:t>
            </a:r>
            <a:r>
              <a:rPr lang="en-US" altLang="ko-KR" dirty="0"/>
              <a:t>PCA</a:t>
            </a:r>
            <a:r>
              <a:rPr lang="ko-KR" altLang="en-US" dirty="0"/>
              <a:t> 훈련</a:t>
            </a:r>
            <a:r>
              <a:rPr lang="en-US" altLang="ko-KR" dirty="0"/>
              <a:t>. </a:t>
            </a:r>
            <a:r>
              <a:rPr lang="ko-KR" altLang="en-US" dirty="0"/>
              <a:t>주성분 찾음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en-US" altLang="ko-KR" dirty="0"/>
              <a:t>components_ </a:t>
            </a:r>
            <a:r>
              <a:rPr lang="ko-KR" altLang="en-US" dirty="0"/>
              <a:t>속성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43016C-B4B1-46EA-A60E-5B2D2F6E8E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9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9400058-FA17-425C-B1E3-25F66C793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916832"/>
            <a:ext cx="8307862" cy="14401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BE732D59-5B5D-400A-B957-82EE2C9604D6}"/>
              </a:ext>
            </a:extLst>
          </p:cNvPr>
          <p:cNvSpPr/>
          <p:nvPr/>
        </p:nvSpPr>
        <p:spPr>
          <a:xfrm>
            <a:off x="539552" y="3501009"/>
            <a:ext cx="288032" cy="216024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A8E1317-2D29-4E66-AEA4-115A996FB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3500254"/>
            <a:ext cx="5486682" cy="2921150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B8CCD68A-C3D2-4061-B25D-ED00D085042B}"/>
              </a:ext>
            </a:extLst>
          </p:cNvPr>
          <p:cNvSpPr/>
          <p:nvPr/>
        </p:nvSpPr>
        <p:spPr>
          <a:xfrm>
            <a:off x="6417927" y="3789040"/>
            <a:ext cx="2649873" cy="601970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50</a:t>
            </a:r>
            <a:r>
              <a:rPr lang="ko-KR" altLang="en-US" dirty="0">
                <a:solidFill>
                  <a:schemeClr val="tx1"/>
                </a:solidFill>
              </a:rPr>
              <a:t>개의 주성분이 각각 </a:t>
            </a:r>
            <a:r>
              <a:rPr lang="en-US" altLang="ko-KR" dirty="0">
                <a:solidFill>
                  <a:schemeClr val="tx1"/>
                </a:solidFill>
              </a:rPr>
              <a:t>10,000</a:t>
            </a:r>
            <a:r>
              <a:rPr lang="ko-KR" altLang="en-US" dirty="0">
                <a:solidFill>
                  <a:schemeClr val="tx1"/>
                </a:solidFill>
              </a:rPr>
              <a:t>의 차원을 가짐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4342A7D-C947-462E-8D6F-677333E5CF32}"/>
              </a:ext>
            </a:extLst>
          </p:cNvPr>
          <p:cNvSpPr/>
          <p:nvPr/>
        </p:nvSpPr>
        <p:spPr>
          <a:xfrm>
            <a:off x="6408402" y="4509120"/>
            <a:ext cx="2649873" cy="1440160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50</a:t>
            </a:r>
            <a:r>
              <a:rPr lang="ko-KR" altLang="en-US" dirty="0">
                <a:solidFill>
                  <a:schemeClr val="tx1"/>
                </a:solidFill>
              </a:rPr>
              <a:t>개의 주성분을 </a:t>
            </a:r>
            <a:r>
              <a:rPr lang="en-US" altLang="ko-KR" dirty="0">
                <a:solidFill>
                  <a:schemeClr val="tx1"/>
                </a:solidFill>
              </a:rPr>
              <a:t>100x100</a:t>
            </a:r>
            <a:r>
              <a:rPr lang="ko-KR" altLang="en-US" dirty="0">
                <a:solidFill>
                  <a:schemeClr val="tx1"/>
                </a:solidFill>
              </a:rPr>
              <a:t>크기의 이미지처럼 출력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 </a:t>
            </a:r>
            <a:r>
              <a:rPr lang="ko-KR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데이터셋에 있는 어떤 </a:t>
            </a:r>
            <a:b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</a:br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    </a:t>
            </a:r>
            <a:r>
              <a:rPr lang="ko-KR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특징을 잡아낸 것</a:t>
            </a:r>
            <a:endParaRPr lang="en-US" altLang="ko-K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4053338"/>
      </p:ext>
    </p:extLst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4DE1D9-1051-4E9C-854A-1CD123785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PCA(</a:t>
            </a:r>
            <a:r>
              <a:rPr lang="ko-KR" altLang="en-US" dirty="0"/>
              <a:t>주성분 분석</a:t>
            </a:r>
            <a:r>
              <a:rPr lang="en-US" altLang="ko-KR" dirty="0"/>
              <a:t>) (4)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0928A9-6445-4DE5-81E8-B49368A0D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주성분을 찾았으므로</a:t>
            </a:r>
            <a:r>
              <a:rPr lang="en-US" altLang="ko-KR" dirty="0"/>
              <a:t>, </a:t>
            </a:r>
            <a:r>
              <a:rPr lang="ko-KR" altLang="en-US" dirty="0"/>
              <a:t>원본 데이터를 주성분에 투영하여 특성의 개수를 </a:t>
            </a:r>
            <a:r>
              <a:rPr lang="en-US" altLang="ko-KR" dirty="0"/>
              <a:t>10,000</a:t>
            </a:r>
            <a:r>
              <a:rPr lang="ko-KR" altLang="en-US" dirty="0"/>
              <a:t>개에서 </a:t>
            </a:r>
            <a:r>
              <a:rPr lang="en-US" altLang="ko-KR" dirty="0"/>
              <a:t>n</a:t>
            </a:r>
            <a:r>
              <a:rPr lang="ko-KR" altLang="en-US" dirty="0"/>
              <a:t>개로 줄일 수 있음</a:t>
            </a:r>
            <a:endParaRPr lang="en-US" altLang="ko-KR" dirty="0"/>
          </a:p>
          <a:p>
            <a:pPr lvl="1"/>
            <a:r>
              <a:rPr lang="ko-KR" altLang="en-US" dirty="0"/>
              <a:t>원본 데이터를 각 주성분으로 분해하는 것으로 볼 수 있음</a:t>
            </a:r>
            <a:endParaRPr lang="en-US" altLang="ko-KR" dirty="0"/>
          </a:p>
          <a:p>
            <a:pPr lvl="1"/>
            <a:r>
              <a:rPr lang="en-US" altLang="ko-KR" dirty="0"/>
              <a:t>PCA</a:t>
            </a:r>
            <a:r>
              <a:rPr lang="ko-KR" altLang="en-US" dirty="0"/>
              <a:t>클래스의 </a:t>
            </a:r>
            <a:r>
              <a:rPr lang="en-US" altLang="ko-KR" dirty="0"/>
              <a:t>transform() </a:t>
            </a:r>
            <a:r>
              <a:rPr lang="ko-KR" altLang="en-US" dirty="0"/>
              <a:t>메서드를 사용하여 차원을 줄임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43016C-B4B1-46EA-A60E-5B2D2F6E8E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10</a:t>
            </a:fld>
            <a:endParaRPr lang="en-US" altLang="ko-KR"/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BE732D59-5B5D-400A-B957-82EE2C9604D6}"/>
              </a:ext>
            </a:extLst>
          </p:cNvPr>
          <p:cNvSpPr/>
          <p:nvPr/>
        </p:nvSpPr>
        <p:spPr>
          <a:xfrm>
            <a:off x="683567" y="3916387"/>
            <a:ext cx="288032" cy="216024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8CCD68A-C3D2-4061-B25D-ED00D085042B}"/>
              </a:ext>
            </a:extLst>
          </p:cNvPr>
          <p:cNvSpPr/>
          <p:nvPr/>
        </p:nvSpPr>
        <p:spPr>
          <a:xfrm>
            <a:off x="3059832" y="3855680"/>
            <a:ext cx="4824536" cy="376709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</a:rPr>
              <a:t>원본 데이터는 </a:t>
            </a:r>
            <a:r>
              <a:rPr lang="en-US" altLang="ko-KR" dirty="0">
                <a:solidFill>
                  <a:schemeClr val="tx1"/>
                </a:solidFill>
              </a:rPr>
              <a:t>300</a:t>
            </a:r>
            <a:r>
              <a:rPr lang="ko-KR" altLang="en-US" dirty="0">
                <a:solidFill>
                  <a:schemeClr val="tx1"/>
                </a:solidFill>
              </a:rPr>
              <a:t>개의 </a:t>
            </a:r>
            <a:r>
              <a:rPr lang="en-US" altLang="ko-KR" dirty="0">
                <a:solidFill>
                  <a:schemeClr val="tx1"/>
                </a:solidFill>
              </a:rPr>
              <a:t>10,000 </a:t>
            </a:r>
            <a:r>
              <a:rPr lang="ko-KR" altLang="en-US" dirty="0">
                <a:solidFill>
                  <a:schemeClr val="tx1"/>
                </a:solidFill>
              </a:rPr>
              <a:t>차원 데이터</a:t>
            </a:r>
            <a:endParaRPr lang="en-US" altLang="ko-KR" dirty="0">
              <a:solidFill>
                <a:schemeClr val="tx1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3DD2A68-D227-4CDF-B52F-F83FA12C3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7" y="2923129"/>
            <a:ext cx="7008257" cy="8325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34AA7E0-573C-4960-AC41-F8A9FBA30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517" y="3925110"/>
            <a:ext cx="1312587" cy="512002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5480F168-23A6-4FED-BE93-6F76D5083FA4}"/>
              </a:ext>
            </a:extLst>
          </p:cNvPr>
          <p:cNvSpPr/>
          <p:nvPr/>
        </p:nvSpPr>
        <p:spPr>
          <a:xfrm>
            <a:off x="3059832" y="4278239"/>
            <a:ext cx="4824536" cy="601970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>
                <a:solidFill>
                  <a:schemeClr val="tx1"/>
                </a:solidFill>
              </a:rPr>
              <a:t>fruits_pca</a:t>
            </a:r>
            <a:r>
              <a:rPr lang="ko-KR" altLang="en-US" dirty="0">
                <a:solidFill>
                  <a:schemeClr val="tx1"/>
                </a:solidFill>
              </a:rPr>
              <a:t>는 </a:t>
            </a:r>
            <a:r>
              <a:rPr lang="en-US" altLang="ko-KR" dirty="0">
                <a:solidFill>
                  <a:schemeClr val="tx1"/>
                </a:solidFill>
              </a:rPr>
              <a:t>PCA</a:t>
            </a:r>
            <a:r>
              <a:rPr lang="ko-KR" altLang="en-US" dirty="0">
                <a:solidFill>
                  <a:schemeClr val="tx1"/>
                </a:solidFill>
              </a:rPr>
              <a:t>로 차원을 축소하여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300</a:t>
            </a:r>
            <a:r>
              <a:rPr lang="ko-KR" altLang="en-US" dirty="0">
                <a:solidFill>
                  <a:schemeClr val="tx1"/>
                </a:solidFill>
              </a:rPr>
              <a:t>개의 </a:t>
            </a:r>
            <a:r>
              <a:rPr lang="en-US" altLang="ko-KR" dirty="0">
                <a:solidFill>
                  <a:schemeClr val="tx1"/>
                </a:solidFill>
              </a:rPr>
              <a:t>50</a:t>
            </a:r>
            <a:r>
              <a:rPr lang="ko-KR" altLang="en-US" dirty="0">
                <a:solidFill>
                  <a:schemeClr val="tx1"/>
                </a:solidFill>
              </a:rPr>
              <a:t>차원 데이터 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769FB67-F319-4CE7-8B3C-69DB1210447D}"/>
              </a:ext>
            </a:extLst>
          </p:cNvPr>
          <p:cNvSpPr/>
          <p:nvPr/>
        </p:nvSpPr>
        <p:spPr>
          <a:xfrm>
            <a:off x="683566" y="5013176"/>
            <a:ext cx="8136906" cy="1520974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PCA</a:t>
            </a:r>
            <a:r>
              <a:rPr lang="ko-KR" altLang="en-US" dirty="0">
                <a:solidFill>
                  <a:schemeClr val="tx1"/>
                </a:solidFill>
              </a:rPr>
              <a:t>를 활용하며</a:t>
            </a:r>
            <a:r>
              <a:rPr lang="en-US" altLang="ko-KR" dirty="0">
                <a:solidFill>
                  <a:schemeClr val="tx1"/>
                </a:solidFill>
              </a:rPr>
              <a:t>, 50</a:t>
            </a:r>
            <a:r>
              <a:rPr lang="ko-KR" altLang="en-US" dirty="0">
                <a:solidFill>
                  <a:schemeClr val="tx1"/>
                </a:solidFill>
              </a:rPr>
              <a:t>개의 </a:t>
            </a:r>
            <a:r>
              <a:rPr lang="en-US" altLang="ko-KR" dirty="0">
                <a:solidFill>
                  <a:schemeClr val="tx1"/>
                </a:solidFill>
              </a:rPr>
              <a:t>10,000</a:t>
            </a:r>
            <a:r>
              <a:rPr lang="ko-KR" altLang="en-US" dirty="0">
                <a:solidFill>
                  <a:schemeClr val="tx1"/>
                </a:solidFill>
              </a:rPr>
              <a:t>차원 주성분을 기억하고</a:t>
            </a:r>
            <a:r>
              <a:rPr lang="en-US" altLang="ko-KR" dirty="0">
                <a:solidFill>
                  <a:schemeClr val="tx1"/>
                </a:solidFill>
              </a:rPr>
              <a:t>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300</a:t>
            </a:r>
            <a:r>
              <a:rPr lang="ko-KR" altLang="en-US" dirty="0">
                <a:solidFill>
                  <a:schemeClr val="tx1"/>
                </a:solidFill>
              </a:rPr>
              <a:t>개의 </a:t>
            </a:r>
            <a:r>
              <a:rPr lang="en-US" altLang="ko-KR" dirty="0">
                <a:solidFill>
                  <a:schemeClr val="tx1"/>
                </a:solidFill>
              </a:rPr>
              <a:t>50</a:t>
            </a:r>
            <a:r>
              <a:rPr lang="ko-KR" altLang="en-US" dirty="0">
                <a:solidFill>
                  <a:schemeClr val="tx1"/>
                </a:solidFill>
              </a:rPr>
              <a:t>차원 데이터를 가지고 있으므로 </a:t>
            </a:r>
            <a:endParaRPr lang="en-US" altLang="ko-KR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</a:rPr>
              <a:t>총 </a:t>
            </a:r>
            <a:r>
              <a:rPr lang="en-US" altLang="ko-KR" dirty="0">
                <a:solidFill>
                  <a:schemeClr val="tx1"/>
                </a:solidFill>
              </a:rPr>
              <a:t>515,000 points</a:t>
            </a:r>
            <a:r>
              <a:rPr lang="ko-KR" altLang="en-US" dirty="0">
                <a:solidFill>
                  <a:schemeClr val="tx1"/>
                </a:solidFill>
              </a:rPr>
              <a:t>를 가지고 있는 것으로 볼 수 있음</a:t>
            </a:r>
            <a:endParaRPr lang="en-US" altLang="ko-KR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</a:rPr>
              <a:t>원본 데이터는 </a:t>
            </a:r>
            <a:r>
              <a:rPr lang="en-US" altLang="ko-KR" dirty="0">
                <a:solidFill>
                  <a:schemeClr val="tx1"/>
                </a:solidFill>
              </a:rPr>
              <a:t>300</a:t>
            </a:r>
            <a:r>
              <a:rPr lang="ko-KR" altLang="en-US" dirty="0">
                <a:solidFill>
                  <a:schemeClr val="tx1"/>
                </a:solidFill>
              </a:rPr>
              <a:t>개의 </a:t>
            </a:r>
            <a:r>
              <a:rPr lang="en-US" altLang="ko-KR" dirty="0">
                <a:solidFill>
                  <a:schemeClr val="tx1"/>
                </a:solidFill>
              </a:rPr>
              <a:t>10,000</a:t>
            </a:r>
            <a:r>
              <a:rPr lang="ko-KR" altLang="en-US" dirty="0">
                <a:solidFill>
                  <a:schemeClr val="tx1"/>
                </a:solidFill>
              </a:rPr>
              <a:t>차원 데이터이므로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총 </a:t>
            </a:r>
            <a:r>
              <a:rPr lang="en-US" altLang="ko-KR" dirty="0">
                <a:solidFill>
                  <a:schemeClr val="tx1"/>
                </a:solidFill>
              </a:rPr>
              <a:t>3,000,000  points</a:t>
            </a:r>
            <a:r>
              <a:rPr lang="ko-KR" altLang="en-US" dirty="0">
                <a:solidFill>
                  <a:schemeClr val="tx1"/>
                </a:solidFill>
              </a:rPr>
              <a:t>를 가짐</a:t>
            </a:r>
            <a:endParaRPr lang="en-US" altLang="ko-KR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</a:rPr>
              <a:t>따라서 주성분 데이터까지 포함하면</a:t>
            </a:r>
            <a:r>
              <a:rPr lang="en-US" altLang="ko-KR" dirty="0">
                <a:solidFill>
                  <a:schemeClr val="tx1"/>
                </a:solidFill>
              </a:rPr>
              <a:t>, 515,000/3,000,000≒1/6 </a:t>
            </a:r>
            <a:r>
              <a:rPr lang="ko-KR" altLang="en-US" dirty="0">
                <a:solidFill>
                  <a:schemeClr val="tx1"/>
                </a:solidFill>
              </a:rPr>
              <a:t>정도로 데이터가 줄었음</a:t>
            </a:r>
            <a:endParaRPr lang="en-US" altLang="ko-K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2312657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4DE1D9-1051-4E9C-854A-1CD123785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PCA(</a:t>
            </a:r>
            <a:r>
              <a:rPr lang="ko-KR" altLang="en-US" dirty="0"/>
              <a:t>주성분 분석</a:t>
            </a:r>
            <a:r>
              <a:rPr lang="en-US" altLang="ko-KR" dirty="0"/>
              <a:t>) (5) – </a:t>
            </a:r>
            <a:r>
              <a:rPr lang="ko-KR" altLang="en-US" sz="2800" dirty="0" err="1"/>
              <a:t>테이터</a:t>
            </a:r>
            <a:r>
              <a:rPr lang="ko-KR" altLang="en-US" sz="2800" dirty="0"/>
              <a:t> 압축에 따른 손실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0928A9-6445-4DE5-81E8-B49368A0D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PCA</a:t>
            </a:r>
            <a:r>
              <a:rPr lang="ko-KR" altLang="en-US" dirty="0"/>
              <a:t>를 통해 데이터를 줄임에 따라 원본으로 복구하면 어느 정도 손실이 발생할 수 있음</a:t>
            </a:r>
            <a:endParaRPr lang="en-US" altLang="ko-KR" dirty="0"/>
          </a:p>
          <a:p>
            <a:pPr lvl="1"/>
            <a:r>
              <a:rPr lang="en-US" altLang="ko-KR" dirty="0" err="1"/>
              <a:t>inverse_transform</a:t>
            </a:r>
            <a:r>
              <a:rPr lang="en-US" altLang="ko-KR" dirty="0"/>
              <a:t>()</a:t>
            </a:r>
            <a:r>
              <a:rPr lang="ko-KR" altLang="en-US" dirty="0"/>
              <a:t> 메서드로 원본 특성 복구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43016C-B4B1-46EA-A60E-5B2D2F6E8E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11</a:t>
            </a:fld>
            <a:endParaRPr lang="en-US" altLang="ko-KR"/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BE732D59-5B5D-400A-B957-82EE2C9604D6}"/>
              </a:ext>
            </a:extLst>
          </p:cNvPr>
          <p:cNvSpPr/>
          <p:nvPr/>
        </p:nvSpPr>
        <p:spPr>
          <a:xfrm>
            <a:off x="683566" y="4581128"/>
            <a:ext cx="288032" cy="216024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769FB67-F319-4CE7-8B3C-69DB1210447D}"/>
              </a:ext>
            </a:extLst>
          </p:cNvPr>
          <p:cNvSpPr/>
          <p:nvPr/>
        </p:nvSpPr>
        <p:spPr>
          <a:xfrm>
            <a:off x="6176704" y="4901114"/>
            <a:ext cx="2787783" cy="1582896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</a:rPr>
              <a:t>일부 흐리고 번진 부분은 있으나</a:t>
            </a:r>
            <a:r>
              <a:rPr lang="en-US" altLang="ko-KR" dirty="0">
                <a:solidFill>
                  <a:schemeClr val="tx1"/>
                </a:solidFill>
              </a:rPr>
              <a:t>, 50</a:t>
            </a:r>
            <a:r>
              <a:rPr lang="ko-KR" altLang="en-US" dirty="0">
                <a:solidFill>
                  <a:schemeClr val="tx1"/>
                </a:solidFill>
              </a:rPr>
              <a:t>개의 주성분이 분산을 잘 보존하고 있었기에 원본에 많이 가깝게 복원할 수 있었음</a:t>
            </a:r>
            <a:endParaRPr lang="en-US" altLang="ko-KR" dirty="0">
              <a:solidFill>
                <a:schemeClr val="tx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2DC57AF-F95F-4E02-B233-976212668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6" y="2434834"/>
            <a:ext cx="7421902" cy="200227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CCD4DDF-0775-4E9B-9627-E338FBE963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08" y="4584455"/>
            <a:ext cx="1041545" cy="21602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5382E12-EB6D-4FD1-9957-2ED96B6D1B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82" y="4867032"/>
            <a:ext cx="1652675" cy="161126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627442D-9352-4D49-9AB2-7ECEC4C4FF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7784" y="4884449"/>
            <a:ext cx="1634661" cy="159384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584D5DC4-AC69-4B1A-B6E9-F5C385CA79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94517" y="4905584"/>
            <a:ext cx="1617643" cy="1582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440170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858F5B-8C38-4BA1-B7A7-A159DE474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설명된 분산</a:t>
            </a:r>
            <a:r>
              <a:rPr lang="en-US" altLang="ko-KR" dirty="0"/>
              <a:t>(</a:t>
            </a:r>
            <a:r>
              <a:rPr lang="en-US" altLang="ko-KR" dirty="0" err="1"/>
              <a:t>Explaned</a:t>
            </a:r>
            <a:r>
              <a:rPr lang="en-US" altLang="ko-KR" dirty="0"/>
              <a:t> Variance)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75A178-923B-464B-8F87-C3564CC32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설명된 분산</a:t>
            </a:r>
            <a:endParaRPr lang="en-US" altLang="ko-KR" dirty="0"/>
          </a:p>
          <a:p>
            <a:pPr lvl="1"/>
            <a:r>
              <a:rPr lang="ko-KR" altLang="en-US" dirty="0"/>
              <a:t>주성분이 원본 데이터 분산을 얼마나 잘 </a:t>
            </a:r>
            <a:r>
              <a:rPr lang="ko-KR" altLang="en-US" dirty="0" err="1"/>
              <a:t>나타내었는지를</a:t>
            </a:r>
            <a:r>
              <a:rPr lang="ko-KR" altLang="en-US" dirty="0"/>
              <a:t> 기록한 값</a:t>
            </a:r>
            <a:endParaRPr lang="en-US" altLang="ko-KR" dirty="0"/>
          </a:p>
          <a:p>
            <a:pPr lvl="1"/>
            <a:r>
              <a:rPr lang="en-US" altLang="ko-KR" dirty="0"/>
              <a:t>PCA</a:t>
            </a:r>
            <a:r>
              <a:rPr lang="ko-KR" altLang="en-US" dirty="0"/>
              <a:t>클래스의 </a:t>
            </a:r>
            <a:r>
              <a:rPr lang="en-US" altLang="ko-KR" dirty="0" err="1"/>
              <a:t>explained_variance_ratio</a:t>
            </a:r>
            <a:r>
              <a:rPr lang="en-US" altLang="ko-KR" dirty="0"/>
              <a:t>_</a:t>
            </a:r>
            <a:r>
              <a:rPr lang="ko-KR" altLang="en-US" dirty="0"/>
              <a:t>에 각 주성분의 설명된 분산 비율이 기록됨</a:t>
            </a:r>
            <a:endParaRPr lang="en-US" altLang="ko-KR" dirty="0"/>
          </a:p>
          <a:p>
            <a:pPr lvl="2"/>
            <a:r>
              <a:rPr lang="ko-KR" altLang="en-US" dirty="0"/>
              <a:t>당연히 첫번째 주성분의 설명된 분산이 가장 큼</a:t>
            </a:r>
            <a:endParaRPr lang="en-US" altLang="ko-KR" dirty="0"/>
          </a:p>
          <a:p>
            <a:pPr lvl="2"/>
            <a:r>
              <a:rPr lang="ko-KR" altLang="en-US" dirty="0"/>
              <a:t>분산 비율을 모두 더하면 </a:t>
            </a:r>
            <a:r>
              <a:rPr lang="en-US" altLang="ko-KR" dirty="0"/>
              <a:t>50</a:t>
            </a:r>
            <a:r>
              <a:rPr lang="ko-KR" altLang="en-US" dirty="0"/>
              <a:t>개의 주성분으로 표현한 총 분산 비율 얻음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C8720D-CADB-44B7-8103-40A2FAF7E6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12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256A21F-F986-4538-BAA5-C687ECB99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4077072"/>
            <a:ext cx="8088612" cy="79208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4E86EBEE-2ECE-41BE-92F9-031B4D6F18B2}"/>
              </a:ext>
            </a:extLst>
          </p:cNvPr>
          <p:cNvSpPr/>
          <p:nvPr/>
        </p:nvSpPr>
        <p:spPr>
          <a:xfrm>
            <a:off x="683568" y="4990597"/>
            <a:ext cx="288032" cy="216024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52B4CC2-5F57-482D-9FBC-C9B27114D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4923940"/>
            <a:ext cx="2232248" cy="1576873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23A19094-FDD3-41D3-BCA1-398A037E1B81}"/>
              </a:ext>
            </a:extLst>
          </p:cNvPr>
          <p:cNvSpPr/>
          <p:nvPr/>
        </p:nvSpPr>
        <p:spPr>
          <a:xfrm>
            <a:off x="3513441" y="5207091"/>
            <a:ext cx="5472607" cy="1110794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50</a:t>
            </a:r>
            <a:r>
              <a:rPr lang="ko-KR" altLang="en-US" dirty="0">
                <a:solidFill>
                  <a:schemeClr val="tx1"/>
                </a:solidFill>
              </a:rPr>
              <a:t>개의 주성분의 총 설명된 분산 비율은 </a:t>
            </a:r>
            <a:r>
              <a:rPr lang="en-US" altLang="ko-KR" dirty="0">
                <a:solidFill>
                  <a:schemeClr val="tx1"/>
                </a:solidFill>
              </a:rPr>
              <a:t>92%</a:t>
            </a:r>
            <a:r>
              <a:rPr lang="ko-KR" altLang="en-US" dirty="0">
                <a:solidFill>
                  <a:schemeClr val="tx1"/>
                </a:solidFill>
              </a:rPr>
              <a:t>에 달함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ko-KR" altLang="en-US" dirty="0">
                <a:solidFill>
                  <a:schemeClr val="tx1"/>
                </a:solidFill>
              </a:rPr>
              <a:t>따라서 원본으로의 복원이 품질이 높음</a:t>
            </a:r>
            <a:endParaRPr lang="en-US" altLang="ko-KR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</a:rPr>
              <a:t>주성분 별로 보면 첫 </a:t>
            </a:r>
            <a:r>
              <a:rPr lang="en-US" altLang="ko-KR" dirty="0">
                <a:solidFill>
                  <a:schemeClr val="tx1"/>
                </a:solidFill>
              </a:rPr>
              <a:t>10</a:t>
            </a:r>
            <a:r>
              <a:rPr lang="ko-KR" altLang="en-US" dirty="0">
                <a:solidFill>
                  <a:schemeClr val="tx1"/>
                </a:solidFill>
              </a:rPr>
              <a:t>개 정도가 대부분의 분산을 표한하고 있음을 확인할 수 있음</a:t>
            </a:r>
            <a:endParaRPr lang="en-US" altLang="ko-K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5095507"/>
      </p:ext>
    </p:extLst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429D5D-B99A-4F9E-A186-ECD60661B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다른 알고리즘과 함께 사용하기 </a:t>
            </a:r>
            <a:r>
              <a:rPr lang="en-US" altLang="ko-KR" dirty="0"/>
              <a:t>(1)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C0CD00C-DD8D-42FA-A494-B6B8F2E683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en-US" altLang="ko-KR" dirty="0"/>
                  <a:t>PCA</a:t>
                </a:r>
                <a:r>
                  <a:rPr lang="ko-KR" altLang="en-US" dirty="0"/>
                  <a:t>로 차원 축소된 데이터를 사용하여 지도학습에 적용</a:t>
                </a:r>
                <a:br>
                  <a:rPr lang="en-US" altLang="ko-KR" dirty="0"/>
                </a:br>
                <a:r>
                  <a:rPr lang="en-US" altLang="ko-KR" dirty="0">
                    <a:sym typeface="Wingdings" panose="05000000000000000000" pitchFamily="2" charset="2"/>
                  </a:rPr>
                  <a:t> PCA</a:t>
                </a:r>
                <a:r>
                  <a:rPr lang="ko-KR" altLang="en-US" dirty="0">
                    <a:sym typeface="Wingdings" panose="05000000000000000000" pitchFamily="2" charset="2"/>
                  </a:rPr>
                  <a:t>로 축소된 데이터와 원본 데이터 사용의 차이 확인</a:t>
                </a:r>
                <a:endParaRPr lang="en-US" altLang="ko-KR" dirty="0">
                  <a:sym typeface="Wingdings" panose="05000000000000000000" pitchFamily="2" charset="2"/>
                </a:endParaRPr>
              </a:p>
              <a:p>
                <a:pPr lvl="1"/>
                <a:r>
                  <a:rPr lang="en-US" altLang="ko-KR" dirty="0">
                    <a:sym typeface="Wingdings" panose="05000000000000000000" pitchFamily="2" charset="2"/>
                  </a:rPr>
                  <a:t>3</a:t>
                </a:r>
                <a:r>
                  <a:rPr lang="ko-KR" altLang="en-US" dirty="0">
                    <a:sym typeface="Wingdings" panose="05000000000000000000" pitchFamily="2" charset="2"/>
                  </a:rPr>
                  <a:t>개의 과일 사진 분류 </a:t>
                </a:r>
                <a:r>
                  <a:rPr lang="en-US" altLang="ko-KR" dirty="0">
                    <a:sym typeface="Wingdings" panose="05000000000000000000" pitchFamily="2" charset="2"/>
                  </a:rPr>
                  <a:t> Logistic Regression </a:t>
                </a:r>
                <a:r>
                  <a:rPr lang="ko-KR" altLang="en-US" dirty="0">
                    <a:sym typeface="Wingdings" panose="05000000000000000000" pitchFamily="2" charset="2"/>
                  </a:rPr>
                  <a:t>모델 활용</a:t>
                </a:r>
                <a:endParaRPr lang="en-US" altLang="ko-KR" dirty="0">
                  <a:sym typeface="Wingdings" panose="05000000000000000000" pitchFamily="2" charset="2"/>
                </a:endParaRPr>
              </a:p>
              <a:p>
                <a:r>
                  <a:rPr lang="en-US" altLang="ko-KR" dirty="0"/>
                  <a:t>Logistic Regression </a:t>
                </a:r>
                <a:r>
                  <a:rPr lang="ko-KR" altLang="en-US" dirty="0"/>
                  <a:t>요약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이름은 회귀지만 분류모델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선형회귀와 동일하게 선형방정식을 학습</a:t>
                </a:r>
                <a:endParaRPr lang="en-US" altLang="ko-KR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𝑾𝒆𝒊𝒈𝒉𝒕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𝒃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𝑳𝒆𝒏𝒈𝒕𝒉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𝒄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𝑫𝒊𝒂𝒈𝒐𝒏𝒂𝒍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𝒅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𝑯𝒆𝒊𝒈𝒉𝒕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𝒆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𝑾𝒊𝒅𝒕𝒉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en-US" altLang="ko-KR" dirty="0"/>
                  <a:t>, </a:t>
                </a:r>
                <a:r>
                  <a:rPr lang="ko-KR" altLang="en-US" dirty="0"/>
                  <a:t>여기서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r>
                  <a:rPr lang="ko-KR" altLang="en-US" dirty="0"/>
                  <a:t>는 가중치 혹은 계수</a:t>
                </a:r>
                <a:endParaRPr lang="en-US" altLang="ko-KR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𝒛</m:t>
                    </m:r>
                  </m:oMath>
                </a14:m>
                <a:r>
                  <a:rPr lang="ko-KR" altLang="en-US" dirty="0"/>
                  <a:t>는 어떤 값이든 가능하지만 확률이 되려면 </a:t>
                </a:r>
                <a:r>
                  <a:rPr lang="en-US" altLang="ko-KR" dirty="0"/>
                  <a:t>0</a:t>
                </a:r>
                <a:r>
                  <a:rPr lang="ko-KR" altLang="en-US" dirty="0"/>
                  <a:t>에서</a:t>
                </a:r>
                <a:r>
                  <a:rPr lang="en-US" altLang="ko-KR" dirty="0"/>
                  <a:t> 1 </a:t>
                </a:r>
                <a:r>
                  <a:rPr lang="ko-KR" altLang="en-US" dirty="0"/>
                  <a:t>사이의 값이 되어야 함</a:t>
                </a:r>
                <a:endParaRPr lang="en-US" altLang="ko-KR" dirty="0"/>
              </a:p>
              <a:p>
                <a:pPr lvl="2"/>
                <a:r>
                  <a:rPr lang="ko-KR" altLang="en-US" dirty="0">
                    <a:sym typeface="Wingdings" panose="05000000000000000000" pitchFamily="2" charset="2"/>
                  </a:rPr>
                  <a:t>이중 분류는 </a:t>
                </a:r>
                <a:r>
                  <a:rPr lang="ko-KR" altLang="en-US" dirty="0" err="1">
                    <a:sym typeface="Wingdings" panose="05000000000000000000" pitchFamily="2" charset="2"/>
                  </a:rPr>
                  <a:t>시그모이드함수</a:t>
                </a:r>
                <a:r>
                  <a:rPr lang="en-US" altLang="ko-KR" dirty="0">
                    <a:sym typeface="Wingdings" panose="05000000000000000000" pitchFamily="2" charset="2"/>
                  </a:rPr>
                  <a:t>(sigmoid function </a:t>
                </a:r>
                <a:r>
                  <a:rPr lang="ko-KR" altLang="en-US" dirty="0">
                    <a:sym typeface="Wingdings" panose="05000000000000000000" pitchFamily="2" charset="2"/>
                  </a:rPr>
                  <a:t>또는</a:t>
                </a:r>
                <a:r>
                  <a:rPr lang="en-US" altLang="ko-KR" dirty="0">
                    <a:sym typeface="Wingdings" panose="05000000000000000000" pitchFamily="2" charset="2"/>
                  </a:rPr>
                  <a:t> </a:t>
                </a:r>
                <a:r>
                  <a:rPr lang="ko-KR" altLang="en-US" dirty="0" err="1">
                    <a:sym typeface="Wingdings" panose="05000000000000000000" pitchFamily="2" charset="2"/>
                  </a:rPr>
                  <a:t>로지스틱함수</a:t>
                </a:r>
                <a:r>
                  <a:rPr lang="en-US" altLang="ko-KR" dirty="0">
                    <a:sym typeface="Wingdings" panose="05000000000000000000" pitchFamily="2" charset="2"/>
                  </a:rPr>
                  <a:t>(logistic function))</a:t>
                </a:r>
              </a:p>
              <a:p>
                <a:pPr marL="779400" lvl="2" indent="0">
                  <a:buNone/>
                </a:pPr>
                <a:r>
                  <a:rPr lang="en-US" altLang="ko-KR" dirty="0">
                    <a:sym typeface="Wingdings" panose="05000000000000000000" pitchFamily="2" charset="2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∅=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1+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e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z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ko-KR" dirty="0">
                    <a:sym typeface="Wingdings" panose="05000000000000000000" pitchFamily="2" charset="2"/>
                  </a:rPr>
                  <a:t> </a:t>
                </a:r>
              </a:p>
              <a:p>
                <a:pPr lvl="2"/>
                <a:r>
                  <a:rPr lang="ko-KR" altLang="en-US" dirty="0">
                    <a:sym typeface="Wingdings" panose="05000000000000000000" pitchFamily="2" charset="2"/>
                  </a:rPr>
                  <a:t>다중 분류는 </a:t>
                </a:r>
                <a:r>
                  <a:rPr lang="ko-KR" altLang="en-US" dirty="0" err="1">
                    <a:sym typeface="Wingdings" panose="05000000000000000000" pitchFamily="2" charset="2"/>
                  </a:rPr>
                  <a:t>시그모이드가</a:t>
                </a:r>
                <a:r>
                  <a:rPr lang="ko-KR" altLang="en-US" dirty="0">
                    <a:sym typeface="Wingdings" panose="05000000000000000000" pitchFamily="2" charset="2"/>
                  </a:rPr>
                  <a:t> 아닌 </a:t>
                </a:r>
                <a:r>
                  <a:rPr lang="ko-KR" altLang="en-US" dirty="0" err="1">
                    <a:sym typeface="Wingdings" panose="05000000000000000000" pitchFamily="2" charset="2"/>
                  </a:rPr>
                  <a:t>소프트맥스</a:t>
                </a:r>
                <a:r>
                  <a:rPr lang="en-US" altLang="ko-KR" dirty="0">
                    <a:sym typeface="Wingdings" panose="05000000000000000000" pitchFamily="2" charset="2"/>
                  </a:rPr>
                  <a:t>(</a:t>
                </a:r>
                <a:r>
                  <a:rPr lang="en-US" altLang="ko-KR" dirty="0" err="1">
                    <a:sym typeface="Wingdings" panose="05000000000000000000" pitchFamily="2" charset="2"/>
                  </a:rPr>
                  <a:t>softmax</a:t>
                </a:r>
                <a:r>
                  <a:rPr lang="en-US" altLang="ko-KR" dirty="0">
                    <a:sym typeface="Wingdings" panose="05000000000000000000" pitchFamily="2" charset="2"/>
                  </a:rPr>
                  <a:t>) </a:t>
                </a:r>
                <a:r>
                  <a:rPr lang="ko-KR" altLang="en-US" dirty="0">
                    <a:sym typeface="Wingdings" panose="05000000000000000000" pitchFamily="2" charset="2"/>
                  </a:rPr>
                  <a:t>함수를 사용하여 확률로 변환</a:t>
                </a:r>
                <a:endParaRPr lang="en-US" altLang="ko-KR" dirty="0">
                  <a:sym typeface="Wingdings" panose="05000000000000000000" pitchFamily="2" charset="2"/>
                </a:endParaRPr>
              </a:p>
              <a:p>
                <a:pPr marL="779400" lvl="2" indent="0">
                  <a:buNone/>
                </a:pPr>
                <a:r>
                  <a:rPr lang="en-US" altLang="ko-KR" dirty="0">
                    <a:sym typeface="Wingdings" panose="05000000000000000000" pitchFamily="2" charset="2"/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sum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 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e</m:t>
                        </m:r>
                      </m:e>
                      <m:sup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z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sub>
                        </m:sSub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e</m:t>
                        </m:r>
                      </m:e>
                      <m:sup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z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b>
                        </m:sSub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</m:oMath>
                </a14:m>
                <a:r>
                  <a:rPr lang="en-US" altLang="ko-KR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e</m:t>
                        </m:r>
                      </m:e>
                      <m:sup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z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3</m:t>
                            </m:r>
                          </m:sub>
                        </m:sSub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 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e</m:t>
                        </m:r>
                      </m:e>
                      <m:sup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z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4</m:t>
                            </m:r>
                          </m:sub>
                        </m:sSub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 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e</m:t>
                        </m:r>
                      </m:e>
                      <m:sup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z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5</m:t>
                            </m:r>
                          </m:sub>
                        </m:sSub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 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e</m:t>
                        </m:r>
                      </m:e>
                      <m:sup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z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6</m:t>
                            </m:r>
                          </m:sub>
                        </m:sSub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 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e</m:t>
                        </m:r>
                      </m:e>
                      <m:sup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z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7</m:t>
                            </m:r>
                          </m:sub>
                        </m:sSub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</m:oMath>
                </a14:m>
                <a:endParaRPr lang="en-US" altLang="ko-KR" dirty="0">
                  <a:sym typeface="Wingdings" panose="05000000000000000000" pitchFamily="2" charset="2"/>
                </a:endParaRPr>
              </a:p>
              <a:p>
                <a:pPr marL="779400" lvl="2" indent="0">
                  <a:buNone/>
                </a:pPr>
                <a:r>
                  <a:rPr lang="en-US" altLang="ko-KR" dirty="0">
                    <a:sym typeface="Wingdings" panose="05000000000000000000" pitchFamily="2" charset="2"/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s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 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e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1</m:t>
                                </m:r>
                              </m:sub>
                            </m:sSub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sum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dirty="0">
                    <a:sym typeface="Wingdings" panose="05000000000000000000" pitchFamily="2" charset="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s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 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e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2</m:t>
                                </m:r>
                              </m:sub>
                            </m:sSub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sum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dirty="0">
                    <a:sym typeface="Wingdings" panose="05000000000000000000" pitchFamily="2" charset="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s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 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e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3</m:t>
                                </m:r>
                              </m:sub>
                            </m:sSub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sum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dirty="0">
                    <a:sym typeface="Wingdings" panose="05000000000000000000" pitchFamily="2" charset="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s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4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 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e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4</m:t>
                                </m:r>
                              </m:sub>
                            </m:sSub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sum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dirty="0">
                    <a:sym typeface="Wingdings" panose="05000000000000000000" pitchFamily="2" charset="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s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5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 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e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5</m:t>
                                </m:r>
                              </m:sub>
                            </m:sSub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sum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dirty="0">
                    <a:sym typeface="Wingdings" panose="05000000000000000000" pitchFamily="2" charset="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s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6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 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e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6</m:t>
                                </m:r>
                              </m:sub>
                            </m:sSub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sum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dirty="0">
                    <a:sym typeface="Wingdings" panose="05000000000000000000" pitchFamily="2" charset="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s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7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 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e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7</m:t>
                                </m:r>
                              </m:sub>
                            </m:sSub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sum</m:t>
                            </m:r>
                          </m:sub>
                        </m:sSub>
                      </m:den>
                    </m:f>
                  </m:oMath>
                </a14:m>
                <a:endParaRPr lang="en-US" altLang="ko-KR" dirty="0">
                  <a:sym typeface="Wingdings" panose="05000000000000000000" pitchFamily="2" charset="2"/>
                </a:endParaRPr>
              </a:p>
              <a:p>
                <a:pPr marL="779400" lvl="2" indent="0">
                  <a:buNone/>
                </a:pPr>
                <a:r>
                  <a:rPr lang="en-US" altLang="ko-KR" dirty="0">
                    <a:sym typeface="Wingdings" panose="05000000000000000000" pitchFamily="2" charset="2"/>
                  </a:rPr>
                  <a:t>  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s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s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</m:oMath>
                </a14:m>
                <a:r>
                  <a:rPr lang="en-US" altLang="ko-KR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s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</m:oMath>
                </a14:m>
                <a:r>
                  <a:rPr lang="en-US" altLang="ko-KR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s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4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</m:oMath>
                </a14:m>
                <a:r>
                  <a:rPr lang="en-US" altLang="ko-KR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s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5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</m:oMath>
                </a14:m>
                <a:r>
                  <a:rPr lang="en-US" altLang="ko-KR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s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6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</m:oMath>
                </a14:m>
                <a:r>
                  <a:rPr lang="en-US" altLang="ko-KR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s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7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=1</m:t>
                    </m:r>
                  </m:oMath>
                </a14:m>
                <a:r>
                  <a:rPr lang="en-US" altLang="ko-KR" dirty="0">
                    <a:sym typeface="Wingdings" panose="05000000000000000000" pitchFamily="2" charset="2"/>
                  </a:rPr>
                  <a:t>)</a:t>
                </a:r>
              </a:p>
              <a:p>
                <a:pPr marL="779400" lvl="2" indent="0">
                  <a:buNone/>
                </a:pPr>
                <a:endParaRPr lang="en-US" altLang="ko-KR" dirty="0">
                  <a:sym typeface="Wingdings" panose="05000000000000000000" pitchFamily="2" charset="2"/>
                </a:endParaRPr>
              </a:p>
              <a:p>
                <a:pPr lvl="1"/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C0CD00C-DD8D-42FA-A494-B6B8F2E683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3" t="-6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FEC61A-FF03-4282-A0E8-EDED191311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13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0D1CA95-F638-470D-9584-AC3C5A2AC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760" y="4365104"/>
            <a:ext cx="705424" cy="475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015649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487321-F170-4AE0-B506-395BF5395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다른 알고리즘과 함께 사용하기 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6F2879-04C8-4D3D-A741-0C60D05B8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475" y="984433"/>
            <a:ext cx="8950325" cy="5519738"/>
          </a:xfrm>
        </p:spPr>
        <p:txBody>
          <a:bodyPr/>
          <a:lstStyle/>
          <a:p>
            <a:r>
              <a:rPr lang="en-US" altLang="ko-KR" dirty="0"/>
              <a:t>Logistic Regression – </a:t>
            </a:r>
            <a:r>
              <a:rPr lang="ko-KR" altLang="en-US" dirty="0"/>
              <a:t>원본 데이터 사용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PCA</a:t>
            </a:r>
            <a:r>
              <a:rPr lang="ko-KR" altLang="en-US" dirty="0"/>
              <a:t>로 차원 축소한 </a:t>
            </a:r>
            <a:r>
              <a:rPr lang="en-US" altLang="ko-KR" dirty="0"/>
              <a:t>50</a:t>
            </a:r>
            <a:r>
              <a:rPr lang="ko-KR" altLang="en-US" dirty="0"/>
              <a:t>개의 주성분만 사용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94CD55-FCE1-46BC-AF80-A6F1F0AA92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14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A746054-1176-4986-B997-38CA5F142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1" y="1484784"/>
            <a:ext cx="8188073" cy="223224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9C9D469B-9AD9-4C1D-8B27-5BBFEE5B0F41}"/>
              </a:ext>
            </a:extLst>
          </p:cNvPr>
          <p:cNvSpPr/>
          <p:nvPr/>
        </p:nvSpPr>
        <p:spPr>
          <a:xfrm>
            <a:off x="539551" y="3861048"/>
            <a:ext cx="288032" cy="216024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A851E8F-17CB-4104-8657-8EC625A0C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1" y="3838500"/>
            <a:ext cx="2053600" cy="54301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949DA2C-1DCA-47B8-9A39-B16B00736A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1" y="5087537"/>
            <a:ext cx="7920881" cy="75748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6634F16A-0E51-4F91-B60B-F4A5246C2550}"/>
              </a:ext>
            </a:extLst>
          </p:cNvPr>
          <p:cNvSpPr/>
          <p:nvPr/>
        </p:nvSpPr>
        <p:spPr>
          <a:xfrm>
            <a:off x="539551" y="5958573"/>
            <a:ext cx="288032" cy="216024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58B72A0-2C9D-4844-9382-88D044D882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99" y="5966490"/>
            <a:ext cx="2053601" cy="486845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FCA63525-4211-4839-BBB9-CF7E211ACE33}"/>
              </a:ext>
            </a:extLst>
          </p:cNvPr>
          <p:cNvSpPr/>
          <p:nvPr/>
        </p:nvSpPr>
        <p:spPr>
          <a:xfrm>
            <a:off x="3169216" y="5897938"/>
            <a:ext cx="5472607" cy="606233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50</a:t>
            </a:r>
            <a:r>
              <a:rPr lang="ko-KR" altLang="en-US" dirty="0">
                <a:solidFill>
                  <a:schemeClr val="tx1"/>
                </a:solidFill>
              </a:rPr>
              <a:t>개의 주성분만 활용하였음에도 정확도와 훈련시간이 대폭 향상됨</a:t>
            </a:r>
            <a:endParaRPr lang="en-US" altLang="ko-K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3339283"/>
      </p:ext>
    </p:extLst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487321-F170-4AE0-B506-395BF5395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다른 알고리즘과 함께 사용하기 </a:t>
            </a:r>
            <a:r>
              <a:rPr lang="en-US" altLang="ko-KR" dirty="0"/>
              <a:t>(3)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6F2879-04C8-4D3D-A741-0C60D05B8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475" y="984433"/>
            <a:ext cx="8950325" cy="5519738"/>
          </a:xfrm>
        </p:spPr>
        <p:txBody>
          <a:bodyPr/>
          <a:lstStyle/>
          <a:p>
            <a:r>
              <a:rPr lang="ko-KR" altLang="en-US" dirty="0"/>
              <a:t>설명된 분산이 </a:t>
            </a:r>
            <a:r>
              <a:rPr lang="en-US" altLang="ko-KR" dirty="0"/>
              <a:t>50%</a:t>
            </a:r>
            <a:r>
              <a:rPr lang="ko-KR" altLang="en-US" dirty="0"/>
              <a:t>에 달하는 주성분만 사용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94CD55-FCE1-46BC-AF80-A6F1F0AA92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15</a:t>
            </a:fld>
            <a:endParaRPr lang="en-US" altLang="ko-KR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6634F16A-0E51-4F91-B60B-F4A5246C2550}"/>
              </a:ext>
            </a:extLst>
          </p:cNvPr>
          <p:cNvSpPr/>
          <p:nvPr/>
        </p:nvSpPr>
        <p:spPr>
          <a:xfrm>
            <a:off x="539551" y="4330276"/>
            <a:ext cx="288032" cy="216024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CA63525-4211-4839-BBB9-CF7E211ACE33}"/>
              </a:ext>
            </a:extLst>
          </p:cNvPr>
          <p:cNvSpPr/>
          <p:nvPr/>
        </p:nvSpPr>
        <p:spPr>
          <a:xfrm>
            <a:off x="3275854" y="4330276"/>
            <a:ext cx="5472607" cy="1314934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</a:rPr>
              <a:t>설명된 분산이 </a:t>
            </a:r>
            <a:r>
              <a:rPr lang="en-US" altLang="ko-KR" dirty="0">
                <a:solidFill>
                  <a:schemeClr val="tx1"/>
                </a:solidFill>
              </a:rPr>
              <a:t>50%</a:t>
            </a:r>
            <a:r>
              <a:rPr lang="ko-KR" altLang="en-US" dirty="0">
                <a:solidFill>
                  <a:schemeClr val="tx1"/>
                </a:solidFill>
              </a:rPr>
              <a:t>에 이르는 주성분의 개수는 </a:t>
            </a:r>
            <a:r>
              <a:rPr lang="en-US" altLang="ko-KR" dirty="0">
                <a:solidFill>
                  <a:schemeClr val="tx1"/>
                </a:solidFill>
              </a:rPr>
              <a:t>2</a:t>
            </a:r>
            <a:r>
              <a:rPr lang="ko-KR" altLang="en-US" dirty="0">
                <a:solidFill>
                  <a:schemeClr val="tx1"/>
                </a:solidFill>
              </a:rPr>
              <a:t>에 불과하며 </a:t>
            </a:r>
            <a:endParaRPr lang="en-US" altLang="ko-KR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2</a:t>
            </a:r>
            <a:r>
              <a:rPr lang="ko-KR" altLang="en-US" dirty="0">
                <a:solidFill>
                  <a:schemeClr val="tx1"/>
                </a:solidFill>
              </a:rPr>
              <a:t>개의 주성분에 의해 변환된 데이터는 </a:t>
            </a:r>
            <a:r>
              <a:rPr lang="en-US" altLang="ko-KR" dirty="0">
                <a:solidFill>
                  <a:schemeClr val="tx1"/>
                </a:solidFill>
              </a:rPr>
              <a:t>600</a:t>
            </a:r>
            <a:r>
              <a:rPr lang="ko-KR" altLang="en-US" dirty="0">
                <a:solidFill>
                  <a:schemeClr val="tx1"/>
                </a:solidFill>
              </a:rPr>
              <a:t>개</a:t>
            </a:r>
            <a:endParaRPr lang="en-US" altLang="ko-KR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</a:rPr>
              <a:t>그럼에도 불구하고</a:t>
            </a:r>
            <a:r>
              <a:rPr lang="en-US" altLang="ko-KR" dirty="0">
                <a:solidFill>
                  <a:schemeClr val="tx1"/>
                </a:solidFill>
              </a:rPr>
              <a:t>, 99% </a:t>
            </a:r>
            <a:r>
              <a:rPr lang="ko-KR" altLang="en-US" dirty="0">
                <a:solidFill>
                  <a:schemeClr val="tx1"/>
                </a:solidFill>
              </a:rPr>
              <a:t>이상의 정확도 달성</a:t>
            </a:r>
            <a:endParaRPr lang="en-US" altLang="ko-KR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</a:rPr>
              <a:t>매우 빠른 훈련속도를 보임</a:t>
            </a:r>
            <a:endParaRPr lang="en-US" altLang="ko-KR" dirty="0">
              <a:solidFill>
                <a:schemeClr val="tx1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284AE53-739B-4E19-B4A1-AFDA749EA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1" y="1484784"/>
            <a:ext cx="7693123" cy="273630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490193C-1858-48DD-8DFB-D2518DB97F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4330276"/>
            <a:ext cx="792088" cy="44263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987BFA6-53DD-440D-8484-473AFF21D3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99" y="4867304"/>
            <a:ext cx="1872699" cy="442638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18C52AE0-7AFE-4889-9295-71D3BB307FC6}"/>
              </a:ext>
            </a:extLst>
          </p:cNvPr>
          <p:cNvSpPr/>
          <p:nvPr/>
        </p:nvSpPr>
        <p:spPr>
          <a:xfrm>
            <a:off x="3275854" y="5741997"/>
            <a:ext cx="5472607" cy="433440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</a:rPr>
              <a:t>반복 횟수를 증가하라는 경고가 나오나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무시</a:t>
            </a:r>
            <a:r>
              <a:rPr lang="en-US" altLang="ko-KR" dirty="0">
                <a:solidFill>
                  <a:schemeClr val="tx1"/>
                </a:solidFill>
              </a:rPr>
              <a:t>!!!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BBBC676-A61F-4F18-94BF-0723E875E375}"/>
              </a:ext>
            </a:extLst>
          </p:cNvPr>
          <p:cNvSpPr/>
          <p:nvPr/>
        </p:nvSpPr>
        <p:spPr>
          <a:xfrm>
            <a:off x="117475" y="6235098"/>
            <a:ext cx="8630985" cy="433440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rgbClr val="FF0000"/>
                </a:solidFill>
              </a:rPr>
              <a:t>차원 축소된 데이터로 훈련한 것이 원본 데이터로 훈련한 것에 비해 성능이 떨어지지 않음 </a:t>
            </a:r>
            <a:r>
              <a:rPr lang="en-US" altLang="ko-KR" dirty="0">
                <a:solidFill>
                  <a:srgbClr val="FF0000"/>
                </a:solidFill>
              </a:rPr>
              <a:t>!!!</a:t>
            </a:r>
          </a:p>
        </p:txBody>
      </p:sp>
    </p:spTree>
    <p:extLst>
      <p:ext uri="{BB962C8B-B14F-4D97-AF65-F5344CB8AC3E}">
        <p14:creationId xmlns:p14="http://schemas.microsoft.com/office/powerpoint/2010/main" val="533025501"/>
      </p:ext>
    </p:extLst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487321-F170-4AE0-B506-395BF5395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다른 알고리즘과 함께 사용하기 </a:t>
            </a:r>
            <a:r>
              <a:rPr lang="en-US" altLang="ko-KR" dirty="0"/>
              <a:t>(4)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6F2879-04C8-4D3D-A741-0C60D05B8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475" y="984433"/>
            <a:ext cx="8950325" cy="5519738"/>
          </a:xfrm>
        </p:spPr>
        <p:txBody>
          <a:bodyPr/>
          <a:lstStyle/>
          <a:p>
            <a:r>
              <a:rPr lang="en-US" altLang="ko-KR" dirty="0"/>
              <a:t>k-</a:t>
            </a:r>
            <a:r>
              <a:rPr lang="ko-KR" altLang="en-US" dirty="0"/>
              <a:t>평균 알고리즘 </a:t>
            </a:r>
            <a:r>
              <a:rPr lang="en-US" altLang="ko-KR" dirty="0"/>
              <a:t>– </a:t>
            </a:r>
            <a:r>
              <a:rPr lang="ko-KR" altLang="en-US" dirty="0"/>
              <a:t>차원 축소된 데이터 사용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94CD55-FCE1-46BC-AF80-A6F1F0AA92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16</a:t>
            </a:fld>
            <a:endParaRPr lang="en-US" altLang="ko-KR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6634F16A-0E51-4F91-B60B-F4A5246C2550}"/>
              </a:ext>
            </a:extLst>
          </p:cNvPr>
          <p:cNvSpPr/>
          <p:nvPr/>
        </p:nvSpPr>
        <p:spPr>
          <a:xfrm>
            <a:off x="539550" y="3386863"/>
            <a:ext cx="288032" cy="216024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8C52AE0-7AFE-4889-9295-71D3BB307FC6}"/>
              </a:ext>
            </a:extLst>
          </p:cNvPr>
          <p:cNvSpPr/>
          <p:nvPr/>
        </p:nvSpPr>
        <p:spPr>
          <a:xfrm>
            <a:off x="1655675" y="5972595"/>
            <a:ext cx="5472607" cy="433440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</a:rPr>
              <a:t>원본을 활용한 것</a:t>
            </a:r>
            <a:r>
              <a:rPr lang="en-US" altLang="ko-KR" dirty="0">
                <a:solidFill>
                  <a:schemeClr val="tx1"/>
                </a:solidFill>
              </a:rPr>
              <a:t>(2</a:t>
            </a:r>
            <a:r>
              <a:rPr lang="ko-KR" altLang="en-US" dirty="0">
                <a:solidFill>
                  <a:schemeClr val="tx1"/>
                </a:solidFill>
              </a:rPr>
              <a:t>절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r>
              <a:rPr lang="ko-KR" altLang="en-US" dirty="0">
                <a:solidFill>
                  <a:schemeClr val="tx1"/>
                </a:solidFill>
              </a:rPr>
              <a:t>과 유사한 결과</a:t>
            </a:r>
            <a:endParaRPr lang="en-US" altLang="ko-KR" dirty="0">
              <a:solidFill>
                <a:schemeClr val="tx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2E6D07A-DFAA-43A0-90C7-1C5D8D09E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0" y="1484784"/>
            <a:ext cx="7051175" cy="187220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8FE6E9D-F4BE-4A1E-B60B-F552E8E78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3382735"/>
            <a:ext cx="4025898" cy="21602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26626E5-17E3-4357-ACBC-780A2DE0A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592" y="3631896"/>
            <a:ext cx="2247790" cy="242356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A9F8871-FDE7-493F-8FCB-63BBFC6EED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5854" y="3669731"/>
            <a:ext cx="2232249" cy="213858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ED999CF-28D8-4799-81AD-9497C5A838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6575" y="3669731"/>
            <a:ext cx="2488193" cy="2423565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01463D7D-8D73-43A6-9D78-9C3D2464522E}"/>
              </a:ext>
            </a:extLst>
          </p:cNvPr>
          <p:cNvSpPr/>
          <p:nvPr/>
        </p:nvSpPr>
        <p:spPr>
          <a:xfrm>
            <a:off x="140157" y="6424903"/>
            <a:ext cx="8630985" cy="433440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rgbClr val="FF0000"/>
                </a:solidFill>
              </a:rPr>
              <a:t>차원 축소된 데이터로 훈련한 것이 원본 데이터로 훈련한 것에 비해 성능이 떨어지지 않음 </a:t>
            </a:r>
            <a:r>
              <a:rPr lang="en-US" altLang="ko-KR" dirty="0">
                <a:solidFill>
                  <a:srgbClr val="FF0000"/>
                </a:solidFill>
              </a:rPr>
              <a:t>!!!</a:t>
            </a:r>
          </a:p>
        </p:txBody>
      </p:sp>
    </p:spTree>
    <p:extLst>
      <p:ext uri="{BB962C8B-B14F-4D97-AF65-F5344CB8AC3E}">
        <p14:creationId xmlns:p14="http://schemas.microsoft.com/office/powerpoint/2010/main" val="1018629303"/>
      </p:ext>
    </p:extLst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487321-F170-4AE0-B506-395BF5395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다른 알고리즘과 함께 사용하기 </a:t>
            </a:r>
            <a:r>
              <a:rPr lang="en-US" altLang="ko-KR" dirty="0"/>
              <a:t>(5)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6F2879-04C8-4D3D-A741-0C60D05B8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475" y="984433"/>
            <a:ext cx="8950325" cy="5519738"/>
          </a:xfrm>
        </p:spPr>
        <p:txBody>
          <a:bodyPr/>
          <a:lstStyle/>
          <a:p>
            <a:r>
              <a:rPr lang="ko-KR" altLang="en-US" dirty="0"/>
              <a:t>차원이 </a:t>
            </a:r>
            <a:r>
              <a:rPr lang="en-US" altLang="ko-KR" dirty="0"/>
              <a:t>2</a:t>
            </a:r>
            <a:r>
              <a:rPr lang="ko-KR" altLang="en-US" dirty="0"/>
              <a:t>이므로 </a:t>
            </a:r>
            <a:r>
              <a:rPr lang="ko-KR" altLang="en-US" dirty="0" err="1"/>
              <a:t>시각화할</a:t>
            </a:r>
            <a:r>
              <a:rPr lang="ko-KR" altLang="en-US" dirty="0"/>
              <a:t> 수 있음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94CD55-FCE1-46BC-AF80-A6F1F0AA92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17</a:t>
            </a:fld>
            <a:endParaRPr lang="en-US" altLang="ko-KR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6634F16A-0E51-4F91-B60B-F4A5246C2550}"/>
              </a:ext>
            </a:extLst>
          </p:cNvPr>
          <p:cNvSpPr/>
          <p:nvPr/>
        </p:nvSpPr>
        <p:spPr>
          <a:xfrm>
            <a:off x="539550" y="3501009"/>
            <a:ext cx="288032" cy="216024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8C52AE0-7AFE-4889-9295-71D3BB307FC6}"/>
              </a:ext>
            </a:extLst>
          </p:cNvPr>
          <p:cNvSpPr/>
          <p:nvPr/>
        </p:nvSpPr>
        <p:spPr>
          <a:xfrm>
            <a:off x="5940152" y="3861048"/>
            <a:ext cx="3024336" cy="1296144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</a:rPr>
              <a:t>예상치 못한 </a:t>
            </a:r>
            <a:r>
              <a:rPr lang="ko-KR" altLang="en-US" dirty="0">
                <a:solidFill>
                  <a:srgbClr val="FF0000"/>
                </a:solidFill>
              </a:rPr>
              <a:t>통찰</a:t>
            </a:r>
            <a:r>
              <a:rPr lang="ko-KR" altLang="en-US" dirty="0">
                <a:solidFill>
                  <a:schemeClr val="tx1"/>
                </a:solidFill>
              </a:rPr>
              <a:t>을 얻음</a:t>
            </a:r>
            <a:endParaRPr lang="en-US" altLang="ko-KR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</a:rPr>
              <a:t>비록 약간 겹치는 부분이 있으나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사과와 파인애플이 상당히 분리됨</a:t>
            </a:r>
            <a:endParaRPr lang="en-US" altLang="ko-KR" dirty="0">
              <a:solidFill>
                <a:schemeClr val="tx1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ED9DCC4-FB75-40BF-9F93-AEB4DC77B8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025" y="1484784"/>
            <a:ext cx="7510875" cy="13681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0CDB9CA-0161-489F-AFE7-DC3594D30B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08" y="3089633"/>
            <a:ext cx="4824536" cy="3077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215258"/>
      </p:ext>
    </p:extLst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003BBB-6EA2-470F-9DB5-E6158CC99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 요약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C5A0DB-F3AF-426E-8E83-173C11A7C3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ko-KR" dirty="0"/>
              <a:t>Key</a:t>
            </a:r>
            <a:r>
              <a:rPr lang="ko-KR" altLang="en-US" dirty="0"/>
              <a:t> </a:t>
            </a:r>
            <a:r>
              <a:rPr lang="en-US" altLang="ko-KR" dirty="0"/>
              <a:t>words</a:t>
            </a:r>
          </a:p>
          <a:p>
            <a:pPr lvl="1"/>
            <a:r>
              <a:rPr lang="ko-KR" altLang="en-US" dirty="0"/>
              <a:t>차원 축소</a:t>
            </a:r>
            <a:r>
              <a:rPr lang="en-US" altLang="ko-KR" dirty="0"/>
              <a:t>: </a:t>
            </a:r>
            <a:r>
              <a:rPr lang="ko-KR" altLang="en-US" dirty="0"/>
              <a:t>원본 데이터의 특성을 적은 수의 새로운 특성으로 변환하는 비지도학습의 한 종류</a:t>
            </a:r>
            <a:r>
              <a:rPr lang="en-US" altLang="ko-KR" dirty="0"/>
              <a:t>. </a:t>
            </a:r>
            <a:r>
              <a:rPr lang="ko-KR" altLang="en-US" dirty="0"/>
              <a:t>저장공간을 줄이고 시각화하기 쉬우며</a:t>
            </a:r>
            <a:r>
              <a:rPr lang="en-US" altLang="ko-KR" dirty="0"/>
              <a:t>, </a:t>
            </a:r>
            <a:r>
              <a:rPr lang="ko-KR" altLang="en-US" dirty="0"/>
              <a:t>알고리즘의 성능을 높일 수도 있음</a:t>
            </a:r>
            <a:endParaRPr lang="en-US" altLang="ko-KR" dirty="0"/>
          </a:p>
          <a:p>
            <a:pPr lvl="1"/>
            <a:r>
              <a:rPr lang="ko-KR" altLang="en-US" dirty="0"/>
              <a:t>주성분 분석</a:t>
            </a:r>
            <a:r>
              <a:rPr lang="en-US" altLang="ko-KR" dirty="0"/>
              <a:t>: </a:t>
            </a:r>
            <a:r>
              <a:rPr lang="ko-KR" altLang="en-US" dirty="0"/>
              <a:t>자원 축소 알고리즘의 하나로</a:t>
            </a:r>
            <a:r>
              <a:rPr lang="en-US" altLang="ko-KR" dirty="0"/>
              <a:t>, </a:t>
            </a:r>
            <a:r>
              <a:rPr lang="ko-KR" altLang="en-US" dirty="0"/>
              <a:t>데이터에서 가장 분산이 큰 방향인 주성분을 찾는 방법</a:t>
            </a:r>
            <a:r>
              <a:rPr lang="en-US" altLang="ko-KR" dirty="0"/>
              <a:t>. </a:t>
            </a:r>
            <a:r>
              <a:rPr lang="ko-KR" altLang="en-US" dirty="0"/>
              <a:t>원본 데이터를 주성분에 투영</a:t>
            </a:r>
            <a:r>
              <a:rPr lang="en-US" altLang="ko-KR" dirty="0"/>
              <a:t>(projection)</a:t>
            </a:r>
            <a:r>
              <a:rPr lang="ko-KR" altLang="en-US" dirty="0"/>
              <a:t>하여 새로운 특성을 만듦</a:t>
            </a:r>
            <a:r>
              <a:rPr lang="en-US" altLang="ko-KR" dirty="0"/>
              <a:t>. </a:t>
            </a:r>
            <a:r>
              <a:rPr lang="ko-KR" altLang="en-US" dirty="0"/>
              <a:t>일반적으로 주성분은 원본 데이터의 특성의 개수보다 적음</a:t>
            </a:r>
            <a:endParaRPr lang="en-US" altLang="ko-KR" dirty="0"/>
          </a:p>
          <a:p>
            <a:pPr lvl="1"/>
            <a:r>
              <a:rPr lang="ko-KR" altLang="en-US" dirty="0"/>
              <a:t>설명된 분산</a:t>
            </a:r>
            <a:r>
              <a:rPr lang="en-US" altLang="ko-KR" dirty="0"/>
              <a:t>: </a:t>
            </a:r>
            <a:r>
              <a:rPr lang="ko-KR" altLang="en-US" dirty="0"/>
              <a:t>주성분 분석에서 주성분이 얼마나 원본 데이터의 분산을 잘 나타내는지를 기록한 것</a:t>
            </a:r>
            <a:r>
              <a:rPr lang="en-US" altLang="ko-KR" dirty="0"/>
              <a:t>. </a:t>
            </a:r>
            <a:r>
              <a:rPr lang="en-US" altLang="ko-KR" dirty="0" err="1"/>
              <a:t>sklearn</a:t>
            </a:r>
            <a:r>
              <a:rPr lang="ko-KR" altLang="en-US" dirty="0"/>
              <a:t>의 </a:t>
            </a:r>
            <a:r>
              <a:rPr lang="en-US" altLang="ko-KR" dirty="0"/>
              <a:t>PCA </a:t>
            </a:r>
            <a:r>
              <a:rPr lang="ko-KR" altLang="en-US" dirty="0"/>
              <a:t>클래스는 주성분의 개수나 분산의 비율을 지정하여 주성분 분석을 수행할 수 있음</a:t>
            </a:r>
            <a:endParaRPr lang="en-US" altLang="ko-KR" dirty="0"/>
          </a:p>
          <a:p>
            <a:r>
              <a:rPr lang="en-US" altLang="ko-KR" dirty="0" err="1"/>
              <a:t>sklearn</a:t>
            </a:r>
            <a:r>
              <a:rPr lang="en-US" altLang="ko-KR" dirty="0"/>
              <a:t> </a:t>
            </a:r>
            <a:r>
              <a:rPr lang="ko-KR" altLang="en-US" dirty="0"/>
              <a:t>패키지</a:t>
            </a:r>
            <a:r>
              <a:rPr lang="en-US" altLang="ko-KR" dirty="0"/>
              <a:t>:</a:t>
            </a:r>
          </a:p>
          <a:p>
            <a:pPr lvl="1"/>
            <a:r>
              <a:rPr lang="en-US" altLang="ko-KR" dirty="0"/>
              <a:t>PCA: </a:t>
            </a:r>
            <a:r>
              <a:rPr lang="ko-KR" altLang="en-US" dirty="0"/>
              <a:t>주성분 분석을 수행하는 </a:t>
            </a:r>
            <a:r>
              <a:rPr lang="en-US" altLang="ko-KR" dirty="0"/>
              <a:t>class</a:t>
            </a:r>
          </a:p>
          <a:p>
            <a:pPr lvl="2"/>
            <a:r>
              <a:rPr lang="en-US" altLang="ko-KR" dirty="0" err="1"/>
              <a:t>n_components</a:t>
            </a:r>
            <a:r>
              <a:rPr lang="en-US" altLang="ko-KR" dirty="0"/>
              <a:t> </a:t>
            </a:r>
            <a:r>
              <a:rPr lang="ko-KR" altLang="en-US" dirty="0"/>
              <a:t>속성</a:t>
            </a:r>
            <a:r>
              <a:rPr lang="en-US" altLang="ko-KR" dirty="0"/>
              <a:t>: </a:t>
            </a:r>
            <a:r>
              <a:rPr lang="ko-KR" altLang="en-US" dirty="0"/>
              <a:t>주성분의 개수 지정</a:t>
            </a:r>
            <a:r>
              <a:rPr lang="en-US" altLang="ko-KR" dirty="0"/>
              <a:t>. Default</a:t>
            </a:r>
            <a:r>
              <a:rPr lang="ko-KR" altLang="en-US" dirty="0"/>
              <a:t>는 </a:t>
            </a:r>
            <a:r>
              <a:rPr lang="en-US" altLang="ko-KR" dirty="0"/>
              <a:t>None</a:t>
            </a:r>
          </a:p>
          <a:p>
            <a:pPr lvl="2"/>
            <a:r>
              <a:rPr lang="en-US" altLang="ko-KR" dirty="0" err="1"/>
              <a:t>random_state</a:t>
            </a:r>
            <a:r>
              <a:rPr lang="en-US" altLang="ko-KR" dirty="0"/>
              <a:t> </a:t>
            </a:r>
            <a:r>
              <a:rPr lang="ko-KR" altLang="en-US" dirty="0"/>
              <a:t>속성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ko-KR" altLang="en-US" dirty="0" err="1"/>
              <a:t>넘파이</a:t>
            </a:r>
            <a:r>
              <a:rPr lang="ko-KR" altLang="en-US" dirty="0"/>
              <a:t> 난수의 </a:t>
            </a:r>
            <a:r>
              <a:rPr lang="en-US" altLang="ko-KR" dirty="0"/>
              <a:t>seed </a:t>
            </a:r>
            <a:r>
              <a:rPr lang="ko-KR" altLang="en-US" dirty="0"/>
              <a:t>값 지정</a:t>
            </a:r>
            <a:endParaRPr lang="en-US" altLang="ko-KR" dirty="0"/>
          </a:p>
          <a:p>
            <a:pPr lvl="2"/>
            <a:r>
              <a:rPr lang="en-US" altLang="ko-KR" dirty="0"/>
              <a:t>components_ </a:t>
            </a:r>
            <a:r>
              <a:rPr lang="ko-KR" altLang="en-US" dirty="0"/>
              <a:t>속성</a:t>
            </a:r>
            <a:r>
              <a:rPr lang="en-US" altLang="ko-KR" dirty="0"/>
              <a:t>: </a:t>
            </a:r>
            <a:r>
              <a:rPr lang="ko-KR" altLang="en-US" dirty="0"/>
              <a:t>훈련 세트에서 찾은 주성분 저장</a:t>
            </a:r>
            <a:endParaRPr lang="en-US" altLang="ko-KR" dirty="0"/>
          </a:p>
          <a:p>
            <a:pPr lvl="2"/>
            <a:r>
              <a:rPr lang="en-US" altLang="ko-KR" dirty="0" err="1"/>
              <a:t>explained_variance</a:t>
            </a:r>
            <a:r>
              <a:rPr lang="en-US" altLang="ko-KR" dirty="0"/>
              <a:t>_ </a:t>
            </a:r>
            <a:r>
              <a:rPr lang="ko-KR" altLang="en-US" dirty="0"/>
              <a:t>속성</a:t>
            </a:r>
            <a:r>
              <a:rPr lang="en-US" altLang="ko-KR" dirty="0"/>
              <a:t>: </a:t>
            </a:r>
            <a:r>
              <a:rPr lang="ko-KR" altLang="en-US" dirty="0"/>
              <a:t>설명된 분산 저장</a:t>
            </a:r>
            <a:endParaRPr lang="en-US" altLang="ko-KR" dirty="0"/>
          </a:p>
          <a:p>
            <a:pPr lvl="2"/>
            <a:r>
              <a:rPr lang="en-US" altLang="ko-KR" dirty="0" err="1"/>
              <a:t>explained_variance_ratio</a:t>
            </a:r>
            <a:r>
              <a:rPr lang="en-US" altLang="ko-KR" dirty="0"/>
              <a:t>_ </a:t>
            </a:r>
            <a:r>
              <a:rPr lang="ko-KR" altLang="en-US" dirty="0"/>
              <a:t>속성</a:t>
            </a:r>
            <a:r>
              <a:rPr lang="en-US" altLang="ko-KR" dirty="0"/>
              <a:t>: </a:t>
            </a:r>
            <a:r>
              <a:rPr lang="ko-KR" altLang="en-US" dirty="0"/>
              <a:t>설명된 분산의 비율 저장</a:t>
            </a:r>
            <a:endParaRPr lang="en-US" altLang="ko-KR" dirty="0"/>
          </a:p>
          <a:p>
            <a:pPr lvl="2"/>
            <a:r>
              <a:rPr lang="en-US" altLang="ko-KR" dirty="0"/>
              <a:t>transform(</a:t>
            </a:r>
            <a:r>
              <a:rPr lang="ko-KR" altLang="en-US" i="1" dirty="0"/>
              <a:t>원본 데이터</a:t>
            </a:r>
            <a:r>
              <a:rPr lang="en-US" altLang="ko-KR" dirty="0"/>
              <a:t>)</a:t>
            </a:r>
            <a:r>
              <a:rPr lang="ko-KR" altLang="en-US" dirty="0"/>
              <a:t> 메서드</a:t>
            </a:r>
            <a:r>
              <a:rPr lang="en-US" altLang="ko-KR" dirty="0"/>
              <a:t>: </a:t>
            </a:r>
            <a:r>
              <a:rPr lang="ko-KR" altLang="en-US" dirty="0"/>
              <a:t>원본 데이터를 주성분을 이용하여 차원 축소 </a:t>
            </a:r>
            <a:endParaRPr lang="en-US" altLang="ko-KR" dirty="0"/>
          </a:p>
          <a:p>
            <a:pPr lvl="2"/>
            <a:r>
              <a:rPr lang="en-US" altLang="ko-KR" dirty="0" err="1"/>
              <a:t>inverse_transform</a:t>
            </a:r>
            <a:r>
              <a:rPr lang="en-US" altLang="ko-KR" dirty="0"/>
              <a:t>(</a:t>
            </a:r>
            <a:r>
              <a:rPr lang="ko-KR" altLang="en-US" i="1" dirty="0"/>
              <a:t>축소 데이터</a:t>
            </a:r>
            <a:r>
              <a:rPr lang="en-US" altLang="ko-KR" dirty="0"/>
              <a:t>)</a:t>
            </a:r>
            <a:r>
              <a:rPr lang="ko-KR" altLang="en-US" dirty="0"/>
              <a:t> 메서드</a:t>
            </a:r>
            <a:r>
              <a:rPr lang="en-US" altLang="ko-KR" dirty="0"/>
              <a:t>: </a:t>
            </a:r>
            <a:r>
              <a:rPr lang="ko-KR" altLang="en-US" dirty="0"/>
              <a:t>차원 축소시킨 데이터를 원본으로 차원 복원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83B9CB-FD73-414B-A2F3-C88E2FDB6A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0363519"/>
      </p:ext>
    </p:extLst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질의 응답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/>
              <a:t>No question, no learning !!!</a:t>
            </a:r>
          </a:p>
          <a:p>
            <a:pPr eaLnBrk="1" hangingPunct="1">
              <a:defRPr/>
            </a:pPr>
            <a:r>
              <a:rPr lang="en-US" altLang="ko-KR" dirty="0"/>
              <a:t>No dumb question !!!</a:t>
            </a:r>
          </a:p>
          <a:p>
            <a:pPr eaLnBrk="1" hangingPunct="1">
              <a:defRPr/>
            </a:pPr>
            <a:r>
              <a:rPr lang="en-US" altLang="ko-KR" dirty="0"/>
              <a:t>I</a:t>
            </a:r>
            <a:r>
              <a:rPr lang="en-US" altLang="ko-KR" dirty="0">
                <a:latin typeface="Times New Roman" pitchFamily="18" charset="0"/>
              </a:rPr>
              <a:t>’</a:t>
            </a:r>
            <a:r>
              <a:rPr lang="en-US" altLang="ko-KR" dirty="0"/>
              <a:t>m here to be interrupted.</a:t>
            </a:r>
          </a:p>
          <a:p>
            <a:pPr eaLnBrk="1" hangingPunct="1">
              <a:defRPr/>
            </a:pPr>
            <a:r>
              <a:rPr lang="en-US" altLang="ko-KR" dirty="0"/>
              <a:t>I</a:t>
            </a:r>
            <a:r>
              <a:rPr lang="en-US" altLang="ko-KR" dirty="0">
                <a:latin typeface="Times New Roman" pitchFamily="18" charset="0"/>
              </a:rPr>
              <a:t>’</a:t>
            </a:r>
            <a:r>
              <a:rPr lang="en-US" altLang="ko-KR" dirty="0"/>
              <a:t>m an interrupt-driven professor.</a:t>
            </a:r>
          </a:p>
          <a:p>
            <a:pPr eaLnBrk="1" hangingPunct="1">
              <a:defRPr/>
            </a:pPr>
            <a:r>
              <a:rPr lang="en-US" altLang="ko-KR" dirty="0"/>
              <a:t>I teach less, students learn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19</a:t>
            </a:fld>
            <a:endParaRPr lang="en-US" altLang="ko-KR"/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8938" y="3714750"/>
            <a:ext cx="275272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6055139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HY견고딕"/>
        <a:ea typeface="HY견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38116</TotalTime>
  <Words>1430</Words>
  <Application>Microsoft Office PowerPoint</Application>
  <PresentationFormat>화면 슬라이드 쇼(4:3)</PresentationFormat>
  <Paragraphs>204</Paragraphs>
  <Slides>19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8" baseType="lpstr">
      <vt:lpstr>HY견고딕</vt:lpstr>
      <vt:lpstr>굴림</vt:lpstr>
      <vt:lpstr>맑은 고딕</vt:lpstr>
      <vt:lpstr>휴먼엑스포</vt:lpstr>
      <vt:lpstr>Arial</vt:lpstr>
      <vt:lpstr>Cambria Math</vt:lpstr>
      <vt:lpstr>Times New Roman</vt:lpstr>
      <vt:lpstr>Wingdings</vt:lpstr>
      <vt:lpstr>기본 디자인</vt:lpstr>
      <vt:lpstr>비지도학습 - PCA -</vt:lpstr>
      <vt:lpstr>학습목표</vt:lpstr>
      <vt:lpstr>비지도학습에서 다룰 내용</vt:lpstr>
      <vt:lpstr>이번 섹션에서는</vt:lpstr>
      <vt:lpstr>과일 사진 불러오기</vt:lpstr>
      <vt:lpstr>차원과 차원 축소</vt:lpstr>
      <vt:lpstr>PCA(주성분 분석) (1)</vt:lpstr>
      <vt:lpstr>PCA(주성분 분석) (2)</vt:lpstr>
      <vt:lpstr>PCA(주성분 분석) (3)</vt:lpstr>
      <vt:lpstr>PCA(주성분 분석) (4)</vt:lpstr>
      <vt:lpstr>PCA(주성분 분석) (5) – 테이터 압축에 따른 손실</vt:lpstr>
      <vt:lpstr>설명된 분산(Explaned Variance)</vt:lpstr>
      <vt:lpstr>다른 알고리즘과 함께 사용하기 (1)</vt:lpstr>
      <vt:lpstr>다른 알고리즘과 함께 사용하기 (2)</vt:lpstr>
      <vt:lpstr>다른 알고리즘과 함께 사용하기 (3)</vt:lpstr>
      <vt:lpstr>다른 알고리즘과 함께 사용하기 (4)</vt:lpstr>
      <vt:lpstr>다른 알고리즘과 함께 사용하기 (5)</vt:lpstr>
      <vt:lpstr>학습 요약</vt:lpstr>
      <vt:lpstr>질의 응답</vt:lpstr>
    </vt:vector>
  </TitlesOfParts>
  <Company>두원공과대학 컴퓨터공학과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김영우</dc:creator>
  <cp:lastModifiedBy>김영우</cp:lastModifiedBy>
  <cp:revision>645</cp:revision>
  <dcterms:created xsi:type="dcterms:W3CDTF">2003-05-07T20:17:23Z</dcterms:created>
  <dcterms:modified xsi:type="dcterms:W3CDTF">2025-10-13T00:20:58Z</dcterms:modified>
</cp:coreProperties>
</file>